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9" r:id="rId11"/>
    <p:sldId id="268" r:id="rId12"/>
    <p:sldId id="267" r:id="rId13"/>
    <p:sldId id="266" r:id="rId14"/>
    <p:sldId id="265" r:id="rId15"/>
    <p:sldId id="264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468C4-3B62-2C2F-899A-C180C65CF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8B6658-DF51-4772-DEB9-B63556908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EF0447-2716-51DD-A21F-63C6F933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8A21BB-EF2F-D640-9231-E32160A3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C46E09-E55F-36FF-F885-675A3743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105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29B62-09E7-C46B-1185-0A1FE3E9F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7D8AE8-2DD4-4A75-DE56-CA9BD8FA5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94BFF-1BD0-EF96-A570-6A2D9AFCC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875162-4BD0-6B4A-2C70-E5ACB2E6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60C273-0B24-B36A-E17E-893D479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52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115D4-C5F2-B65A-CC5E-510525598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7279CE-69FE-1340-7DB8-05746ACA2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70233-7DCC-907B-BC0C-B3AA4FDC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D72EC-8BE2-7F56-76D3-C15C94267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4323A3-8640-9140-7486-9D0DB35F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15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91357-EBFE-A1D2-EC76-162FCECC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4750E4-B002-C793-C510-6345BED46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12CF32-D72B-E621-EDCB-D7EEBB79F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03E721-9DC7-686E-78BE-EA67A9AFD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92EEB1-BFB7-FBA5-9A5D-DC1672D8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B54F6B-57A8-CC56-573F-D3A3F806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1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AF7140-205A-5553-44B1-1B117322A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3704EC-FFBA-67FE-D0D1-87528EE40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FA65EA-75EA-7033-0D8E-F8600DFB7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7EF1EE-793D-4C4D-5CB8-ADE1B050B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76C1BA-5309-4636-B97A-893D1084A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758060-8911-C864-F22D-0785AD471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256DCA0-997A-10B1-7FB6-21D6A2AAF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F9A92B-FC10-61D0-A840-508461D5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117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5F936E-8B6A-BB39-51FA-499CD1CF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0DDAC4-1786-BFFB-1BC8-CBB330F7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4EBA15-036F-C5F4-2631-86607B92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45340F-BA05-F9DC-38F0-EA12A27B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13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F7D32B-CC7A-DE7D-E52F-5ECB2BDA1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FE44A8-16BB-55DA-89E5-78265B3AA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53EB52-3BFF-FBB9-0099-C1D8F091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346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FF8C4-924F-54EA-A19F-6BDC24BD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4045A-89A9-09D9-96DD-FB3F54C1C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E9050D-37A6-1FA0-13A2-817698FEB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165744-3C87-9CA4-4E2D-3AA78A2D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38B75-C4E3-4027-CB76-C6D57BED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034FF5-D4EA-AA44-5667-189EAC18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25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36FCF-B22C-D737-17C4-D86CE97EA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C02D70-08CC-DD07-EFEC-1B71591951C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41C88B-59EA-17B4-2FD0-3DC3AA96D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0B2A3C-8275-814C-CE7D-3EEE698D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F5115F-0060-D61A-EEBF-EEB30EE3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D97369-5D8F-F459-1024-98EEA4505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90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BE42D-3EBC-8BCA-5DDF-6D2636C7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4C4B3E-7DD4-CFE8-281F-886059927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90E06A-0209-D8F9-9974-C2E75A666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E1CEC-2DA6-CD2E-CAA7-124829248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28A21E-D3BF-5397-F469-ED7086CE0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75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89DC2D-BDC9-C3BD-4861-0215E8EF9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515CE4-61DB-ED9F-11EA-C7F017DDE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5D6991-2C5E-4E96-9E4B-9C5BFA01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BD2602-B0E3-59C1-2208-AA143569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D13942-E82A-B665-E91E-A2BF59DF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71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AEE47EC-C1DA-5D89-D96C-0181035F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31B241-676B-9D51-AD67-3156AC804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296DCE-CFC5-81D5-18FE-46BE053F9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653D7-EA0C-40B1-859E-FBD1322B688B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650724-767B-F24A-6A24-4A4CC375E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C5EF86-41DE-7F8D-E7CD-CD43B7B17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7D809-3602-442D-B7E6-1D282F948A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890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3D58B-8635-5B82-237F-3B353A6E0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48770" y="1122363"/>
            <a:ext cx="14418859" cy="2387600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ICS Lec10:</a:t>
            </a:r>
            <a:r>
              <a:rPr lang="zh-CN" altLang="zh-CN" sz="4800" dirty="0"/>
              <a:t>SEQ</a:t>
            </a:r>
            <a:r>
              <a:rPr lang="en-US" altLang="zh-CN" sz="4800" dirty="0"/>
              <a:t>:</a:t>
            </a:r>
            <a:r>
              <a:rPr lang="zh-CN" altLang="zh-CN" sz="4800" dirty="0"/>
              <a:t>Sequential Implementation</a:t>
            </a:r>
            <a:endParaRPr lang="zh-CN" altLang="en-US" sz="48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FECA92-BF2D-1548-BBD2-BB09E48CFF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2026.10.21</a:t>
            </a:r>
          </a:p>
          <a:p>
            <a:r>
              <a:rPr lang="zh-CN" altLang="en-US" sz="2800" dirty="0"/>
              <a:t>彭在麟 </a:t>
            </a:r>
            <a:r>
              <a:rPr lang="en-US" altLang="zh-CN" sz="2800" dirty="0"/>
              <a:t>2500012912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75221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83A27-8175-D304-D02F-D8D25FEF7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r>
              <a:rPr lang="zh-CN" altLang="zh-CN" b="1" dirty="0"/>
              <a:t>目录页 (Overview)</a:t>
            </a:r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1:</a:t>
            </a:r>
            <a:r>
              <a:rPr lang="zh-CN" altLang="zh-CN" dirty="0"/>
              <a:t>Y86-64 体系结构</a:t>
            </a:r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2:</a:t>
            </a:r>
            <a:r>
              <a:rPr lang="zh-CN" altLang="zh-CN" dirty="0"/>
              <a:t>HCL 硬件控制语言</a:t>
            </a:r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3:</a:t>
            </a:r>
            <a:r>
              <a:rPr lang="zh-CN" altLang="zh-CN" dirty="0"/>
              <a:t>SEQ 硬件结构</a:t>
            </a:r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4:</a:t>
            </a:r>
            <a:r>
              <a:rPr lang="zh-CN" altLang="zh-CN" dirty="0"/>
              <a:t>算术/逻辑指令的执行 (Executing Arith./Logical Operation)</a:t>
            </a:r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5:</a:t>
            </a:r>
            <a:r>
              <a:rPr lang="zh-CN" altLang="zh-CN" dirty="0"/>
              <a:t>取指逻辑 (Fetch Logic)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013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657B33-CDF7-18DE-6243-3E5A257D7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36958" cy="945060"/>
          </a:xfrm>
        </p:spPr>
        <p:txBody>
          <a:bodyPr/>
          <a:lstStyle/>
          <a:p>
            <a:r>
              <a:rPr lang="en-US" altLang="zh-CN" dirty="0"/>
              <a:t>Y86-64</a:t>
            </a:r>
            <a:r>
              <a:rPr lang="zh-CN" altLang="en-US" dirty="0"/>
              <a:t>指令集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160C073-2424-0191-6FFD-7BAD610EB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668" y="941448"/>
            <a:ext cx="7848446" cy="533272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1843F27-173B-512A-78B5-E490DB36030B}"/>
              </a:ext>
            </a:extLst>
          </p:cNvPr>
          <p:cNvSpPr txBox="1"/>
          <p:nvPr/>
        </p:nvSpPr>
        <p:spPr>
          <a:xfrm>
            <a:off x="143301" y="1999149"/>
            <a:ext cx="41183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指令格式：</a:t>
            </a:r>
            <a:r>
              <a:rPr lang="en-US" altLang="zh-CN" sz="1600" dirty="0"/>
              <a:t>1 </a:t>
            </a:r>
            <a:r>
              <a:rPr lang="zh-CN" altLang="en-US" sz="1600" dirty="0"/>
              <a:t>到 </a:t>
            </a:r>
            <a:r>
              <a:rPr lang="en-US" altLang="zh-CN" sz="1600" dirty="0"/>
              <a:t>10 </a:t>
            </a:r>
            <a:r>
              <a:rPr lang="zh-CN" altLang="en-US" sz="1600" dirty="0"/>
              <a:t>字节不等。</a:t>
            </a:r>
          </a:p>
          <a:p>
            <a:r>
              <a:rPr lang="zh-CN" altLang="en-US" sz="1600" dirty="0"/>
              <a:t>基本组成：</a:t>
            </a:r>
            <a:r>
              <a:rPr lang="en-US" altLang="zh-CN" sz="1600" dirty="0" err="1"/>
              <a:t>icode+ifun</a:t>
            </a:r>
            <a:r>
              <a:rPr lang="en-US" altLang="zh-CN" sz="1600" dirty="0"/>
              <a:t>+(</a:t>
            </a:r>
            <a:r>
              <a:rPr lang="en-US" altLang="zh-CN" sz="1600" dirty="0" err="1"/>
              <a:t>rA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rB</a:t>
            </a:r>
            <a:r>
              <a:rPr lang="en-US" altLang="zh-CN" sz="1600" dirty="0"/>
              <a:t>) +(V, D, Dest)</a:t>
            </a:r>
            <a:r>
              <a:rPr lang="zh-CN" altLang="en-US" sz="16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47635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4A5E6-65B9-0FBE-8F88-E49EE776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HCL:</a:t>
            </a:r>
            <a:r>
              <a:rPr lang="zh-CN" altLang="en-US" dirty="0"/>
              <a:t>硬件控制语言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FB272FE-C6BB-4E38-09C0-21C259EA1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0" y="42510"/>
            <a:ext cx="5067300" cy="36195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B98C904-FB11-FD05-AC69-CE38CE75B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235" y="3988685"/>
            <a:ext cx="5810250" cy="26860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D855530-044A-6A33-DCF6-C0573BFBFC2B}"/>
              </a:ext>
            </a:extLst>
          </p:cNvPr>
          <p:cNvSpPr txBox="1"/>
          <p:nvPr/>
        </p:nvSpPr>
        <p:spPr>
          <a:xfrm>
            <a:off x="409303" y="1459855"/>
            <a:ext cx="5067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400" i="0" dirty="0">
                <a:solidFill>
                  <a:schemeClr val="tx1"/>
                </a:solidFill>
                <a:effectLst/>
                <a:latin typeface="+mn-lt"/>
              </a:rPr>
              <a:t>组合逻辑 (Combinational Logic)</a:t>
            </a:r>
            <a:r>
              <a:rPr lang="zh-CN" altLang="zh-CN" sz="2400" b="0" i="0" dirty="0">
                <a:solidFill>
                  <a:schemeClr val="tx1"/>
                </a:solidFill>
                <a:effectLst/>
                <a:latin typeface="+mn-lt"/>
              </a:rPr>
              <a:t>：对输入连续响应，计算布尔函数。如 ALU、MUX（多路选择器）、比较器。</a:t>
            </a:r>
            <a:endParaRPr lang="zh-CN" altLang="zh-CN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278951-2CF3-4AA6-8608-EFD9E83D66D4}"/>
              </a:ext>
            </a:extLst>
          </p:cNvPr>
          <p:cNvSpPr txBox="1"/>
          <p:nvPr/>
        </p:nvSpPr>
        <p:spPr>
          <a:xfrm>
            <a:off x="409303" y="2997488"/>
            <a:ext cx="4946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400" i="0" dirty="0">
                <a:solidFill>
                  <a:schemeClr val="tx1"/>
                </a:solidFill>
                <a:effectLst/>
                <a:latin typeface="+mn-lt"/>
              </a:rPr>
              <a:t>存储元素 (Storage Elements)：存储比特（如 Register file, Memory）。仅在时钟上升沿被加载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。</a:t>
            </a:r>
            <a:endParaRPr lang="zh-CN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42229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6A3FB-D06F-E160-D725-4BC7F1937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7133"/>
            <a:ext cx="10515600" cy="1325563"/>
          </a:xfrm>
        </p:spPr>
        <p:txBody>
          <a:bodyPr/>
          <a:lstStyle/>
          <a:p>
            <a:r>
              <a:rPr lang="zh-CN" altLang="zh-CN" dirty="0"/>
              <a:t>HCL Operations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7A90E7-A39A-08AF-0A2F-B4727B3B4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173"/>
            <a:ext cx="10761617" cy="5846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3200" dirty="0"/>
              <a:t>Boolean Expressions</a:t>
            </a:r>
            <a:endParaRPr lang="en-US" altLang="zh-CN" sz="3200" dirty="0"/>
          </a:p>
          <a:p>
            <a:pPr marL="0" indent="0">
              <a:buNone/>
            </a:pPr>
            <a:r>
              <a:rPr lang="zh-CN" altLang="zh-CN" dirty="0"/>
              <a:t>Logic Operations </a:t>
            </a:r>
            <a:r>
              <a:rPr lang="zh-CN" altLang="zh-CN" sz="2400" dirty="0"/>
              <a:t>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 a &amp;&amp; b, a || b, !a  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dirty="0"/>
              <a:t>Word Comparisons </a:t>
            </a:r>
            <a:r>
              <a:rPr lang="zh-CN" altLang="zh-CN" sz="2400" dirty="0"/>
              <a:t> 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A == B, A != B, A &lt; B, A &lt;= B, A &gt;= B, A &gt; B  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dirty="0"/>
              <a:t>Set Membership</a:t>
            </a:r>
            <a:r>
              <a:rPr lang="zh-CN" altLang="zh-CN" sz="2400" dirty="0"/>
              <a:t>  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A in { B, C, D } Same as A == B || A == C || A == D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dirty="0"/>
              <a:t>Word Expressions </a:t>
            </a:r>
            <a:r>
              <a:rPr lang="zh-CN" altLang="zh-CN" sz="2400" dirty="0"/>
              <a:t> 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Case expressions  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[ a : A; b : B; c : C ]  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Evaluate test expressions a, b, c, … in sequence  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Return word expression A, B, C, … for first successful test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76624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73900-6E39-B15F-A1B6-211CFFD3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" y="0"/>
            <a:ext cx="10515600" cy="1325563"/>
          </a:xfrm>
        </p:spPr>
        <p:txBody>
          <a:bodyPr/>
          <a:lstStyle/>
          <a:p>
            <a:r>
              <a:rPr lang="zh-CN" altLang="zh-CN" dirty="0"/>
              <a:t>SEQ Hardware Structure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68E25D6-B1A6-2B98-B81F-CCDCB66B1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734" y="-68239"/>
            <a:ext cx="4030889" cy="68322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D03AC1D-92AD-3AA7-588D-0CA759E24AD2}"/>
              </a:ext>
            </a:extLst>
          </p:cNvPr>
          <p:cNvSpPr txBox="1"/>
          <p:nvPr/>
        </p:nvSpPr>
        <p:spPr>
          <a:xfrm>
            <a:off x="170597" y="1447810"/>
            <a:ext cx="7540388" cy="431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1" i="0" dirty="0">
                <a:solidFill>
                  <a:schemeClr val="tx1"/>
                </a:solidFill>
                <a:effectLst/>
                <a:latin typeface="+mn-lt"/>
              </a:rPr>
              <a:t>核心状态元素</a:t>
            </a:r>
            <a:r>
              <a:rPr lang="zh-CN" altLang="zh-CN" sz="2000" b="0" i="0" dirty="0">
                <a:solidFill>
                  <a:schemeClr val="tx1"/>
                </a:solidFill>
                <a:effectLst/>
                <a:latin typeface="+mn-lt"/>
              </a:rPr>
              <a:t>：</a:t>
            </a:r>
            <a:endParaRPr lang="en-US" altLang="zh-CN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lvl="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chemeClr val="tx1"/>
                </a:solidFill>
                <a:effectLst/>
                <a:latin typeface="+mn-lt"/>
              </a:rPr>
              <a:t>PC 寄存器</a:t>
            </a:r>
            <a:r>
              <a:rPr lang="zh-CN" altLang="en-US" sz="2000" b="0" i="0" dirty="0">
                <a:solidFill>
                  <a:schemeClr val="tx1"/>
                </a:solidFill>
                <a:effectLst/>
                <a:latin typeface="+mn-lt"/>
              </a:rPr>
              <a:t>（</a:t>
            </a:r>
            <a:r>
              <a:rPr lang="zh-CN" altLang="zh-CN" sz="2000" dirty="0"/>
              <a:t>Program counter register</a:t>
            </a:r>
            <a:r>
              <a:rPr lang="zh-CN" altLang="en-US" sz="2000" b="0" i="0" dirty="0">
                <a:solidFill>
                  <a:schemeClr val="tx1"/>
                </a:solidFill>
                <a:effectLst/>
                <a:latin typeface="+mn-lt"/>
              </a:rPr>
              <a:t>）</a:t>
            </a:r>
            <a:endParaRPr lang="en-US" altLang="zh-CN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lvl="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chemeClr val="tx1"/>
                </a:solidFill>
                <a:effectLst/>
                <a:latin typeface="+mn-lt"/>
              </a:rPr>
              <a:t>条件码寄存器 (</a:t>
            </a:r>
            <a:r>
              <a:rPr lang="zh-CN" altLang="zh-CN" sz="2000" dirty="0"/>
              <a:t>Condition code register</a:t>
            </a:r>
            <a:r>
              <a:rPr lang="zh-CN" altLang="zh-CN" sz="20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en-US" altLang="zh-CN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chemeClr val="tx1"/>
                </a:solidFill>
                <a:effectLst/>
                <a:latin typeface="+mn-lt"/>
              </a:rPr>
              <a:t>寄存器文件 (Register File)</a:t>
            </a:r>
            <a:endParaRPr lang="en-US" altLang="zh-CN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chemeClr val="tx1"/>
                </a:solidFill>
                <a:effectLst/>
                <a:latin typeface="+mn-lt"/>
              </a:rPr>
              <a:t>数据内存</a:t>
            </a:r>
            <a:r>
              <a:rPr lang="en-US" altLang="zh-CN" sz="2000" dirty="0"/>
              <a:t>(Data Memories)</a:t>
            </a:r>
            <a:endParaRPr lang="en-US" altLang="zh-CN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0" i="0" dirty="0">
                <a:solidFill>
                  <a:schemeClr val="tx1"/>
                </a:solidFill>
                <a:effectLst/>
                <a:latin typeface="+mn-lt"/>
              </a:rPr>
              <a:t>指令内存</a:t>
            </a:r>
            <a:r>
              <a:rPr lang="en-US" altLang="zh-CN" sz="2000" b="0" i="0" dirty="0">
                <a:solidFill>
                  <a:schemeClr val="tx1"/>
                </a:solidFill>
                <a:effectLst/>
                <a:latin typeface="+mn-lt"/>
              </a:rPr>
              <a:t>(Instruction Memories)</a:t>
            </a:r>
            <a:endParaRPr lang="zh-CN" altLang="zh-CN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2000" b="1" i="0" dirty="0">
                <a:solidFill>
                  <a:schemeClr val="tx1"/>
                </a:solidFill>
                <a:effectLst/>
                <a:latin typeface="+mn-lt"/>
              </a:rPr>
              <a:t>结构特点</a:t>
            </a:r>
            <a:r>
              <a:rPr lang="zh-CN" altLang="zh-CN" sz="2000" b="0" i="0" dirty="0">
                <a:solidFill>
                  <a:schemeClr val="tx1"/>
                </a:solidFill>
                <a:effectLst/>
                <a:latin typeface="+mn-lt"/>
              </a:rPr>
              <a:t>：数据指令共用内存空间。数据流在组合逻辑中流动，状态在时钟沿更新。</a:t>
            </a:r>
            <a:endParaRPr lang="zh-CN" altLang="zh-CN" sz="20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80941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0E7BC-9E94-A5F2-D30B-DF718702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zh-CN" altLang="zh-CN" dirty="0"/>
              <a:t>SEQ Stages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267C289-5910-FA72-5D68-9E0264F7E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555" y="0"/>
            <a:ext cx="4012813" cy="68016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CD15F63-5594-4583-26E3-CC4C52E5B448}"/>
              </a:ext>
            </a:extLst>
          </p:cNvPr>
          <p:cNvSpPr txBox="1"/>
          <p:nvPr/>
        </p:nvSpPr>
        <p:spPr>
          <a:xfrm>
            <a:off x="0" y="886936"/>
            <a:ext cx="622104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/>
              <a:t>Fetch </a:t>
            </a:r>
            <a:r>
              <a:rPr lang="zh-CN" altLang="zh-CN" sz="2400" dirty="0"/>
              <a:t> </a:t>
            </a:r>
            <a:endParaRPr lang="en-US" altLang="zh-CN" sz="2400" dirty="0"/>
          </a:p>
          <a:p>
            <a:r>
              <a:rPr lang="en-US" altLang="zh-CN" sz="2400" dirty="0"/>
              <a:t>  </a:t>
            </a:r>
            <a:r>
              <a:rPr lang="zh-CN" altLang="zh-CN" sz="2400" dirty="0"/>
              <a:t>Read instruction from instruction memory  </a:t>
            </a:r>
            <a:endParaRPr lang="en-US" altLang="zh-CN" sz="2400" dirty="0"/>
          </a:p>
          <a:p>
            <a:r>
              <a:rPr lang="zh-CN" altLang="zh-CN" sz="2800" dirty="0"/>
              <a:t>Decode </a:t>
            </a:r>
            <a:r>
              <a:rPr lang="zh-CN" altLang="zh-CN" sz="2400" dirty="0"/>
              <a:t> </a:t>
            </a:r>
            <a:endParaRPr lang="en-US" altLang="zh-CN" sz="2400" dirty="0"/>
          </a:p>
          <a:p>
            <a:r>
              <a:rPr lang="en-US" altLang="zh-CN" sz="2400" dirty="0"/>
              <a:t>  </a:t>
            </a:r>
            <a:r>
              <a:rPr lang="zh-CN" altLang="zh-CN" sz="2400" dirty="0"/>
              <a:t>Read program registers  </a:t>
            </a:r>
            <a:endParaRPr lang="en-US" altLang="zh-CN" sz="2400" dirty="0"/>
          </a:p>
          <a:p>
            <a:r>
              <a:rPr lang="zh-CN" altLang="zh-CN" sz="2800" dirty="0"/>
              <a:t>Execute </a:t>
            </a:r>
            <a:r>
              <a:rPr lang="zh-CN" altLang="zh-CN" sz="2400" dirty="0"/>
              <a:t> </a:t>
            </a:r>
            <a:endParaRPr lang="en-US" altLang="zh-CN" sz="2400" dirty="0"/>
          </a:p>
          <a:p>
            <a:r>
              <a:rPr lang="en-US" altLang="zh-CN" sz="2400" dirty="0"/>
              <a:t>  </a:t>
            </a:r>
            <a:r>
              <a:rPr lang="zh-CN" altLang="zh-CN" sz="2400" dirty="0"/>
              <a:t>Compute value or address  </a:t>
            </a:r>
            <a:endParaRPr lang="en-US" altLang="zh-CN" sz="2400" dirty="0"/>
          </a:p>
          <a:p>
            <a:r>
              <a:rPr lang="zh-CN" altLang="zh-CN" sz="2800" dirty="0"/>
              <a:t>Memory </a:t>
            </a:r>
            <a:r>
              <a:rPr lang="zh-CN" altLang="zh-CN" sz="2400" dirty="0"/>
              <a:t> </a:t>
            </a:r>
            <a:endParaRPr lang="en-US" altLang="zh-CN" sz="2400" dirty="0"/>
          </a:p>
          <a:p>
            <a:r>
              <a:rPr lang="en-US" altLang="zh-CN" sz="2400" dirty="0"/>
              <a:t>  </a:t>
            </a:r>
            <a:r>
              <a:rPr lang="zh-CN" altLang="zh-CN" sz="2400" dirty="0"/>
              <a:t>Read or write data  </a:t>
            </a:r>
            <a:endParaRPr lang="en-US" altLang="zh-CN" sz="2400" dirty="0"/>
          </a:p>
          <a:p>
            <a:r>
              <a:rPr lang="zh-CN" altLang="zh-CN" sz="2800" dirty="0"/>
              <a:t>Write Back </a:t>
            </a:r>
            <a:r>
              <a:rPr lang="zh-CN" altLang="zh-CN" sz="2400" dirty="0"/>
              <a:t> </a:t>
            </a:r>
            <a:endParaRPr lang="en-US" altLang="zh-CN" sz="2400" dirty="0"/>
          </a:p>
          <a:p>
            <a:r>
              <a:rPr lang="en-US" altLang="zh-CN" sz="2400" dirty="0"/>
              <a:t>  </a:t>
            </a:r>
            <a:r>
              <a:rPr lang="zh-CN" altLang="zh-CN" sz="2400" dirty="0"/>
              <a:t>Write program registers  </a:t>
            </a:r>
            <a:endParaRPr lang="en-US" altLang="zh-CN" sz="2400" dirty="0"/>
          </a:p>
          <a:p>
            <a:r>
              <a:rPr lang="zh-CN" altLang="zh-CN" sz="2800" dirty="0"/>
              <a:t>PC  </a:t>
            </a:r>
            <a:endParaRPr lang="en-US" altLang="zh-CN" sz="2800" dirty="0"/>
          </a:p>
          <a:p>
            <a:r>
              <a:rPr lang="en-US" altLang="zh-CN" sz="2400" dirty="0"/>
              <a:t>  </a:t>
            </a:r>
            <a:r>
              <a:rPr lang="zh-CN" altLang="zh-CN" sz="2400" dirty="0"/>
              <a:t>Update program counter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91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F4B72-ABE3-69BA-70EF-6EA5642F1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E904D7E-533F-C9C0-3BF5-5AE4261B9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857" y="1825625"/>
            <a:ext cx="68782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3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5C488-8D29-DC08-F4FF-EEC002D9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219F69E-CBAD-C8B3-9272-227E4EDB18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875" y="111528"/>
            <a:ext cx="6110146" cy="4351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93EB6B-0C63-D3EC-D379-ECEB17A04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13" y="111528"/>
            <a:ext cx="6470542" cy="375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38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39D6AB-E1A0-F5BE-1EA0-78485FE61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F0CF9FC-BB61-1180-BA75-FD1B2E9D0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322" y="365125"/>
            <a:ext cx="6291644" cy="4351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3BF24D7-18F7-D415-8AEE-751849FFF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19" y="174056"/>
            <a:ext cx="6638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04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13C1A7-B194-EB42-2A53-CEE0455B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9F6AB12-8D93-C833-B163-23F00015E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933" y="0"/>
            <a:ext cx="5831012" cy="4351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52C48D1-8BCE-7200-64E5-81F6DB1A6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6817" y="0"/>
            <a:ext cx="78536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991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40FA7E3-9098-6E69-C605-67085B1BF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" t="3571" r="3997" b="8492"/>
          <a:stretch>
            <a:fillRect/>
          </a:stretch>
        </p:blipFill>
        <p:spPr>
          <a:xfrm>
            <a:off x="-633047" y="354093"/>
            <a:ext cx="6907237" cy="30749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19F61A-37CF-8E5E-0600-51150F19E07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9" t="2014" r="5931" b="139"/>
          <a:stretch>
            <a:fillRect/>
          </a:stretch>
        </p:blipFill>
        <p:spPr>
          <a:xfrm>
            <a:off x="6274190" y="-126610"/>
            <a:ext cx="6443003" cy="483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87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732780A-67BE-49DF-0743-7F28A8AE4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090" y="73341"/>
            <a:ext cx="6107946" cy="4351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C4AE423-733F-1C2E-099C-8F3677514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496" y="73341"/>
            <a:ext cx="6625021" cy="418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5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E05E7F9-9326-012A-B38F-4D898FBB5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051" y="139194"/>
            <a:ext cx="6447334" cy="4351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690456-A5E5-CE73-2C72-3DB380B4A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2" y="139194"/>
            <a:ext cx="6311036" cy="400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79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520E6-1C0F-E8F3-6FBA-4112E2E0C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4F908DE-0EDF-C5B8-6889-ED4C5053D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31" y="365125"/>
            <a:ext cx="6183427" cy="4351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18342F-CF25-5B43-0C6A-E25C304CF3A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2" t="2055"/>
          <a:stretch>
            <a:fillRect/>
          </a:stretch>
        </p:blipFill>
        <p:spPr>
          <a:xfrm>
            <a:off x="6575874" y="300251"/>
            <a:ext cx="59436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60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1253046-E51E-504A-C61B-DABC59097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714" y="157506"/>
            <a:ext cx="8848339" cy="632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53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0BE9144-96DD-E980-E3A5-418992897F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499" y="174195"/>
            <a:ext cx="8173671" cy="600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36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870CD7C-42B7-923C-CA9E-85C9B85D7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86" y="88710"/>
            <a:ext cx="9274224" cy="676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674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8A48972-639C-1B4D-369D-A6302E77F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304" y="0"/>
            <a:ext cx="8561696" cy="64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883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30FAD69-8B4F-BBEF-B004-BD05672CC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828" y="168790"/>
            <a:ext cx="8652605" cy="635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3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949</Words>
  <Application>Microsoft Office PowerPoint</Application>
  <PresentationFormat>宽屏</PresentationFormat>
  <Paragraphs>54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quote-cjk-patch</vt:lpstr>
      <vt:lpstr>等线</vt:lpstr>
      <vt:lpstr>等线 Light</vt:lpstr>
      <vt:lpstr>Arial</vt:lpstr>
      <vt:lpstr>Office 主题​​</vt:lpstr>
      <vt:lpstr>ICS Lec10:SEQ:Sequential Implementation</vt:lpstr>
      <vt:lpstr>PowerPoint 演示文稿</vt:lpstr>
      <vt:lpstr>Y86-64指令集</vt:lpstr>
      <vt:lpstr>HCL:硬件控制语言</vt:lpstr>
      <vt:lpstr>HCL Operations</vt:lpstr>
      <vt:lpstr>SEQ Hardware Structure</vt:lpstr>
      <vt:lpstr>SEQ Stages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在麟 彭</dc:creator>
  <cp:lastModifiedBy>在麟 彭</cp:lastModifiedBy>
  <cp:revision>10</cp:revision>
  <dcterms:created xsi:type="dcterms:W3CDTF">2026-10-20T15:49:01Z</dcterms:created>
  <dcterms:modified xsi:type="dcterms:W3CDTF">2026-10-21T06:41:34Z</dcterms:modified>
</cp:coreProperties>
</file>