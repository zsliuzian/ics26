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6" r:id="rId12"/>
    <p:sldId id="266" r:id="rId13"/>
    <p:sldId id="267" r:id="rId14"/>
    <p:sldId id="268" r:id="rId15"/>
    <p:sldId id="277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7D7D77-B0C7-5DD2-7C80-387AB61E60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53EE5EC-9BBB-54AD-900D-1739A330B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87479-5B3E-A11F-E052-B32DBFB3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9A3928-F85D-AF64-E32E-DB5DC239F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FE4A1A-75AD-1790-4C1B-C6ECEF07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43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A4C3AA-8164-9D3B-16EB-9B1AB55FB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CA8E4B-4A68-C24C-1308-E100F63BB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4EC5E3-504C-4A3C-93C0-AB24BB730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2A3972-D98B-0AEE-84E5-CAE48C45B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2A9795-6596-644F-8EF0-434BF72C2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2980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AA8E56-EE79-3C12-54CF-6CFC006E4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17F77A-2E39-3920-7AF8-C6191AF639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8D8DCD-9D1F-FD78-9DAD-95F0A2985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3EB24B-0EB0-993A-884D-E066DA9B7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6A93D8-F3E7-DF69-6F69-EF3B3493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068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9E2ACA-B220-4AAD-3140-D86CEEF1F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85BD09-E828-15AF-1F3C-4E8D19502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973B0BD-7D42-6D7E-C5F0-4D7E5D84E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615074-A6DF-4A4E-7704-65D8E8929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6281E1-CD44-B080-64A2-9D297438F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234C7C-CA3A-7C78-4E0C-0AC320E7F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0650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7180C1-B183-2069-79F1-2C14BF7ED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A26797-E6C7-1F28-7122-FC6913F03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55D8690-475D-A366-BECC-C4F7C7508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C880931-20BA-15AF-9D78-8456B403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479F6C7-72BA-409F-5046-D481F062B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3ECB25E-9EE2-BA7B-AC6A-15AF654A0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810BD83-CEAA-B057-7460-2F60EDB90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F800BA-E60C-D18A-D080-062DB5EA5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2065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958D-F2D6-C3E0-B1E8-E95CEA3F9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A1A85C-374A-0F86-7CE8-F5C43EE86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7DEDA7E-4B71-03D9-B9DA-17945BFBB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B490146-B443-6B87-99D7-B6C9F7DA9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884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56F5EC2-F3F9-03FC-8C28-9D3FADAD1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BD38090-1AFB-EA2D-614A-B87D23D57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0B6BF0-B42E-FE51-7875-0B378395B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68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1C447-B6ED-45A0-C332-D13E34D87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A585BF-6343-F104-A583-42B4D5415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2C412E-0E69-7248-2A74-3D86DBA65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A21B10-6387-4A10-16AE-B941543E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5089B0D-D0D8-B1CC-762E-6810B7E7C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DD41F65-D71E-4C66-0031-1C2CED9B7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5831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41EBFD-E57F-E0FA-1FCB-4A01BDEA7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65F8B4-F0D1-6804-2601-C954975075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52F4817-868C-8556-8D1D-455099892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3C9AB7-2609-C214-293E-D9A46FD18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56BC6A-CDA4-0A27-655B-F9412F33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9755DB0-BE0D-BC32-EAC3-7FC02233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6324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945D55-8B2C-010F-7A5A-308350627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DB0EE3-4E88-59C0-74E0-6689936E6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F7644B-FB65-9AF9-8054-BB20938B9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BC641F-4C53-841F-0DED-2A90FB1E8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F7BF42-A062-34D7-3388-AA592FA4D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039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3E5EE8-BC0D-9154-B830-83C20FDB73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346D5A-009F-FE18-1062-3DF5FD3EFD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92866F-78C5-231B-94E2-BB500FB82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F53FFE-799C-6B04-D2A8-03801EEB2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D498F4-D03C-2755-4E95-01664201E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1750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C9289F-385A-8100-B2F4-FDCB2714C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CDEA879-4490-CF3A-03F0-6FFC5EBFA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C04F34-1982-E3D7-C734-43EA6967A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1EDDA3-0350-414B-83AE-3D5059ACA57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D39D40-0D62-616C-FD64-5A8790800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6A4ECD-A331-BC5F-75E7-868DDA80C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8E4B4C-E19B-477B-B20D-60CE27C68F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0180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181BAD-2F9B-37D3-D3B4-63FBCFE665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4888" y="1122363"/>
            <a:ext cx="9602223" cy="2387600"/>
          </a:xfrm>
        </p:spPr>
        <p:txBody>
          <a:bodyPr>
            <a:normAutofit fontScale="90000"/>
          </a:bodyPr>
          <a:lstStyle/>
          <a:p>
            <a:r>
              <a:rPr lang="en-US" altLang="zh-CN" dirty="0" err="1"/>
              <a:t>Lec</a:t>
            </a:r>
            <a:r>
              <a:rPr lang="en-US" altLang="zh-CN" dirty="0"/>
              <a:t> 12 Processor Arch: Pipelined</a:t>
            </a:r>
            <a:br>
              <a:rPr lang="en-US" altLang="zh-CN" dirty="0"/>
            </a:br>
            <a:r>
              <a:rPr lang="zh-CN" altLang="en-US" dirty="0"/>
              <a:t>回课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2F1121C-994B-7361-CE18-D20F2C187A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王瑞 </a:t>
            </a:r>
            <a:r>
              <a:rPr lang="en-US" altLang="zh-CN" dirty="0"/>
              <a:t>2025.10.29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57125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1BF0E9-AFFE-4C04-2721-0B023565C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 </a:t>
            </a:r>
            <a:r>
              <a:rPr lang="zh-CN" altLang="en-US" dirty="0"/>
              <a:t>流水线的原理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A32C35-FF84-4AE7-B4FB-037CE62E1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 sz="2000" dirty="0"/>
              <a:t>将一个指令被执行的过程划分为多个阶段；</a:t>
            </a:r>
            <a:endParaRPr lang="en-US" altLang="zh-CN" sz="2000" dirty="0"/>
          </a:p>
          <a:p>
            <a:pPr marL="514350" indent="-514350">
              <a:buAutoNum type="arabicPeriod"/>
            </a:pPr>
            <a:r>
              <a:rPr lang="zh-CN" altLang="en-US" sz="2000" dirty="0"/>
              <a:t>让每个指令依次通过每一阶段的处理；</a:t>
            </a:r>
            <a:endParaRPr lang="en-US" altLang="zh-CN" sz="2000" dirty="0"/>
          </a:p>
          <a:p>
            <a:pPr marL="514350" indent="-514350">
              <a:buAutoNum type="arabicPeriod"/>
            </a:pPr>
            <a:r>
              <a:rPr lang="zh-CN" altLang="en-US" sz="2000" dirty="0"/>
              <a:t>在每个阶段处可以同时处理不同的指令</a:t>
            </a:r>
            <a:r>
              <a:rPr lang="en-US" altLang="zh-CN" sz="2000" dirty="0"/>
              <a:t>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53107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7D0796-6849-EA02-5DED-BF74C2E2D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 </a:t>
            </a:r>
            <a:r>
              <a:rPr lang="zh-CN" altLang="en-US" dirty="0"/>
              <a:t>流水线的原理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AEEA76D-BDE6-9390-B368-04F58188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2000" dirty="0"/>
              <a:t>假设某一个组合逻辑</a:t>
            </a:r>
            <a:r>
              <a:rPr lang="en-US" altLang="zh-CN" sz="2000" dirty="0"/>
              <a:t>L</a:t>
            </a:r>
            <a:r>
              <a:rPr lang="zh-CN" altLang="en-US" sz="2000" dirty="0"/>
              <a:t>需要</a:t>
            </a:r>
            <a:r>
              <a:rPr lang="en-US" altLang="zh-CN" sz="2000" dirty="0"/>
              <a:t>300ps</a:t>
            </a:r>
            <a:r>
              <a:rPr lang="zh-CN" altLang="en-US" sz="2000" dirty="0"/>
              <a:t>的处理延迟，然后需要</a:t>
            </a:r>
            <a:r>
              <a:rPr lang="en-US" altLang="zh-CN" sz="2000" dirty="0"/>
              <a:t>20ps</a:t>
            </a:r>
            <a:r>
              <a:rPr lang="zh-CN" altLang="en-US" sz="2000" dirty="0"/>
              <a:t>的延迟将结果加载到寄存器上</a:t>
            </a:r>
            <a:r>
              <a:rPr lang="en-US" altLang="zh-CN" sz="2000" dirty="0"/>
              <a:t>. </a:t>
            </a:r>
            <a:r>
              <a:rPr lang="zh-CN" altLang="en-US" sz="2000" dirty="0"/>
              <a:t>现在，我们将</a:t>
            </a:r>
            <a:r>
              <a:rPr lang="en-US" altLang="zh-CN" sz="2000" dirty="0"/>
              <a:t>L</a:t>
            </a:r>
            <a:r>
              <a:rPr lang="zh-CN" altLang="en-US" sz="2000" dirty="0"/>
              <a:t>分为三个阶段</a:t>
            </a:r>
            <a:r>
              <a:rPr lang="en-US" altLang="zh-CN" sz="2000" dirty="0"/>
              <a:t>A</a:t>
            </a:r>
            <a:r>
              <a:rPr lang="zh-CN" altLang="en-US" sz="2000" dirty="0"/>
              <a:t>，</a:t>
            </a:r>
            <a:r>
              <a:rPr lang="en-US" altLang="zh-CN" sz="2000" dirty="0"/>
              <a:t>B</a:t>
            </a:r>
            <a:r>
              <a:rPr lang="zh-CN" altLang="en-US" sz="2000" dirty="0"/>
              <a:t>，</a:t>
            </a:r>
            <a:r>
              <a:rPr lang="en-US" altLang="zh-CN" sz="2000" dirty="0"/>
              <a:t>C</a:t>
            </a:r>
            <a:r>
              <a:rPr lang="zh-CN" altLang="en-US" sz="2000" dirty="0"/>
              <a:t>，各需要</a:t>
            </a:r>
            <a:r>
              <a:rPr lang="en-US" altLang="zh-CN" sz="2000" dirty="0"/>
              <a:t>100ps</a:t>
            </a:r>
            <a:r>
              <a:rPr lang="zh-CN" altLang="en-US" sz="2000" dirty="0"/>
              <a:t>的延迟，并分别在每个阶段后加载一次寄存器</a:t>
            </a:r>
            <a:r>
              <a:rPr lang="en-US" altLang="zh-CN" sz="2000" dirty="0"/>
              <a:t>. </a:t>
            </a:r>
            <a:r>
              <a:rPr lang="zh-CN" altLang="en-US" sz="2000" dirty="0"/>
              <a:t>去依次执行三条指令</a:t>
            </a:r>
            <a:r>
              <a:rPr lang="en-US" altLang="zh-CN" sz="2000" dirty="0"/>
              <a:t>I1</a:t>
            </a:r>
            <a:r>
              <a:rPr lang="zh-CN" altLang="en-US" sz="2000" dirty="0"/>
              <a:t>，</a:t>
            </a:r>
            <a:r>
              <a:rPr lang="en-US" altLang="zh-CN" sz="2000" dirty="0"/>
              <a:t>I2</a:t>
            </a:r>
            <a:r>
              <a:rPr lang="zh-CN" altLang="en-US" sz="2000" dirty="0"/>
              <a:t>，</a:t>
            </a:r>
            <a:r>
              <a:rPr lang="en-US" altLang="zh-CN" sz="2000" dirty="0"/>
              <a:t>I3.</a:t>
            </a:r>
          </a:p>
          <a:p>
            <a:pPr marL="0" indent="0">
              <a:buNone/>
            </a:pPr>
            <a:r>
              <a:rPr lang="zh-CN" altLang="en-US" sz="2000" dirty="0"/>
              <a:t>在原来的顺序实现中，每条指令必须等待前一条指令完成所有阶段后才开始处理；在使用流水线式的处理方式时，只需前一条指令完成</a:t>
            </a:r>
            <a:r>
              <a:rPr lang="en-US" altLang="zh-CN" sz="2000" dirty="0"/>
              <a:t>A</a:t>
            </a:r>
            <a:r>
              <a:rPr lang="zh-CN" altLang="en-US" sz="2000" dirty="0"/>
              <a:t>阶段之后，后一条指令就能开始处理。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7371AD-F8ED-655D-415D-B7F05702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429000"/>
            <a:ext cx="4224910" cy="155399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F870240-6427-AB34-0FD8-A69B872D0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592" y="3429000"/>
            <a:ext cx="5702208" cy="15539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365E7DE-5253-139E-E610-6364EC30FD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4982990"/>
            <a:ext cx="4813392" cy="84113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EC81F3B-1F31-C1C9-162C-4F16DD3E7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592" y="4982990"/>
            <a:ext cx="1995002" cy="83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200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6F4F12-7E55-4017-05A8-B0C9A937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 </a:t>
            </a:r>
            <a:r>
              <a:rPr lang="zh-CN" altLang="en-US" dirty="0"/>
              <a:t>流水线的工作细节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0FFF64E-45F3-1AFB-F01F-7BE6105745C6}"/>
              </a:ext>
            </a:extLst>
          </p:cNvPr>
          <p:cNvSpPr txBox="1"/>
          <p:nvPr/>
        </p:nvSpPr>
        <p:spPr>
          <a:xfrm>
            <a:off x="4738399" y="1690688"/>
            <a:ext cx="58688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时钟信号的上升沿控制指令从一个流水线阶段移动到下一个阶段。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在各个阶段计算的过程中，信号可能以不同速率通过各个不同部分；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时钟上升前的时刻，各个阶段应当完成计算并输入到对应寄存器，但是寄存器状态仍保持上一个状态；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时钟上升后的时刻，各个阶段的寄存器更新为新计算的状态；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时钟运行太快会产生灾难性后果，导致时钟上升时信号来不及通过组合逻辑，寄存器输入仍是不合法的值。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7BBA4B1-197B-956A-FB27-C969E5084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0660" y="1690688"/>
            <a:ext cx="2977739" cy="39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43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937AD0-E15C-CBC6-F29C-B8F9E4997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 </a:t>
            </a:r>
            <a:r>
              <a:rPr lang="zh-CN" altLang="en-US" dirty="0"/>
              <a:t>流水线的局限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9F42CAC-3085-9D13-E86B-660556ED3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99813" cy="4481393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不一致的划分</a:t>
            </a:r>
            <a:endParaRPr lang="en-US" altLang="zh-CN" sz="2000" dirty="0"/>
          </a:p>
          <a:p>
            <a:pPr marL="457200" lvl="1" indent="0">
              <a:buNone/>
            </a:pPr>
            <a:r>
              <a:rPr lang="zh-CN" altLang="en-US" sz="1600" dirty="0"/>
              <a:t>如果划分的若干阶段延迟不同，则运行时钟的速率会被最慢的阶段的延迟所限制，而其他阶段在每个周期会存在空闲。</a:t>
            </a:r>
            <a:endParaRPr lang="en-US" altLang="zh-CN" sz="1600" dirty="0"/>
          </a:p>
          <a:p>
            <a:pPr marL="457200" lvl="1" indent="0">
              <a:buNone/>
            </a:pPr>
            <a:r>
              <a:rPr lang="zh-CN" altLang="en-US" sz="1600" dirty="0"/>
              <a:t>对于硬件设计者，要尽量将系统计算设计划分为一组具有相同延迟的阶段。</a:t>
            </a:r>
            <a:endParaRPr lang="en-US" altLang="zh-CN" sz="1600" dirty="0"/>
          </a:p>
          <a:p>
            <a:endParaRPr lang="en-US" altLang="zh-CN" sz="2000" dirty="0"/>
          </a:p>
          <a:p>
            <a:r>
              <a:rPr lang="zh-CN" altLang="en-US" sz="2000" dirty="0"/>
              <a:t>寄存器延迟</a:t>
            </a:r>
            <a:endParaRPr lang="en-US" altLang="zh-CN" sz="2000" dirty="0"/>
          </a:p>
          <a:p>
            <a:pPr marL="457200" lvl="1" indent="0">
              <a:buNone/>
            </a:pPr>
            <a:r>
              <a:rPr lang="zh-CN" altLang="en-US" sz="1600" dirty="0"/>
              <a:t>无论将组合逻辑划分多少阶段，一个时钟周期仍需要考虑加载流水线寄存器的延迟；流水线过深时，从时钟周期缩减得到的收益降低。</a:t>
            </a:r>
            <a:endParaRPr lang="en-US" altLang="zh-CN" sz="1600" dirty="0"/>
          </a:p>
          <a:p>
            <a:pPr marL="457200" lvl="1" indent="0">
              <a:buNone/>
            </a:pPr>
            <a:r>
              <a:rPr lang="zh-CN" altLang="en-US" sz="1600" dirty="0"/>
              <a:t>电路设计者要尽可能减小流水线寄存器的延迟。</a:t>
            </a:r>
            <a:endParaRPr lang="en-US" altLang="zh-CN" sz="1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EC653F-5800-8D89-F72B-EAB5751E2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5625"/>
            <a:ext cx="5257800" cy="21093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440A0C-13EE-4476-48F6-B5F1A61BB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066321"/>
            <a:ext cx="5257800" cy="141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216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2347D9-63C4-E4FA-6686-403286C0F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带反馈的流水线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4434A3-9D30-94AD-92C6-895C4D015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3184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dirty="0"/>
              <a:t>一般的流水线中的各个对象都应当是相互独立的</a:t>
            </a:r>
            <a:r>
              <a:rPr lang="en-US" altLang="zh-CN" sz="1800" dirty="0"/>
              <a:t>. </a:t>
            </a:r>
            <a:r>
              <a:rPr lang="zh-CN" altLang="en-US" sz="1800" dirty="0"/>
              <a:t>而在</a:t>
            </a:r>
            <a:r>
              <a:rPr lang="en-US" altLang="zh-CN" sz="1800" dirty="0"/>
              <a:t>Y86-64</a:t>
            </a:r>
            <a:r>
              <a:rPr lang="zh-CN" altLang="en-US" sz="1800" dirty="0"/>
              <a:t>以及</a:t>
            </a:r>
            <a:r>
              <a:rPr lang="en-US" altLang="zh-CN" sz="1800" dirty="0"/>
              <a:t>x86-64</a:t>
            </a:r>
            <a:r>
              <a:rPr lang="zh-CN" altLang="en-US" sz="1800" dirty="0"/>
              <a:t>系统中，相邻指令之间很可能时相关的</a:t>
            </a:r>
            <a:r>
              <a:rPr lang="en-US" altLang="zh-CN" sz="1800" dirty="0"/>
              <a:t>. </a:t>
            </a:r>
            <a:r>
              <a:rPr lang="zh-CN" altLang="en-US" sz="1800" dirty="0"/>
              <a:t>相关包括数据相关和控制相关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在</a:t>
            </a:r>
            <a:r>
              <a:rPr lang="en-US" altLang="zh-CN" sz="1800" dirty="0"/>
              <a:t>SEQ</a:t>
            </a:r>
            <a:r>
              <a:rPr lang="zh-CN" altLang="en-US" sz="1800" dirty="0"/>
              <a:t>设计中，此类相关都是由反馈路径解决的，即要将更新了的寄存器文件向下传送到寄存器文件，将新的</a:t>
            </a:r>
            <a:r>
              <a:rPr lang="en-US" altLang="zh-CN" sz="1800" dirty="0"/>
              <a:t>PC</a:t>
            </a:r>
            <a:r>
              <a:rPr lang="zh-CN" altLang="en-US" sz="1800" dirty="0"/>
              <a:t>值向下传送到</a:t>
            </a:r>
            <a:r>
              <a:rPr lang="en-US" altLang="zh-CN" sz="1800" dirty="0"/>
              <a:t>PC</a:t>
            </a:r>
            <a:r>
              <a:rPr lang="zh-CN" altLang="en-US" sz="1800" dirty="0"/>
              <a:t>寄存器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在流水线设计中，与</a:t>
            </a:r>
            <a:r>
              <a:rPr lang="en-US" altLang="zh-CN" sz="1800" dirty="0"/>
              <a:t>SEQ</a:t>
            </a:r>
            <a:r>
              <a:rPr lang="zh-CN" altLang="en-US" sz="1800" dirty="0"/>
              <a:t>相同的反馈逻辑设计会导致错误</a:t>
            </a:r>
            <a:r>
              <a:rPr lang="en-US" altLang="zh-CN" sz="1800" dirty="0"/>
              <a:t>. </a:t>
            </a:r>
            <a:r>
              <a:rPr lang="zh-CN" altLang="en-US" sz="1800" dirty="0"/>
              <a:t>前一条指令的反馈不能及时影响到后一条指令，导致系统的行为被改变，引发数据冒险（</a:t>
            </a:r>
            <a:r>
              <a:rPr lang="en-US" altLang="zh-CN" sz="1800" dirty="0"/>
              <a:t>data </a:t>
            </a:r>
            <a:r>
              <a:rPr lang="en-US" altLang="zh-CN" sz="1800" dirty="0" err="1"/>
              <a:t>harzard</a:t>
            </a:r>
            <a:r>
              <a:rPr lang="zh-CN" altLang="en-US" sz="1800" dirty="0"/>
              <a:t>）</a:t>
            </a:r>
            <a:r>
              <a:rPr lang="en-US" altLang="zh-CN" sz="1800" dirty="0"/>
              <a:t>.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6443C98-8443-9ACA-5686-79BD275223B0}"/>
              </a:ext>
            </a:extLst>
          </p:cNvPr>
          <p:cNvSpPr txBox="1"/>
          <p:nvPr/>
        </p:nvSpPr>
        <p:spPr>
          <a:xfrm>
            <a:off x="8070040" y="1690688"/>
            <a:ext cx="305004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Consolas" panose="020B0609020204030204" pitchFamily="49" charset="0"/>
              </a:rPr>
              <a:t>irmovq</a:t>
            </a:r>
            <a:r>
              <a:rPr lang="en-US" altLang="zh-CN" sz="1400" dirty="0">
                <a:latin typeface="Consolas" panose="020B0609020204030204" pitchFamily="49" charset="0"/>
              </a:rPr>
              <a:t> $50,</a:t>
            </a:r>
            <a:r>
              <a:rPr lang="en-US" altLang="zh-CN" sz="1400" dirty="0">
                <a:solidFill>
                  <a:srgbClr val="C00000"/>
                </a:solidFill>
                <a:latin typeface="Consolas" panose="020B0609020204030204" pitchFamily="49" charset="0"/>
              </a:rPr>
              <a:t>%rax</a:t>
            </a:r>
          </a:p>
          <a:p>
            <a:r>
              <a:rPr lang="en-US" altLang="zh-CN" sz="1400" dirty="0" err="1">
                <a:latin typeface="Consolas" panose="020B0609020204030204" pitchFamily="49" charset="0"/>
              </a:rPr>
              <a:t>addq</a:t>
            </a:r>
            <a:r>
              <a:rPr lang="en-US" altLang="zh-CN" sz="1400" dirty="0">
                <a:latin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C00000"/>
                </a:solidFill>
                <a:latin typeface="Consolas" panose="020B0609020204030204" pitchFamily="49" charset="0"/>
              </a:rPr>
              <a:t>%</a:t>
            </a:r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rax</a:t>
            </a:r>
            <a:r>
              <a:rPr lang="en-US" altLang="zh-CN" sz="1400" dirty="0">
                <a:latin typeface="Consolas" panose="020B0609020204030204" pitchFamily="49" charset="0"/>
              </a:rPr>
              <a:t>,</a:t>
            </a:r>
            <a:r>
              <a:rPr lang="en-US" altLang="zh-CN" sz="1400" dirty="0">
                <a:solidFill>
                  <a:srgbClr val="00B050"/>
                </a:solidFill>
                <a:latin typeface="Consolas" panose="020B0609020204030204" pitchFamily="49" charset="0"/>
              </a:rPr>
              <a:t>%</a:t>
            </a:r>
            <a:r>
              <a:rPr lang="en-US" altLang="zh-CN" sz="1400" dirty="0" err="1">
                <a:solidFill>
                  <a:srgbClr val="00B050"/>
                </a:solidFill>
                <a:latin typeface="Consolas" panose="020B0609020204030204" pitchFamily="49" charset="0"/>
              </a:rPr>
              <a:t>rbx</a:t>
            </a:r>
            <a:endParaRPr lang="en-US" altLang="zh-CN" sz="14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</a:rPr>
              <a:t>mrmovq</a:t>
            </a:r>
            <a:r>
              <a:rPr lang="en-US" altLang="zh-CN" sz="1400" dirty="0">
                <a:latin typeface="Consolas" panose="020B0609020204030204" pitchFamily="49" charset="0"/>
              </a:rPr>
              <a:t> 100(</a:t>
            </a:r>
            <a:r>
              <a:rPr lang="en-US" altLang="zh-CN" sz="1400" dirty="0">
                <a:solidFill>
                  <a:srgbClr val="00B050"/>
                </a:solidFill>
                <a:latin typeface="Consolas" panose="020B0609020204030204" pitchFamily="49" charset="0"/>
              </a:rPr>
              <a:t>%</a:t>
            </a:r>
            <a:r>
              <a:rPr lang="en-US" altLang="zh-CN" sz="1400" dirty="0" err="1">
                <a:solidFill>
                  <a:srgbClr val="00B050"/>
                </a:solidFill>
                <a:latin typeface="Consolas" panose="020B0609020204030204" pitchFamily="49" charset="0"/>
              </a:rPr>
              <a:t>rbx</a:t>
            </a:r>
            <a:r>
              <a:rPr lang="en-US" altLang="zh-CN" sz="1400" dirty="0">
                <a:latin typeface="Consolas" panose="020B0609020204030204" pitchFamily="49" charset="0"/>
              </a:rPr>
              <a:t>),%</a:t>
            </a:r>
            <a:r>
              <a:rPr lang="en-US" altLang="zh-CN" sz="1400" dirty="0" err="1">
                <a:latin typeface="Consolas" panose="020B0609020204030204" pitchFamily="49" charset="0"/>
              </a:rPr>
              <a:t>rdx</a:t>
            </a:r>
            <a:endParaRPr lang="en-US" altLang="zh-CN" sz="1400" dirty="0">
              <a:latin typeface="Consolas" panose="020B0609020204030204" pitchFamily="49" charset="0"/>
            </a:endParaRPr>
          </a:p>
          <a:p>
            <a:r>
              <a:rPr lang="zh-CN" altLang="en-US" sz="1400" dirty="0"/>
              <a:t>数据相关（</a:t>
            </a:r>
            <a:r>
              <a:rPr lang="en-US" altLang="zh-CN" sz="1400" dirty="0"/>
              <a:t>data dependency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en-US" altLang="zh-CN" sz="1400" dirty="0"/>
              <a:t>RAW</a:t>
            </a:r>
            <a:r>
              <a:rPr lang="zh-CN" altLang="en-US" sz="1400" dirty="0"/>
              <a:t>（</a:t>
            </a:r>
            <a:r>
              <a:rPr lang="en-US" altLang="zh-CN" sz="1400" dirty="0"/>
              <a:t>read-after-write</a:t>
            </a:r>
            <a:r>
              <a:rPr lang="zh-CN" altLang="en-US" sz="1400" dirty="0"/>
              <a:t>）相关：即前一条指令的结果要作为后一条指令的操作数</a:t>
            </a:r>
            <a:r>
              <a:rPr lang="en-US" altLang="zh-CN" sz="1400" dirty="0"/>
              <a:t>. </a:t>
            </a:r>
            <a:r>
              <a:rPr lang="zh-CN" altLang="en-US" sz="1400" dirty="0"/>
              <a:t>在实际的程序中很常见</a:t>
            </a:r>
            <a:r>
              <a:rPr lang="en-US" altLang="zh-CN" sz="1400" dirty="0"/>
              <a:t>.</a:t>
            </a:r>
            <a:endParaRPr lang="zh-CN" altLang="en-US" sz="14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090E4B-F6E2-DE42-8C63-765B4C9D0C99}"/>
              </a:ext>
            </a:extLst>
          </p:cNvPr>
          <p:cNvSpPr txBox="1"/>
          <p:nvPr/>
        </p:nvSpPr>
        <p:spPr>
          <a:xfrm>
            <a:off x="8070040" y="3640930"/>
            <a:ext cx="305004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subq</a:t>
            </a:r>
            <a:r>
              <a:rPr lang="en-US" altLang="zh-CN" sz="14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 %</a:t>
            </a:r>
            <a:r>
              <a:rPr lang="en-US" altLang="zh-CN" sz="1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rdx</a:t>
            </a:r>
            <a:r>
              <a:rPr lang="en-US" altLang="zh-CN" sz="14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,%</a:t>
            </a:r>
            <a:r>
              <a:rPr lang="en-US" altLang="zh-CN" sz="1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rbx</a:t>
            </a:r>
            <a:endParaRPr lang="en-US" altLang="zh-CN" sz="14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zh-CN" sz="1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jne</a:t>
            </a:r>
            <a:r>
              <a:rPr lang="en-US" altLang="zh-CN" sz="14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targ</a:t>
            </a:r>
            <a:endParaRPr lang="en-US" altLang="zh-CN" sz="14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</a:rPr>
              <a:t>irmovq</a:t>
            </a:r>
            <a:r>
              <a:rPr lang="en-US" altLang="zh-CN" sz="1400" dirty="0">
                <a:latin typeface="Consolas" panose="020B0609020204030204" pitchFamily="49" charset="0"/>
              </a:rPr>
              <a:t> $10,%rdx</a:t>
            </a:r>
          </a:p>
          <a:p>
            <a:r>
              <a:rPr lang="zh-CN" altLang="en-US" sz="1400" dirty="0"/>
              <a:t>控制相关（</a:t>
            </a:r>
            <a:r>
              <a:rPr lang="en-US" altLang="zh-CN" sz="1400" dirty="0"/>
              <a:t>control dependency</a:t>
            </a:r>
            <a:r>
              <a:rPr lang="zh-CN" altLang="en-US" sz="1400" dirty="0"/>
              <a:t>）</a:t>
            </a:r>
          </a:p>
          <a:p>
            <a:endParaRPr lang="zh-CN" altLang="en-US" sz="14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F62CFD81-4D1B-FA75-7AB5-170C49AE5A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5705"/>
            <a:ext cx="3336405" cy="213706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B22E9C0-A285-15B0-8752-681B3DD0C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605" y="4225705"/>
            <a:ext cx="3531818" cy="213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7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E300D6-BEE1-CF3E-2029-2284DBD2F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SEQ </a:t>
            </a:r>
            <a:r>
              <a:rPr lang="zh-CN" altLang="en-US" dirty="0"/>
              <a:t>→ </a:t>
            </a:r>
            <a:r>
              <a:rPr lang="en-US" altLang="zh-CN" dirty="0"/>
              <a:t>SEQ+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0C45B5-CA8B-0743-C86C-FA81C0907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81478" cy="3961484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在</a:t>
            </a:r>
            <a:r>
              <a:rPr lang="en-US" altLang="zh-CN" sz="2000" dirty="0"/>
              <a:t>SEQ</a:t>
            </a:r>
            <a:r>
              <a:rPr lang="zh-CN" altLang="en-US" sz="2000" dirty="0"/>
              <a:t>设计基础上，将计算新</a:t>
            </a:r>
            <a:r>
              <a:rPr lang="en-US" altLang="zh-CN" sz="2000" dirty="0"/>
              <a:t>PC</a:t>
            </a:r>
            <a:r>
              <a:rPr lang="zh-CN" altLang="en-US" sz="2000" dirty="0"/>
              <a:t>值的阶段移到最前面</a:t>
            </a:r>
            <a:r>
              <a:rPr lang="en-US" altLang="zh-CN" sz="2000" dirty="0"/>
              <a:t>. </a:t>
            </a:r>
            <a:r>
              <a:rPr lang="zh-CN" altLang="en-US" sz="2000" dirty="0"/>
              <a:t>寄存器不再记录</a:t>
            </a:r>
            <a:r>
              <a:rPr lang="en-US" altLang="zh-CN" sz="2000" dirty="0"/>
              <a:t>pc</a:t>
            </a:r>
            <a:r>
              <a:rPr lang="zh-CN" altLang="en-US" sz="2000" dirty="0"/>
              <a:t>，而是记录</a:t>
            </a:r>
            <a:r>
              <a:rPr lang="en-US" altLang="zh-CN" sz="2000" dirty="0" err="1"/>
              <a:t>pIcode</a:t>
            </a:r>
            <a:r>
              <a:rPr lang="zh-CN" altLang="en-US" sz="2000" dirty="0"/>
              <a:t>、</a:t>
            </a:r>
            <a:r>
              <a:rPr lang="en-US" altLang="zh-CN" sz="2000" dirty="0" err="1"/>
              <a:t>pCnd</a:t>
            </a:r>
            <a:r>
              <a:rPr lang="zh-CN" altLang="en-US" sz="2000" dirty="0"/>
              <a:t>、</a:t>
            </a:r>
            <a:r>
              <a:rPr lang="en-US" altLang="zh-CN" sz="2000" dirty="0" err="1"/>
              <a:t>pValM</a:t>
            </a:r>
            <a:r>
              <a:rPr lang="zh-CN" altLang="en-US" sz="2000" dirty="0"/>
              <a:t>、</a:t>
            </a:r>
            <a:r>
              <a:rPr lang="en-US" altLang="zh-CN" sz="2000" dirty="0" err="1"/>
              <a:t>pValC</a:t>
            </a:r>
            <a:r>
              <a:rPr lang="zh-CN" altLang="en-US" sz="2000" dirty="0"/>
              <a:t>、</a:t>
            </a:r>
            <a:r>
              <a:rPr lang="en-US" altLang="zh-CN" sz="2000" dirty="0" err="1"/>
              <a:t>pValP</a:t>
            </a:r>
            <a:r>
              <a:rPr lang="zh-CN" altLang="en-US" sz="2000" dirty="0"/>
              <a:t>等用于计算新</a:t>
            </a:r>
            <a:r>
              <a:rPr lang="en-US" altLang="zh-CN" sz="2000" dirty="0"/>
              <a:t>pc</a:t>
            </a:r>
            <a:r>
              <a:rPr lang="zh-CN" altLang="en-US" sz="2000" dirty="0"/>
              <a:t>值的信息</a:t>
            </a:r>
            <a:r>
              <a:rPr lang="en-US" altLang="zh-CN" sz="2000" dirty="0"/>
              <a:t>.</a:t>
            </a:r>
          </a:p>
          <a:p>
            <a:endParaRPr lang="en-US" altLang="zh-CN" sz="2000" dirty="0"/>
          </a:p>
          <a:p>
            <a:r>
              <a:rPr lang="en-US" altLang="zh-CN" sz="2000" dirty="0"/>
              <a:t>SEQ+</a:t>
            </a:r>
            <a:r>
              <a:rPr lang="zh-CN" altLang="en-US" sz="2000" dirty="0"/>
              <a:t>是</a:t>
            </a:r>
            <a:r>
              <a:rPr lang="en-US" altLang="zh-CN" sz="2000" dirty="0"/>
              <a:t>Y86-64</a:t>
            </a:r>
            <a:r>
              <a:rPr lang="zh-CN" altLang="en-US" sz="2000" dirty="0"/>
              <a:t>流水线化的过渡</a:t>
            </a:r>
            <a:r>
              <a:rPr lang="en-US" altLang="zh-CN" sz="2000" dirty="0"/>
              <a:t>. </a:t>
            </a:r>
            <a:r>
              <a:rPr lang="zh-CN" altLang="en-US" sz="2000" dirty="0"/>
              <a:t>在后面的流水线设计中，需要在第一个阶段计算出新的</a:t>
            </a:r>
            <a:r>
              <a:rPr lang="en-US" altLang="zh-CN" sz="2000" dirty="0"/>
              <a:t>pc</a:t>
            </a:r>
            <a:r>
              <a:rPr lang="zh-CN" altLang="en-US" sz="2000" dirty="0"/>
              <a:t>值，才能在下一个周期启动下一条指令的处理</a:t>
            </a:r>
            <a:r>
              <a:rPr lang="en-US" altLang="zh-CN" sz="2000" dirty="0"/>
              <a:t>.</a:t>
            </a:r>
            <a:endParaRPr lang="zh-CN" altLang="en-US" sz="20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35FAFFA-70D5-A2E2-BD2D-C4D3BD7C22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100" y="1825625"/>
            <a:ext cx="2643658" cy="3961484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151C6D6F-C471-85D3-7F84-01748B7F25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481" y="1825625"/>
            <a:ext cx="2566486" cy="3961484"/>
          </a:xfrm>
          <a:prstGeom prst="rect">
            <a:avLst/>
          </a:prstGeom>
        </p:spPr>
      </p:pic>
      <p:sp>
        <p:nvSpPr>
          <p:cNvPr id="4" name="箭头: 右 3">
            <a:extLst>
              <a:ext uri="{FF2B5EF4-FFF2-40B4-BE49-F238E27FC236}">
                <a16:creationId xmlns:a16="http://schemas.microsoft.com/office/drawing/2014/main" id="{CA2BD4EF-E99D-FEC6-698A-1BAC4E69797C}"/>
              </a:ext>
            </a:extLst>
          </p:cNvPr>
          <p:cNvSpPr/>
          <p:nvPr/>
        </p:nvSpPr>
        <p:spPr>
          <a:xfrm>
            <a:off x="6908446" y="3569328"/>
            <a:ext cx="1321153" cy="47407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624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BBDC16-6EE7-F410-A960-FB1B1FFA1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加入流水线寄存器</a:t>
            </a:r>
          </a:p>
        </p:txBody>
      </p:sp>
      <p:sp>
        <p:nvSpPr>
          <p:cNvPr id="9" name="内容占位符 8">
            <a:extLst>
              <a:ext uri="{FF2B5EF4-FFF2-40B4-BE49-F238E27FC236}">
                <a16:creationId xmlns:a16="http://schemas.microsoft.com/office/drawing/2014/main" id="{CE9122EA-E182-C175-E00A-F3A968517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56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dirty="0"/>
              <a:t>类似</a:t>
            </a:r>
            <a:r>
              <a:rPr lang="en-US" altLang="zh-CN" sz="1800" dirty="0"/>
              <a:t>SEQ+</a:t>
            </a:r>
            <a:r>
              <a:rPr lang="zh-CN" altLang="en-US" sz="1800" dirty="0"/>
              <a:t>的设计，将一条指令的处理过程分为取指（</a:t>
            </a:r>
            <a:r>
              <a:rPr lang="en-US" altLang="zh-CN" sz="1800" dirty="0"/>
              <a:t>Fetch</a:t>
            </a:r>
            <a:r>
              <a:rPr lang="zh-CN" altLang="en-US" sz="1800" dirty="0"/>
              <a:t>）、解码（</a:t>
            </a:r>
            <a:r>
              <a:rPr lang="en-US" altLang="zh-CN" sz="1800" dirty="0"/>
              <a:t>Decode</a:t>
            </a:r>
            <a:r>
              <a:rPr lang="zh-CN" altLang="en-US" sz="1800" dirty="0"/>
              <a:t>）、执行（</a:t>
            </a:r>
            <a:r>
              <a:rPr lang="en-US" altLang="zh-CN" sz="1800" dirty="0"/>
              <a:t>Execute</a:t>
            </a:r>
            <a:r>
              <a:rPr lang="zh-CN" altLang="en-US" sz="1800" dirty="0"/>
              <a:t>）、访存（</a:t>
            </a:r>
            <a:r>
              <a:rPr lang="en-US" altLang="zh-CN" sz="1800" dirty="0"/>
              <a:t>Memory</a:t>
            </a:r>
            <a:r>
              <a:rPr lang="zh-CN" altLang="en-US" sz="1800" dirty="0"/>
              <a:t>）、写回（</a:t>
            </a:r>
            <a:r>
              <a:rPr lang="en-US" altLang="zh-CN" sz="1800" dirty="0"/>
              <a:t>Write-back</a:t>
            </a:r>
            <a:r>
              <a:rPr lang="zh-CN" altLang="en-US" sz="1800" dirty="0"/>
              <a:t>）五个阶段，每个阶段前皆有流水线寄存器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取指：选取新</a:t>
            </a:r>
            <a:r>
              <a:rPr lang="en-US" altLang="zh-CN" sz="1800" dirty="0"/>
              <a:t>PC</a:t>
            </a:r>
            <a:r>
              <a:rPr lang="zh-CN" altLang="en-US" sz="1800" dirty="0"/>
              <a:t>，读取新指令，并预测下一个周期的新</a:t>
            </a:r>
            <a:r>
              <a:rPr lang="en-US" altLang="zh-CN" sz="1800" dirty="0"/>
              <a:t>PC.</a:t>
            </a:r>
          </a:p>
          <a:p>
            <a:pPr marL="0" indent="0">
              <a:buNone/>
            </a:pPr>
            <a:r>
              <a:rPr lang="zh-CN" altLang="en-US" sz="1800" dirty="0"/>
              <a:t>解码：读取寄存器文件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执行：通过</a:t>
            </a:r>
            <a:r>
              <a:rPr lang="en-US" altLang="zh-CN" sz="1800" dirty="0"/>
              <a:t>ALU</a:t>
            </a:r>
            <a:r>
              <a:rPr lang="zh-CN" altLang="en-US" sz="1800" dirty="0"/>
              <a:t>模块计算值，更新条件码，进行</a:t>
            </a:r>
            <a:r>
              <a:rPr lang="en-US" altLang="zh-CN" sz="1800" dirty="0" err="1"/>
              <a:t>cnd</a:t>
            </a:r>
            <a:r>
              <a:rPr lang="zh-CN" altLang="en-US" sz="1800" dirty="0"/>
              <a:t>条件判断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访存：对数据内存进行读写操作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写回：更新写入寄存器文件</a:t>
            </a:r>
            <a:r>
              <a:rPr lang="en-US" altLang="zh-CN" sz="1800" dirty="0"/>
              <a:t>.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649EC8B-2DCC-F197-774B-FB07AEA922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3855" y="1027906"/>
            <a:ext cx="3618429" cy="512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046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41106D-3433-D6FC-F222-69FFEE22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当前流水线中的反馈路径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555C72-54FF-8E44-3C04-DDF344F7F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56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dirty="0"/>
              <a:t>- F</a:t>
            </a:r>
            <a:r>
              <a:rPr lang="zh-CN" altLang="en-US" sz="1800" dirty="0"/>
              <a:t>阶段将预测的</a:t>
            </a:r>
            <a:r>
              <a:rPr lang="en-US" altLang="zh-CN" sz="1800" dirty="0"/>
              <a:t>pc</a:t>
            </a:r>
            <a:r>
              <a:rPr lang="zh-CN" altLang="en-US" sz="1800" dirty="0"/>
              <a:t>值传回</a:t>
            </a:r>
            <a:r>
              <a:rPr lang="en-US" altLang="zh-CN" sz="1800" dirty="0"/>
              <a:t>F</a:t>
            </a:r>
            <a:r>
              <a:rPr lang="zh-CN" altLang="en-US" sz="1800" dirty="0"/>
              <a:t>阶段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en-US" altLang="zh-CN" sz="1800" dirty="0"/>
              <a:t>- JXX</a:t>
            </a:r>
            <a:r>
              <a:rPr lang="zh-CN" altLang="en-US" sz="1800" dirty="0"/>
              <a:t>指令中，</a:t>
            </a:r>
            <a:r>
              <a:rPr lang="en-US" altLang="zh-CN" sz="1800" dirty="0"/>
              <a:t>M</a:t>
            </a:r>
            <a:r>
              <a:rPr lang="zh-CN" altLang="en-US" sz="1800" dirty="0"/>
              <a:t>阶段将条件分支的</a:t>
            </a:r>
            <a:r>
              <a:rPr lang="en-US" altLang="zh-CN" sz="1800" dirty="0" err="1"/>
              <a:t>cnd</a:t>
            </a:r>
            <a:r>
              <a:rPr lang="zh-CN" altLang="en-US" sz="1800" dirty="0"/>
              <a:t>以及正确的</a:t>
            </a:r>
            <a:r>
              <a:rPr lang="en-US" altLang="zh-CN" sz="1800" dirty="0"/>
              <a:t>pc</a:t>
            </a:r>
            <a:r>
              <a:rPr lang="zh-CN" altLang="en-US" sz="1800" dirty="0"/>
              <a:t>值传回</a:t>
            </a:r>
            <a:r>
              <a:rPr lang="en-US" altLang="zh-CN" sz="1800" dirty="0"/>
              <a:t>F</a:t>
            </a:r>
            <a:r>
              <a:rPr lang="zh-CN" altLang="en-US" sz="1800" dirty="0"/>
              <a:t>阶段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en-US" altLang="zh-CN" sz="1800" dirty="0"/>
              <a:t>- RET</a:t>
            </a:r>
            <a:r>
              <a:rPr lang="zh-CN" altLang="en-US" sz="1800" dirty="0"/>
              <a:t>指令中，</a:t>
            </a:r>
            <a:r>
              <a:rPr lang="en-US" altLang="zh-CN" sz="1800" dirty="0"/>
              <a:t>W</a:t>
            </a:r>
            <a:r>
              <a:rPr lang="zh-CN" altLang="en-US" sz="1800" dirty="0"/>
              <a:t>阶段将返回的指令地址传回</a:t>
            </a:r>
            <a:r>
              <a:rPr lang="en-US" altLang="zh-CN" sz="1800" dirty="0"/>
              <a:t>F</a:t>
            </a:r>
            <a:r>
              <a:rPr lang="zh-CN" altLang="en-US" sz="1800" dirty="0"/>
              <a:t>阶段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en-US" altLang="zh-CN" sz="1800" dirty="0"/>
              <a:t>- W</a:t>
            </a:r>
            <a:r>
              <a:rPr lang="zh-CN" altLang="en-US" sz="1800" dirty="0"/>
              <a:t>阶段对寄存器文件的写入更新</a:t>
            </a:r>
            <a:r>
              <a:rPr lang="en-US" altLang="zh-CN" sz="1800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4E66EEB-6CC0-9AF9-3ACB-837B7B021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3855" y="1027906"/>
            <a:ext cx="3618429" cy="512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888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E55917-29D8-6CC0-6596-70F389463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新</a:t>
            </a:r>
            <a:r>
              <a:rPr lang="en-US" altLang="zh-CN" dirty="0"/>
              <a:t>PC</a:t>
            </a:r>
            <a:r>
              <a:rPr lang="zh-CN" altLang="en-US" dirty="0"/>
              <a:t>值的获取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E3A350-7ADA-1B26-44E8-8B9512173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dirty="0"/>
              <a:t>在</a:t>
            </a:r>
            <a:r>
              <a:rPr lang="en-US" altLang="zh-CN" sz="1800" dirty="0"/>
              <a:t>Fetch</a:t>
            </a:r>
            <a:r>
              <a:rPr lang="zh-CN" altLang="en-US" sz="1800" dirty="0"/>
              <a:t>阶段有时不能可靠地得知下一个</a:t>
            </a:r>
            <a:r>
              <a:rPr lang="en-US" altLang="zh-CN" sz="1800" dirty="0"/>
              <a:t>pc</a:t>
            </a:r>
            <a:r>
              <a:rPr lang="zh-CN" altLang="en-US" sz="1800" dirty="0"/>
              <a:t>值</a:t>
            </a:r>
            <a:r>
              <a:rPr lang="en-US" altLang="zh-CN" sz="1800" dirty="0"/>
              <a:t>. </a:t>
            </a:r>
            <a:r>
              <a:rPr lang="zh-CN" altLang="en-US" sz="1800" dirty="0"/>
              <a:t>而为了尽可能保持效率，先对新的</a:t>
            </a:r>
            <a:r>
              <a:rPr lang="en-US" altLang="zh-CN" sz="1800" dirty="0"/>
              <a:t>pc</a:t>
            </a:r>
            <a:r>
              <a:rPr lang="zh-CN" altLang="en-US" sz="1800" dirty="0"/>
              <a:t>值进行预测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预测策略：</a:t>
            </a:r>
            <a:endParaRPr lang="en-US" altLang="zh-CN" sz="1800" dirty="0"/>
          </a:p>
          <a:p>
            <a:pPr>
              <a:buFontTx/>
              <a:buChar char="-"/>
            </a:pPr>
            <a:r>
              <a:rPr lang="zh-CN" altLang="en-US" sz="1800" dirty="0"/>
              <a:t>不涉及控制转移的一般指令，可以确定下一个</a:t>
            </a:r>
            <a:r>
              <a:rPr lang="en-US" altLang="zh-CN" sz="1800" dirty="0"/>
              <a:t>pc</a:t>
            </a:r>
            <a:r>
              <a:rPr lang="zh-CN" altLang="en-US" sz="1800" dirty="0"/>
              <a:t>值即为</a:t>
            </a:r>
            <a:r>
              <a:rPr lang="en-US" altLang="zh-CN" sz="1800" dirty="0" err="1"/>
              <a:t>valP</a:t>
            </a:r>
            <a:r>
              <a:rPr lang="zh-CN" altLang="en-US" sz="1800" dirty="0"/>
              <a:t>；</a:t>
            </a:r>
            <a:endParaRPr lang="en-US" altLang="zh-CN" sz="1800" dirty="0"/>
          </a:p>
          <a:p>
            <a:pPr>
              <a:buFontTx/>
              <a:buChar char="-"/>
            </a:pPr>
            <a:r>
              <a:rPr lang="en-US" altLang="zh-CN" sz="1800" dirty="0"/>
              <a:t>CALL/JMP</a:t>
            </a:r>
            <a:r>
              <a:rPr lang="zh-CN" altLang="en-US" sz="1800" dirty="0"/>
              <a:t>指令，非条件控制转移，可以确定下一个</a:t>
            </a:r>
            <a:r>
              <a:rPr lang="en-US" altLang="zh-CN" sz="1800" dirty="0"/>
              <a:t>pc</a:t>
            </a:r>
            <a:r>
              <a:rPr lang="zh-CN" altLang="en-US" sz="1800" dirty="0"/>
              <a:t>值为</a:t>
            </a:r>
            <a:r>
              <a:rPr lang="en-US" altLang="zh-CN" sz="1800" dirty="0" err="1"/>
              <a:t>valC</a:t>
            </a:r>
            <a:r>
              <a:rPr lang="zh-CN" altLang="en-US" sz="1800" dirty="0"/>
              <a:t>；</a:t>
            </a:r>
            <a:endParaRPr lang="en-US" altLang="zh-CN" sz="1800" dirty="0"/>
          </a:p>
          <a:p>
            <a:pPr>
              <a:buFontTx/>
              <a:buChar char="-"/>
            </a:pPr>
            <a:r>
              <a:rPr lang="en-US" altLang="zh-CN" sz="1800" dirty="0"/>
              <a:t>JXX</a:t>
            </a:r>
            <a:r>
              <a:rPr lang="zh-CN" altLang="en-US" sz="1800" dirty="0"/>
              <a:t>指令，条件控制转移，下一个</a:t>
            </a:r>
            <a:r>
              <a:rPr lang="en-US" altLang="zh-CN" sz="1800" dirty="0"/>
              <a:t>pc</a:t>
            </a:r>
            <a:r>
              <a:rPr lang="zh-CN" altLang="en-US" sz="1800" dirty="0"/>
              <a:t>值既可能为</a:t>
            </a:r>
            <a:r>
              <a:rPr lang="en-US" altLang="zh-CN" sz="1800" dirty="0" err="1"/>
              <a:t>valP</a:t>
            </a:r>
            <a:r>
              <a:rPr lang="zh-CN" altLang="en-US" sz="1800" dirty="0"/>
              <a:t>，也可能为</a:t>
            </a:r>
            <a:r>
              <a:rPr lang="en-US" altLang="zh-CN" sz="1800" dirty="0" err="1"/>
              <a:t>valC</a:t>
            </a:r>
            <a:r>
              <a:rPr lang="zh-CN" altLang="en-US" sz="1800" dirty="0"/>
              <a:t>；由于实际情况中，选取分支的条件达成的概率更高（</a:t>
            </a:r>
            <a:r>
              <a:rPr lang="en-US" altLang="zh-CN" sz="1800" dirty="0"/>
              <a:t>60%</a:t>
            </a:r>
            <a:r>
              <a:rPr lang="zh-CN" altLang="en-US" sz="1800" dirty="0"/>
              <a:t>？），故预测的下一个</a:t>
            </a:r>
            <a:r>
              <a:rPr lang="en-US" altLang="zh-CN" sz="1800" dirty="0"/>
              <a:t>pc</a:t>
            </a:r>
            <a:r>
              <a:rPr lang="zh-CN" altLang="en-US" sz="1800" dirty="0"/>
              <a:t>值为</a:t>
            </a:r>
            <a:r>
              <a:rPr lang="en-US" altLang="zh-CN" sz="1800" dirty="0" err="1"/>
              <a:t>valC</a:t>
            </a:r>
            <a:r>
              <a:rPr lang="zh-CN" altLang="en-US" sz="1800" dirty="0"/>
              <a:t>；需要等到该指令完成</a:t>
            </a:r>
            <a:r>
              <a:rPr lang="en-US" altLang="zh-CN" sz="1800" dirty="0"/>
              <a:t>E</a:t>
            </a:r>
            <a:r>
              <a:rPr lang="zh-CN" altLang="en-US" sz="1800" dirty="0"/>
              <a:t>阶段才能获取真正给的</a:t>
            </a:r>
            <a:r>
              <a:rPr lang="en-US" altLang="zh-CN" sz="1800" dirty="0"/>
              <a:t>pc</a:t>
            </a:r>
            <a:r>
              <a:rPr lang="zh-CN" altLang="en-US" sz="1800" dirty="0"/>
              <a:t>值（</a:t>
            </a:r>
            <a:r>
              <a:rPr lang="en-US" altLang="zh-CN" sz="1800" dirty="0" err="1"/>
              <a:t>M_cnd</a:t>
            </a:r>
            <a:r>
              <a:rPr lang="zh-CN" altLang="en-US" sz="1800" dirty="0"/>
              <a:t>和</a:t>
            </a:r>
            <a:r>
              <a:rPr lang="en-US" altLang="zh-CN" sz="1800" dirty="0" err="1"/>
              <a:t>M_valA</a:t>
            </a:r>
            <a:r>
              <a:rPr lang="zh-CN" altLang="en-US" sz="1800" dirty="0"/>
              <a:t>信号），如果实际</a:t>
            </a:r>
            <a:r>
              <a:rPr lang="en-US" altLang="zh-CN" sz="1800" dirty="0"/>
              <a:t>pc</a:t>
            </a:r>
            <a:r>
              <a:rPr lang="zh-CN" altLang="en-US" sz="1800" dirty="0"/>
              <a:t>与预测</a:t>
            </a:r>
            <a:r>
              <a:rPr lang="en-US" altLang="zh-CN" sz="1800" dirty="0"/>
              <a:t>pc</a:t>
            </a:r>
            <a:r>
              <a:rPr lang="zh-CN" altLang="en-US" sz="1800" dirty="0"/>
              <a:t>不一致，则该指令后面的指令不应当被执行，需要重新执行正确的分支</a:t>
            </a:r>
            <a:r>
              <a:rPr lang="en-US" altLang="zh-CN" sz="1800" dirty="0"/>
              <a:t>.</a:t>
            </a:r>
          </a:p>
          <a:p>
            <a:pPr>
              <a:buFontTx/>
              <a:buChar char="-"/>
            </a:pPr>
            <a:r>
              <a:rPr lang="en-US" altLang="zh-CN" sz="1800" dirty="0"/>
              <a:t>RET</a:t>
            </a:r>
            <a:r>
              <a:rPr lang="zh-CN" altLang="en-US" sz="1800" dirty="0"/>
              <a:t>指令，需要从内存的栈中取出返回地址，下一个</a:t>
            </a:r>
            <a:r>
              <a:rPr lang="en-US" altLang="zh-CN" sz="1800" dirty="0"/>
              <a:t>pc</a:t>
            </a:r>
            <a:r>
              <a:rPr lang="zh-CN" altLang="en-US" sz="1800" dirty="0"/>
              <a:t>值没有可靠的预测方法，要等到该指令完成</a:t>
            </a:r>
            <a:r>
              <a:rPr lang="en-US" altLang="zh-CN" sz="1800" dirty="0"/>
              <a:t>M</a:t>
            </a:r>
            <a:r>
              <a:rPr lang="zh-CN" altLang="en-US" sz="1800" dirty="0"/>
              <a:t>阶段才能获取（</a:t>
            </a:r>
            <a:r>
              <a:rPr lang="en-US" altLang="zh-CN" sz="1800" dirty="0" err="1"/>
              <a:t>W_valM</a:t>
            </a:r>
            <a:r>
              <a:rPr lang="zh-CN" altLang="en-US" sz="1800" dirty="0"/>
              <a:t>信号）</a:t>
            </a:r>
            <a:r>
              <a:rPr lang="en-US" altLang="zh-CN" sz="1800" dirty="0"/>
              <a:t>.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097171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DBF857-B690-03F4-001B-EEF9EC732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当前流水线设计的缺陷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517959-FBFB-CFB9-30E2-54543B0C8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目前设计的反馈逻辑，尚不能解决数据相关、控制相关问题，造成数据冒险、控制冒险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13296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B51475-094D-648D-AC05-75513DC17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数据相关的应对</a:t>
            </a:r>
          </a:p>
        </p:txBody>
      </p:sp>
      <p:pic>
        <p:nvPicPr>
          <p:cNvPr id="19" name="内容占位符 18">
            <a:extLst>
              <a:ext uri="{FF2B5EF4-FFF2-40B4-BE49-F238E27FC236}">
                <a16:creationId xmlns:a16="http://schemas.microsoft.com/office/drawing/2014/main" id="{0B3A05C1-1B63-1CA9-5F7D-D31B06719E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983638"/>
            <a:ext cx="2488717" cy="2031106"/>
          </a:xfr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B657D8E-EF15-515B-EBF3-23EA1EC9CC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983638"/>
            <a:ext cx="2745756" cy="2031107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1B8E265-4BDB-4E6C-DBAF-7225BC303B11}"/>
              </a:ext>
            </a:extLst>
          </p:cNvPr>
          <p:cNvSpPr txBox="1"/>
          <p:nvPr/>
        </p:nvSpPr>
        <p:spPr>
          <a:xfrm>
            <a:off x="838200" y="1675314"/>
            <a:ext cx="1051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执行前后两条数据相关（</a:t>
            </a:r>
            <a:r>
              <a:rPr lang="en-US" altLang="zh-CN" dirty="0"/>
              <a:t>data dependency</a:t>
            </a:r>
            <a:r>
              <a:rPr lang="zh-CN" altLang="en-US" dirty="0"/>
              <a:t>）的指令时，如果按照先前的设计思路依次处理，前一条指令还未写回，后一条指令就读取了未更新的寄存器文件，出现数据冒险（</a:t>
            </a:r>
            <a:r>
              <a:rPr lang="en-US" altLang="zh-CN" dirty="0"/>
              <a:t>data </a:t>
            </a:r>
            <a:r>
              <a:rPr lang="en-US" altLang="zh-CN" dirty="0" err="1"/>
              <a:t>harzard</a:t>
            </a:r>
            <a:r>
              <a:rPr lang="zh-CN" altLang="en-US" dirty="0"/>
              <a:t>）</a:t>
            </a:r>
            <a:r>
              <a:rPr lang="en-US" altLang="zh-CN" dirty="0"/>
              <a:t>.</a:t>
            </a:r>
          </a:p>
          <a:p>
            <a:endParaRPr lang="en-US" altLang="zh-CN" dirty="0"/>
          </a:p>
          <a:p>
            <a:r>
              <a:rPr lang="zh-CN" altLang="en-US" dirty="0"/>
              <a:t>解决思路</a:t>
            </a:r>
            <a:r>
              <a:rPr lang="en-US" altLang="zh-CN" dirty="0"/>
              <a:t>1</a:t>
            </a:r>
            <a:r>
              <a:rPr lang="zh-CN" altLang="en-US" dirty="0"/>
              <a:t>：在指令中插入一些</a:t>
            </a:r>
            <a:r>
              <a:rPr lang="en-US" altLang="zh-CN" dirty="0"/>
              <a:t>NOP</a:t>
            </a:r>
            <a:r>
              <a:rPr lang="zh-CN" altLang="en-US" dirty="0"/>
              <a:t>指令，保证前一条指令完成了</a:t>
            </a:r>
            <a:r>
              <a:rPr lang="en-US" altLang="zh-CN" dirty="0"/>
              <a:t>W</a:t>
            </a:r>
            <a:r>
              <a:rPr lang="zh-CN" altLang="en-US" dirty="0"/>
              <a:t>阶段，再执行后一条指令的</a:t>
            </a:r>
            <a:r>
              <a:rPr lang="en-US" altLang="zh-CN" dirty="0"/>
              <a:t>D</a:t>
            </a:r>
            <a:r>
              <a:rPr lang="zh-CN" altLang="en-US" dirty="0"/>
              <a:t>阶段</a:t>
            </a:r>
            <a:r>
              <a:rPr lang="en-US" altLang="zh-CN" dirty="0"/>
              <a:t>. </a:t>
            </a:r>
          </a:p>
          <a:p>
            <a:r>
              <a:rPr lang="zh-CN" altLang="en-US" dirty="0"/>
              <a:t>解决思路</a:t>
            </a:r>
            <a:r>
              <a:rPr lang="en-US" altLang="zh-CN" dirty="0"/>
              <a:t>2</a:t>
            </a:r>
            <a:r>
              <a:rPr lang="zh-CN" altLang="en-US" dirty="0"/>
              <a:t>：发现将要发生数据冒险时，将后一条指令停止（</a:t>
            </a:r>
            <a:r>
              <a:rPr lang="en-US" altLang="zh-CN" dirty="0"/>
              <a:t>stall</a:t>
            </a:r>
            <a:r>
              <a:rPr lang="zh-CN" altLang="en-US" dirty="0"/>
              <a:t>）在</a:t>
            </a:r>
            <a:r>
              <a:rPr lang="en-US" altLang="zh-CN" dirty="0"/>
              <a:t>D</a:t>
            </a:r>
            <a:r>
              <a:rPr lang="zh-CN" altLang="en-US" dirty="0"/>
              <a:t>阶段（包括后续指令也停止），直到前一条指令完成</a:t>
            </a:r>
            <a:r>
              <a:rPr lang="en-US" altLang="zh-CN" dirty="0"/>
              <a:t>W</a:t>
            </a:r>
            <a:r>
              <a:rPr lang="zh-CN" altLang="en-US" dirty="0"/>
              <a:t>阶段后，再处理后一条指令的</a:t>
            </a:r>
            <a:r>
              <a:rPr lang="en-US" altLang="zh-CN" dirty="0"/>
              <a:t>D</a:t>
            </a:r>
            <a:r>
              <a:rPr lang="zh-CN" altLang="en-US" dirty="0"/>
              <a:t>阶段</a:t>
            </a:r>
            <a:r>
              <a:rPr lang="en-US" altLang="zh-CN" dirty="0"/>
              <a:t>. </a:t>
            </a:r>
            <a:r>
              <a:rPr lang="zh-CN" altLang="en-US" dirty="0"/>
              <a:t>在后一条指令在</a:t>
            </a:r>
            <a:r>
              <a:rPr lang="en-US" altLang="zh-CN" dirty="0"/>
              <a:t>D</a:t>
            </a:r>
            <a:r>
              <a:rPr lang="zh-CN" altLang="en-US" dirty="0"/>
              <a:t>阶段停止时，会在</a:t>
            </a:r>
            <a:r>
              <a:rPr lang="en-US" altLang="zh-CN" dirty="0"/>
              <a:t>E</a:t>
            </a:r>
            <a:r>
              <a:rPr lang="zh-CN" altLang="en-US" dirty="0"/>
              <a:t>阶段插入气泡（</a:t>
            </a:r>
            <a:r>
              <a:rPr lang="en-US" altLang="zh-CN" dirty="0"/>
              <a:t>bubble</a:t>
            </a:r>
            <a:r>
              <a:rPr lang="zh-CN" altLang="en-US" dirty="0"/>
              <a:t>）</a:t>
            </a:r>
            <a:r>
              <a:rPr lang="en-US" altLang="zh-CN" dirty="0"/>
              <a:t>. </a:t>
            </a:r>
            <a:r>
              <a:rPr lang="zh-CN" altLang="en-US" dirty="0"/>
              <a:t>类似于根据程序的执行状况动态地插入若干</a:t>
            </a:r>
            <a:r>
              <a:rPr lang="en-US" altLang="zh-CN" dirty="0"/>
              <a:t>NOP</a:t>
            </a:r>
            <a:r>
              <a:rPr lang="zh-CN" altLang="en-US" dirty="0"/>
              <a:t>指令</a:t>
            </a:r>
            <a:r>
              <a:rPr lang="en-US" altLang="zh-CN" dirty="0"/>
              <a:t>.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CA5E4681-C4AB-26CF-377C-E7E836AA08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20" y="3983638"/>
            <a:ext cx="2768880" cy="2031106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9E027F27-572F-B3B6-411C-F6E5724D1100}"/>
              </a:ext>
            </a:extLst>
          </p:cNvPr>
          <p:cNvSpPr txBox="1"/>
          <p:nvPr/>
        </p:nvSpPr>
        <p:spPr>
          <a:xfrm flipH="1">
            <a:off x="8841756" y="3983638"/>
            <a:ext cx="25120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判定：</a:t>
            </a:r>
            <a:endParaRPr lang="en-US" altLang="zh-CN" dirty="0"/>
          </a:p>
          <a:p>
            <a:r>
              <a:rPr lang="en-US" altLang="zh-CN" dirty="0"/>
              <a:t>D</a:t>
            </a:r>
            <a:r>
              <a:rPr lang="zh-CN" altLang="en-US" dirty="0"/>
              <a:t>阶段中</a:t>
            </a:r>
            <a:r>
              <a:rPr lang="en-US" altLang="zh-CN" dirty="0" err="1"/>
              <a:t>D_srcA</a:t>
            </a:r>
            <a:r>
              <a:rPr lang="en-US" altLang="zh-CN" dirty="0"/>
              <a:t>/</a:t>
            </a:r>
            <a:r>
              <a:rPr lang="en-US" altLang="zh-CN" dirty="0" err="1"/>
              <a:t>D_srcB</a:t>
            </a:r>
            <a:r>
              <a:rPr lang="zh-CN" altLang="en-US" dirty="0"/>
              <a:t>与</a:t>
            </a:r>
            <a:r>
              <a:rPr lang="en-US" altLang="zh-CN" dirty="0"/>
              <a:t>E/M/W</a:t>
            </a:r>
            <a:r>
              <a:rPr lang="zh-CN" altLang="en-US" dirty="0"/>
              <a:t>阶段中的</a:t>
            </a:r>
            <a:r>
              <a:rPr lang="en-US" altLang="zh-CN" dirty="0" err="1"/>
              <a:t>dstM</a:t>
            </a:r>
            <a:r>
              <a:rPr lang="en-US" altLang="zh-CN" dirty="0"/>
              <a:t>/</a:t>
            </a:r>
            <a:r>
              <a:rPr lang="en-US" altLang="zh-CN" dirty="0" err="1"/>
              <a:t>dstE</a:t>
            </a:r>
            <a:r>
              <a:rPr lang="zh-CN" altLang="en-US" dirty="0"/>
              <a:t>一致（</a:t>
            </a:r>
            <a:r>
              <a:rPr lang="en-US" altLang="zh-CN" dirty="0"/>
              <a:t>0xF</a:t>
            </a:r>
            <a:r>
              <a:rPr lang="zh-CN" altLang="en-US" dirty="0"/>
              <a:t>除外）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6468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F54665-6955-784E-643D-791DC2E6F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Stall </a:t>
            </a:r>
            <a:r>
              <a:rPr lang="zh-CN" altLang="en-US" dirty="0"/>
              <a:t>与</a:t>
            </a:r>
            <a:r>
              <a:rPr lang="en-US" altLang="zh-CN" dirty="0"/>
              <a:t> Bubble </a:t>
            </a:r>
            <a:r>
              <a:rPr lang="zh-CN" altLang="en-US" dirty="0"/>
              <a:t>的具体实现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523B84-0EFC-B087-435E-4DF69F0F5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1264" cy="4351338"/>
          </a:xfrm>
        </p:spPr>
        <p:txBody>
          <a:bodyPr>
            <a:normAutofit/>
          </a:bodyPr>
          <a:lstStyle/>
          <a:p>
            <a:r>
              <a:rPr lang="zh-CN" altLang="en-US" sz="1800" dirty="0"/>
              <a:t>某一阶段的指令 </a:t>
            </a:r>
            <a:r>
              <a:rPr lang="en-US" altLang="zh-CN" sz="1800" dirty="0"/>
              <a:t>stall </a:t>
            </a:r>
            <a:r>
              <a:rPr lang="zh-CN" altLang="en-US" sz="1800" dirty="0"/>
              <a:t>时，即禁止该阶段更新状态，该阶段寄存器保持原来的状态；</a:t>
            </a:r>
            <a:endParaRPr lang="en-US" altLang="zh-CN" sz="1800" dirty="0"/>
          </a:p>
          <a:p>
            <a:r>
              <a:rPr lang="zh-CN" altLang="en-US" sz="1800" dirty="0"/>
              <a:t>在某一阶段插入 </a:t>
            </a:r>
            <a:r>
              <a:rPr lang="en-US" altLang="zh-CN" sz="1800" dirty="0"/>
              <a:t>bubble </a:t>
            </a:r>
            <a:r>
              <a:rPr lang="zh-CN" altLang="en-US" sz="1800" dirty="0"/>
              <a:t>时，即接下来将该阶段寄存器复位为执行</a:t>
            </a:r>
            <a:r>
              <a:rPr lang="en-US" altLang="zh-CN" sz="1800" dirty="0"/>
              <a:t>NOP</a:t>
            </a:r>
            <a:r>
              <a:rPr lang="zh-CN" altLang="en-US" sz="1800" dirty="0"/>
              <a:t>指令的状态</a:t>
            </a:r>
            <a:r>
              <a:rPr lang="en-US" altLang="zh-CN" sz="1800" dirty="0"/>
              <a:t>.</a:t>
            </a:r>
          </a:p>
          <a:p>
            <a:r>
              <a:rPr lang="zh-CN" altLang="en-US" sz="1800" dirty="0"/>
              <a:t>某一阶段同时 </a:t>
            </a:r>
            <a:r>
              <a:rPr lang="en-US" altLang="zh-CN" sz="1800" dirty="0"/>
              <a:t>stall </a:t>
            </a:r>
            <a:r>
              <a:rPr lang="zh-CN" altLang="en-US" sz="1800" dirty="0"/>
              <a:t>和 </a:t>
            </a:r>
            <a:r>
              <a:rPr lang="en-US" altLang="zh-CN" sz="1800" dirty="0"/>
              <a:t>bubble </a:t>
            </a:r>
            <a:r>
              <a:rPr lang="zh-CN" altLang="en-US" sz="1800" dirty="0"/>
              <a:t>视为出错</a:t>
            </a:r>
            <a:r>
              <a:rPr lang="en-US" altLang="zh-CN" sz="1800" dirty="0"/>
              <a:t>.</a:t>
            </a:r>
          </a:p>
          <a:p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stall </a:t>
            </a:r>
            <a:r>
              <a:rPr lang="zh-CN" altLang="en-US" sz="1800" dirty="0"/>
              <a:t>和 </a:t>
            </a:r>
            <a:r>
              <a:rPr lang="en-US" altLang="zh-CN" sz="1800" dirty="0"/>
              <a:t>bubble </a:t>
            </a:r>
            <a:r>
              <a:rPr lang="zh-CN" altLang="en-US" sz="1800" dirty="0"/>
              <a:t>将流水线部分暂停，会降低程序效率</a:t>
            </a:r>
            <a:r>
              <a:rPr lang="en-US" altLang="zh-CN" sz="1800" dirty="0"/>
              <a:t>.</a:t>
            </a:r>
            <a:endParaRPr lang="zh-CN" altLang="en-US" sz="1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C75A64-8AF0-3EF6-C0D6-D1C2F5C5DB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9464" y="1825625"/>
            <a:ext cx="5344336" cy="3691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501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E2BF32-F28F-D401-D603-B0DAE4908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数据相关的应对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1CC8FA-5634-39A3-391A-19A2108F87EE}"/>
              </a:ext>
            </a:extLst>
          </p:cNvPr>
          <p:cNvSpPr txBox="1"/>
          <p:nvPr/>
        </p:nvSpPr>
        <p:spPr>
          <a:xfrm>
            <a:off x="838200" y="1690688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执行前后两条数据相关（</a:t>
            </a:r>
            <a:r>
              <a:rPr lang="en-US" altLang="zh-CN" dirty="0"/>
              <a:t>data dependency</a:t>
            </a:r>
            <a:r>
              <a:rPr lang="zh-CN" altLang="en-US" dirty="0"/>
              <a:t>）的指令时，如果按照先前的设计思路依此处理，前一条指令还未写回，导致后一条指令读取未更新的寄存器文件，出现数据冒险（</a:t>
            </a:r>
            <a:r>
              <a:rPr lang="en-US" altLang="zh-CN" dirty="0"/>
              <a:t>data </a:t>
            </a:r>
            <a:r>
              <a:rPr lang="en-US" altLang="zh-CN" dirty="0" err="1"/>
              <a:t>harzard</a:t>
            </a:r>
            <a:r>
              <a:rPr lang="zh-CN" altLang="en-US" dirty="0"/>
              <a:t>）</a:t>
            </a:r>
            <a:r>
              <a:rPr lang="en-US" altLang="zh-CN" dirty="0"/>
              <a:t>.</a:t>
            </a:r>
          </a:p>
          <a:p>
            <a:endParaRPr lang="en-US" altLang="zh-CN" dirty="0"/>
          </a:p>
          <a:p>
            <a:r>
              <a:rPr lang="zh-CN" altLang="en-US" dirty="0"/>
              <a:t>解决思路</a:t>
            </a:r>
            <a:r>
              <a:rPr lang="en-US" altLang="zh-CN" dirty="0"/>
              <a:t>3</a:t>
            </a:r>
            <a:r>
              <a:rPr lang="zh-CN" altLang="en-US" dirty="0"/>
              <a:t>：通过数据转发（</a:t>
            </a:r>
            <a:r>
              <a:rPr lang="en-US" altLang="zh-CN" dirty="0"/>
              <a:t>data forwarding</a:t>
            </a:r>
            <a:r>
              <a:rPr lang="zh-CN" altLang="en-US" dirty="0"/>
              <a:t>）直接将后续将要写入寄存器文件的数据在</a:t>
            </a:r>
            <a:r>
              <a:rPr lang="en-US" altLang="zh-CN" dirty="0"/>
              <a:t>E/M</a:t>
            </a:r>
            <a:r>
              <a:rPr lang="zh-CN" altLang="en-US" dirty="0"/>
              <a:t>阶段就传送至前面的</a:t>
            </a:r>
            <a:r>
              <a:rPr lang="en-US" altLang="zh-CN" dirty="0"/>
              <a:t>D</a:t>
            </a:r>
            <a:r>
              <a:rPr lang="zh-CN" altLang="en-US" dirty="0"/>
              <a:t>阶段</a:t>
            </a:r>
            <a:r>
              <a:rPr lang="en-US" altLang="zh-CN" dirty="0"/>
              <a:t>. </a:t>
            </a:r>
            <a:r>
              <a:rPr lang="zh-CN" altLang="en-US" dirty="0"/>
              <a:t>相比 </a:t>
            </a:r>
            <a:r>
              <a:rPr lang="en-US" altLang="zh-CN" dirty="0"/>
              <a:t>stall </a:t>
            </a:r>
            <a:r>
              <a:rPr lang="zh-CN" altLang="en-US" dirty="0"/>
              <a:t>与 </a:t>
            </a:r>
            <a:r>
              <a:rPr lang="en-US" altLang="zh-CN" dirty="0"/>
              <a:t>bubble </a:t>
            </a:r>
            <a:r>
              <a:rPr lang="zh-CN" altLang="en-US" dirty="0"/>
              <a:t>操作，这种方法基本不会降低程序效率，但不能直接处理 </a:t>
            </a:r>
            <a:r>
              <a:rPr lang="en-US" altLang="zh-CN" dirty="0"/>
              <a:t>load-use </a:t>
            </a:r>
            <a:r>
              <a:rPr lang="zh-CN" altLang="en-US" dirty="0"/>
              <a:t>冒险，即需要将内存中的数据写入寄存器造成的冒险</a:t>
            </a:r>
            <a:r>
              <a:rPr lang="en-US" altLang="zh-CN" dirty="0"/>
              <a:t>.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3E068E7-94CA-80E3-FF3A-2F12A214D79A}"/>
              </a:ext>
            </a:extLst>
          </p:cNvPr>
          <p:cNvGrpSpPr/>
          <p:nvPr/>
        </p:nvGrpSpPr>
        <p:grpSpPr>
          <a:xfrm>
            <a:off x="4032719" y="3445014"/>
            <a:ext cx="4126561" cy="3241983"/>
            <a:chOff x="656650" y="3429000"/>
            <a:chExt cx="3878529" cy="3047120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2AE12DA5-CDFA-E57C-5C58-CC755D81A2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3429000"/>
              <a:ext cx="3696979" cy="3047120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022F7AD-C6B7-8B7B-7FBC-FE8D8CA3B18C}"/>
                </a:ext>
              </a:extLst>
            </p:cNvPr>
            <p:cNvSpPr/>
            <p:nvPr/>
          </p:nvSpPr>
          <p:spPr>
            <a:xfrm>
              <a:off x="656650" y="4572000"/>
              <a:ext cx="1172150" cy="16631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91447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1DAD9-BAA9-3707-105C-0B34BB7C5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转发的具体实现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F1E50DAB-BC39-C922-F296-C7AF15D99E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6496027" cy="4351338"/>
          </a:xfr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7405BB4-4D4F-8F83-8230-C69F5D21D197}"/>
              </a:ext>
            </a:extLst>
          </p:cNvPr>
          <p:cNvSpPr txBox="1"/>
          <p:nvPr/>
        </p:nvSpPr>
        <p:spPr>
          <a:xfrm>
            <a:off x="7334226" y="1690688"/>
            <a:ext cx="40195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判定与操作：</a:t>
            </a:r>
            <a:endParaRPr lang="en-US" altLang="zh-CN" dirty="0"/>
          </a:p>
          <a:p>
            <a:r>
              <a:rPr lang="zh-CN" altLang="en-US" dirty="0"/>
              <a:t>当</a:t>
            </a:r>
            <a:r>
              <a:rPr lang="en-US" altLang="zh-CN" dirty="0"/>
              <a:t>D</a:t>
            </a:r>
            <a:r>
              <a:rPr lang="zh-CN" altLang="en-US" dirty="0"/>
              <a:t>阶段的</a:t>
            </a:r>
            <a:r>
              <a:rPr lang="en-US" altLang="zh-CN" dirty="0" err="1"/>
              <a:t>D_srcA</a:t>
            </a:r>
            <a:r>
              <a:rPr lang="zh-CN" altLang="en-US" dirty="0"/>
              <a:t>与</a:t>
            </a:r>
            <a:r>
              <a:rPr lang="en-US" altLang="zh-CN" dirty="0" err="1"/>
              <a:t>D_srcB</a:t>
            </a:r>
            <a:r>
              <a:rPr lang="zh-CN" altLang="en-US" dirty="0"/>
              <a:t>与</a:t>
            </a:r>
            <a:r>
              <a:rPr lang="en-US" altLang="zh-CN" dirty="0"/>
              <a:t>E/M/W</a:t>
            </a:r>
            <a:r>
              <a:rPr lang="zh-CN" altLang="en-US" dirty="0"/>
              <a:t>阶段的</a:t>
            </a:r>
            <a:r>
              <a:rPr lang="en-US" altLang="zh-CN" dirty="0" err="1"/>
              <a:t>dstE</a:t>
            </a:r>
            <a:r>
              <a:rPr lang="en-US" altLang="zh-CN" dirty="0"/>
              <a:t>/</a:t>
            </a:r>
            <a:r>
              <a:rPr lang="en-US" altLang="zh-CN" dirty="0" err="1"/>
              <a:t>dstM</a:t>
            </a:r>
            <a:r>
              <a:rPr lang="zh-CN" altLang="en-US" dirty="0"/>
              <a:t>一致时（</a:t>
            </a:r>
            <a:r>
              <a:rPr lang="en-US" altLang="zh-CN" dirty="0"/>
              <a:t>0xF</a:t>
            </a:r>
            <a:r>
              <a:rPr lang="zh-CN" altLang="en-US" dirty="0"/>
              <a:t>除外），直接将对应的</a:t>
            </a:r>
            <a:r>
              <a:rPr lang="en-US" altLang="zh-CN" dirty="0" err="1"/>
              <a:t>valE</a:t>
            </a:r>
            <a:r>
              <a:rPr lang="en-US" altLang="zh-CN" dirty="0"/>
              <a:t>/</a:t>
            </a:r>
            <a:r>
              <a:rPr lang="en-US" altLang="zh-CN" dirty="0" err="1"/>
              <a:t>valM</a:t>
            </a:r>
            <a:r>
              <a:rPr lang="zh-CN" altLang="en-US" dirty="0"/>
              <a:t>转发到</a:t>
            </a:r>
            <a:r>
              <a:rPr lang="en-US" altLang="zh-CN" dirty="0"/>
              <a:t>D</a:t>
            </a:r>
            <a:r>
              <a:rPr lang="zh-CN" altLang="en-US" dirty="0"/>
              <a:t>阶段，将</a:t>
            </a:r>
            <a:r>
              <a:rPr lang="en-US" altLang="zh-CN" dirty="0" err="1"/>
              <a:t>D_valA</a:t>
            </a:r>
            <a:r>
              <a:rPr lang="en-US" altLang="zh-CN" dirty="0"/>
              <a:t>/</a:t>
            </a:r>
            <a:r>
              <a:rPr lang="en-US" altLang="zh-CN" dirty="0" err="1"/>
              <a:t>D_valB</a:t>
            </a:r>
            <a:r>
              <a:rPr lang="zh-CN" altLang="en-US" dirty="0"/>
              <a:t>设为之</a:t>
            </a:r>
            <a:r>
              <a:rPr lang="en-US" altLang="zh-CN" dirty="0"/>
              <a:t>.</a:t>
            </a:r>
          </a:p>
          <a:p>
            <a:r>
              <a:rPr lang="zh-CN" altLang="en-US" dirty="0"/>
              <a:t>较前的阶段（因为在处理较近的指令）优先进行转发</a:t>
            </a:r>
            <a:r>
              <a:rPr lang="en-US" altLang="zh-C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428832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4CE945-9179-30F8-0100-43F5B4D53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262"/>
            <a:ext cx="10515600" cy="1325563"/>
          </a:xfrm>
        </p:spPr>
        <p:txBody>
          <a:bodyPr/>
          <a:lstStyle/>
          <a:p>
            <a:r>
              <a:rPr lang="en-US" altLang="zh-CN" dirty="0"/>
              <a:t>Load-use </a:t>
            </a:r>
            <a:r>
              <a:rPr lang="zh-CN" altLang="en-US" dirty="0"/>
              <a:t>数据冒险的应对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146B97-1B80-2FB3-B951-697A44FA0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916361" cy="34459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dirty="0"/>
              <a:t>如果前一条指令要将内存的数据写入寄存器（</a:t>
            </a:r>
            <a:r>
              <a:rPr lang="en-US" altLang="zh-CN" sz="1800" dirty="0"/>
              <a:t>MRMOVQ</a:t>
            </a:r>
            <a:r>
              <a:rPr lang="zh-CN" altLang="en-US" sz="1800" dirty="0"/>
              <a:t>和</a:t>
            </a:r>
            <a:r>
              <a:rPr lang="en-US" altLang="zh-CN" sz="1800" dirty="0"/>
              <a:t>POPQ</a:t>
            </a:r>
            <a:r>
              <a:rPr lang="zh-CN" altLang="en-US" sz="1800" dirty="0"/>
              <a:t>指令），而后一条指令需要读取对应寄存器的值，则会产生 </a:t>
            </a:r>
            <a:r>
              <a:rPr lang="en-US" altLang="zh-CN" sz="1800" dirty="0"/>
              <a:t>load-use </a:t>
            </a:r>
            <a:r>
              <a:rPr lang="en-US" altLang="zh-CN" sz="1800" dirty="0" err="1"/>
              <a:t>harzard</a:t>
            </a:r>
            <a:r>
              <a:rPr lang="en-US" altLang="zh-CN" sz="1800" dirty="0"/>
              <a:t>. </a:t>
            </a:r>
            <a:r>
              <a:rPr lang="zh-CN" altLang="en-US" sz="1800" dirty="0"/>
              <a:t>前一条指令完成</a:t>
            </a:r>
            <a:r>
              <a:rPr lang="en-US" altLang="zh-CN" sz="1800" dirty="0"/>
              <a:t>E</a:t>
            </a:r>
            <a:r>
              <a:rPr lang="zh-CN" altLang="en-US" sz="1800" dirty="0"/>
              <a:t>阶段时尚无法获取</a:t>
            </a:r>
            <a:r>
              <a:rPr lang="en-US" altLang="zh-CN" sz="1800" dirty="0" err="1"/>
              <a:t>valM</a:t>
            </a:r>
            <a:r>
              <a:rPr lang="zh-CN" altLang="en-US" sz="1800" dirty="0"/>
              <a:t>值，故无法转发，必须要将后一条指令暂停在</a:t>
            </a:r>
            <a:r>
              <a:rPr lang="en-US" altLang="zh-CN" sz="1800" dirty="0"/>
              <a:t>D</a:t>
            </a:r>
            <a:r>
              <a:rPr lang="zh-CN" altLang="en-US" sz="1800" dirty="0"/>
              <a:t>阶段</a:t>
            </a:r>
            <a:r>
              <a:rPr lang="en-US" altLang="zh-CN" sz="1800" dirty="0"/>
              <a:t>. </a:t>
            </a:r>
            <a:r>
              <a:rPr lang="zh-CN" altLang="en-US" sz="1800" dirty="0"/>
              <a:t>前一条指令完成</a:t>
            </a:r>
            <a:r>
              <a:rPr lang="en-US" altLang="zh-CN" sz="1800" dirty="0"/>
              <a:t>M</a:t>
            </a:r>
            <a:r>
              <a:rPr lang="zh-CN" altLang="en-US" sz="1800" dirty="0"/>
              <a:t>阶段，获取到</a:t>
            </a:r>
            <a:r>
              <a:rPr lang="en-US" altLang="zh-CN" sz="1800" dirty="0" err="1"/>
              <a:t>valM</a:t>
            </a:r>
            <a:r>
              <a:rPr lang="zh-CN" altLang="en-US" sz="1800" dirty="0"/>
              <a:t>值之后，下一个循环就能通过转发将数据传送给后一条指令继续处理了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判定与操作：</a:t>
            </a: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若</a:t>
            </a:r>
            <a:r>
              <a:rPr lang="en-US" altLang="zh-CN" sz="1800" dirty="0"/>
              <a:t>E</a:t>
            </a:r>
            <a:r>
              <a:rPr lang="zh-CN" altLang="en-US" sz="1800" dirty="0"/>
              <a:t>阶段中</a:t>
            </a:r>
            <a:r>
              <a:rPr lang="en-US" altLang="zh-CN" sz="1800" dirty="0" err="1"/>
              <a:t>E_icode</a:t>
            </a:r>
            <a:r>
              <a:rPr lang="zh-CN" altLang="en-US" sz="1800" dirty="0"/>
              <a:t>为</a:t>
            </a:r>
            <a:r>
              <a:rPr lang="en-US" altLang="zh-CN" sz="1800" dirty="0"/>
              <a:t>MRMOVQ/POPQ</a:t>
            </a:r>
            <a:r>
              <a:rPr lang="zh-CN" altLang="en-US" sz="1800" dirty="0"/>
              <a:t>，且</a:t>
            </a:r>
            <a:r>
              <a:rPr lang="en-US" altLang="zh-CN" sz="1800" dirty="0" err="1"/>
              <a:t>E_dstM</a:t>
            </a:r>
            <a:r>
              <a:rPr lang="zh-CN" altLang="en-US" sz="1800" dirty="0"/>
              <a:t>与</a:t>
            </a:r>
            <a:r>
              <a:rPr lang="en-US" altLang="zh-CN" sz="1800" dirty="0" err="1"/>
              <a:t>D_srcA</a:t>
            </a:r>
            <a:r>
              <a:rPr lang="en-US" altLang="zh-CN" sz="1800" dirty="0"/>
              <a:t>/</a:t>
            </a:r>
            <a:r>
              <a:rPr lang="en-US" altLang="zh-CN" sz="1800" dirty="0" err="1"/>
              <a:t>srcB</a:t>
            </a:r>
            <a:r>
              <a:rPr lang="zh-CN" altLang="en-US" sz="1800" dirty="0"/>
              <a:t>一致，说明存在 </a:t>
            </a:r>
            <a:r>
              <a:rPr lang="en-US" altLang="zh-CN" sz="1800" dirty="0"/>
              <a:t>load-use </a:t>
            </a:r>
            <a:r>
              <a:rPr lang="zh-CN" altLang="en-US" sz="1800" dirty="0"/>
              <a:t>数据冒险，接下来需要在</a:t>
            </a:r>
            <a:r>
              <a:rPr lang="en-US" altLang="zh-CN" sz="1800" dirty="0"/>
              <a:t>D/F</a:t>
            </a:r>
            <a:r>
              <a:rPr lang="zh-CN" altLang="en-US" sz="1800" dirty="0"/>
              <a:t>阶段进行 </a:t>
            </a:r>
            <a:r>
              <a:rPr lang="en-US" altLang="zh-CN" sz="1800" dirty="0"/>
              <a:t>stall</a:t>
            </a:r>
            <a:r>
              <a:rPr lang="zh-CN" altLang="en-US" sz="1800" dirty="0"/>
              <a:t>，</a:t>
            </a:r>
            <a:r>
              <a:rPr lang="en-US" altLang="zh-CN" sz="1800" dirty="0"/>
              <a:t>E</a:t>
            </a:r>
            <a:r>
              <a:rPr lang="zh-CN" altLang="en-US" sz="1800" dirty="0"/>
              <a:t>阶段插入一个 </a:t>
            </a:r>
            <a:r>
              <a:rPr lang="en-US" altLang="zh-CN" sz="1800" dirty="0"/>
              <a:t>bubble.</a:t>
            </a:r>
            <a:endParaRPr lang="zh-CN" altLang="en-US" sz="1800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0C6182D-F1D7-3FE1-F5AC-3772BA2FC833}"/>
              </a:ext>
            </a:extLst>
          </p:cNvPr>
          <p:cNvGrpSpPr/>
          <p:nvPr/>
        </p:nvGrpSpPr>
        <p:grpSpPr>
          <a:xfrm>
            <a:off x="7754561" y="1825625"/>
            <a:ext cx="3599239" cy="3052954"/>
            <a:chOff x="6001901" y="1825625"/>
            <a:chExt cx="3599239" cy="305295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8F038036-1D99-5C3E-9BA1-BF1D2E109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21704" y="1825625"/>
              <a:ext cx="3579436" cy="305295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0F41FC8-BBE5-3762-1073-5C8109BD8872}"/>
                </a:ext>
              </a:extLst>
            </p:cNvPr>
            <p:cNvSpPr/>
            <p:nvPr/>
          </p:nvSpPr>
          <p:spPr>
            <a:xfrm>
              <a:off x="6001901" y="3264838"/>
              <a:ext cx="1614008" cy="10432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825054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F13B1F-5590-5355-CCA6-4060EFE7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转移预测错误的应对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2AED0E-7225-23A1-4461-216E3F0D0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2318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800" dirty="0"/>
              <a:t>对于</a:t>
            </a:r>
            <a:r>
              <a:rPr lang="en-US" altLang="zh-CN" sz="1800" dirty="0"/>
              <a:t>JXX</a:t>
            </a:r>
            <a:r>
              <a:rPr lang="zh-CN" altLang="en-US" sz="1800" dirty="0"/>
              <a:t>指令，由于直接将新的</a:t>
            </a:r>
            <a:r>
              <a:rPr lang="en-US" altLang="zh-CN" sz="1800" dirty="0"/>
              <a:t>pc</a:t>
            </a:r>
            <a:r>
              <a:rPr lang="zh-CN" altLang="en-US" sz="1800" dirty="0"/>
              <a:t>预测为</a:t>
            </a:r>
            <a:r>
              <a:rPr lang="en-US" altLang="zh-CN" sz="1800" dirty="0" err="1"/>
              <a:t>valC</a:t>
            </a:r>
            <a:r>
              <a:rPr lang="zh-CN" altLang="en-US" sz="1800" dirty="0"/>
              <a:t>，如果转移条件不满足，则会出现转移预测错误</a:t>
            </a:r>
            <a:r>
              <a:rPr lang="en-US" altLang="zh-CN" sz="1800" dirty="0"/>
              <a:t>. </a:t>
            </a:r>
            <a:r>
              <a:rPr lang="zh-CN" altLang="en-US" sz="1800" dirty="0"/>
              <a:t>此时，</a:t>
            </a:r>
            <a:r>
              <a:rPr lang="en-US" altLang="zh-CN" sz="1800" dirty="0"/>
              <a:t>JXX</a:t>
            </a:r>
            <a:r>
              <a:rPr lang="zh-CN" altLang="en-US" sz="1800" dirty="0"/>
              <a:t>指令之后的指令本不应当被执行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en-US" altLang="zh-CN" sz="1800" dirty="0"/>
              <a:t>JXX</a:t>
            </a:r>
            <a:r>
              <a:rPr lang="zh-CN" altLang="en-US" sz="1800" dirty="0"/>
              <a:t>的转移条件</a:t>
            </a:r>
            <a:r>
              <a:rPr lang="en-US" altLang="zh-CN" sz="1800" dirty="0" err="1"/>
              <a:t>cnd</a:t>
            </a:r>
            <a:r>
              <a:rPr lang="zh-CN" altLang="en-US" sz="1800" dirty="0"/>
              <a:t>需要完成</a:t>
            </a:r>
            <a:r>
              <a:rPr lang="en-US" altLang="zh-CN" sz="1800" dirty="0"/>
              <a:t>E</a:t>
            </a:r>
            <a:r>
              <a:rPr lang="zh-CN" altLang="en-US" sz="1800" dirty="0"/>
              <a:t>阶段才能被计算出来</a:t>
            </a:r>
            <a:r>
              <a:rPr lang="en-US" altLang="zh-CN" sz="1800" dirty="0"/>
              <a:t>. </a:t>
            </a:r>
            <a:r>
              <a:rPr lang="zh-CN" altLang="en-US" sz="1800" dirty="0"/>
              <a:t>在此之前的阶段处理了错误的指令，但是不会产生副作用，故直接取消即可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判定与操作：</a:t>
            </a: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若</a:t>
            </a:r>
            <a:r>
              <a:rPr lang="en-US" altLang="zh-CN" sz="1800" dirty="0"/>
              <a:t>E</a:t>
            </a:r>
            <a:r>
              <a:rPr lang="zh-CN" altLang="en-US" sz="1800" dirty="0"/>
              <a:t>阶段完成之后，</a:t>
            </a:r>
            <a:r>
              <a:rPr lang="en-US" altLang="zh-CN" sz="1800" dirty="0" err="1"/>
              <a:t>E_icode</a:t>
            </a:r>
            <a:r>
              <a:rPr lang="zh-CN" altLang="en-US" sz="1800" dirty="0"/>
              <a:t>为</a:t>
            </a:r>
            <a:r>
              <a:rPr lang="en-US" altLang="zh-CN" sz="1800" dirty="0"/>
              <a:t>JXX</a:t>
            </a:r>
            <a:r>
              <a:rPr lang="zh-CN" altLang="en-US" sz="1800" dirty="0"/>
              <a:t>，且</a:t>
            </a:r>
            <a:r>
              <a:rPr lang="en-US" altLang="zh-CN" sz="1800" dirty="0" err="1"/>
              <a:t>e_cnd</a:t>
            </a:r>
            <a:r>
              <a:rPr lang="zh-CN" altLang="en-US" sz="1800" dirty="0"/>
              <a:t>为</a:t>
            </a:r>
            <a:r>
              <a:rPr lang="en-US" altLang="zh-CN" sz="1800" dirty="0"/>
              <a:t>false</a:t>
            </a:r>
            <a:r>
              <a:rPr lang="zh-CN" altLang="en-US" sz="1800" dirty="0"/>
              <a:t>，说明该指令出现转移预测错误</a:t>
            </a:r>
            <a:r>
              <a:rPr lang="en-US" altLang="zh-CN" sz="1800" dirty="0"/>
              <a:t>. </a:t>
            </a:r>
          </a:p>
          <a:p>
            <a:pPr marL="0" indent="0">
              <a:buNone/>
            </a:pPr>
            <a:r>
              <a:rPr lang="zh-CN" altLang="en-US" sz="1800" dirty="0"/>
              <a:t>此时，</a:t>
            </a:r>
            <a:r>
              <a:rPr lang="en-US" altLang="zh-CN" sz="1800" dirty="0"/>
              <a:t>F/D</a:t>
            </a:r>
            <a:r>
              <a:rPr lang="zh-CN" altLang="en-US" sz="1800" dirty="0"/>
              <a:t>阶段已经处理了不应当执行的指令，但是这些阶段不会造成副作用（例如，对内存</a:t>
            </a:r>
            <a:r>
              <a:rPr lang="en-US" altLang="zh-CN" sz="1800" dirty="0"/>
              <a:t>/</a:t>
            </a:r>
            <a:r>
              <a:rPr lang="zh-CN" altLang="en-US" sz="1800" dirty="0"/>
              <a:t>寄存器的写入），接下来只需直接通过在</a:t>
            </a:r>
            <a:r>
              <a:rPr lang="en-US" altLang="zh-CN" sz="1800" dirty="0"/>
              <a:t>D/E</a:t>
            </a:r>
            <a:r>
              <a:rPr lang="zh-CN" altLang="en-US" sz="1800" dirty="0"/>
              <a:t>阶段用 </a:t>
            </a:r>
            <a:r>
              <a:rPr lang="en-US" altLang="zh-CN" sz="1800" dirty="0"/>
              <a:t>bubble </a:t>
            </a:r>
            <a:r>
              <a:rPr lang="zh-CN" altLang="en-US" sz="1800" dirty="0"/>
              <a:t>覆盖的方式取消这些指令即可</a:t>
            </a:r>
            <a:r>
              <a:rPr lang="en-US" altLang="zh-CN" sz="1800" dirty="0"/>
              <a:t>. </a:t>
            </a:r>
          </a:p>
          <a:p>
            <a:pPr marL="0" indent="0">
              <a:buNone/>
            </a:pPr>
            <a:r>
              <a:rPr lang="zh-CN" altLang="en-US" sz="1800" dirty="0"/>
              <a:t>同时，接下来应当将</a:t>
            </a:r>
            <a:r>
              <a:rPr lang="en-US" altLang="zh-CN" sz="1800" dirty="0" err="1"/>
              <a:t>M_valA</a:t>
            </a:r>
            <a:r>
              <a:rPr lang="zh-CN" altLang="en-US" sz="1800" dirty="0"/>
              <a:t>（即增加</a:t>
            </a:r>
            <a:r>
              <a:rPr lang="en-US" altLang="zh-CN" sz="1800" dirty="0"/>
              <a:t>pc</a:t>
            </a:r>
            <a:r>
              <a:rPr lang="zh-CN" altLang="en-US" sz="1800" dirty="0"/>
              <a:t>值的正确分支）传送回</a:t>
            </a:r>
            <a:r>
              <a:rPr lang="en-US" altLang="zh-CN" sz="1800" dirty="0"/>
              <a:t>F</a:t>
            </a:r>
            <a:r>
              <a:rPr lang="zh-CN" altLang="en-US" sz="1800" dirty="0"/>
              <a:t>阶段选取作为新</a:t>
            </a:r>
            <a:r>
              <a:rPr lang="en-US" altLang="zh-CN" sz="1800" dirty="0"/>
              <a:t>pc</a:t>
            </a:r>
            <a:r>
              <a:rPr lang="zh-CN" altLang="en-US" sz="1800" dirty="0"/>
              <a:t>，继续执行正确分支的指令</a:t>
            </a:r>
            <a:r>
              <a:rPr lang="en-US" altLang="zh-CN" sz="1800" dirty="0"/>
              <a:t>.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386F5AB-8156-47FA-9DAC-46519E88C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384" y="4001294"/>
            <a:ext cx="3492415" cy="124422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AEFC6B1B-D0F5-F70D-1318-59645546A08A}"/>
              </a:ext>
            </a:extLst>
          </p:cNvPr>
          <p:cNvGrpSpPr/>
          <p:nvPr/>
        </p:nvGrpSpPr>
        <p:grpSpPr>
          <a:xfrm>
            <a:off x="8074382" y="1006480"/>
            <a:ext cx="3279418" cy="2994814"/>
            <a:chOff x="838200" y="3182149"/>
            <a:chExt cx="3279418" cy="299481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19397F46-7638-0225-A7F8-F6922A6C0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3182149"/>
              <a:ext cx="3279418" cy="2994814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F72A492-EBC1-9DB9-6854-78F7F63FD2B1}"/>
                </a:ext>
              </a:extLst>
            </p:cNvPr>
            <p:cNvSpPr/>
            <p:nvPr/>
          </p:nvSpPr>
          <p:spPr>
            <a:xfrm>
              <a:off x="838200" y="4412440"/>
              <a:ext cx="1604291" cy="4111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98242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0140E8-A337-0326-B363-6C6388800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RET</a:t>
            </a:r>
            <a:r>
              <a:rPr lang="zh-CN" altLang="en-US" dirty="0"/>
              <a:t>指令的应对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93BF71-73C2-6E9B-72DE-1B244082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dirty="0"/>
              <a:t>RET</a:t>
            </a:r>
            <a:r>
              <a:rPr lang="zh-CN" altLang="en-US" sz="1800" dirty="0"/>
              <a:t>指令需要在内存栈中读取返回地址，无法可靠预测新的</a:t>
            </a:r>
            <a:r>
              <a:rPr lang="en-US" altLang="zh-CN" sz="1800" dirty="0"/>
              <a:t>pc</a:t>
            </a:r>
            <a:r>
              <a:rPr lang="zh-CN" altLang="en-US" sz="1800" dirty="0"/>
              <a:t>值，所以该指令在完成</a:t>
            </a:r>
            <a:r>
              <a:rPr lang="en-US" altLang="zh-CN" sz="1800" dirty="0"/>
              <a:t>M</a:t>
            </a:r>
            <a:r>
              <a:rPr lang="zh-CN" altLang="en-US" sz="1800" dirty="0"/>
              <a:t>阶段之后，才能继续下一条指令的处理，在此之前将后续指令 </a:t>
            </a:r>
            <a:r>
              <a:rPr lang="en-US" altLang="zh-CN" sz="1800" dirty="0"/>
              <a:t>stall </a:t>
            </a:r>
            <a:r>
              <a:rPr lang="zh-CN" altLang="en-US" sz="1800" dirty="0"/>
              <a:t>在</a:t>
            </a:r>
            <a:r>
              <a:rPr lang="en-US" altLang="zh-CN" sz="1800" dirty="0"/>
              <a:t>F</a:t>
            </a:r>
            <a:r>
              <a:rPr lang="zh-CN" altLang="en-US" sz="1800" dirty="0"/>
              <a:t>阶段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判定与操作：</a:t>
            </a: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若</a:t>
            </a:r>
            <a:r>
              <a:rPr lang="en-US" altLang="zh-CN" sz="1800" dirty="0"/>
              <a:t>D/E/M</a:t>
            </a:r>
            <a:r>
              <a:rPr lang="zh-CN" altLang="en-US" sz="1800" dirty="0"/>
              <a:t>阶段</a:t>
            </a:r>
            <a:r>
              <a:rPr lang="en-US" altLang="zh-CN" sz="1800" dirty="0" err="1"/>
              <a:t>icode</a:t>
            </a:r>
            <a:r>
              <a:rPr lang="zh-CN" altLang="en-US" sz="1800" dirty="0"/>
              <a:t>为</a:t>
            </a:r>
            <a:r>
              <a:rPr lang="en-US" altLang="zh-CN" sz="1800" dirty="0"/>
              <a:t>RET</a:t>
            </a:r>
            <a:r>
              <a:rPr lang="zh-CN" altLang="en-US" sz="1800" dirty="0"/>
              <a:t>，则出现</a:t>
            </a:r>
            <a:r>
              <a:rPr lang="en-US" altLang="zh-CN" sz="1800" dirty="0"/>
              <a:t>RET</a:t>
            </a:r>
            <a:r>
              <a:rPr lang="zh-CN" altLang="en-US" sz="1800" dirty="0"/>
              <a:t>指令，接下来在</a:t>
            </a:r>
            <a:r>
              <a:rPr lang="en-US" altLang="zh-CN" sz="1800" dirty="0"/>
              <a:t>F</a:t>
            </a:r>
            <a:r>
              <a:rPr lang="zh-CN" altLang="en-US" sz="1800" dirty="0"/>
              <a:t>阶段进行 </a:t>
            </a:r>
            <a:r>
              <a:rPr lang="en-US" altLang="zh-CN" sz="1800" dirty="0"/>
              <a:t>stall</a:t>
            </a:r>
            <a:r>
              <a:rPr lang="zh-CN" altLang="en-US" sz="1800" dirty="0"/>
              <a:t>，对应地在</a:t>
            </a:r>
            <a:r>
              <a:rPr lang="en-US" altLang="zh-CN" sz="1800" dirty="0"/>
              <a:t>D</a:t>
            </a:r>
            <a:r>
              <a:rPr lang="zh-CN" altLang="en-US" sz="1800" dirty="0"/>
              <a:t>阶段插入 </a:t>
            </a:r>
            <a:r>
              <a:rPr lang="en-US" altLang="zh-CN" sz="1800" dirty="0"/>
              <a:t>bubble.</a:t>
            </a:r>
          </a:p>
          <a:p>
            <a:pPr marL="0" indent="0">
              <a:buNone/>
            </a:pPr>
            <a:r>
              <a:rPr lang="zh-CN" altLang="en-US" sz="1800" dirty="0"/>
              <a:t>完成</a:t>
            </a:r>
            <a:r>
              <a:rPr lang="en-US" altLang="zh-CN" sz="1800" dirty="0"/>
              <a:t>M</a:t>
            </a:r>
            <a:r>
              <a:rPr lang="zh-CN" altLang="en-US" sz="1800" dirty="0"/>
              <a:t>阶段之后，下一个循环将</a:t>
            </a:r>
            <a:r>
              <a:rPr lang="en-US" altLang="zh-CN" sz="1800" dirty="0" err="1"/>
              <a:t>W_valM</a:t>
            </a:r>
            <a:r>
              <a:rPr lang="zh-CN" altLang="en-US" sz="1800" dirty="0"/>
              <a:t>传回</a:t>
            </a:r>
            <a:r>
              <a:rPr lang="en-US" altLang="zh-CN" sz="1800" dirty="0"/>
              <a:t>F</a:t>
            </a:r>
            <a:r>
              <a:rPr lang="zh-CN" altLang="en-US" sz="1800" dirty="0"/>
              <a:t>阶段，从而继续执行</a:t>
            </a:r>
            <a:r>
              <a:rPr lang="en-US" altLang="zh-CN" sz="1800" dirty="0"/>
              <a:t>RET</a:t>
            </a:r>
            <a:r>
              <a:rPr lang="zh-CN" altLang="en-US" sz="1800" dirty="0"/>
              <a:t>之后的指令</a:t>
            </a:r>
            <a:r>
              <a:rPr lang="en-US" altLang="zh-CN" sz="1800" dirty="0"/>
              <a:t>.s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087241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63B9ED-C023-C447-0DA9-9B110A816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出现单个特殊情况时的应对</a:t>
            </a:r>
          </a:p>
        </p:txBody>
      </p:sp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5AF987ED-CABF-989C-CC11-19284274FB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7997635"/>
              </p:ext>
            </p:extLst>
          </p:nvPr>
        </p:nvGraphicFramePr>
        <p:xfrm>
          <a:off x="838203" y="2500760"/>
          <a:ext cx="10515597" cy="210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941">
                  <a:extLst>
                    <a:ext uri="{9D8B030D-6E8A-4147-A177-3AD203B41FA5}">
                      <a16:colId xmlns:a16="http://schemas.microsoft.com/office/drawing/2014/main" val="2527366331"/>
                    </a:ext>
                  </a:extLst>
                </a:gridCol>
                <a:gridCol w="3626915">
                  <a:extLst>
                    <a:ext uri="{9D8B030D-6E8A-4147-A177-3AD203B41FA5}">
                      <a16:colId xmlns:a16="http://schemas.microsoft.com/office/drawing/2014/main" val="397432558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666274369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1410014215"/>
                    </a:ext>
                  </a:extLst>
                </a:gridCol>
                <a:gridCol w="925549">
                  <a:extLst>
                    <a:ext uri="{9D8B030D-6E8A-4147-A177-3AD203B41FA5}">
                      <a16:colId xmlns:a16="http://schemas.microsoft.com/office/drawing/2014/main" val="1095804271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208679667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3430845682"/>
                    </a:ext>
                  </a:extLst>
                </a:gridCol>
              </a:tblGrid>
              <a:tr h="185420"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Condition</a:t>
                      </a:r>
                      <a:endParaRPr lang="zh-CN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Trigger</a:t>
                      </a:r>
                      <a:endParaRPr lang="zh-CN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r>
                        <a:rPr lang="en-US" altLang="zh-CN" dirty="0"/>
                        <a:t>Actions(Next Cycle)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791161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F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M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W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400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Load-use </a:t>
                      </a:r>
                      <a:r>
                        <a:rPr lang="en-US" altLang="zh-CN" dirty="0" err="1"/>
                        <a:t>harzard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in {MRMOVQ, POPQ} &amp;&amp; </a:t>
                      </a:r>
                    </a:p>
                    <a:p>
                      <a:r>
                        <a:rPr lang="en-US" altLang="zh-CN" dirty="0" err="1"/>
                        <a:t>E_dstM</a:t>
                      </a:r>
                      <a:r>
                        <a:rPr lang="en-US" altLang="zh-CN" dirty="0"/>
                        <a:t> in {</a:t>
                      </a:r>
                      <a:r>
                        <a:rPr lang="en-US" altLang="zh-CN" dirty="0" err="1"/>
                        <a:t>d_srcA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d_srcB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7279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Branch misprediction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== JXX &amp;&amp; !</a:t>
                      </a:r>
                      <a:r>
                        <a:rPr lang="en-US" altLang="zh-CN" dirty="0" err="1"/>
                        <a:t>e_cnd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598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RET</a:t>
                      </a:r>
                      <a:r>
                        <a:rPr lang="zh-CN" altLang="en-US" dirty="0"/>
                        <a:t>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RET in {</a:t>
                      </a:r>
                      <a:r>
                        <a:rPr lang="en-US" altLang="zh-CN" dirty="0" err="1"/>
                        <a:t>D_icode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M_icode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6852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6424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B026FC-84B5-F0C2-5ECA-5A0378FB9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存在多种特殊情况时的应对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C1246C-4E0D-2FB5-FDFD-BE8DE18AC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160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存在两种类型：</a:t>
            </a:r>
            <a:endParaRPr lang="en-US" altLang="zh-CN" dirty="0"/>
          </a:p>
          <a:p>
            <a:r>
              <a:rPr lang="en-US" altLang="zh-CN" dirty="0"/>
              <a:t>1. Branch misprediction + RET</a:t>
            </a:r>
            <a:r>
              <a:rPr lang="zh-CN" altLang="en-US" dirty="0"/>
              <a:t>指令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sz="1800" dirty="0"/>
              <a:t>当 </a:t>
            </a:r>
            <a:r>
              <a:rPr lang="en-US" altLang="zh-CN" sz="1800" dirty="0"/>
              <a:t>branch </a:t>
            </a:r>
            <a:r>
              <a:rPr lang="en-US" altLang="zh-CN" sz="1800" dirty="0" err="1"/>
              <a:t>mispredicion</a:t>
            </a:r>
            <a:r>
              <a:rPr lang="en-US" altLang="zh-CN" sz="1800" dirty="0"/>
              <a:t> </a:t>
            </a:r>
            <a:r>
              <a:rPr lang="zh-CN" altLang="en-US" sz="1800" dirty="0"/>
              <a:t>与</a:t>
            </a:r>
            <a:r>
              <a:rPr lang="en-US" altLang="zh-CN" sz="1800" dirty="0"/>
              <a:t>RET</a:t>
            </a:r>
            <a:r>
              <a:rPr lang="zh-CN" altLang="en-US" sz="1800" dirty="0"/>
              <a:t>指令同时出现时，此时</a:t>
            </a:r>
            <a:r>
              <a:rPr lang="en-US" altLang="zh-CN" sz="1800" dirty="0"/>
              <a:t>RET</a:t>
            </a:r>
            <a:r>
              <a:rPr lang="zh-CN" altLang="en-US" sz="1800" dirty="0"/>
              <a:t>指令处于</a:t>
            </a:r>
            <a:r>
              <a:rPr lang="en-US" altLang="zh-CN" sz="1800" dirty="0"/>
              <a:t>D</a:t>
            </a:r>
            <a:r>
              <a:rPr lang="zh-CN" altLang="en-US" sz="1800" dirty="0"/>
              <a:t>阶段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此时</a:t>
            </a:r>
            <a:r>
              <a:rPr lang="en-US" altLang="zh-CN" sz="1800" dirty="0"/>
              <a:t>F/D</a:t>
            </a:r>
            <a:r>
              <a:rPr lang="zh-CN" altLang="en-US" sz="1800" dirty="0"/>
              <a:t>阶段处理了不应当执行的指令，包括</a:t>
            </a:r>
            <a:r>
              <a:rPr lang="en-US" altLang="zh-CN" sz="1800" dirty="0"/>
              <a:t>RET</a:t>
            </a:r>
            <a:r>
              <a:rPr lang="zh-CN" altLang="en-US" sz="1800" dirty="0"/>
              <a:t>指令也不应当被执行，按照 </a:t>
            </a:r>
            <a:r>
              <a:rPr lang="en-US" altLang="zh-CN" sz="1800" dirty="0"/>
              <a:t>branch misprediction </a:t>
            </a:r>
            <a:r>
              <a:rPr lang="zh-CN" altLang="en-US" sz="1800" dirty="0"/>
              <a:t>的情况进行控制即可</a:t>
            </a:r>
            <a:r>
              <a:rPr lang="en-US" altLang="zh-CN" sz="1800" dirty="0"/>
              <a:t>.</a:t>
            </a:r>
          </a:p>
        </p:txBody>
      </p:sp>
      <p:graphicFrame>
        <p:nvGraphicFramePr>
          <p:cNvPr id="4" name="内容占位符 5">
            <a:extLst>
              <a:ext uri="{FF2B5EF4-FFF2-40B4-BE49-F238E27FC236}">
                <a16:creationId xmlns:a16="http://schemas.microsoft.com/office/drawing/2014/main" id="{2142660D-2D9F-890F-24C6-3A425032AB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49333360"/>
              </p:ext>
            </p:extLst>
          </p:nvPr>
        </p:nvGraphicFramePr>
        <p:xfrm>
          <a:off x="838200" y="3841707"/>
          <a:ext cx="10515597" cy="210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941">
                  <a:extLst>
                    <a:ext uri="{9D8B030D-6E8A-4147-A177-3AD203B41FA5}">
                      <a16:colId xmlns:a16="http://schemas.microsoft.com/office/drawing/2014/main" val="2527366331"/>
                    </a:ext>
                  </a:extLst>
                </a:gridCol>
                <a:gridCol w="3626915">
                  <a:extLst>
                    <a:ext uri="{9D8B030D-6E8A-4147-A177-3AD203B41FA5}">
                      <a16:colId xmlns:a16="http://schemas.microsoft.com/office/drawing/2014/main" val="397432558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666274369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1410014215"/>
                    </a:ext>
                  </a:extLst>
                </a:gridCol>
                <a:gridCol w="925549">
                  <a:extLst>
                    <a:ext uri="{9D8B030D-6E8A-4147-A177-3AD203B41FA5}">
                      <a16:colId xmlns:a16="http://schemas.microsoft.com/office/drawing/2014/main" val="1095804271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208679667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3430845682"/>
                    </a:ext>
                  </a:extLst>
                </a:gridCol>
              </a:tblGrid>
              <a:tr h="185420"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Condition</a:t>
                      </a:r>
                      <a:endParaRPr lang="zh-CN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Trigger</a:t>
                      </a:r>
                      <a:endParaRPr lang="zh-CN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r>
                        <a:rPr lang="en-US" altLang="zh-CN" dirty="0"/>
                        <a:t>Actions(Next Cycle)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791161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F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M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W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400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Branch misprediction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== JXX &amp;&amp; !</a:t>
                      </a:r>
                      <a:r>
                        <a:rPr lang="en-US" altLang="zh-CN" dirty="0" err="1"/>
                        <a:t>e_cnd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598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RET</a:t>
                      </a:r>
                      <a:r>
                        <a:rPr lang="zh-CN" altLang="en-US" dirty="0"/>
                        <a:t>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RET in {</a:t>
                      </a:r>
                      <a:r>
                        <a:rPr lang="en-US" altLang="zh-CN" dirty="0" err="1"/>
                        <a:t>D_icode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M_icode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6852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Combined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(</a:t>
                      </a:r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== JXX &amp;&amp; !</a:t>
                      </a:r>
                      <a:r>
                        <a:rPr lang="en-US" altLang="zh-CN" dirty="0" err="1"/>
                        <a:t>e_cnd</a:t>
                      </a:r>
                      <a:r>
                        <a:rPr lang="en-US" altLang="zh-CN" dirty="0"/>
                        <a:t>) &amp;&amp;</a:t>
                      </a:r>
                    </a:p>
                    <a:p>
                      <a:r>
                        <a:rPr lang="en-US" altLang="zh-CN" dirty="0" err="1"/>
                        <a:t>D_icode</a:t>
                      </a:r>
                      <a:r>
                        <a:rPr lang="en-US" altLang="zh-CN" dirty="0"/>
                        <a:t> == RET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224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6035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19BDD6-C55C-C2C1-05DD-EC073B20F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存在多种特殊情况时的应对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661DBC-3828-C100-4B90-895F3ED81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76034"/>
          </a:xfrm>
        </p:spPr>
        <p:txBody>
          <a:bodyPr/>
          <a:lstStyle/>
          <a:p>
            <a:r>
              <a:rPr lang="en-US" altLang="zh-CN" dirty="0"/>
              <a:t>2. Load-use </a:t>
            </a:r>
            <a:r>
              <a:rPr lang="en-US" altLang="zh-CN" dirty="0" err="1"/>
              <a:t>Harzard</a:t>
            </a:r>
            <a:r>
              <a:rPr lang="en-US" altLang="zh-CN" dirty="0"/>
              <a:t> + RET</a:t>
            </a:r>
            <a:r>
              <a:rPr lang="zh-CN" altLang="en-US" dirty="0"/>
              <a:t>指令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sz="1800" dirty="0"/>
              <a:t>当 </a:t>
            </a:r>
            <a:r>
              <a:rPr lang="en-US" altLang="zh-CN" sz="1800" dirty="0"/>
              <a:t>load-use </a:t>
            </a:r>
            <a:r>
              <a:rPr lang="en-US" altLang="zh-CN" sz="1800" dirty="0" err="1"/>
              <a:t>harzard</a:t>
            </a:r>
            <a:r>
              <a:rPr lang="en-US" altLang="zh-CN" sz="1800" dirty="0"/>
              <a:t> </a:t>
            </a:r>
            <a:r>
              <a:rPr lang="zh-CN" altLang="en-US" sz="1800" dirty="0"/>
              <a:t>和</a:t>
            </a:r>
            <a:r>
              <a:rPr lang="en-US" altLang="zh-CN" sz="1800" dirty="0"/>
              <a:t>RET</a:t>
            </a:r>
            <a:r>
              <a:rPr lang="zh-CN" altLang="en-US" sz="1800" dirty="0"/>
              <a:t>指令同时出现时，此时</a:t>
            </a:r>
            <a:r>
              <a:rPr lang="en-US" altLang="zh-CN" sz="1800" dirty="0"/>
              <a:t>RET</a:t>
            </a:r>
            <a:r>
              <a:rPr lang="zh-CN" altLang="en-US" sz="1800" dirty="0"/>
              <a:t>指令必然出现在 </a:t>
            </a:r>
            <a:r>
              <a:rPr lang="en-US" altLang="zh-CN" sz="1800" dirty="0"/>
              <a:t>load-use </a:t>
            </a:r>
            <a:r>
              <a:rPr lang="en-US" altLang="zh-CN" sz="1800" dirty="0" err="1"/>
              <a:t>harzard</a:t>
            </a:r>
            <a:r>
              <a:rPr lang="en-US" altLang="zh-CN" sz="1800" dirty="0"/>
              <a:t> </a:t>
            </a:r>
            <a:r>
              <a:rPr lang="zh-CN" altLang="en-US" sz="1800" dirty="0"/>
              <a:t>之后</a:t>
            </a:r>
            <a:r>
              <a:rPr lang="en-US" altLang="zh-CN" sz="1800" dirty="0"/>
              <a:t>.</a:t>
            </a:r>
          </a:p>
          <a:p>
            <a:pPr marL="0" indent="0">
              <a:buNone/>
            </a:pPr>
            <a:r>
              <a:rPr lang="zh-CN" altLang="en-US" sz="1800" dirty="0"/>
              <a:t>应当优先处理 </a:t>
            </a:r>
            <a:r>
              <a:rPr lang="en-US" altLang="zh-CN" sz="1800" dirty="0"/>
              <a:t>load-use </a:t>
            </a:r>
            <a:r>
              <a:rPr lang="en-US" altLang="zh-CN" sz="1800" dirty="0" err="1"/>
              <a:t>harzard</a:t>
            </a:r>
            <a:r>
              <a:rPr lang="zh-CN" altLang="en-US" sz="1800" dirty="0"/>
              <a:t>，而</a:t>
            </a:r>
            <a:r>
              <a:rPr lang="en-US" altLang="zh-CN" sz="1800" dirty="0"/>
              <a:t>RET</a:t>
            </a:r>
            <a:r>
              <a:rPr lang="zh-CN" altLang="en-US" sz="1800" dirty="0"/>
              <a:t>指令先被 </a:t>
            </a:r>
            <a:r>
              <a:rPr lang="en-US" altLang="zh-CN" sz="1800" dirty="0"/>
              <a:t>stall </a:t>
            </a:r>
            <a:r>
              <a:rPr lang="zh-CN" altLang="en-US" sz="1800" dirty="0"/>
              <a:t>在</a:t>
            </a:r>
            <a:r>
              <a:rPr lang="en-US" altLang="zh-CN" sz="1800" dirty="0"/>
              <a:t>D</a:t>
            </a:r>
            <a:r>
              <a:rPr lang="zh-CN" altLang="en-US" sz="1800" dirty="0"/>
              <a:t>阶段</a:t>
            </a:r>
            <a:r>
              <a:rPr lang="en-US" altLang="zh-CN" sz="1800" dirty="0"/>
              <a:t>. </a:t>
            </a:r>
            <a:r>
              <a:rPr lang="zh-CN" altLang="en-US" sz="1800" dirty="0"/>
              <a:t>在下一个循环再按照</a:t>
            </a:r>
            <a:r>
              <a:rPr lang="en-US" altLang="zh-CN" sz="1800" dirty="0"/>
              <a:t>RET</a:t>
            </a:r>
            <a:r>
              <a:rPr lang="zh-CN" altLang="en-US" sz="1800" dirty="0"/>
              <a:t>指令的情况进行控制</a:t>
            </a:r>
            <a:r>
              <a:rPr lang="en-US" altLang="zh-CN" sz="1800" dirty="0"/>
              <a:t>.</a:t>
            </a:r>
          </a:p>
        </p:txBody>
      </p:sp>
      <p:graphicFrame>
        <p:nvGraphicFramePr>
          <p:cNvPr id="4" name="内容占位符 5">
            <a:extLst>
              <a:ext uri="{FF2B5EF4-FFF2-40B4-BE49-F238E27FC236}">
                <a16:creationId xmlns:a16="http://schemas.microsoft.com/office/drawing/2014/main" id="{19A347FF-0AF6-F968-EAC2-E749C17A0A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8815879"/>
              </p:ext>
            </p:extLst>
          </p:nvPr>
        </p:nvGraphicFramePr>
        <p:xfrm>
          <a:off x="838200" y="3301659"/>
          <a:ext cx="1051559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941">
                  <a:extLst>
                    <a:ext uri="{9D8B030D-6E8A-4147-A177-3AD203B41FA5}">
                      <a16:colId xmlns:a16="http://schemas.microsoft.com/office/drawing/2014/main" val="2527366331"/>
                    </a:ext>
                  </a:extLst>
                </a:gridCol>
                <a:gridCol w="3626915">
                  <a:extLst>
                    <a:ext uri="{9D8B030D-6E8A-4147-A177-3AD203B41FA5}">
                      <a16:colId xmlns:a16="http://schemas.microsoft.com/office/drawing/2014/main" val="397432558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666274369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1410014215"/>
                    </a:ext>
                  </a:extLst>
                </a:gridCol>
                <a:gridCol w="925549">
                  <a:extLst>
                    <a:ext uri="{9D8B030D-6E8A-4147-A177-3AD203B41FA5}">
                      <a16:colId xmlns:a16="http://schemas.microsoft.com/office/drawing/2014/main" val="1095804271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208679667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3430845682"/>
                    </a:ext>
                  </a:extLst>
                </a:gridCol>
              </a:tblGrid>
              <a:tr h="185420"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Condition</a:t>
                      </a:r>
                      <a:endParaRPr lang="zh-CN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Trigger</a:t>
                      </a:r>
                      <a:endParaRPr lang="zh-CN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r>
                        <a:rPr lang="en-US" altLang="zh-CN" dirty="0"/>
                        <a:t>Actions(Next Cycle)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791161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F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M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W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400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Load-use </a:t>
                      </a:r>
                      <a:r>
                        <a:rPr lang="en-US" altLang="zh-CN" dirty="0" err="1"/>
                        <a:t>harzard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in {MRMOVQ, POPQ} &amp;&amp; </a:t>
                      </a:r>
                    </a:p>
                    <a:p>
                      <a:r>
                        <a:rPr lang="en-US" altLang="zh-CN" dirty="0" err="1"/>
                        <a:t>E_dstM</a:t>
                      </a:r>
                      <a:r>
                        <a:rPr lang="en-US" altLang="zh-CN" dirty="0"/>
                        <a:t> in {</a:t>
                      </a:r>
                      <a:r>
                        <a:rPr lang="en-US" altLang="zh-CN" dirty="0" err="1"/>
                        <a:t>d_srcA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d_srcB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7279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RET</a:t>
                      </a:r>
                      <a:r>
                        <a:rPr lang="zh-CN" altLang="en-US" dirty="0"/>
                        <a:t>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RET in {</a:t>
                      </a:r>
                      <a:r>
                        <a:rPr lang="en-US" altLang="zh-CN" dirty="0" err="1"/>
                        <a:t>D_icode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M_icode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6852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Combined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(</a:t>
                      </a:r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in {MRMOVQ, POPQ} &amp;&amp; </a:t>
                      </a:r>
                    </a:p>
                    <a:p>
                      <a:r>
                        <a:rPr lang="en-US" altLang="zh-CN" dirty="0" err="1"/>
                        <a:t>E_dstM</a:t>
                      </a:r>
                      <a:r>
                        <a:rPr lang="en-US" altLang="zh-CN" dirty="0"/>
                        <a:t> in {</a:t>
                      </a:r>
                      <a:r>
                        <a:rPr lang="en-US" altLang="zh-CN" dirty="0" err="1"/>
                        <a:t>d_srcA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d_srcB</a:t>
                      </a:r>
                      <a:r>
                        <a:rPr lang="en-US" altLang="zh-CN" dirty="0"/>
                        <a:t>}) &amp;&amp;</a:t>
                      </a:r>
                    </a:p>
                    <a:p>
                      <a:r>
                        <a:rPr lang="en-US" altLang="zh-CN" dirty="0" err="1"/>
                        <a:t>D_icode</a:t>
                      </a:r>
                      <a:r>
                        <a:rPr lang="en-US" altLang="zh-CN" dirty="0"/>
                        <a:t> == RET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10687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7705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BBA8ED-4C72-D29C-84A5-8F8596225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流水线控制逻辑</a:t>
            </a:r>
          </a:p>
        </p:txBody>
      </p:sp>
      <p:graphicFrame>
        <p:nvGraphicFramePr>
          <p:cNvPr id="7" name="内容占位符 5">
            <a:extLst>
              <a:ext uri="{FF2B5EF4-FFF2-40B4-BE49-F238E27FC236}">
                <a16:creationId xmlns:a16="http://schemas.microsoft.com/office/drawing/2014/main" id="{F5CB8BC4-D16F-66D2-30F8-D471BAFFF5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3959715"/>
              </p:ext>
            </p:extLst>
          </p:nvPr>
        </p:nvGraphicFramePr>
        <p:xfrm>
          <a:off x="838200" y="1825625"/>
          <a:ext cx="10515597" cy="338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941">
                  <a:extLst>
                    <a:ext uri="{9D8B030D-6E8A-4147-A177-3AD203B41FA5}">
                      <a16:colId xmlns:a16="http://schemas.microsoft.com/office/drawing/2014/main" val="2527366331"/>
                    </a:ext>
                  </a:extLst>
                </a:gridCol>
                <a:gridCol w="3626915">
                  <a:extLst>
                    <a:ext uri="{9D8B030D-6E8A-4147-A177-3AD203B41FA5}">
                      <a16:colId xmlns:a16="http://schemas.microsoft.com/office/drawing/2014/main" val="397432558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666274369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1410014215"/>
                    </a:ext>
                  </a:extLst>
                </a:gridCol>
                <a:gridCol w="925549">
                  <a:extLst>
                    <a:ext uri="{9D8B030D-6E8A-4147-A177-3AD203B41FA5}">
                      <a16:colId xmlns:a16="http://schemas.microsoft.com/office/drawing/2014/main" val="1095804271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2086796678"/>
                    </a:ext>
                  </a:extLst>
                </a:gridCol>
                <a:gridCol w="925548">
                  <a:extLst>
                    <a:ext uri="{9D8B030D-6E8A-4147-A177-3AD203B41FA5}">
                      <a16:colId xmlns:a16="http://schemas.microsoft.com/office/drawing/2014/main" val="3430845682"/>
                    </a:ext>
                  </a:extLst>
                </a:gridCol>
              </a:tblGrid>
              <a:tr h="185420"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Condition</a:t>
                      </a:r>
                      <a:endParaRPr lang="zh-CN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dirty="0"/>
                        <a:t>Trigger</a:t>
                      </a:r>
                      <a:endParaRPr lang="zh-CN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r>
                        <a:rPr lang="en-US" altLang="zh-CN" dirty="0"/>
                        <a:t>Actions(Next Cycle)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791161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F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M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W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400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Load-use </a:t>
                      </a:r>
                      <a:r>
                        <a:rPr lang="en-US" altLang="zh-CN" dirty="0" err="1"/>
                        <a:t>harzard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in {MRMOVQ, POPQ} &amp;&amp; </a:t>
                      </a:r>
                    </a:p>
                    <a:p>
                      <a:r>
                        <a:rPr lang="en-US" altLang="zh-CN" dirty="0" err="1"/>
                        <a:t>E_dstM</a:t>
                      </a:r>
                      <a:r>
                        <a:rPr lang="en-US" altLang="zh-CN" dirty="0"/>
                        <a:t> in {</a:t>
                      </a:r>
                      <a:r>
                        <a:rPr lang="en-US" altLang="zh-CN" dirty="0" err="1"/>
                        <a:t>d_srcA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d_srcB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7279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Branch misprediction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 == JXX &amp;&amp; !</a:t>
                      </a:r>
                      <a:r>
                        <a:rPr lang="en-US" altLang="zh-CN" dirty="0" err="1"/>
                        <a:t>e_cnd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598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RET</a:t>
                      </a:r>
                      <a:r>
                        <a:rPr lang="zh-CN" altLang="en-US" dirty="0"/>
                        <a:t>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RET in {</a:t>
                      </a:r>
                      <a:r>
                        <a:rPr lang="en-US" altLang="zh-CN" dirty="0" err="1"/>
                        <a:t>D_icode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E_icode</a:t>
                      </a:r>
                      <a:r>
                        <a:rPr lang="en-US" altLang="zh-CN" dirty="0"/>
                        <a:t>, </a:t>
                      </a:r>
                      <a:r>
                        <a:rPr lang="en-US" altLang="zh-CN" dirty="0" err="1"/>
                        <a:t>M_icode</a:t>
                      </a:r>
                      <a:r>
                        <a:rPr lang="en-US" altLang="zh-CN" dirty="0"/>
                        <a:t>}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6852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Branch misprediction</a:t>
                      </a:r>
                    </a:p>
                    <a:p>
                      <a:r>
                        <a:rPr lang="en-US" altLang="zh-CN" dirty="0"/>
                        <a:t>+ RET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13109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zh-CN" dirty="0"/>
                        <a:t>Load-use </a:t>
                      </a:r>
                      <a:r>
                        <a:rPr lang="en-US" altLang="zh-CN" dirty="0" err="1"/>
                        <a:t>harzard</a:t>
                      </a:r>
                      <a:endParaRPr lang="en-US" altLang="zh-CN" dirty="0"/>
                    </a:p>
                    <a:p>
                      <a:r>
                        <a:rPr lang="en-US" altLang="zh-CN" dirty="0"/>
                        <a:t>+ RET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B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-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0279956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E2BCEA8F-D37E-65B5-36AE-44560FD79AE7}"/>
              </a:ext>
            </a:extLst>
          </p:cNvPr>
          <p:cNvSpPr txBox="1"/>
          <p:nvPr/>
        </p:nvSpPr>
        <p:spPr>
          <a:xfrm>
            <a:off x="838200" y="5213985"/>
            <a:ext cx="790953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F_stall</a:t>
            </a:r>
            <a:r>
              <a:rPr lang="en-US" altLang="zh-CN" dirty="0">
                <a:latin typeface="Consolas" panose="020B0609020204030204" pitchFamily="49" charset="0"/>
              </a:rPr>
              <a:t> = RET || Load-</a:t>
            </a:r>
            <a:r>
              <a:rPr lang="en-US" altLang="zh-CN" dirty="0" err="1">
                <a:latin typeface="Consolas" panose="020B0609020204030204" pitchFamily="49" charset="0"/>
              </a:rPr>
              <a:t>use_harzard</a:t>
            </a:r>
            <a:endParaRPr lang="en-US" altLang="zh-CN" dirty="0">
              <a:latin typeface="Consolas" panose="020B0609020204030204" pitchFamily="49" charset="0"/>
            </a:endParaRPr>
          </a:p>
          <a:p>
            <a:r>
              <a:rPr lang="en-US" altLang="zh-CN" dirty="0" err="1">
                <a:latin typeface="Consolas" panose="020B0609020204030204" pitchFamily="49" charset="0"/>
              </a:rPr>
              <a:t>D_stall</a:t>
            </a:r>
            <a:r>
              <a:rPr lang="en-US" altLang="zh-CN" dirty="0">
                <a:latin typeface="Consolas" panose="020B0609020204030204" pitchFamily="49" charset="0"/>
              </a:rPr>
              <a:t> = Load-</a:t>
            </a:r>
            <a:r>
              <a:rPr lang="en-US" altLang="zh-CN" dirty="0" err="1">
                <a:latin typeface="Consolas" panose="020B0609020204030204" pitchFamily="49" charset="0"/>
              </a:rPr>
              <a:t>use_harzard</a:t>
            </a:r>
            <a:endParaRPr lang="en-US" altLang="zh-CN" dirty="0">
              <a:latin typeface="Consolas" panose="020B0609020204030204" pitchFamily="49" charset="0"/>
            </a:endParaRPr>
          </a:p>
          <a:p>
            <a:r>
              <a:rPr lang="en-US" altLang="zh-CN" dirty="0" err="1">
                <a:latin typeface="Consolas" panose="020B0609020204030204" pitchFamily="49" charset="0"/>
              </a:rPr>
              <a:t>D_bubble</a:t>
            </a:r>
            <a:r>
              <a:rPr lang="en-US" altLang="zh-CN" dirty="0">
                <a:latin typeface="Consolas" panose="020B0609020204030204" pitchFamily="49" charset="0"/>
              </a:rPr>
              <a:t> = (</a:t>
            </a:r>
            <a:r>
              <a:rPr lang="en-US" altLang="zh-CN" dirty="0" err="1">
                <a:latin typeface="Consolas" panose="020B0609020204030204" pitchFamily="49" charset="0"/>
              </a:rPr>
              <a:t>Branch_misprediction</a:t>
            </a:r>
            <a:r>
              <a:rPr lang="en-US" altLang="zh-CN" dirty="0">
                <a:latin typeface="Consolas" panose="020B0609020204030204" pitchFamily="49" charset="0"/>
              </a:rPr>
              <a:t> || RET) &amp;&amp; !Load-</a:t>
            </a:r>
            <a:r>
              <a:rPr lang="en-US" altLang="zh-CN" dirty="0" err="1">
                <a:latin typeface="Consolas" panose="020B0609020204030204" pitchFamily="49" charset="0"/>
              </a:rPr>
              <a:t>use_harzard</a:t>
            </a:r>
            <a:endParaRPr lang="en-US" altLang="zh-CN" dirty="0">
              <a:latin typeface="Consolas" panose="020B0609020204030204" pitchFamily="49" charset="0"/>
            </a:endParaRPr>
          </a:p>
          <a:p>
            <a:r>
              <a:rPr lang="en-US" altLang="zh-CN" dirty="0" err="1">
                <a:latin typeface="Consolas" panose="020B0609020204030204" pitchFamily="49" charset="0"/>
              </a:rPr>
              <a:t>E_bubble</a:t>
            </a:r>
            <a:r>
              <a:rPr lang="en-US" altLang="zh-CN" dirty="0">
                <a:latin typeface="Consolas" panose="020B0609020204030204" pitchFamily="49" charset="0"/>
              </a:rPr>
              <a:t> = Load-</a:t>
            </a:r>
            <a:r>
              <a:rPr lang="en-US" altLang="zh-CN" dirty="0" err="1">
                <a:latin typeface="Consolas" panose="020B0609020204030204" pitchFamily="49" charset="0"/>
              </a:rPr>
              <a:t>use_harzard</a:t>
            </a:r>
            <a:r>
              <a:rPr lang="en-US" altLang="zh-CN" dirty="0">
                <a:latin typeface="Consolas" panose="020B0609020204030204" pitchFamily="49" charset="0"/>
              </a:rPr>
              <a:t> || </a:t>
            </a:r>
            <a:r>
              <a:rPr lang="en-US" altLang="zh-CN" dirty="0" err="1">
                <a:latin typeface="Consolas" panose="020B0609020204030204" pitchFamily="49" charset="0"/>
              </a:rPr>
              <a:t>Branch_misprediction</a:t>
            </a:r>
            <a:endParaRPr lang="zh-CN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4342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2580</Words>
  <Application>Microsoft Office PowerPoint</Application>
  <PresentationFormat>宽屏</PresentationFormat>
  <Paragraphs>256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7" baseType="lpstr">
      <vt:lpstr>等线</vt:lpstr>
      <vt:lpstr>等线 Light</vt:lpstr>
      <vt:lpstr>Arial</vt:lpstr>
      <vt:lpstr>Consolas</vt:lpstr>
      <vt:lpstr>Office 主题​​</vt:lpstr>
      <vt:lpstr>Lec 12 Processor Arch: Pipelined 回课</vt:lpstr>
      <vt:lpstr>Pipeline 流水线的原理</vt:lpstr>
      <vt:lpstr>Pipeline 流水线的原理</vt:lpstr>
      <vt:lpstr>Pipeline 流水线的工作细节</vt:lpstr>
      <vt:lpstr>Pipeline 流水线的局限</vt:lpstr>
      <vt:lpstr>带反馈的流水线</vt:lpstr>
      <vt:lpstr>SEQ → SEQ+</vt:lpstr>
      <vt:lpstr>加入流水线寄存器</vt:lpstr>
      <vt:lpstr>当前流水线中的反馈路径</vt:lpstr>
      <vt:lpstr>新PC值的获取</vt:lpstr>
      <vt:lpstr>当前流水线设计的缺陷</vt:lpstr>
      <vt:lpstr>数据相关的应对</vt:lpstr>
      <vt:lpstr>Stall 与 Bubble 的具体实现</vt:lpstr>
      <vt:lpstr>数据相关的应对</vt:lpstr>
      <vt:lpstr>转发的具体实现</vt:lpstr>
      <vt:lpstr>Load-use 数据冒险的应对</vt:lpstr>
      <vt:lpstr>转移预测错误的应对</vt:lpstr>
      <vt:lpstr>RET指令的应对</vt:lpstr>
      <vt:lpstr>出现单个特殊情况时的应对</vt:lpstr>
      <vt:lpstr>存在多种特殊情况时的应对</vt:lpstr>
      <vt:lpstr>存在多种特殊情况时的应对</vt:lpstr>
      <vt:lpstr>流水线控制逻辑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瑞 王</dc:creator>
  <cp:lastModifiedBy>瑞 王</cp:lastModifiedBy>
  <cp:revision>194</cp:revision>
  <dcterms:created xsi:type="dcterms:W3CDTF">2025-10-26T04:15:21Z</dcterms:created>
  <dcterms:modified xsi:type="dcterms:W3CDTF">2025-10-29T09:57:10Z</dcterms:modified>
</cp:coreProperties>
</file>