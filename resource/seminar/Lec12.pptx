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302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7" r:id="rId44"/>
    <p:sldId id="300" r:id="rId45"/>
    <p:sldId id="298" r:id="rId46"/>
    <p:sldId id="299" r:id="rId47"/>
    <p:sldId id="301" r:id="rId4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开场（约 20 秒）。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自我介绍；说明这是第 12 讲回课，30 分钟，按教材 Chapter 6 的节顺序讲。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一句话预告：先看存储器技术，再看局部性，最后看层次结构与 cache。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关键英文句：Today we follow the textbook chapter: storage technologies first, then locality, then the hierarchy.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时间：≈0.3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知识框架（约 1 分钟）。全场地图，后面每讲完一节可以回来看。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三块：① 存储器的抽象（总线/读写事务）——§6.1.1 末尾，Q1(1)；② 存储技术（RAM/DRAM 组织/内存条/磁盘/IO/SSD）——§6.1.1–6.1.3，Q1(2)–(9)；③ 局部性、层次结构与 cache——§6.2–6.3，Q2(1)–(7)。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底部工具条：容量公式、T_access 公式、3C；作业 6.23/6.24 用它。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这页不画方框，直接用三条粗黑标题；讲的时候按 1→2→3 顺序展开。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关键英文句：Three blocks and one toolbox — every seminar question lives in one of these boxes.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路线图（约 40 秒）。强调顺序按教材：§6.1 存储技术 → §6.2 局部性 → §6.3 层次结构。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老师课件把"总线读写"提到最前；我们按教材放回 §6.1.1 末尾，跟书一致。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每节对应研讨题：§6.1.1→1(1)–(5)，§6.1.2→1(6)–(8)，§6.1.3→1(9)，§6.2→2(1)–(3)，§6.3→2(4)–(7)。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作业 6.23/6.24 放在最后，用 §6.1.2 的公式。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关键英文句：The order is the book's order: storage technologies, then locality, then the hierarchy.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过渡（约 15 秒）。教材 §6.1.1 的顺序：SRAM/DRAM → DRAM 组织 → 内存模块 → 增强 DRAM → 非易失 → 访问主存（总线）。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提醒：总线放在这一节最后讲，因为教材就是这样安排的。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SRAM vs DRAM（约 0.8 分钟）。对应研讨题 1(2)(3)，教材 §6.1.1 Fig. 6.2。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结构：SRAM 6 个晶体管、双稳态、不刷新；DRAM 1 管 1 电容、会漏电、要刷新。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取舍：SRAM 快但贵而小 → cache；DRAM 慢但便宜而密 → 主存。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教材 Fig. 6.2 的数字（口头给，不另放图）：访问时间 1× vs 10×；相对成本 1,000× vs 1×。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口径提示：老师课件 p13 写 100×，教材 Fig. 6.2 写 1,000×；按教材讲，两个出处都说一句。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关键英文句：Six transistors make SRAM fast and expensive; one transistor plus one capacitor make DRAM dense and cheap.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时间：≈0.8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DRAM 组织（约 1 分钟）。对应研讨题 1(5) 前半，教材 Fig. 6.3。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讲清 supercell：16×8 的芯片有 16 个 supercell，每个 8 位；行 4 行、列 4 列。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关键坑：图上 addr 只标 2 bits，不是地址只有 2 位，而是 2 根引脚分两次传：先 RAS 传行号，再 CAS 传列号。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这正是"为什么地址要分两步"的答案：省引脚、降成本。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关键英文句：Two address pins, used twice — once for the row and once for the column.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读 supercell（约 1 分钟）。对应研讨题 1(5) 前半，教材 Fig. 6.4，老师课件 p16–18 三帧。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第 1 帧：RAS=2 选中第 2 行，整行复制进内部 row buffer。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第 2 帧：CAS=1 选中第 1 列，从 row buffer 取出 8 位。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第 3 帧：数据送上数据引脚，回到 CPU。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强调"整行先搬进 buffer"是 DRAM 的工作方式，也是突发读取快的原因。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关键英文句：Row first, column second: the row buffer holds a whole row while CAS picks one supercell.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内存模块（约 0.8 分钟）。对应研讨题 1(5) 后半，教材 Fig. 6.5，老师课件 p19。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左图：8 颗 DRAM 并排，每颗贡献 8 位，拼成一个 64 位字；地址低 3 位轮流选中 8 颗芯片。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右图：真实 DIMM，一面 8 颗芯片——和左图一一对应。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可以现场拿一条内存条对照：数一数 8 颗芯片，讲 64 位数据总线为什么是 8×8。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DIMM/rank 概念一句带过（rank 是一组协同工作的芯片）。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关键英文句：Eight chips, eight bits each — together they deliver one 64-bit word per access.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时间：≈0.8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RAM 家族（约 0.9 分钟）。对应研讨题 1(2)(3)，教材 §6.1.1，老师课件 p12–20。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先用缩进关系讲清：RAM 分 SRAM/DRAM；DRAM 再分 conventional/FPM/EDO/SDRAM/VRAM；DDR 是 SDRAM 的子类。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SRAM = 6T/bit，快、贵，做 cache；DRAM = 1T1C，慢、便宜，做主存。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教材 §6.1.1 的 Enhanced DRAMs：FPM（行缓冲复用）、EDO（CAS 更密）、SDRAM（时钟驱动）、DDR SDRAM（双沿+预取）、VRAM（双端口帧缓冲）。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它们全部仍是 1T1C DRAM cell，只是控制器访问方式/接口不同；教材 3e 只列 DDR/DDR2/DDR3，DDR4/5 是 2026 延续。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这页没有框，靠缩进表示层级；讲的时候用手势比划"上一层/下一层"即可。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关键英文句：They are all DRAM cells — what changes is the interface, not the storage cell.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时间：≈0.9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Enhanced DRAMs 品类与年代（约 0.7 分钟）。对应研讨题 1(2) “每类找一张实物照片并说明差异”。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FPM DRAM：72-pin SIMM，1990–1995 年前后的主流（486/早期 Pentium）。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EDO DRAM：72-pin SIMM，1995–1998 年前后的主流，CAS 信号更密。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SDRAM：168-pin DIMM（PC66/PC100/PC133），1997–2002 年前后的主流，接口改为时钟驱动。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DDR4：UDIMM，2014–2022 年前后的主流；DDR5：UDIMM，2021 至今的主流。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VRAM：显卡帧缓冲，1986–1996 年前后的主流；双端口，可同时读屏幕、写新像素。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提醒：照片里 DDR4/DDR5 是现代模组；教材 3e 只列 DDR/DDR2/DDR3，DDR4/5 是后续延续。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图片来源：Wikimedia Commons，许可见 work/photo_sources.md。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关键英文句：Each generation had its mainstream years — the 1T1C cell stayed the same.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ROM 家族（约 0.7 分钟）。对应研讨题 1(4)，教材 §6.1.1，老师课件 p15–16。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记忆主线：可编程次数 + 擦除方式：ROM 出厂写死 → PROM 一次（熔丝）→ EPROM 紫外线擦（石英窗口）→ EEPROM 电擦（按字节）。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实物点认：EPROM 的石英窗口最好认；PROM 上的标签/熔丝封装；EEPROM 常见于小容量配置芯片。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这页只讲前四类；flash 单独一页，避免挤在一起。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关键英文句：ROM fixed, PROM once, EPROM by UV, EEPROM byte by byte.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Flash 与非易失存储（约 0.7 分钟）。对应研讨题 1(4) 的后半段，教材 §6.1.1（Flash）和 §6.1.3（SSD）。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Flash 与 EEPROM 的关系：都是电擦，但 Flash 按块擦除，密度更高、成本更低。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NAND vs NOR：NAND 顺序/块访问、密度高 → SSD/U 盘；NOR 支持随机读、常用于固件/代码。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非易失的意义：断电不丢数据；用于 firmware、SSD、磁盘缓存（disk cache）。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历史旁注：老师课件提到的 3D XPoint/Optane 已在 2022 年停产，作为历史案例一句话带过。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实物：U 盘拆开可见 NAND flash 芯片；SSD 内部是 NAND + 控制器。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关键英文句：Flash erases in blocks, keeps data without power, and runs SSDs and USB drives.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总线（约 0.4 分钟）。对应研讨题 1(1)，教材 §6.1.1 Fig. 6.6。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教材把"访问主存"放在 §6.1.1 最后——我们现在才讲，是为了跟书一致。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三个信号：地址、数据、控制；三个部件：CPU、I/O bridge、主存。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总线共享 → 同一时刻只能有一个事务；实际系统有仲裁/流水，今天不展开。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关键英文句：The bus is shared, so memory transactions are serialized.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时间：≈0.4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读事务（约 0.6 分钟）。对应研讨题 1(1)，老师课件 p4–6，教材 Fig. 6.7。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左图三帧保持原大小：地址上总线 → 主存回数据 → CPU 写进 %rax。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右边文字按 1/2/3 讲，强调"地址先走、数据后回；总线共享，整条路径经过 I/O bridge"。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可以问听众：如果数据在 cache 里命中，这三步还会发生吗？（不会，为后面的 cache 埋伏笔。）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关键英文句：A load is three bus steps: address out, word back, register written.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写事务（约 0.6 分钟）。对应研讨题 1(1) 的写部分，老师课件 p7–9，教材 Fig. 6.8。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左图三帧保持原大小：先地址、再数据、主存写入。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右边按 1/2/3 讲，强调与读的相同点（地址先走）和不同点（数据方向相反）。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覆盖研讨题 1(1) 的完整答案：先报地址，再报数据方向，最后说总线共享。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关键英文句：A store sends the same address first, but then the data flows toward memory.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过渡（约 15 秒）。教材 §6.1.2 的顺序：几何 → 容量 → 操作/访问时间 → 逻辑块 → I/O。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硬盘结构（约 0.8 分钟）。对应研讨题 1(6) 的结构部分，老师课件 p22 的内容我们用真实照片重新标注。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指认：盘片、主轴、磁头/悬臂、音圈马达（actuator）、SATA 接口。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关键：所有磁头一起动，同一时刻停在同一柱面；每次访问都是机械运动。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机械 = 毫秒级；SSD 是微秒级，差 3 个数量级——为后面 SSD 铺垫。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关键英文句：Platters spin, the arm seeks, and every access costs milliseconds.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时间：≈0.8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磁盘几何（约 0.5 分钟）。对应研讨题 1(6)，教材 Fig. 6.9。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逐层包含：盘片（每片 2 面）→ 盘面 → 同心磁道 → 扇区；扇区之间有 gap。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柱面 cylinder：所有盘面上半径相同的磁道集合，这是"换面不换道"的基础。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现代盘有 recording zones：外圈扇区多、内圈少，所以容量公式用平均扇区数。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关键英文句：Platters have surfaces, surfaces have tracks, and tracks are split into sectors.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时间：≈0.5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容量（约 1 分钟）。对应研讨题 1(6)，老师课件 p27，教材 §6.1.2。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公式五个因子，逐个解释；强调"平均扇区数"来自 recording zones。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例题带算：512 × 300 × 20000 × 2 × 5 = 30.72e9 = 30.72 GB。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口径提醒：厂商用 1 GB = 10⁹ B，操作系统显示 GiB，30.72 GB ≈ 28.6 GiB，学生会问"为什么少了"。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作业 6.23/6.24 用不到容量公式，但研讨题 1(6) 要用。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关键英文句：Five factors multiply together — and the average sectors per track hides the recording zones.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磁盘访问动画（约 0.7 分钟）。对应研讨题 1(7)，老师课件 p31–39，教材 Fig. 6.10。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三帧：磁头就位 → seek 移到目标磁道 → 等目标扇区转到磁头下。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边讲边问：这段时间花在哪？答：seek + 旋转，传输只占极小头。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如果时间紧，这页可以只放动画、不逐帧解释。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关键英文句：Time goes into moving the head and waiting for the rotation, not into transferring the sector.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访问时间（约 1 分钟）。对应研讨题 1(7) 与作业 6.23，老师课件 p40–42。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公式三项；旋转延迟是半圈，所以要 ×1/2；传输时间只占扇区那一小段。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例题：7200 RPM、9 ms seek、400 sectors/track → 13.02 ms。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- 40,000×/2,500× 是按读 512 B 块算的（SRAM≈256 ns、DRAM≈4 µs、disk≈10 ms）；若按单字 4 ns/60 ns 会是百万倍——口径要讲清。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关键英文句：Seek plus half a rotation dominates; transferring the sector is almost free by comparison.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硬盘 → 内存：I/O 总线（约 1 分钟）。对应研讨题 1(8)，老师课件 p43–46，教材 Fig. 6.11。</a:t>
            </a:r>
          </a:p>
          <a:p>
            <a:r>
              <a:t>- 这张图回答“数据从硬盘到内存走哪条路”：disk drive → disk controller → host bus adapter (SCSI/SATA) → I/O bus → I/O bridge → memory bus → main memory。</a:t>
            </a:r>
          </a:p>
          <a:p>
            <a:r>
              <a:t>- 关键点：I/O bridge 把 system bus、memory bus、I/O bus 连起来；CPU 通过 bus interface 发起事务，但数据搬运由 disk controller 做 DMA，不经过 CPU 寄存器。</a:t>
            </a:r>
          </a:p>
          <a:p>
            <a:r>
              <a:t>- 与下一页配合：这一页看“路径”，下一页看“三步”（命令 → DMA → 中断）。</a:t>
            </a:r>
          </a:p>
          <a:p>
            <a:r>
              <a:t>- 可以指着图问：如果数据要进 CPU 寄存器，最后一步走哪条总线？（system bus → bus interface → register file。）</a:t>
            </a:r>
          </a:p>
          <a:p/>
          <a:p>
            <a:r>
              <a:t>关键英文句：The disk controller puts data on the I/O bus, the bridge forwards it to the memory bus, and main memory receives it.</a:t>
            </a:r>
          </a:p>
          <a:p>
            <a:r>
              <a:t>时间：≈1 分钟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磁盘→内存（约 1 分钟）。对应研讨题 1(8)，教材 Fig. 6.11–6.12，老师课件 p43–46。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三步：CPU 写端口发命令 → 控制器读扇区、DMA 写入主存 → 完成后中断 CPU。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角色：I/O bridge 连接三条总线；disk controller 负责"逻辑块号 →(surface, track, sector)"映射。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与 PIO 对比：PIO 由 CPU 搬数据，DMA 由控制器搬，CPU 只在结束时被中断。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强调 CPU 在 DMA 期间可以做别的事——这就是 I/O 与计算重叠的来源。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关键英文句：CPU issues a command, the controller DMAs the data, and an interrupt says it is done.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2026 主流硬盘（约 0.7 分钟）。对应研讨题 1(6)"选当前主流产品"，数据见 work/hardware_2026.md。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型号：Seagate Exos X24 24 TB（近线盘）；7200 RPM、512 MB cache、CMR、充氦。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换算：厂商 24 TB = 24×10¹² B，OS 显示约 21.8 TiB；持续传输约 285 MB/s，读满约 23 小时。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随机访问估算：旋转 4.17 ms + seek ≈4 ms + 传输 ≈8.2 ms。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数据给数量级即可，不必背精确值；来源与访问日期写在文件里。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关键英文句：A 2026 nearline drive is 24 TB, 7,200 RPM, and still about 8 ms per random access.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过渡（约 15 秒）。教材 §6.1.3：SSD 结构 → 性能 → 取舍。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SSD 结构（约 0.7 分钟）。对应研讨题 1(9)，教材 Fig. 6.13，老师课件 p47。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单位：page 512 B–4 KB，block 32–128 pages；读/写按 page，擦除按 block。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两条约束：写前必须整块擦除（所以随机写慢、有写放大）；块有寿命（现代 TLC 约 1k–3k 次，教材 100k 是早期量级）。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FTL 负责逻辑块映射 + wear leveling；这是 SSD 的"软件层"。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顺带纠正老师课件 p47 的笔误：page 是 512 B–4 KB，不是 512 KB。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关键英文句：You can read and write a page, but you can only erase a whole block — that is why SSDs need the FTL.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SSD 性能（约 0.6 分钟）。对应研讨题 1(9)，教材 Fig. 6.14 与 2026 产品数据。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教材对照：2015 年 Intel SSD 730，550 MB/s、89K IOPS；2026 主流盘顺序读约 27×、随机读约 20×。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仍然遵守规律：顺序 ≫ 随机（随机写更明显）；原因是擦块/写放大。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数字只需要数量级；讲清楚"教材数据 2015、现在 2026"。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关键英文句：Sequential throughput grew about 27× in a decade, but random is still far slower than sequential.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HDD vs SSD（约 0.7 分钟）。对应研讨题 1(9) 的对比要求。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逐行对比：顺序吞吐、随机 IOPS、延迟、$/GB、寿命。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结论：SSD 快 3 个数量级但贵约 4 倍 → 分层使用：SSD 做系统盘/热数据，HDD 做容量盘/冷数据。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价格是 2025–2026 口径，只讲倍数，不背具体数。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这张表也可以作为研讨题 1(9) 的回答模板。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关键英文句：SSDs win on latency and random IOPS; HDDs win on capacity per dollar.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趋势（约 0.7 分钟）。对应研讨题 2(4) 的引子，教材 Fig. 6.16。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半对数纵轴：CPU 周期时间下降 500×，DRAM 只改善 10×，磁盘更慢。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换算成 CPU 周期：一次 DRAM ≈ 200 周期，一次磁盘 seek ≈ 数千万周期。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这张图就是"为什么需要层次结构"的定量答案；下一页开始讲局部性。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关键英文句：The CPU got 500 times faster, but DRAM only about ten times — the gap is the reason for the hierarchy.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时间：≈0.7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过渡（约 15 秒）。教材 §6.2：数据局部性 → 指令局部性 → 小结。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局部性（约 0.9 分钟）。对应研讨题 2(1)，教材 Fig. 6.17，老师课件 p53–54。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定义：temporal = 最近用过的还会用；spatial = 地址相邻的会一起用。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对着代码标四类：sum → 数据×时间；a[i] → 数据×空间；指令顺序 → 指令×空间；循环 → 指令×时间。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强调"程序访问地址不是随机的"——这是整个层次结构成立的前提。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关键英文句：Locality is a property of programs: they reuse the same items and nearby addresses.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时间：≈0.9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二维数组布局（约 0.8 分钟）。对应研讨题 2(2) 的"画内存布局"要求，教材 §6.2.1。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画法：4×4 的格子按行铺成一条线；同一行连续，换行要跳 N×4 字节。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公式：a[i][j] 的地址 = base + (i×N + j)×4；让学生口算 a[2][1] 的偏移。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这页就是研讨题 2(2) 要的示意图；下一页用它解释行扫描 vs 列扫描。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关键英文句：Row-major means the last index moves fastest; changing the row jumps N elements.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时间：≈0.8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行扫描 vs 列扫描（约 1 分钟）。对应研讨题 2(2)，教材 Fig. 6.18–6.19。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左：内层 j，地址连续，一个 64 B 块装 16 个 int → 约 1/16 miss。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右：内层 i，每步跳 N×4 B；N=2048 时一步 8 KB → 几乎每次 miss。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回答"no, unless M is very small"：整列能装进 cache 时才不吃亏。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结论：循环顺序必须跟内存布局一致。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关键英文句：Row scanning uses every byte of a block; column scanning wastes a block on every access.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三维数组与循环重排（约 1.2 分钟）。对应研讨题 2(3)，教材 PP6.7，老师课件 p57。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布局：a[M][N][N]，最右下标 j 连续（stride 4 B）；k 变一次跳一整个 N×N 平面。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原代码 for(i)for(j)for(k) 访问 a[k][i][j]：变化最快的是 k，但 k 是最外层下标 → stride N²×4。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改法：循环改为 (k, i, j)，让 j 最内层 → stride 4 B；结果不变，性能天差地别。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教材 PP6.7 答案就是 "make j the inner loop"。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关键英文句：Reordering the loops changes the stride from N² to 1 without changing the result.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时间：≈1.2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局部性小结（约 0.5 分钟）。对应研讨题 2(1)–(3) 的收束，教材 §6.2.2–6.2.3。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三条规则：复用变量（时间）、stride-1（空间）、内层循环小且多迭代。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指令局部性：顺序取指 + 循环重复，所以代码本身也有局部性。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过渡：程序有局部性 → 才能用"小缓存 + 大存储"骗出"又大又快"的效果。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关键英文句：Temporal reuse, stride-1 access, and small inner loops — three habits that make the hierarchy work.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时间：≈0.5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过渡（约 15 秒）。教材 §6.3：层次结构 → 缓存概念（hit/miss/3C）→ 小结。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时间：≈0.2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层次结构（约 0.8 分钟）。对应研讨题 2(4)(5)，教材 Fig. 6.21，老师课件 p60。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金字塔：越往上越小越快越贵；越往下越大越慢越便宜。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关键句：每一层都是下一层的 cache（L0 缓存 L1，L1 缓存 L2，……，主存缓存磁盘块）。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现实对照：寄存器/缓存 → 内存 → SSD → 云端；让听众找自己电脑的对应层。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关键英文句：Each level is a cache for the level below it — that is the whole idea.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时间：≈0.8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cache 基本操作（约 0.9 分钟）。对应研讨题 2(6)，教材 §6.3.1 Fig. 6.22，老师课件 p62–64。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命中：请求的 block 在 cache 里，直接读；未命中：从下一层取，按 placement 放，按 replacement 淘汰（LRU/random）。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用教材图讲：cache 4 个槽、memory 16 个 block；请求 14 命中、请求 12 未命中。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写策略（write-through/write-back、write-allocate）老师课件没讲，属于 §6.4/下一讲，一句带过即可。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关键英文句：A hit is fast; a miss costs a trip to the next level plus a placement and replacement decision.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时间：≈0.9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3C（约 0.9 分钟）。对应研讨题 2(7)，教材 §6.3.1，老师课件 p65。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强制 miss：第一次访问，cache 空 → 不可避免。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冲突 miss：多个 block 映射到同一行，例如 0, 8, 0, 8… 每次都 miss。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容量 miss：工作集大于 cache → 提高相联度/换算法只能缓解，不能消除。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用一句口诀：冷 miss 躲不掉，冲突靠提高相联度，容量靠增大 cache/改代码。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关键英文句：Compulsory misses happen once per block; conflict and capacity misses happen because the cache is too small or too rigid.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时间：≈0.9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2026 PC 各层容量（约 0.9 分钟）。对应研讨题 2(5)。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把金字塔对应到真实机器：L1/L2/L3、DDR5、NVMe SSD、HDD/云端。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强调数量级：每往下一层，容量约 10×、延迟约 10×–100×。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课堂互动：让听众打开任务管理器/系统信息，查自己电脑的内存、SSD 容量，填进表里。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这张表就是研讨题 2(5) 的标准答案模板。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关键英文句：Your laptop is the pyramid: 48 KB of L1, 32 GB of DRAM, 1 TB of NVMe, and maybe a disk or the cloud below.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时间：≈0.9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总结（约 0.6 分钟）。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三句话收束：存储器技术 → 局部性 → 层次结构与 cache。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回到开头的问题：CPU–内存差距越来越大，靠局部性 + cache 把差距藏起来。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图片来源：教材图（Pearson，课程内部）、老师课件（课程内部）、Wikimedia Commons 照片（署名见 work/photo_sources.md）、本课件自绘图。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结束语：Thank you — questions and discussion?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关键英文句：Storage technologies give us the pieces; locality and caching turn them into a hierarchy that looks large and fast.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时间：≈0.6 分钟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Supplementary 3/3（约 1 分钟，不计入 30 分钟主线）。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带宽翻倍不等于延迟下降：DRAM 延迟仍在 ~50–100 ns 量级，所以 §6.2–6.3 的局部性/cache 仍然是程序员最有效的手段。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DDR6 的 4×24-bit 子通道 + 更高速率，让信号完整性、基板、封装（CAMM2）成为系统设计问题——这也是为什么内存厂要提前联合基板厂研发。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产业周期：AI/HBM 挤占产能 → 普通 DRAM 涨价、DDR4 退场、DDR5 成为主流，DDR6 在 2028–2029 才商用。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需要跟踪的三个信号：JEDEC 最终规格、HBM4 量产（Nvidia Rubin 节奏）、DDR6 实际上市时间。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来源与数据：TrendForce、China Daily/CCPIT、Chosun Biz、EET-China，详见 work/industry_2026.md。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Supplementary 1/3（约 1.5 分钟，不计入 30 分钟主线）。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- 2026-10-27 你的 B 站热搜里出现"DDR6 位宽和频率"——这页解释它为什么火。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三代对比：DDR4 2014、DDR5 2020 JEDEC/2022 起量、DDR6 预计 2028–2029 商用；速率 3.2 → 8.4 → 8.8–17.6 Gbps。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关键架构变化：DDR5 是 2×32-bit 子通道，DDR6 规划为 4×24-bit；通道更多、单通道更窄，信号完整性/基板设计难度上升。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JEDEC 最终规格尚未定稿（2024 年底初稿）；三星、SK 海力士、美光 2026 年已联合基板厂做前期研发。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落地顺序：服务器/AI 数据中心先，随后高端笔记本；CAMM2 等新封装在超高速率下更重要。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来源：TrendForce 2026-05-06（DDR6 前期研发启动）、EET-China 2026-05-05。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Supplementary 2/3（约 1.5 分钟，不计入 30 分钟主线）。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- 2025Q3 全球 DRAM 营收 414 亿美元，环比 +30.9%；SK 海力士 33.2%、三星 32.6%、美光 25.7%（TrendForce）。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- 2026 主线：AI/HBM 占用产能 → 普通 DRAM 供应紧、价格涨（TrendForce 预计 2025Q4 普通 DRAM 合约价环比 +45–50%）。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HBM4 竞争：SK 海力士仍领先，但 HBM 收入份额从 2026Q1 的 58% 降到 Q2 的 50%；三星从 21% 升到 33%（Counterpoint via Chosun Biz，2026-10-21）。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中国长鑫存储（CXMT）2026Q2 全球 DRAM 份额约 10%，排名第四；LPDDR6 已量产，HBM3E 小规模生产（China Daily/CCPIT，2026-09-10）。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一句话：三巨头 + 一个追赶者，AI 是这轮周期的发动机。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Supplementary 4/4（约 2 分钟，不计入 30 分钟主线）。回答“为什么今年的电脑和手机都在涨价”。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核心机制：AI 服务器抢走先进存储产能 → HBM 占 DRAM 市场约四成、70% 新增产能给 HBM，HBM 缺口 50–60% → 消费级 DRAM/NAND 供给收缩。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价格：2026Q1 通用 DRAM 合约价环比 +93–98%，Q2 +58–63%；NAND 两个季度都 +55–60%；2026 年 6 月 PC DDR4 8Gb 约 21 美元，创 2016 年追踪以来新高。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终端：国产中端手机普遍 +300–1000 元；苹果 MacBook/iPad 中国区 +15–25%；Xbox 512GB +100 美元、1TB +150 美元；Counterpoint：2026Q2 全球手机出货 −11% YoY，全年预计 −14%。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分歧：TrendForce 预计 2026Q3 DRAM 合约价涨幅收敛到 +13–18%、NAND +10–15%；Jefferies 认为接近峰值；UBS/中信等认为紧缺延续到 2027–2028。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- 一句话：不是“大家更想换电脑”，而是“AI 把晶圆拿走了，消费者买单”。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关键英文句：AI takes the wafers, consumers pay the bill — and the bill shows up in phone and PC prices.</a:t>
            </a:r>
            <a:endParaRPr sz="1200">
              <a:latin typeface="Arial" panose="020B0604020202090204"/>
            </a:endParaRPr>
          </a:p>
          <a:p>
            <a:pPr>
              <a:lnSpc>
                <a:spcPct val="110000"/>
              </a:lnSpc>
            </a:pPr>
            <a:r>
              <a:rPr sz="1200">
                <a:latin typeface="Arial" panose="020B0604020202090204"/>
              </a:rPr>
              <a:t>补充时长：≈2 分钟（不计入 30 分钟主线）</a:t>
            </a:r>
            <a:endParaRPr sz="1200">
              <a:latin typeface="Arial" panose="020B060402020209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763268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endParaRPr sz="1400" b="1" i="0" spc="22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" y="2074163"/>
            <a:ext cx="10271455" cy="9052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5000" b="1" i="0" spc="-30">
                <a:solidFill>
                  <a:srgbClr val="111111"/>
                </a:solidFill>
                <a:latin typeface="Arial" panose="020B0604020202090204"/>
              </a:rPr>
              <a:t>The Memory Hierarchy</a:t>
            </a:r>
            <a:endParaRPr sz="5000" b="1" i="0" spc="-3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0120" y="4161662"/>
            <a:ext cx="8961120" cy="112775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zh-CN" sz="2400" b="0" i="0">
                <a:solidFill>
                  <a:srgbClr val="333333"/>
                </a:solidFill>
                <a:latin typeface="Arial" panose="020B0604020202090204"/>
              </a:rPr>
              <a:t>张峻硕</a:t>
            </a:r>
            <a:r>
              <a:rPr lang="en-US" altLang="zh-CN" sz="2400" b="0" i="0">
                <a:solidFill>
                  <a:srgbClr val="333333"/>
                </a:solidFill>
                <a:latin typeface="Arial" panose="020B0604020202090204"/>
              </a:rPr>
              <a:t> 2026.10.28 ICS</a:t>
            </a:r>
            <a:r>
              <a:rPr lang="zh-CN" altLang="en-US" sz="2400" b="0" i="0">
                <a:solidFill>
                  <a:srgbClr val="333333"/>
                </a:solidFill>
                <a:latin typeface="Arial" panose="020B0604020202090204"/>
              </a:rPr>
              <a:t>小</a:t>
            </a:r>
            <a:r>
              <a:rPr lang="zh-CN" altLang="en-US" sz="2400" b="0" i="0">
                <a:solidFill>
                  <a:srgbClr val="333333"/>
                </a:solidFill>
                <a:latin typeface="Arial" panose="020B0604020202090204"/>
              </a:rPr>
              <a:t>班</a:t>
            </a:r>
            <a:endParaRPr lang="zh-CN" altLang="en-US" sz="2400" b="0" i="0">
              <a:solidFill>
                <a:srgbClr val="333333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Knowledge framework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Quick </a:t>
            </a: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Review</a:t>
            </a:r>
            <a:endParaRPr lang="en-US"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170" b="1" i="0">
                <a:solidFill>
                  <a:srgbClr val="111111"/>
                </a:solidFill>
                <a:latin typeface="Arial" panose="020B0604020202090204"/>
              </a:rPr>
              <a:t>1. Memory abstraction</a:t>
            </a:r>
            <a:endParaRPr sz="317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048256"/>
            <a:ext cx="10820095" cy="425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bus · load/store transactions — Q1(1)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07724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170" b="1" i="0">
                <a:solidFill>
                  <a:srgbClr val="111111"/>
                </a:solidFill>
                <a:latin typeface="Arial" panose="020B0604020202090204"/>
              </a:rPr>
              <a:t>2. Storage technologies</a:t>
            </a:r>
            <a:endParaRPr sz="317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644168"/>
            <a:ext cx="10820095" cy="425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RAM family · DRAM chip · DIMM · HDD · I/O path · SSD — Q1(2)–(9)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67315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170" b="1" i="0">
                <a:solidFill>
                  <a:srgbClr val="111111"/>
                </a:solidFill>
                <a:latin typeface="Arial" panose="020B0604020202090204"/>
              </a:rPr>
              <a:t>3. Locality &amp; hierarchy</a:t>
            </a:r>
            <a:endParaRPr sz="317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240080"/>
            <a:ext cx="10820095" cy="7960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temporal / spatial · arrays · pyramid · cache hit/miss · 3 C's — Q2(1)–(7)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Contents</a:t>
            </a:r>
            <a:endParaRPr lang="en-US"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01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148132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§6.1.1 RAM — SRAM/DRAM, organizations, modules, ROM, the bus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344521"/>
            <a:ext cx="10820095" cy="731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02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§6.1.2 Disk storage — geometry, capacity, access time, I/O path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3213201"/>
            <a:ext cx="10820095" cy="731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03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321868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§6.1.3 SSDs — pages, blocks, FTL, performance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4081881"/>
            <a:ext cx="10820095" cy="731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8736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04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5920" y="408736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§6.1.4 Storage trends — the CPU–memory gap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4950561"/>
            <a:ext cx="10820095" cy="731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5604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05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95604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§6.2 Locality — why caches can work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819241"/>
            <a:ext cx="10820095" cy="731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824728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06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45920" y="5824728"/>
            <a:ext cx="9859975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</a:pPr>
            <a:r>
              <a:rPr sz="2800" b="0" i="0">
                <a:solidFill>
                  <a:srgbClr val="111111"/>
                </a:solidFill>
                <a:latin typeface="Arial" panose="020B0604020202090204"/>
              </a:rPr>
              <a:t>§6.3 The memory hierarchy — hits, misses and the 3 C's</a:t>
            </a:r>
            <a:endParaRPr sz="28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79244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spc="240">
                <a:solidFill>
                  <a:srgbClr val="111111"/>
                </a:solidFill>
                <a:latin typeface="Arial" panose="020B0604020202090204"/>
              </a:rPr>
              <a:t>§6.1 Storage Technologies</a:t>
            </a:r>
            <a:endParaRPr sz="1600" b="1" i="0" spc="24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2445004"/>
            <a:ext cx="9905695" cy="902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Random Access Memory (§6</a:t>
            </a:r>
            <a:r>
              <a:rPr lang="en-US" sz="4800" b="1" i="0">
                <a:solidFill>
                  <a:srgbClr val="111111"/>
                </a:solidFill>
                <a:latin typeface="Arial" panose="020B0604020202090204"/>
              </a:rPr>
              <a:t>.</a:t>
            </a: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1.1)</a:t>
            </a:r>
            <a:endParaRPr sz="48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347212"/>
            <a:ext cx="91440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58691"/>
            <a:ext cx="8412480" cy="1056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2200" b="0" i="0">
                <a:solidFill>
                  <a:srgbClr val="333333"/>
                </a:solidFill>
                <a:latin typeface="Arial" panose="020B0604020202090204"/>
              </a:rPr>
              <a:t>SRAM and DRAM cells, DRAM organization, memory modules, nonvolatile memory, and the bus</a:t>
            </a:r>
            <a:endParaRPr sz="2200" b="0" i="0">
              <a:solidFill>
                <a:srgbClr val="333333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Q1(2)(3)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SRAM vs DRAM: Cell and Cost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2190" y="1499616"/>
            <a:ext cx="7315" cy="517550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5158587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860" b="1" i="0">
                <a:solidFill>
                  <a:srgbClr val="111111"/>
                </a:solidFill>
                <a:latin typeface="Arial" panose="020B0604020202090204"/>
              </a:rPr>
              <a:t>SRAM (static)</a:t>
            </a:r>
            <a:endParaRPr sz="286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865376"/>
            <a:ext cx="457200" cy="292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ram-chi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59" y="2048256"/>
            <a:ext cx="3799267" cy="228600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4389120"/>
            <a:ext cx="5158587" cy="2926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500" b="0" i="1">
                <a:solidFill>
                  <a:srgbClr val="444444"/>
                </a:solidFill>
                <a:latin typeface="Arial" panose="020B0604020202090204"/>
              </a:rPr>
              <a:t>SRAM — cache · mainstream since the 1990s.</a:t>
            </a:r>
            <a:endParaRPr sz="1500" b="0" i="1">
              <a:solidFill>
                <a:srgbClr val="444444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736592"/>
            <a:ext cx="5158587" cy="1773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29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6 transistors per bit; holds state without refresh.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Fast but expensive → used for caches.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47307" y="1481328"/>
            <a:ext cx="5158587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860" b="1" i="0">
                <a:solidFill>
                  <a:srgbClr val="111111"/>
                </a:solidFill>
                <a:latin typeface="Arial" panose="020B0604020202090204"/>
              </a:rPr>
              <a:t>DRAM (dynamic)</a:t>
            </a:r>
            <a:endParaRPr sz="286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47307" y="1865376"/>
            <a:ext cx="457200" cy="292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am-c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637" y="2048256"/>
            <a:ext cx="3427928" cy="228600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347307" y="4389120"/>
            <a:ext cx="5158587" cy="2926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500" b="0" i="1">
                <a:solidFill>
                  <a:srgbClr val="444444"/>
                </a:solidFill>
                <a:latin typeface="Arial" panose="020B0604020202090204"/>
              </a:rPr>
              <a:t>DRAM — main memory · mainstream since the late 1970s.</a:t>
            </a:r>
            <a:endParaRPr sz="1500" b="0" i="1">
              <a:solidFill>
                <a:srgbClr val="444444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47307" y="4736592"/>
            <a:ext cx="5158587" cy="16407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9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1 transistor + 1 capacitor; must refresh every 10–100 ms.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Dense and cheap → used for main memory.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Q1(5)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Inside a DRAM Chip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DRAM chip · mainstream 1970s–now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f06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979" y="1481328"/>
            <a:ext cx="8811736" cy="426110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5833872"/>
            <a:ext cx="10820095" cy="8295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The 16×8 chip needs 4 address bits, but has only 2 pins: RAS sends the row, CAS sends the column.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Q1(5)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Reading One Supercell: RAS → CAS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DRAM chip · mainstream 1970s–now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f06-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889" y="1481328"/>
            <a:ext cx="7123916" cy="338328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956048"/>
            <a:ext cx="10820095" cy="17073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RAS = 2 selects row 2; the whole row is copied into the row buffer.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CAS = 1 selects column 1; the 8-bit supercell goes to the data pins.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Memory Module: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  <a:p>
            <a:pPr>
              <a:lnSpc>
                <a:spcPct val="102000"/>
              </a:lnSpc>
            </a:pP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1 address for continu</a:t>
            </a: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ous </a:t>
            </a: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64 Bits</a:t>
            </a:r>
            <a:r>
              <a:rPr lang="en-US" sz="3400" b="1" i="0">
                <a:solidFill>
                  <a:srgbClr val="111111"/>
                </a:solidFill>
                <a:latin typeface="Arial" panose="020B0604020202090204"/>
              </a:rPr>
              <a:t> = 8 chips * 8 bits </a:t>
            </a:r>
            <a:endParaRPr lang="en-US"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pic>
        <p:nvPicPr>
          <p:cNvPr id="5" name="Picture 4" descr="module-2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" y="1481328"/>
            <a:ext cx="1000719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Q1(2)(3)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The RAM Family, from the Book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6583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RAM</a:t>
            </a:r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 — volatile · random access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139696"/>
            <a:ext cx="10317175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500" b="1" i="0">
                <a:solidFill>
                  <a:srgbClr val="111111"/>
                </a:solidFill>
                <a:latin typeface="Arial" panose="020B0604020202090204"/>
              </a:rPr>
              <a:t>SRAM</a:t>
            </a:r>
            <a:r>
              <a:rPr sz="2500" b="1" i="0">
                <a:solidFill>
                  <a:srgbClr val="111111"/>
                </a:solidFill>
                <a:latin typeface="Arial" panose="020B0604020202090204"/>
              </a:rPr>
              <a:t> — 6 transistors per bit · fast, expensive → caches</a:t>
            </a:r>
            <a:endParaRPr sz="25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2706624"/>
            <a:ext cx="10317175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500" b="1" i="0">
                <a:solidFill>
                  <a:srgbClr val="111111"/>
                </a:solidFill>
                <a:latin typeface="Arial" panose="020B0604020202090204"/>
              </a:rPr>
              <a:t>DRAM</a:t>
            </a:r>
            <a:r>
              <a:rPr sz="2500" b="1" i="0">
                <a:solidFill>
                  <a:srgbClr val="111111"/>
                </a:solidFill>
                <a:latin typeface="Arial" panose="020B0604020202090204"/>
              </a:rPr>
              <a:t> — 1 transistor + 1 capacitor · dense, cheap → main memory</a:t>
            </a:r>
            <a:endParaRPr sz="25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3273552"/>
            <a:ext cx="9768535" cy="493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111111"/>
                </a:solidFill>
                <a:latin typeface="Arial" panose="020B0604020202090204"/>
              </a:rPr>
              <a:t>Conventional DRAM</a:t>
            </a:r>
            <a:r>
              <a:rPr sz="2300" b="0" i="0">
                <a:solidFill>
                  <a:srgbClr val="111111"/>
                </a:solidFill>
                <a:latin typeface="Arial" panose="020B0604020202090204"/>
              </a:rPr>
              <a:t> — RAS + CAS on every access</a:t>
            </a:r>
            <a:endParaRPr sz="23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3767328"/>
            <a:ext cx="9768535" cy="493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111111"/>
                </a:solidFill>
                <a:latin typeface="Arial" panose="020B0604020202090204"/>
              </a:rPr>
              <a:t>FPM DRAM</a:t>
            </a:r>
            <a:r>
              <a:rPr sz="2300" b="0" i="0">
                <a:solidFill>
                  <a:srgbClr val="111111"/>
                </a:solidFill>
                <a:latin typeface="Arial" panose="020B0604020202090204"/>
              </a:rPr>
              <a:t> — reuses the row buffer for same-row hits</a:t>
            </a:r>
            <a:endParaRPr sz="23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4261104"/>
            <a:ext cx="9768535" cy="493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111111"/>
                </a:solidFill>
                <a:latin typeface="Arial" panose="020B0604020202090204"/>
              </a:rPr>
              <a:t>EDO DRAM</a:t>
            </a:r>
            <a:r>
              <a:rPr sz="2300" b="0" i="0">
                <a:solidFill>
                  <a:srgbClr val="111111"/>
                </a:solidFill>
                <a:latin typeface="Arial" panose="020B0604020202090204"/>
              </a:rPr>
              <a:t> — CAS signals spaced closer than FPM</a:t>
            </a:r>
            <a:endParaRPr sz="23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4754880"/>
            <a:ext cx="9768535" cy="493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111111"/>
                </a:solidFill>
                <a:latin typeface="Arial" panose="020B0604020202090204"/>
              </a:rPr>
              <a:t>SDRAM</a:t>
            </a:r>
            <a:r>
              <a:rPr sz="2300" b="0" i="0">
                <a:solidFill>
                  <a:srgbClr val="111111"/>
                </a:solidFill>
                <a:latin typeface="Arial" panose="020B0604020202090204"/>
              </a:rPr>
              <a:t> — clock-driven (synchronous) interface</a:t>
            </a:r>
            <a:endParaRPr sz="23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0" y="5248656"/>
            <a:ext cx="9219895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100" b="1" i="0">
                <a:solidFill>
                  <a:srgbClr val="111111"/>
                </a:solidFill>
                <a:latin typeface="Arial" panose="020B0604020202090204"/>
              </a:rPr>
              <a:t>DDR SDRAM</a:t>
            </a:r>
            <a:r>
              <a:rPr sz="2100" b="0" i="0">
                <a:solidFill>
                  <a:srgbClr val="111111"/>
                </a:solidFill>
                <a:latin typeface="Arial" panose="020B0604020202090204"/>
              </a:rPr>
              <a:t> — both clock edges; prefetch 2 → 16 bits</a:t>
            </a:r>
            <a:endParaRPr sz="21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5687568"/>
            <a:ext cx="9219895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100" b="1" i="0">
                <a:solidFill>
                  <a:srgbClr val="111111"/>
                </a:solidFill>
                <a:latin typeface="Arial" panose="020B0604020202090204"/>
              </a:rPr>
              <a:t>DDR generations</a:t>
            </a:r>
            <a:r>
              <a:rPr sz="2100" b="0" i="0">
                <a:solidFill>
                  <a:srgbClr val="111111"/>
                </a:solidFill>
                <a:latin typeface="Arial" panose="020B0604020202090204"/>
              </a:rPr>
              <a:t> — DDR → DDR2 → DDR3 → DDR4 → DDR5</a:t>
            </a:r>
            <a:endParaRPr sz="21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6126480"/>
            <a:ext cx="9768535" cy="4937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111111"/>
                </a:solidFill>
                <a:latin typeface="Arial" panose="020B0604020202090204"/>
              </a:rPr>
              <a:t>VRAM</a:t>
            </a:r>
            <a:r>
              <a:rPr sz="2300" b="0" i="0">
                <a:solidFill>
                  <a:srgbClr val="111111"/>
                </a:solidFill>
                <a:latin typeface="Arial" panose="020B0604020202090204"/>
              </a:rPr>
              <a:t> — dual-ported frame buffer for graphics</a:t>
            </a:r>
            <a:endParaRPr sz="23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Q1(2)(3)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Enhanced DRAMs: Categories and Eras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hanced-dram-photo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6644"/>
            <a:ext cx="10362895" cy="51814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Q1(4)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Nonvolatile Memory: ROM Family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m-family-3u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62026"/>
            <a:ext cx="10820095" cy="2930442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864608"/>
            <a:ext cx="10820095" cy="17988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1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ROM: programmed at manufacture, never changed.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PROM: programmed once, by blowing fuses.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EPROM: erased by UV light through a quartz window.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EEPROM: electrically erasable, one byte at a time.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Q1(4)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Flash Memory: NAND, NOR, USB, SSD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ash-3u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94" y="1481328"/>
            <a:ext cx="10787106" cy="2921508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494276"/>
            <a:ext cx="10820095" cy="17530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11000"/>
              </a:lnSpc>
              <a:spcAft>
                <a:spcPts val="35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Flash: electrically erasable in blocks; NAND and NOR variants.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11000"/>
              </a:lnSpc>
              <a:spcAft>
                <a:spcPts val="35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NAND → SSDs and USB drives; NOR → firmware and code storage.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11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Nonvolatile: keeps data without power — firmware, SSDs, disk caches.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Q1(1)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Accessing Main Memory: The Bus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963" y="1481328"/>
            <a:ext cx="10281768" cy="426110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5833872"/>
            <a:ext cx="10820095" cy="8295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Shared parallel wires for address, data and control — one transaction at a time.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Q1(1)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Read Transaction: </a:t>
            </a:r>
            <a:r>
              <a:rPr sz="3195" b="1" i="0">
                <a:solidFill>
                  <a:srgbClr val="111111"/>
                </a:solidFill>
                <a:latin typeface="Courier New" panose="02070409020205090404"/>
              </a:rPr>
              <a:t>movq A, %rax</a:t>
            </a:r>
            <a:endParaRPr sz="3195" b="1" i="0">
              <a:solidFill>
                <a:srgbClr val="111111"/>
              </a:solidFill>
              <a:latin typeface="Courier New" panose="020704090202050904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07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68" y="1481328"/>
            <a:ext cx="4117711" cy="1652016"/>
          </a:xfrm>
          <a:prstGeom prst="rect">
            <a:avLst/>
          </a:prstGeom>
        </p:spPr>
      </p:pic>
      <p:pic>
        <p:nvPicPr>
          <p:cNvPr id="6" name="Picture 5" descr="f06-0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48" y="3261360"/>
            <a:ext cx="4124551" cy="1652016"/>
          </a:xfrm>
          <a:prstGeom prst="rect">
            <a:avLst/>
          </a:prstGeom>
        </p:spPr>
      </p:pic>
      <p:pic>
        <p:nvPicPr>
          <p:cNvPr id="7" name="Picture 6" descr="f06-0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748" y="5041392"/>
            <a:ext cx="4124551" cy="1652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3729" y="1481328"/>
            <a:ext cx="4782165" cy="5284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690" b="1" i="0">
                <a:solidFill>
                  <a:srgbClr val="111111"/>
                </a:solidFill>
                <a:latin typeface="Arial" panose="020B0604020202090204"/>
              </a:rPr>
              <a:t>The three bus steps</a:t>
            </a:r>
            <a:endParaRPr sz="269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3729" y="2119457"/>
            <a:ext cx="4782165" cy="2843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92735" indent="-292735">
              <a:lnSpc>
                <a:spcPct val="105000"/>
              </a:lnSpc>
              <a:spcAft>
                <a:spcPts val="355"/>
              </a:spcAft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1.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CPU puts address A on the memory bus.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  <a:spcAft>
                <a:spcPts val="355"/>
              </a:spcAft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2.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Main memory reads A, fetches word x, and returns x on the bus.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3.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CPU reads x from the bus and copies it into </a:t>
            </a:r>
            <a:r>
              <a:rPr sz="2255" b="0" i="0">
                <a:solidFill>
                  <a:srgbClr val="111111"/>
                </a:solidFill>
                <a:latin typeface="Courier New" panose="02070409020205090404"/>
              </a:rPr>
              <a:t>%rax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3729" y="5162970"/>
            <a:ext cx="4782165" cy="11704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One bus transaction at a time; a memory read takes roughly 50–100 ns.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§6.1.1 · Q1(1)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Write Transaction: </a:t>
            </a:r>
            <a:r>
              <a:rPr sz="3195" b="1" i="0">
                <a:solidFill>
                  <a:srgbClr val="111111"/>
                </a:solidFill>
                <a:latin typeface="Courier New" panose="02070409020205090404"/>
              </a:rPr>
              <a:t>movq %rax, A</a:t>
            </a:r>
            <a:endParaRPr sz="3195" b="1" i="0">
              <a:solidFill>
                <a:srgbClr val="111111"/>
              </a:solidFill>
              <a:latin typeface="Courier New" panose="020704090202050904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08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754" y="1481328"/>
            <a:ext cx="4786541" cy="1652016"/>
          </a:xfrm>
          <a:prstGeom prst="rect">
            <a:avLst/>
          </a:prstGeom>
        </p:spPr>
      </p:pic>
      <p:pic>
        <p:nvPicPr>
          <p:cNvPr id="6" name="Picture 5" descr="f06-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45" y="3261360"/>
            <a:ext cx="4778758" cy="1652016"/>
          </a:xfrm>
          <a:prstGeom prst="rect">
            <a:avLst/>
          </a:prstGeom>
        </p:spPr>
      </p:pic>
      <p:pic>
        <p:nvPicPr>
          <p:cNvPr id="7" name="Picture 6" descr="f06-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54" y="5041392"/>
            <a:ext cx="4786541" cy="1652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3729" y="1481328"/>
            <a:ext cx="4782165" cy="5284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690" b="1" i="0">
                <a:solidFill>
                  <a:srgbClr val="111111"/>
                </a:solidFill>
                <a:latin typeface="Arial" panose="020B0604020202090204"/>
              </a:rPr>
              <a:t>The three bus steps</a:t>
            </a:r>
            <a:endParaRPr sz="269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3729" y="2119457"/>
            <a:ext cx="4782165" cy="2843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92735" indent="-292735">
              <a:lnSpc>
                <a:spcPct val="105000"/>
              </a:lnSpc>
              <a:spcAft>
                <a:spcPts val="355"/>
              </a:spcAft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1.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CPU puts address A on the bus; main memory waits for data.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  <a:spcAft>
                <a:spcPts val="355"/>
              </a:spcAft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2.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CPU puts data word y on the bus.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</a:pPr>
            <a:r>
              <a:rPr sz="2400" b="1" i="0">
                <a:solidFill>
                  <a:srgbClr val="111111"/>
                </a:solidFill>
                <a:latin typeface="Arial" panose="020B0604020202090204"/>
              </a:rPr>
              <a:t>3.  </a:t>
            </a: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Main memory reads y and stores it at address A.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3729" y="5162970"/>
            <a:ext cx="4782165" cy="11704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111111"/>
                </a:solidFill>
                <a:latin typeface="Arial" panose="020B0604020202090204"/>
              </a:rPr>
              <a:t>Address first, then data — the data direction is opposite to a read.</a:t>
            </a:r>
            <a:endParaRPr sz="24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79244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spc="240">
                <a:solidFill>
                  <a:srgbClr val="111111"/>
                </a:solidFill>
                <a:latin typeface="Arial" panose="020B0604020202090204"/>
              </a:rPr>
              <a:t>§6.1 Storage Technologies</a:t>
            </a:r>
            <a:endParaRPr sz="1600" b="1" i="0" spc="24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2445004"/>
            <a:ext cx="9905695" cy="902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Disk Storage (§6.1.2)</a:t>
            </a:r>
            <a:endParaRPr sz="48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347212"/>
            <a:ext cx="91440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58691"/>
            <a:ext cx="8412480" cy="1056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2200" b="0" i="0">
                <a:solidFill>
                  <a:srgbClr val="333333"/>
                </a:solidFill>
                <a:latin typeface="Arial" panose="020B0604020202090204"/>
              </a:rPr>
              <a:t>Geometry, capacity, the three-part access time, and the I/O path into memory</a:t>
            </a:r>
            <a:endParaRPr sz="2200" b="0" i="0">
              <a:solidFill>
                <a:srgbClr val="333333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37015" y="512064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0000"/>
              </a:lnSpc>
            </a:pPr>
            <a:r>
              <a:rPr sz="15000" b="1" i="0">
                <a:solidFill>
                  <a:srgbClr val="FFFFFF"/>
                </a:solidFill>
                <a:latin typeface="Arial" panose="020B0604020202090204"/>
              </a:rPr>
              <a:t>16</a:t>
            </a:r>
            <a:endParaRPr sz="1500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Q1(6)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Anatomy of a Hard Disk Drive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3.5-inch HDD · mainstream 1980s–now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hdd-open-labele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252" y="1481328"/>
            <a:ext cx="639519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Q1(6)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Disk Geometry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3.5-inch HDD geometry · mainstream 1980s–now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f06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84" y="1481328"/>
            <a:ext cx="10108925" cy="426110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5833872"/>
            <a:ext cx="10820095" cy="8295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Platters → surfaces → tracks → sectors; aligned tracks form one cylinder.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Q1(6)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Disk Capacity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860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4000"/>
              </a:lnSpc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Capacity = (bytes/sector) × (avg sectors/track) × (tracks/surface) × (surfaces/platter) × (platters/disk)</a:t>
            </a:r>
            <a:endParaRPr sz="26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785663"/>
            <a:ext cx="10820095" cy="1773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44000"/>
              </a:lnSpc>
              <a:spcAft>
                <a:spcPts val="180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Recording zones: outer zones hold more sectors, so use the average.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4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Example: 512 × 300 × 20,000 × 2 × 5 = 30.72 GB (vendors use 1 GB = 10⁹ B).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Q1(7)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Disk Access: Seek and Rotation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3.5-inch HDD · mainstream 1980s–now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f06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447" y="1481328"/>
            <a:ext cx="7416800" cy="333756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910328"/>
            <a:ext cx="10820095" cy="17530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2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Seek: the arm moves radially to the target track.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2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Rotational latency: wait for the target sector to spin under the head.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Transfer: read the sector — the smaller part of the time.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Q1(7) &amp; Homework 6.23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Disk Access Time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860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4000"/>
              </a:lnSpc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Taccess = Tavg seek + Tavg rotation + Tavg transfer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</a:t>
            </a: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= 9 ms + ½ × (60/7200) s + (60/7200) × (1/400) s = 13.02 ms</a:t>
            </a:r>
            <a:endParaRPr sz="26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785663"/>
            <a:ext cx="10820095" cy="1773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44000"/>
              </a:lnSpc>
              <a:spcAft>
                <a:spcPts val="180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Seek and rotation dominat</a:t>
            </a:r>
            <a:r>
              <a:rPr lang="en-US" sz="2600" b="0" i="0">
                <a:solidFill>
                  <a:srgbClr val="111111"/>
                </a:solidFill>
                <a:latin typeface="Arial" panose="020B0604020202090204"/>
              </a:rPr>
              <a:t>e : 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the first bit is the most expensive.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4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Disk ≈ 40,000× slower than SRAM and ≈ 2,500× slower than DRAM (512-B block basis).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11111"/>
                </a:solidFill>
                <a:latin typeface="Arial" panose="020B0604020202090204"/>
              </a:rPr>
              <a:t>§6.1.2 · Q1(8)</a:t>
            </a:r>
            <a:endParaRPr sz="14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17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3400" b="1">
                <a:solidFill>
                  <a:srgbClr val="111111"/>
                </a:solidFill>
                <a:latin typeface="Arial" panose="020B0604020202090204"/>
              </a:rPr>
              <a:t>From Disk to Memory: The I/O Bus</a:t>
            </a:r>
            <a:endParaRPr sz="34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12648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420" y="1481328"/>
            <a:ext cx="5948111" cy="5166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Q1(8)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From Disk to Memory: I/O, DMA, Interrupt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22357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92735" indent="-292735">
              <a:lnSpc>
                <a:spcPct val="105000"/>
              </a:lnSpc>
              <a:spcAft>
                <a:spcPts val="495"/>
              </a:spcAft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1.  </a:t>
            </a: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CPU writes a command, a logical block number and a destination address to the disk controller.</a:t>
            </a:r>
            <a:endParaRPr sz="2600" b="1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  <a:spcAft>
                <a:spcPts val="495"/>
              </a:spcAft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2.  </a:t>
            </a: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The controller reads the sector and DMA-transfers it into main memory.</a:t>
            </a:r>
            <a:endParaRPr sz="2600" b="1" i="0">
              <a:solidFill>
                <a:srgbClr val="111111"/>
              </a:solidFill>
              <a:latin typeface="Arial" panose="020B0604020202090204"/>
            </a:endParaRPr>
          </a:p>
          <a:p>
            <a:pPr marL="292735" indent="-292735">
              <a:lnSpc>
                <a:spcPct val="105000"/>
              </a:lnSpc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3.  </a:t>
            </a: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The controller raises an interrupt when the DMA is done.</a:t>
            </a:r>
            <a:endParaRPr sz="26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952951"/>
            <a:ext cx="10820095" cy="22357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9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The I/O bridge connects the system bus, memory bus and I/O bus.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49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Logical blocks are mapped to (surface, track, sector) by the controller.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While DMA runs, the CPU can execute other work.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§6.1.2 · Q1(6)(7)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A Mainstream HDD in 2026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3.5-inch nearline HDD · mainstream 1980s–now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hdd-produc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7059" y="1481328"/>
            <a:ext cx="5877576" cy="338328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956048"/>
            <a:ext cx="10820095" cy="17073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Example: Seagate Exos X24, 24 TB, 7,200 RPM, 512 MB cache, CMR, helium.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24 TB ≈ 21.8 TiB; random 4-KB access ≈ 8.2 ms (NVMe: 50–100 µs).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79244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spc="240">
                <a:solidFill>
                  <a:srgbClr val="111111"/>
                </a:solidFill>
                <a:latin typeface="Arial" panose="020B0604020202090204"/>
              </a:rPr>
              <a:t>§6.1 Storage Technologies</a:t>
            </a:r>
            <a:endParaRPr sz="1600" b="1" i="0" spc="24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2445004"/>
            <a:ext cx="9905695" cy="902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Solid-State Drives (§6.1.3)</a:t>
            </a:r>
            <a:endParaRPr sz="48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347212"/>
            <a:ext cx="91440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58691"/>
            <a:ext cx="8412480" cy="1056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2200" b="0" i="0">
                <a:solidFill>
                  <a:srgbClr val="333333"/>
                </a:solidFill>
                <a:latin typeface="Arial" panose="020B0604020202090204"/>
              </a:rPr>
              <a:t>Pages, blocks, the flash translation layer — and no seek time</a:t>
            </a:r>
            <a:endParaRPr sz="2200" b="0" i="0">
              <a:solidFill>
                <a:srgbClr val="333333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37015" y="512064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0000"/>
              </a:lnSpc>
            </a:pPr>
            <a:r>
              <a:rPr sz="15000" b="1" i="0">
                <a:solidFill>
                  <a:srgbClr val="FFFFFF"/>
                </a:solidFill>
                <a:latin typeface="Arial" panose="020B0604020202090204"/>
              </a:rPr>
              <a:t>24</a:t>
            </a:r>
            <a:endParaRPr sz="1500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§6.1.3 · Q1(9)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Inside an SSD: Pages, Blocks, FTL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0" i="0">
                <a:solidFill>
                  <a:srgbClr val="444444"/>
                </a:solidFill>
                <a:latin typeface="Arial" panose="020B0604020202090204"/>
              </a:rPr>
              <a:t>SSD (SATA / NVMe) · mainstream 2010s–now</a:t>
            </a:r>
            <a:endParaRPr sz="1500" b="0" i="0">
              <a:solidFill>
                <a:srgbClr val="444444"/>
              </a:solidFill>
              <a:latin typeface="Arial" panose="020B0604020202090204"/>
            </a:endParaRPr>
          </a:p>
        </p:txBody>
      </p:sp>
      <p:pic>
        <p:nvPicPr>
          <p:cNvPr id="5" name="Picture 4" descr="f06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219" y="1481328"/>
            <a:ext cx="6357257" cy="333756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910328"/>
            <a:ext cx="10820095" cy="17530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2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Pages 512 B–4 KB; blocks 32–128 pages; read/write in pages.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2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Must erase a whole block before writing; block wears out after many P/E cycles.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The FTL maps logical blocks and does wear leveling.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§6.1.3 · Q1(9)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SSD Performance in 2026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2" cy="286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07256"/>
                <a:gridCol w="1352511"/>
                <a:gridCol w="2254186"/>
                <a:gridCol w="2103907"/>
                <a:gridCol w="1202232"/>
              </a:tblGrid>
              <a:tr h="79654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SSD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Interface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Sequential read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4K random read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TBW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Samsung 9100 PRO 2 TB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PCIe 5.0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14,800 MB/s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1.85 M IOPS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1,200 TB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Samsung 990 PRO 2 TB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PCIe 4.0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7,450 MB/s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1.40 M IOPS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1,200 TB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Textbook (2015, Intel 730)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SATA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550 MB/s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89 K IOPS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—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70400"/>
            <a:ext cx="10820095" cy="896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18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Sequential access is much faster than random — the same hierarchy theme.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§6.1.3 · Q1(9)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HDD vs SSD: Choose by Workload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3" cy="2828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57535"/>
                <a:gridCol w="2898239"/>
                <a:gridCol w="3864319"/>
              </a:tblGrid>
              <a:tr h="471424">
                <a:tc>
                  <a:txBody>
                    <a:bodyPr wrap="square"/>
                    <a:lstStyle/>
                    <a:p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HDD (2026)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SSD (2026)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Sequential throughput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~285 MB/s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7–14 GB/s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4-KB random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~120 IOPS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~1 M IOPS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Latency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~8 ms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50–100 µs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Price per GB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~$0.015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~$0.06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Endurance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mechanical wear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TBW (e.g., 1,200 TB)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37888"/>
            <a:ext cx="10820095" cy="896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18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SSD for the system and hot data; HDD for capacity and cold data.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§6.1.4 · Q2(4)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Storage Trends: The CPU–Memory Gap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1506" y="1481328"/>
            <a:ext cx="6428682" cy="338328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956048"/>
            <a:ext cx="10820095" cy="17073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Since 1985, CPU cycle time improved ≈500×; DRAM access only ≈10×.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One DRAM access ≈ 200 CPU cycles; one disk seek ≈ tens of millions.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79244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spc="240">
                <a:solidFill>
                  <a:srgbClr val="111111"/>
                </a:solidFill>
                <a:latin typeface="Arial" panose="020B0604020202090204"/>
              </a:rPr>
              <a:t>§6.2 Locality</a:t>
            </a:r>
            <a:endParaRPr sz="1600" b="1" i="0" spc="24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2445004"/>
            <a:ext cx="9905695" cy="902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Locality (§6.2)</a:t>
            </a:r>
            <a:endParaRPr sz="48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347212"/>
            <a:ext cx="91440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58691"/>
            <a:ext cx="8412480" cy="1056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2200" b="0" i="0">
                <a:solidFill>
                  <a:srgbClr val="333333"/>
                </a:solidFill>
                <a:latin typeface="Arial" panose="020B0604020202090204"/>
              </a:rPr>
              <a:t>Programs reuse data and nearby addresses — the property that makes the hierarchy work</a:t>
            </a:r>
            <a:endParaRPr sz="2200" b="0" i="0">
              <a:solidFill>
                <a:srgbClr val="333333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37015" y="512064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0000"/>
              </a:lnSpc>
            </a:pPr>
            <a:r>
              <a:rPr sz="15000" b="1" i="0">
                <a:solidFill>
                  <a:srgbClr val="FFFFFF"/>
                </a:solidFill>
                <a:latin typeface="Arial" panose="020B0604020202090204"/>
              </a:rPr>
              <a:t>29</a:t>
            </a:r>
            <a:endParaRPr sz="1500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§6.2.1 · Q2(1)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Locality in Code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56481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910" b="1" i="0">
                <a:solidFill>
                  <a:srgbClr val="111111"/>
                </a:solidFill>
                <a:latin typeface="Arial" panose="020B0604020202090204"/>
              </a:rPr>
              <a:t>Where the locality comes from</a:t>
            </a:r>
            <a:endParaRPr sz="291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353533"/>
            <a:ext cx="10820095" cy="22357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40000"/>
              </a:lnSpc>
              <a:spcAft>
                <a:spcPts val="180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Temporal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— </a:t>
            </a:r>
            <a:r>
              <a:rPr sz="2445" b="0" i="0">
                <a:solidFill>
                  <a:srgbClr val="111111"/>
                </a:solidFill>
                <a:latin typeface="Courier New" panose="02070409020205090404"/>
              </a:rPr>
              <a:t>sum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is reused every iteration.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0000"/>
              </a:lnSpc>
              <a:spcAft>
                <a:spcPts val="180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Spatial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— </a:t>
            </a:r>
            <a:r>
              <a:rPr sz="2445" b="0" i="0">
                <a:solidFill>
                  <a:srgbClr val="111111"/>
                </a:solidFill>
                <a:latin typeface="Courier New" panose="02070409020205090404"/>
              </a:rPr>
              <a:t>a[i]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is stride-1; neighboring addresses are used together.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0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1" i="0">
                <a:solidFill>
                  <a:srgbClr val="111111"/>
                </a:solidFill>
                <a:latin typeface="Arial" panose="020B0604020202090204"/>
              </a:rPr>
              <a:t>Instruction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— the loop body is fetched sequentially, again and again.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§6.2.1 · Q2(2)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2-D Arrays in Memory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ray-2d-layo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752" y="1481328"/>
            <a:ext cx="5612190" cy="3799332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5372100"/>
            <a:ext cx="10820095" cy="13079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2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Row-major: </a:t>
            </a:r>
            <a:r>
              <a:rPr sz="2345" b="0" i="0">
                <a:solidFill>
                  <a:srgbClr val="111111"/>
                </a:solidFill>
                <a:latin typeface="Courier New" panose="02070409020205090404"/>
              </a:rPr>
              <a:t>a[i][j]</a:t>
            </a: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 is at </a:t>
            </a:r>
            <a:r>
              <a:rPr sz="2345" b="0" i="0">
                <a:solidFill>
                  <a:srgbClr val="111111"/>
                </a:solidFill>
                <a:latin typeface="Courier New" panose="02070409020205090404"/>
              </a:rPr>
              <a:t>base + (i × N + j) × 4</a:t>
            </a: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Moving along </a:t>
            </a:r>
            <a:r>
              <a:rPr sz="2345" b="0" i="0">
                <a:solidFill>
                  <a:srgbClr val="111111"/>
                </a:solidFill>
                <a:latin typeface="Courier New" panose="02070409020205090404"/>
              </a:rPr>
              <a:t>j</a:t>
            </a: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 is stride-4 B; moving along </a:t>
            </a:r>
            <a:r>
              <a:rPr sz="2345" b="0" i="0">
                <a:solidFill>
                  <a:srgbClr val="111111"/>
                </a:solidFill>
                <a:latin typeface="Courier New" panose="02070409020205090404"/>
              </a:rPr>
              <a:t>i</a:t>
            </a: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 is stride-N × 4 B.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§6.2.1 · Q2(2)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Row Scan vs Column Scan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w-col-2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0484"/>
            <a:ext cx="10362895" cy="45337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§6.2.1 · Q2(3)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3-D Arrays and Loop Permutation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ray-3d-layo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30180"/>
            <a:ext cx="10362895" cy="45143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§6.2.2–6.2.3 · Q2(1)(2)(3)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Locality: The Three Rules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22814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54000"/>
              </a:lnSpc>
              <a:spcAft>
                <a:spcPts val="154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Reference the same variable repeatedly (temporal).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54000"/>
              </a:lnSpc>
              <a:spcAft>
                <a:spcPts val="154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Use stride-1 access patterns (spatial).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54000"/>
              </a:lnSpc>
              <a:spcAft>
                <a:spcPts val="154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Keep the inner loop small and run it many times.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54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If locality is poor, reorder loops or change the data layout.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79244"/>
            <a:ext cx="9905695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600" b="1" i="0" spc="240">
                <a:solidFill>
                  <a:srgbClr val="111111"/>
                </a:solidFill>
                <a:latin typeface="Arial" panose="020B0604020202090204"/>
              </a:rPr>
              <a:t>§6.3 The Memory Hierarchy</a:t>
            </a:r>
            <a:endParaRPr sz="1600" b="1" i="0" spc="24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2445004"/>
            <a:ext cx="9905695" cy="902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4800" b="1" i="0">
                <a:solidFill>
                  <a:srgbClr val="111111"/>
                </a:solidFill>
                <a:latin typeface="Arial" panose="020B0604020202090204"/>
              </a:rPr>
              <a:t>The Memory Hierarchy (§6.3)</a:t>
            </a:r>
            <a:endParaRPr sz="48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3347212"/>
            <a:ext cx="91440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58691"/>
            <a:ext cx="8412480" cy="1056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2200" b="0" i="0">
                <a:solidFill>
                  <a:srgbClr val="333333"/>
                </a:solidFill>
                <a:latin typeface="Arial" panose="020B0604020202090204"/>
              </a:rPr>
              <a:t>Each level caches the next — hits, misses, and the three C's</a:t>
            </a:r>
            <a:endParaRPr sz="2200" b="0" i="0">
              <a:solidFill>
                <a:srgbClr val="333333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37015" y="512064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0000"/>
              </a:lnSpc>
            </a:pPr>
            <a:r>
              <a:rPr sz="15000" b="1" i="0">
                <a:solidFill>
                  <a:srgbClr val="FFFFFF"/>
                </a:solidFill>
                <a:latin typeface="Arial" panose="020B0604020202090204"/>
              </a:rPr>
              <a:t>35</a:t>
            </a:r>
            <a:endParaRPr sz="1500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§6.3 · Q2(4)(5)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The Hierarchy Pyramid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859" y="1481328"/>
            <a:ext cx="773797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§6.3.1 · Q2(6)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Cache Hit and Miss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6-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7852" y="1481328"/>
            <a:ext cx="6235990" cy="2921508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5800" y="4494276"/>
            <a:ext cx="10820095" cy="21524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3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Hit: the block is already in the cache.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3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Miss: fetch the block from the next level; placement decides where it goes, replacement decides who is evicted.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495" b="0" i="0">
                <a:solidFill>
                  <a:srgbClr val="111111"/>
                </a:solidFill>
                <a:latin typeface="Arial" panose="020B0604020202090204"/>
              </a:rPr>
              <a:t>Write policy (write-through/back) is an extension for the next lecture.</a:t>
            </a:r>
            <a:endParaRPr sz="2495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§6.3.1 · Q2(7)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Three Kinds of Cache Misses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26974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45000"/>
              </a:lnSpc>
              <a:spcAft>
                <a:spcPts val="132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Compulsory (cold): the first access to a block.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5000"/>
              </a:lnSpc>
              <a:spcAft>
                <a:spcPts val="132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Conflict: several blocks map to the same cache line (e.g., 0, 8, 0, 8…).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5000"/>
              </a:lnSpc>
              <a:spcAft>
                <a:spcPts val="132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Capacity: the working set is larger than the cache.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4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Cold misses are unavoidable; conflict and capacity depend on design.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§6.3 · Q2(5)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A 2026 PC, Level by Level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3" cy="329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62430"/>
                <a:gridCol w="4544439"/>
                <a:gridCol w="2813224"/>
              </a:tblGrid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Level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2026 typical capacity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Latency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L1d / L1i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48 KB / 32 KB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4–5 cycles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L2 (per core)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1–2 MB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~10–14 cycles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L3 (shared)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16–32 MB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40–75 cycles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DDR5 main memory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16–32 GB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~200 cycles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NVMe SSD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512 GB–2 TB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50–100 µs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HDD / remote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2–24 TB / cloud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ms / network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909311"/>
            <a:ext cx="10820095" cy="4800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17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Fill in your own laptop's numbers and compare.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30-minute review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Summary &amp; Credits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35753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10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§6.1: storage technologies — RAM family, disks, SSDs, the bus.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0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§6.2: locality is why the hierarchy works.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0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§6.3: each level caches the next; hit/miss and the 3 C's.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0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The CPU–memory gap is the problem; locality plus caches are the answer.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Image credits: Pearson (textbook), Lecture 12 slides, Wikimedia Commons.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5220614"/>
            <a:ext cx="10820095" cy="1255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220614"/>
            <a:ext cx="10820095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5366918"/>
            <a:ext cx="10381183" cy="9814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 b="0" i="0">
                <a:solidFill>
                  <a:srgbClr val="111111"/>
                </a:solidFill>
                <a:latin typeface="Arial" panose="020B0604020202090204"/>
              </a:rPr>
              <a:t>A</a:t>
            </a: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 memory hierarchy turns locality into the illusion of a large, fast memory.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Supplementary · Industry analysis (not in the 30-minute talk)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Supplementary: What It Means for Systems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35295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16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Bandwidth keeps doubling, but latency and cost do not — the memory wall stays.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6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DDR6's 4×24-bit channels make signal integrity, substrates and packaging (CAMM2) system-level problems.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spcAft>
                <a:spcPts val="16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AI/HBM capacity shifts make conventional DRAM prices cyclical; DDR4 is fading out.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Watch: JEDEC DDR6 final spec, HBM4 ramp, DDR6 launch (2028–2029).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5184038"/>
            <a:ext cx="10820095" cy="1255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184038"/>
            <a:ext cx="50292" cy="12557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5330342"/>
            <a:ext cx="10381183" cy="9814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The hierarchy stays; the interface changes. Cache and locality are still the programmer's tools.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Supplementary · Industry analysis (not in the 30-minute talk)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Supplementary: DDR Trending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3" cy="188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8129"/>
                <a:gridCol w="3763511"/>
                <a:gridCol w="2352194"/>
                <a:gridCol w="3136259"/>
              </a:tblGrid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Generation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Commercial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Peak data rate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Channel organization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DDR4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2014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3.2 Gbps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 × 64-bit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DDR5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2020 (JEDEC) / ramp 2022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8.4 Gbps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 × 32-bit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DDR6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expected 2028–2029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8.8 → 17.6 Gbps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4 × 24-bit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495040"/>
            <a:ext cx="10820095" cy="1773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20000"/>
              </a:lnSpc>
              <a:spcAft>
                <a:spcPts val="1800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JEDEC has not finalized the DDR6 spec; the big three started early R&amp;D with substrate suppliers in 2026.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20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Servers adopt first; notebooks later; CAMM2 and signal integrity become board-level issues.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Supplementary · Industry analysis (not in the 30-minute talk)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400" b="1" i="0">
                <a:solidFill>
                  <a:srgbClr val="111111"/>
                </a:solidFill>
                <a:latin typeface="Arial" panose="020B0604020202090204"/>
              </a:rPr>
              <a:t>Supplementary: The DRAM Industry in 2026</a:t>
            </a:r>
            <a:endParaRPr sz="34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3" cy="300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6248"/>
                <a:gridCol w="3513017"/>
                <a:gridCol w="5620828"/>
              </a:tblGrid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Player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3Q25 DRAM revenue share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2026 position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SK hynix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33.2%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#1; HBM leader, HBM4 ramp delayed by Nvidia Rubin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Samsung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32.6%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#2; HBM4 yield ~80%, closing the HBM gap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Micron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25.7%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#3; share up 3.7 pp QoQ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9654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CXMT (China)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~10% (2Q26, Counterpoint)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#4; LPDDR6 in mass production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616704"/>
            <a:ext cx="10820095" cy="1773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spcAft>
                <a:spcPts val="475"/>
              </a:spcAft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3Q25 DRAM revenue reached $41.4B, +30.9% QoQ; Q4 conventional DRAM contract prices were expected to rise 45–50% QoQ.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600" b="0" i="0">
                <a:solidFill>
                  <a:srgbClr val="111111"/>
                </a:solidFill>
                <a:latin typeface="Arial" panose="020B0604020202090204"/>
              </a:rPr>
              <a:t>AI/HBM absorbs capacity, tightening conventional DRAM; the top-three share fell from 94% to 87% as CXMT grew.</a:t>
            </a:r>
            <a:endParaRPr sz="260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 i="0" spc="180">
                <a:solidFill>
                  <a:srgbClr val="111111"/>
                </a:solidFill>
                <a:latin typeface="Arial" panose="020B0604020202090204"/>
              </a:rPr>
              <a:t>Supplementary · Industry analysis (not in the 30-minute talk)</a:t>
            </a:r>
            <a:endParaRPr sz="1400" b="1" i="0" spc="18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820095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111111"/>
                </a:solidFill>
                <a:latin typeface="Arial" panose="020B0604020202090204"/>
              </a:rPr>
              <a:t>Supplementary: Why PCs and Phones Cost More in 2026</a:t>
            </a:r>
            <a:endParaRPr sz="3000" b="1" i="0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609904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4" cy="4161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7364"/>
                <a:gridCol w="4416365"/>
                <a:gridCol w="4416365"/>
              </a:tblGrid>
              <a:tr h="47142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Force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2026 evidence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Consumer impact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12166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AI / HBM crowd-out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HBM ≈40% of DRAM; ~70% of new capacity goes to HBM; supply gap ≈50–60%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DRAM/NAND supply shrinks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12166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Memory price shock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1Q26 DRAM contract +93–98% QoQ; 2Q26 +58–63%; PC DDR4 8Gb ≈$21 (record high)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Phone BOM and PC/SSD prices jump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446784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End-product prices</a:t>
                      </a:r>
                      <a:endParaRPr sz="2000" b="1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Mid-range phones +¥300–1000; MacBook/iPad in China +15–25%; Xbox +$100–150; 2Q26 phones −11% YoY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11111"/>
                          </a:solidFill>
                          <a:latin typeface="Arial" panose="020B0604020202090204"/>
                        </a:rPr>
                        <a:t>Demand destruction; longer replacement cycles</a:t>
                      </a:r>
                      <a:endParaRPr sz="2000" b="0" i="0">
                        <a:solidFill>
                          <a:srgbClr val="111111"/>
                        </a:solidFill>
                        <a:latin typeface="Arial" panose="020B060402020209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70879"/>
            <a:ext cx="10820095" cy="8295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4320" indent="-274320">
              <a:lnSpc>
                <a:spcPct val="105000"/>
              </a:lnSpc>
              <a:buClr>
                <a:srgbClr val="111111"/>
              </a:buClr>
              <a:buFont typeface="Arial" panose="020B0604020202090204"/>
              <a:buChar char="•"/>
            </a:pPr>
            <a:r>
              <a:rPr sz="2390" b="0" i="0">
                <a:solidFill>
                  <a:srgbClr val="111111"/>
                </a:solidFill>
                <a:latin typeface="Arial" panose="020B0604020202090204"/>
              </a:rPr>
              <a:t>Supply-driven, not demand-driven: AI takes the wafers, consumers pay the bill; watch 2027 capacity, the HBM gap and memory prices.</a:t>
            </a:r>
            <a:endParaRPr sz="2390" b="0" i="0">
              <a:solidFill>
                <a:srgbClr val="111111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10855</Words>
  <Application>WPS 演示</Application>
  <PresentationFormat>On-screen Show (4:3)</PresentationFormat>
  <Paragraphs>599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Arial</vt:lpstr>
      <vt:lpstr>宋体</vt:lpstr>
      <vt:lpstr>Wingdings</vt:lpstr>
      <vt:lpstr>Arial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Courier New</vt:lpstr>
      <vt:lpstr>Courier New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Memory Hierarchy</dc:title>
  <dc:creator>Flipped-classroom review</dc:creator>
  <dc:description>Generated from courseware/content/deck.md by build/build_deck.py</dc:description>
  <dc:subject>PKU ICS Lecture 12 — The Memory Hierarchy</dc:subject>
  <cp:lastModifiedBy>张峻硕</cp:lastModifiedBy>
  <cp:revision>15</cp:revision>
  <dcterms:created xsi:type="dcterms:W3CDTF">2026-10-26T18:19:27Z</dcterms:created>
  <dcterms:modified xsi:type="dcterms:W3CDTF">2026-10-26T18:19:27Z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2553D8B4CFCDEF50C293DF6A126A7746_42</vt:lpwstr>
  </property>
  <property fmtid="{D5CDD505-2E9C-101B-9397-08002B2CF9AE}" pid="3" name="KSOProductBuildVer">
    <vt:lpwstr>2052-12.1.25895.25895</vt:lpwstr>
  </property>
</Properties>
</file>