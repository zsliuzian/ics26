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421" r:id="rId2"/>
    <p:sldId id="2223" r:id="rId3"/>
    <p:sldId id="2225" r:id="rId4"/>
    <p:sldId id="2229" r:id="rId5"/>
    <p:sldId id="2237" r:id="rId6"/>
    <p:sldId id="2234" r:id="rId7"/>
    <p:sldId id="2235" r:id="rId8"/>
    <p:sldId id="2230" r:id="rId9"/>
    <p:sldId id="2236" r:id="rId10"/>
    <p:sldId id="2231" r:id="rId11"/>
    <p:sldId id="2226" r:id="rId12"/>
    <p:sldId id="2227" r:id="rId13"/>
    <p:sldId id="2232" r:id="rId14"/>
    <p:sldId id="2233" r:id="rId15"/>
    <p:sldId id="221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2EF"/>
    <a:srgbClr val="394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>
        <p:scale>
          <a:sx n="92" d="100"/>
          <a:sy n="92" d="100"/>
        </p:scale>
        <p:origin x="88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C2E7E-B6BA-491A-A083-7D5EF2C23E5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276DC-69C8-4C8F-B029-FD56DA1739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稻壳儿_刀客儿出品_1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ADC5-32C4-47EC-A33A-D1E902F83B0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C86D-767C-4F78-904C-938BEC26E0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稻壳儿_刀客儿出品_2" userDrawn="1">
  <p:cSld name="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D2D5B-3EED-41BA-94D9-90B1F1B196B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17AC-5819-47CE-B884-001938CF9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FADC5-32C4-47EC-A33A-D1E902F83B0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8C86D-767C-4F78-904C-938BEC26E0B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_刀客儿出品_2"/>
          <p:cNvSpPr txBox="1"/>
          <p:nvPr/>
        </p:nvSpPr>
        <p:spPr>
          <a:xfrm>
            <a:off x="1445058" y="2475865"/>
            <a:ext cx="9301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rgbClr val="39484D"/>
                </a:solidFill>
                <a:latin typeface="Brock Script" panose="02000507020000020002" charset="0"/>
                <a:ea typeface="+mj-ea"/>
                <a:cs typeface="Brock Script" panose="02000507020000020002" charset="0"/>
              </a:rPr>
              <a:t>The Memory Hierarchy</a:t>
            </a:r>
            <a:endParaRPr lang="en-US" sz="7200" dirty="0">
              <a:solidFill>
                <a:srgbClr val="39484D"/>
              </a:solidFill>
              <a:latin typeface="Brock Script" panose="02000507020000020002" charset="0"/>
              <a:ea typeface="+mj-ea"/>
              <a:cs typeface="Brock Script" panose="02000507020000020002" charset="0"/>
            </a:endParaRPr>
          </a:p>
        </p:txBody>
      </p:sp>
      <p:sp>
        <p:nvSpPr>
          <p:cNvPr id="13" name="稻壳儿_刀客儿出品_4"/>
          <p:cNvSpPr txBox="1"/>
          <p:nvPr/>
        </p:nvSpPr>
        <p:spPr>
          <a:xfrm>
            <a:off x="3509010" y="4091940"/>
            <a:ext cx="5174615" cy="431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rgbClr val="39484D"/>
                </a:solidFill>
              </a:rPr>
              <a:t>袁佳逸 </a:t>
            </a:r>
            <a:r>
              <a:rPr lang="en-US" altLang="zh-CN" sz="2000" dirty="0">
                <a:solidFill>
                  <a:srgbClr val="39484D"/>
                </a:solidFill>
              </a:rPr>
              <a:t>20251029</a:t>
            </a:r>
            <a:endParaRPr lang="en-US" sz="2000" dirty="0">
              <a:solidFill>
                <a:srgbClr val="39484D"/>
              </a:solidFill>
            </a:endParaRPr>
          </a:p>
        </p:txBody>
      </p:sp>
      <p:pic>
        <p:nvPicPr>
          <p:cNvPr id="2" name="安静舒适小清新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480315" y="2095500"/>
            <a:ext cx="1118365" cy="1118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48B9D6-F893-DD8B-3096-F56A8F83F1B2}"/>
              </a:ext>
            </a:extLst>
          </p:cNvPr>
          <p:cNvSpPr txBox="1"/>
          <p:nvPr/>
        </p:nvSpPr>
        <p:spPr>
          <a:xfrm>
            <a:off x="741218" y="775946"/>
            <a:ext cx="2220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Contents</a:t>
            </a:r>
            <a:endParaRPr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268068-69EA-4A2E-270B-E553F1A5B9CD}"/>
              </a:ext>
            </a:extLst>
          </p:cNvPr>
          <p:cNvSpPr txBox="1"/>
          <p:nvPr/>
        </p:nvSpPr>
        <p:spPr>
          <a:xfrm>
            <a:off x="741218" y="1678585"/>
            <a:ext cx="84304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800" dirty="0"/>
              <a:t>Abstraction</a:t>
            </a:r>
          </a:p>
          <a:p>
            <a:pPr marL="342900" indent="-342900">
              <a:buAutoNum type="arabicPeriod"/>
            </a:pPr>
            <a:r>
              <a:rPr lang="en-US" altLang="zh-CN" sz="2800" dirty="0"/>
              <a:t>Memory</a:t>
            </a:r>
          </a:p>
          <a:p>
            <a:pPr marL="342900" indent="-342900">
              <a:buAutoNum type="arabicPeriod"/>
            </a:pPr>
            <a:r>
              <a:rPr lang="en-US" altLang="zh-CN" sz="2800" dirty="0"/>
              <a:t>Storage</a:t>
            </a:r>
          </a:p>
          <a:p>
            <a:pPr marL="342900" indent="-342900">
              <a:buAutoNum type="arabicPeriod"/>
            </a:pPr>
            <a:r>
              <a:rPr lang="en-US" altLang="zh-CN" sz="2800" dirty="0"/>
              <a:t>Locality</a:t>
            </a:r>
          </a:p>
          <a:p>
            <a:pPr marL="342900" indent="-342900">
              <a:buAutoNum type="arabicPeriod"/>
            </a:pPr>
            <a:r>
              <a:rPr lang="en-US" altLang="zh-CN" sz="2800" dirty="0"/>
              <a:t>Cache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7415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ADB358-54E6-CD8E-F89A-CB99C72F37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80" y="1756670"/>
            <a:ext cx="8497294" cy="406916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E34B527-2B19-EE3E-31B9-70DEF5E8AB89}"/>
              </a:ext>
            </a:extLst>
          </p:cNvPr>
          <p:cNvSpPr txBox="1"/>
          <p:nvPr/>
        </p:nvSpPr>
        <p:spPr>
          <a:xfrm>
            <a:off x="741218" y="775946"/>
            <a:ext cx="5630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The memory abstraction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BC9C5B-DA3C-7CD4-1CD6-EE6629DD6E93}"/>
              </a:ext>
            </a:extLst>
          </p:cNvPr>
          <p:cNvSpPr txBox="1"/>
          <p:nvPr/>
        </p:nvSpPr>
        <p:spPr>
          <a:xfrm>
            <a:off x="9703244" y="2216727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读写内存指令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数据地址流转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D9506D-3FDF-9D9A-F88B-EE8A5BE67C26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469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68D5-A06D-7E84-EB4C-C61CF766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1F0636-C78D-53DC-9FA4-AE2288E693CF}"/>
              </a:ext>
            </a:extLst>
          </p:cNvPr>
          <p:cNvSpPr txBox="1"/>
          <p:nvPr/>
        </p:nvSpPr>
        <p:spPr>
          <a:xfrm>
            <a:off x="741218" y="775946"/>
            <a:ext cx="446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随机访问存储器</a:t>
            </a:r>
            <a:r>
              <a:rPr lang="en-US" altLang="zh-CN" sz="3600" dirty="0"/>
              <a:t>RAM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DFC27D-309E-844C-BF42-645A696AA35A}"/>
              </a:ext>
            </a:extLst>
          </p:cNvPr>
          <p:cNvSpPr txBox="1"/>
          <p:nvPr/>
        </p:nvSpPr>
        <p:spPr>
          <a:xfrm>
            <a:off x="741218" y="1773381"/>
            <a:ext cx="27286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静态</a:t>
            </a:r>
            <a:r>
              <a:rPr lang="en-US" altLang="zh-CN" sz="2400" dirty="0"/>
              <a:t>RAM / SRAM</a:t>
            </a:r>
          </a:p>
          <a:p>
            <a:endParaRPr lang="en-US" altLang="zh-CN" sz="2400" dirty="0"/>
          </a:p>
          <a:p>
            <a:r>
              <a:rPr lang="zh-CN" altLang="en-US" sz="2400" dirty="0"/>
              <a:t>动态</a:t>
            </a:r>
            <a:r>
              <a:rPr lang="en-US" altLang="zh-CN" sz="2400" dirty="0"/>
              <a:t>RAM / DRAM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E776C6-CBF6-3D38-9900-82E9A87A03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4814"/>
            <a:ext cx="12192000" cy="21216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B49564-328B-D15A-1E69-8F7405142DC0}"/>
              </a:ext>
            </a:extLst>
          </p:cNvPr>
          <p:cNvSpPr txBox="1"/>
          <p:nvPr/>
        </p:nvSpPr>
        <p:spPr>
          <a:xfrm>
            <a:off x="741218" y="5797565"/>
            <a:ext cx="9246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不稳定的 断电后数据不可恢复（ </a:t>
            </a:r>
            <a:r>
              <a:rPr lang="en-US" altLang="zh-CN" sz="2400" dirty="0"/>
              <a:t>vs ROM </a:t>
            </a:r>
            <a:r>
              <a:rPr lang="zh-CN" altLang="en-US" sz="2400" dirty="0"/>
              <a:t>断电后仍然能保存数据）</a:t>
            </a:r>
            <a:endParaRPr lang="en-US" altLang="zh-CN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52FB0B-939E-530B-0607-A840C09AD232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525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A92E-A601-9ED0-4BE8-8C8346C2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470B83-F734-BB0D-FF3B-76C5B722D04F}"/>
              </a:ext>
            </a:extLst>
          </p:cNvPr>
          <p:cNvSpPr txBox="1"/>
          <p:nvPr/>
        </p:nvSpPr>
        <p:spPr>
          <a:xfrm>
            <a:off x="741218" y="775946"/>
            <a:ext cx="446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随机访问存储器</a:t>
            </a:r>
            <a:r>
              <a:rPr lang="en-US" altLang="zh-CN" sz="3600" dirty="0"/>
              <a:t>RAM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3A1844-BBCE-315C-5E45-AA0D20AEBDF5}"/>
              </a:ext>
            </a:extLst>
          </p:cNvPr>
          <p:cNvSpPr txBox="1"/>
          <p:nvPr/>
        </p:nvSpPr>
        <p:spPr>
          <a:xfrm>
            <a:off x="736513" y="1634882"/>
            <a:ext cx="44935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DRAM</a:t>
            </a:r>
            <a:r>
              <a:rPr lang="zh-CN" altLang="en-US" sz="2400" dirty="0"/>
              <a:t>的读取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r*c</a:t>
            </a:r>
            <a:r>
              <a:rPr lang="zh-CN" altLang="en-US" sz="2400" dirty="0"/>
              <a:t>个超单元 </a:t>
            </a:r>
            <a:r>
              <a:rPr lang="en-US" altLang="zh-CN" sz="2400" dirty="0"/>
              <a:t>d*w</a:t>
            </a:r>
            <a:r>
              <a:rPr lang="zh-CN" altLang="en-US" sz="2400" dirty="0"/>
              <a:t>位数据</a:t>
            </a:r>
            <a:endParaRPr lang="en-US" altLang="zh-CN" sz="2400" dirty="0"/>
          </a:p>
          <a:p>
            <a:r>
              <a:rPr lang="zh-CN" altLang="en-US" sz="2400" dirty="0"/>
              <a:t>二维访存：传入行地址和列地址</a:t>
            </a:r>
            <a:endParaRPr lang="en-US" altLang="zh-CN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670B0F-43E2-A137-AC05-386CF582C634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1-5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320080-989D-1FA1-3744-06ED92B404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505" y="1"/>
            <a:ext cx="5853587" cy="34289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FF7032-707C-537F-3FF7-7B4D9C6D58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391" y="3429000"/>
            <a:ext cx="8056609" cy="3429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FAEAAC5-2E54-7740-4FA8-F869C3F18C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28999"/>
            <a:ext cx="430259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5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EC25-8A66-38B8-3C12-1B1D82DC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683458-DF60-5724-8B15-36E3AA2B1C24}"/>
              </a:ext>
            </a:extLst>
          </p:cNvPr>
          <p:cNvSpPr txBox="1"/>
          <p:nvPr/>
        </p:nvSpPr>
        <p:spPr>
          <a:xfrm>
            <a:off x="741218" y="775946"/>
            <a:ext cx="3786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磁盘存储</a:t>
            </a:r>
            <a:r>
              <a:rPr lang="en-US" altLang="zh-CN" sz="3600" dirty="0"/>
              <a:t>Storage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33F11D-DAFB-DFBE-7E3A-DA0B449D790C}"/>
              </a:ext>
            </a:extLst>
          </p:cNvPr>
          <p:cNvSpPr txBox="1"/>
          <p:nvPr/>
        </p:nvSpPr>
        <p:spPr>
          <a:xfrm>
            <a:off x="741218" y="1686790"/>
            <a:ext cx="5622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结构：磁盘</a:t>
            </a:r>
            <a:r>
              <a:rPr lang="en-US" altLang="zh-CN" sz="2400" dirty="0"/>
              <a:t>-</a:t>
            </a:r>
            <a:r>
              <a:rPr lang="zh-CN" altLang="en-US" sz="2400" dirty="0"/>
              <a:t>盘片</a:t>
            </a:r>
            <a:r>
              <a:rPr lang="en-US" altLang="zh-CN" sz="2400" dirty="0"/>
              <a:t>-</a:t>
            </a:r>
            <a:r>
              <a:rPr lang="zh-CN" altLang="en-US" sz="2400" dirty="0"/>
              <a:t>表面</a:t>
            </a:r>
            <a:r>
              <a:rPr lang="en-US" altLang="zh-CN" sz="2400" dirty="0"/>
              <a:t>-</a:t>
            </a:r>
            <a:r>
              <a:rPr lang="zh-CN" altLang="en-US" sz="2400" dirty="0"/>
              <a:t>磁道</a:t>
            </a:r>
            <a:r>
              <a:rPr lang="en-US" altLang="zh-CN" sz="2400" dirty="0"/>
              <a:t>-</a:t>
            </a:r>
            <a:r>
              <a:rPr lang="zh-CN" altLang="en-US" sz="2400" dirty="0"/>
              <a:t>扇区</a:t>
            </a:r>
            <a:r>
              <a:rPr lang="en-US" altLang="zh-CN" sz="2400" dirty="0"/>
              <a:t>-</a:t>
            </a:r>
            <a:r>
              <a:rPr lang="zh-CN" altLang="en-US" sz="2400" dirty="0"/>
              <a:t>数据位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BA43B4-666B-A63C-E7C3-8B8F1CB3CD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18" y="2412968"/>
            <a:ext cx="7862455" cy="29291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36D5836-8253-79CA-B8A9-6871A58DD636}"/>
              </a:ext>
            </a:extLst>
          </p:cNvPr>
          <p:cNvSpPr txBox="1"/>
          <p:nvPr/>
        </p:nvSpPr>
        <p:spPr>
          <a:xfrm>
            <a:off x="741218" y="5606631"/>
            <a:ext cx="111748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磁盘容量</a:t>
            </a:r>
            <a:r>
              <a:rPr lang="en-US" altLang="zh-CN" sz="2400" dirty="0"/>
              <a:t>=</a:t>
            </a:r>
          </a:p>
          <a:p>
            <a:r>
              <a:rPr lang="zh-CN" altLang="en-US" sz="2400" dirty="0"/>
              <a:t>每个扇区字节数</a:t>
            </a:r>
            <a:r>
              <a:rPr lang="en-US" altLang="zh-CN" sz="2400" dirty="0"/>
              <a:t>*</a:t>
            </a:r>
            <a:r>
              <a:rPr lang="zh-CN" altLang="en-US" sz="2400" dirty="0"/>
              <a:t>每个磁道平均扇区数</a:t>
            </a:r>
            <a:r>
              <a:rPr lang="en-US" altLang="zh-CN" sz="2400" dirty="0"/>
              <a:t>*</a:t>
            </a:r>
            <a:r>
              <a:rPr lang="zh-CN" altLang="en-US" sz="2400" dirty="0"/>
              <a:t>每个表面磁道数</a:t>
            </a:r>
            <a:r>
              <a:rPr lang="en-US" altLang="zh-CN" sz="2400" dirty="0"/>
              <a:t>*</a:t>
            </a:r>
            <a:r>
              <a:rPr lang="zh-CN" altLang="en-US" sz="2400" dirty="0"/>
              <a:t>每个盘片表面数</a:t>
            </a:r>
            <a:r>
              <a:rPr lang="en-US" altLang="zh-CN" sz="2400" dirty="0"/>
              <a:t>(2)*</a:t>
            </a:r>
            <a:r>
              <a:rPr lang="zh-CN" altLang="en-US" sz="2400" dirty="0"/>
              <a:t>盘片数</a:t>
            </a:r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C0BC41-8AF1-51A0-ABA4-F2E6D92195B5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867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96B30-A5CE-B909-84E7-7FBBE1D3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B4D18B-E9FF-E574-DCCB-A173D0DC9473}"/>
              </a:ext>
            </a:extLst>
          </p:cNvPr>
          <p:cNvSpPr txBox="1"/>
          <p:nvPr/>
        </p:nvSpPr>
        <p:spPr>
          <a:xfrm>
            <a:off x="741218" y="775946"/>
            <a:ext cx="3786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磁盘存储</a:t>
            </a:r>
            <a:r>
              <a:rPr lang="en-US" altLang="zh-CN" sz="3600" dirty="0"/>
              <a:t>Storage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CD3A0E-99B8-08F5-36A3-12457781B565}"/>
              </a:ext>
            </a:extLst>
          </p:cNvPr>
          <p:cNvSpPr txBox="1"/>
          <p:nvPr/>
        </p:nvSpPr>
        <p:spPr>
          <a:xfrm>
            <a:off x="741218" y="1686790"/>
            <a:ext cx="3775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磁盘读写：寻道</a:t>
            </a:r>
            <a:r>
              <a:rPr lang="en-US" altLang="zh-CN" sz="2400" dirty="0"/>
              <a:t>-</a:t>
            </a:r>
            <a:r>
              <a:rPr lang="zh-CN" altLang="en-US" sz="2400" dirty="0"/>
              <a:t>旋转</a:t>
            </a:r>
            <a:r>
              <a:rPr lang="en-US" altLang="zh-CN" sz="2400" dirty="0"/>
              <a:t>-</a:t>
            </a:r>
            <a:r>
              <a:rPr lang="zh-CN" altLang="en-US" sz="2400" dirty="0"/>
              <a:t>传送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FFB0E0-EADC-C339-6861-B29C747E09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19" y="2412969"/>
            <a:ext cx="8000578" cy="31080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8750584-FD64-0463-A459-58D8E35CB950}"/>
              </a:ext>
            </a:extLst>
          </p:cNvPr>
          <p:cNvSpPr txBox="1"/>
          <p:nvPr/>
        </p:nvSpPr>
        <p:spPr>
          <a:xfrm>
            <a:off x="741217" y="5785551"/>
            <a:ext cx="11705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T</a:t>
            </a:r>
            <a:r>
              <a:rPr lang="en-US" altLang="zh-CN" sz="1400" dirty="0" err="1"/>
              <a:t>access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</a:t>
            </a:r>
            <a:r>
              <a:rPr lang="en-US" altLang="zh-CN" sz="1400" dirty="0" err="1"/>
              <a:t>avg</a:t>
            </a:r>
            <a:r>
              <a:rPr lang="en-US" altLang="zh-CN" sz="1400" dirty="0"/>
              <a:t> seek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T</a:t>
            </a:r>
            <a:r>
              <a:rPr lang="en-US" altLang="zh-CN" sz="1400" dirty="0" err="1"/>
              <a:t>avg</a:t>
            </a:r>
            <a:r>
              <a:rPr lang="en-US" altLang="zh-CN" sz="1400" dirty="0"/>
              <a:t> rotate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T</a:t>
            </a:r>
            <a:r>
              <a:rPr lang="en-US" altLang="zh-CN" sz="1400" dirty="0" err="1"/>
              <a:t>avg</a:t>
            </a:r>
            <a:r>
              <a:rPr lang="en-US" altLang="zh-CN" sz="1400" dirty="0"/>
              <a:t> transfer </a:t>
            </a:r>
            <a:r>
              <a:rPr lang="zh-CN" altLang="en-US" sz="2400" dirty="0"/>
              <a:t>旋转时间与寻道时间接近 传送时间一般可忽略</a:t>
            </a:r>
            <a:endParaRPr lang="en-US" altLang="zh-CN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744EFA-A0FB-CC9C-24A6-09A98A26B31F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51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9BE31-EF3C-C765-B944-ABDFCFF2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1D1029-D69F-7489-C7B9-50F094FE0943}"/>
              </a:ext>
            </a:extLst>
          </p:cNvPr>
          <p:cNvSpPr txBox="1"/>
          <p:nvPr/>
        </p:nvSpPr>
        <p:spPr>
          <a:xfrm>
            <a:off x="741218" y="775946"/>
            <a:ext cx="3786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磁盘存储</a:t>
            </a:r>
            <a:r>
              <a:rPr lang="en-US" altLang="zh-CN" sz="3600" dirty="0"/>
              <a:t>Storage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712839-9296-08DB-9F80-395B602BDD95}"/>
              </a:ext>
            </a:extLst>
          </p:cNvPr>
          <p:cNvSpPr txBox="1"/>
          <p:nvPr/>
        </p:nvSpPr>
        <p:spPr>
          <a:xfrm>
            <a:off x="741218" y="3325091"/>
            <a:ext cx="3355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从硬盘传输数据到内存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8D95EB-8C63-4FE1-9C8F-23E217E0C6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832" y="0"/>
            <a:ext cx="7655767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B07107B-EF0F-FF75-E4D6-1D5671359A92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24346-2813-DC57-AE61-FFA66E99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01E410-9190-CA65-DE86-34309352B38E}"/>
              </a:ext>
            </a:extLst>
          </p:cNvPr>
          <p:cNvSpPr txBox="1"/>
          <p:nvPr/>
        </p:nvSpPr>
        <p:spPr>
          <a:xfrm>
            <a:off x="741218" y="775946"/>
            <a:ext cx="3012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固态硬盘</a:t>
            </a:r>
            <a:r>
              <a:rPr lang="en-US" altLang="zh-CN" sz="3600" dirty="0"/>
              <a:t>SSDs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0C8108-80CF-E83B-7CCC-0F01D971D749}"/>
              </a:ext>
            </a:extLst>
          </p:cNvPr>
          <p:cNvSpPr txBox="1"/>
          <p:nvPr/>
        </p:nvSpPr>
        <p:spPr>
          <a:xfrm>
            <a:off x="741218" y="1662546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速度：读</a:t>
            </a:r>
            <a:r>
              <a:rPr lang="en-US" altLang="zh-CN" sz="2400" dirty="0"/>
              <a:t>&gt;</a:t>
            </a:r>
            <a:r>
              <a:rPr lang="zh-CN" altLang="en-US" sz="2400" dirty="0"/>
              <a:t>写，顺序访问</a:t>
            </a:r>
            <a:r>
              <a:rPr lang="en-US" altLang="zh-CN" sz="2400" dirty="0"/>
              <a:t>&gt;</a:t>
            </a:r>
            <a:r>
              <a:rPr lang="zh-CN" altLang="en-US" sz="2400" dirty="0"/>
              <a:t>随机访问</a:t>
            </a:r>
            <a:endParaRPr lang="en-US" altLang="zh-CN" sz="2400" dirty="0"/>
          </a:p>
          <a:p>
            <a:r>
              <a:rPr lang="zh-CN" altLang="en-US" sz="2400" dirty="0"/>
              <a:t>数据以页为单位读写，只有在一页所属的块整个被擦除之后才能写这一页</a:t>
            </a:r>
            <a:endParaRPr lang="en-US" altLang="zh-CN" sz="2400" dirty="0"/>
          </a:p>
          <a:p>
            <a:r>
              <a:rPr lang="zh-CN" altLang="en-US" sz="2400" dirty="0"/>
              <a:t>在大约进行</a:t>
            </a:r>
            <a:r>
              <a:rPr lang="en-US" altLang="zh-CN" sz="2400" dirty="0"/>
              <a:t>100,000</a:t>
            </a:r>
            <a:r>
              <a:rPr lang="zh-CN" altLang="en-US" sz="2400" dirty="0"/>
              <a:t>次重复写之后，块就会被损坏，不能再使用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46A17A-E30D-3093-56FC-F5468DE7BB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18" y="3103144"/>
            <a:ext cx="7372407" cy="30808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021DFC7-B0C0-B83F-8256-CCFED90F2DE6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454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85DD-10AC-D970-E6AB-026131A68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377E33-A4BD-A6A3-5D74-921DFF6756C0}"/>
              </a:ext>
            </a:extLst>
          </p:cNvPr>
          <p:cNvSpPr txBox="1"/>
          <p:nvPr/>
        </p:nvSpPr>
        <p:spPr>
          <a:xfrm>
            <a:off x="741218" y="77594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存储器层次结构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320463-332B-176C-DFB3-8C0136B04BCB}"/>
              </a:ext>
            </a:extLst>
          </p:cNvPr>
          <p:cNvSpPr txBox="1"/>
          <p:nvPr/>
        </p:nvSpPr>
        <p:spPr>
          <a:xfrm>
            <a:off x="9338555" y="3429000"/>
            <a:ext cx="2641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依赖于局部性原理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弥补</a:t>
            </a:r>
            <a:r>
              <a:rPr lang="en-US" altLang="zh-CN" sz="2400" dirty="0"/>
              <a:t>CPU</a:t>
            </a:r>
            <a:r>
              <a:rPr lang="zh-CN" altLang="en-US" sz="2400" dirty="0"/>
              <a:t>和主存之间持续增长的差距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每一层都可以看作下一层的缓存</a:t>
            </a: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C492ED-56C6-5C7C-424B-92E1AB4943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1659"/>
            <a:ext cx="9126536" cy="51863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D59DE32-D624-8EAE-278E-CDC23A878D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839" y="1"/>
            <a:ext cx="5207161" cy="270856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4FACB66-79DE-3360-A4D1-40AB4ECD4804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0116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5FD5-A1FC-9339-022C-120D5473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B2B600-4246-5AA5-16C5-E984B5234C6C}"/>
              </a:ext>
            </a:extLst>
          </p:cNvPr>
          <p:cNvSpPr txBox="1"/>
          <p:nvPr/>
        </p:nvSpPr>
        <p:spPr>
          <a:xfrm>
            <a:off x="741218" y="775946"/>
            <a:ext cx="3289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局部性</a:t>
            </a:r>
            <a:r>
              <a:rPr lang="en-US" altLang="zh-CN" sz="3600" dirty="0"/>
              <a:t>Locality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078BE6-9771-0BDA-60DA-61F3E1E3327C}"/>
              </a:ext>
            </a:extLst>
          </p:cNvPr>
          <p:cNvSpPr txBox="1"/>
          <p:nvPr/>
        </p:nvSpPr>
        <p:spPr>
          <a:xfrm>
            <a:off x="741218" y="1594366"/>
            <a:ext cx="109312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局部性原理</a:t>
            </a:r>
            <a:r>
              <a:rPr lang="zh-CN" altLang="en-US" sz="2400" dirty="0"/>
              <a:t>：倾向于引用临近于其他最近引用过的数据项的数据项，或最近引用过的数据项本身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时间局部性</a:t>
            </a:r>
            <a:r>
              <a:rPr lang="zh-CN" altLang="en-US" sz="2400" dirty="0"/>
              <a:t>：被引用过一次的内存位置很可能在不远的将来再被多次引用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空间局部性</a:t>
            </a:r>
            <a:r>
              <a:rPr lang="zh-CN" altLang="en-US" sz="2400" dirty="0"/>
              <a:t>：如果一个内存位置被引用了一次，那么程序很可能在不远的将来引用附近的一个内存位置</a:t>
            </a: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1F3DFEC-755E-F09B-6A59-E65B74195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8" y="4444111"/>
            <a:ext cx="5458691" cy="199092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10F264D-24E6-5B46-9D06-96FF75C4E4E0}"/>
              </a:ext>
            </a:extLst>
          </p:cNvPr>
          <p:cNvSpPr txBox="1"/>
          <p:nvPr/>
        </p:nvSpPr>
        <p:spPr>
          <a:xfrm>
            <a:off x="6878781" y="466346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指令层面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数据层面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6595BC-44D5-0045-5189-8E1DA1449497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401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7061-51CD-54E4-7D20-FB06D4F2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7040DA0-8899-EE6C-27AF-C3FA6E237898}"/>
              </a:ext>
            </a:extLst>
          </p:cNvPr>
          <p:cNvSpPr txBox="1"/>
          <p:nvPr/>
        </p:nvSpPr>
        <p:spPr>
          <a:xfrm>
            <a:off x="741218" y="775946"/>
            <a:ext cx="3289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局部性</a:t>
            </a:r>
            <a:r>
              <a:rPr lang="en-US" altLang="zh-CN" sz="3600" dirty="0"/>
              <a:t>Locality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667EAB-B6A7-6387-213B-B0900F76DFAE}"/>
              </a:ext>
            </a:extLst>
          </p:cNvPr>
          <p:cNvSpPr txBox="1"/>
          <p:nvPr/>
        </p:nvSpPr>
        <p:spPr>
          <a:xfrm>
            <a:off x="870507" y="5522930"/>
            <a:ext cx="2509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步长为</a:t>
            </a:r>
            <a:r>
              <a:rPr lang="en-US" altLang="zh-CN" sz="2400" dirty="0"/>
              <a:t>1</a:t>
            </a:r>
            <a:r>
              <a:rPr lang="zh-CN" altLang="en-US" sz="2400" dirty="0"/>
              <a:t>遍历数组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E79931-57A9-A3E2-086E-8AC109D21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7" y="1888298"/>
            <a:ext cx="4614482" cy="31686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CDF0AEC-0BAD-DCB4-D0E8-6D196EFDF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09" y="1888298"/>
            <a:ext cx="4643112" cy="31686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53BB0B8-D48D-8226-14C1-BFF7968F1B05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5080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4B112-E0A4-B793-FB56-F8FC8C7B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C5B8CB0-429B-9012-3605-8156B797E451}"/>
              </a:ext>
            </a:extLst>
          </p:cNvPr>
          <p:cNvSpPr txBox="1"/>
          <p:nvPr/>
        </p:nvSpPr>
        <p:spPr>
          <a:xfrm>
            <a:off x="741218" y="775946"/>
            <a:ext cx="2678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缓存</a:t>
            </a:r>
            <a:r>
              <a:rPr lang="en-US" altLang="zh-CN" sz="3600" dirty="0"/>
              <a:t>Cache</a:t>
            </a:r>
            <a:endParaRPr lang="zh-CN" altLang="en-US" sz="3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04DBC5-9E4C-BFC8-C4FF-9BC9E1527C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18" y="1711176"/>
            <a:ext cx="8652164" cy="43455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390B03-265C-6087-491D-24D71CF13A07}"/>
              </a:ext>
            </a:extLst>
          </p:cNvPr>
          <p:cNvSpPr txBox="1"/>
          <p:nvPr/>
        </p:nvSpPr>
        <p:spPr>
          <a:xfrm>
            <a:off x="9713379" y="2745966"/>
            <a:ext cx="17235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缓存命中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缓存不命中</a:t>
            </a:r>
            <a:endParaRPr lang="en-US" altLang="zh-CN" sz="2400" dirty="0"/>
          </a:p>
          <a:p>
            <a:r>
              <a:rPr lang="zh-CN" altLang="en-US" sz="2400" dirty="0"/>
              <a:t>（替换策略</a:t>
            </a:r>
            <a:endParaRPr lang="en-US" altLang="zh-CN" sz="2400" dirty="0"/>
          </a:p>
          <a:p>
            <a:r>
              <a:rPr lang="zh-CN" altLang="en-US" sz="2400" dirty="0"/>
              <a:t>放置策略）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3912CD-582C-CA3A-B1C1-2A44F4A6FF6A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16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F3AB4-57B0-0B95-1949-7BDA1799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8AD372-71C3-B004-953F-7384A5D87139}"/>
              </a:ext>
            </a:extLst>
          </p:cNvPr>
          <p:cNvSpPr txBox="1"/>
          <p:nvPr/>
        </p:nvSpPr>
        <p:spPr>
          <a:xfrm>
            <a:off x="741218" y="775946"/>
            <a:ext cx="2678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缓存</a:t>
            </a:r>
            <a:r>
              <a:rPr lang="en-US" altLang="zh-CN" sz="3600" dirty="0"/>
              <a:t>Cache</a:t>
            </a:r>
            <a:endParaRPr lang="zh-CN" altLang="en-US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1EBDED-1A1C-AE4E-D615-D550FAA15205}"/>
              </a:ext>
            </a:extLst>
          </p:cNvPr>
          <p:cNvSpPr txBox="1"/>
          <p:nvPr/>
        </p:nvSpPr>
        <p:spPr>
          <a:xfrm>
            <a:off x="741218" y="1769220"/>
            <a:ext cx="114507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Cache Miss</a:t>
            </a:r>
            <a:r>
              <a:rPr lang="zh-CN" altLang="en-US" sz="2400" dirty="0"/>
              <a:t>的三种情况：</a:t>
            </a:r>
            <a:endParaRPr lang="en-US" altLang="zh-CN" sz="2400" dirty="0"/>
          </a:p>
          <a:p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b="1" dirty="0"/>
              <a:t>强制性不命中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冷不命中</a:t>
            </a:r>
            <a:endParaRPr lang="en-US" altLang="zh-CN" sz="2400" b="1" dirty="0"/>
          </a:p>
          <a:p>
            <a:pPr lvl="1"/>
            <a:r>
              <a:rPr lang="zh-CN" altLang="en-US" sz="2400" dirty="0"/>
              <a:t>通常是短暂的事件，不会在反复访问寄存器使得缓存暖身之后的稳定状态中出现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b="1" dirty="0"/>
              <a:t>冲突不命中</a:t>
            </a:r>
            <a:endParaRPr lang="en-US" altLang="zh-CN" sz="2400" b="1" dirty="0"/>
          </a:p>
          <a:p>
            <a:pPr lvl="1"/>
            <a:r>
              <a:rPr lang="zh-CN" altLang="en-US" sz="2400" dirty="0"/>
              <a:t>由于冲突性放置策略，虽然缓存足够大，能够保存被引用的数据对象，但是因为这些对象会映射到同一个缓存块，缓存会一直不命中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b="1" dirty="0"/>
              <a:t>容量不命中</a:t>
            </a:r>
            <a:endParaRPr lang="en-US" altLang="zh-CN" sz="2400" b="1" dirty="0"/>
          </a:p>
          <a:p>
            <a:pPr lvl="1"/>
            <a:r>
              <a:rPr lang="zh-CN" altLang="en-US" sz="2400" dirty="0"/>
              <a:t>工作集的大小超过缓存的大小，即缓存太小了不能处理这个工作集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8BE3DB-7FB4-92E7-3B4E-6131606D2A9D}"/>
              </a:ext>
            </a:extLst>
          </p:cNvPr>
          <p:cNvSpPr txBox="1"/>
          <p:nvPr/>
        </p:nvSpPr>
        <p:spPr>
          <a:xfrm>
            <a:off x="11568546" y="11776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_刀客儿出品_2"/>
          <p:cNvSpPr txBox="1"/>
          <p:nvPr/>
        </p:nvSpPr>
        <p:spPr>
          <a:xfrm>
            <a:off x="3000375" y="2383155"/>
            <a:ext cx="6191250" cy="1446530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 algn="ctr"/>
            <a:r>
              <a:rPr lang="en-US" sz="8800" dirty="0">
                <a:solidFill>
                  <a:srgbClr val="39484D"/>
                </a:solidFill>
                <a:latin typeface="Brock Script" panose="02000507020000020002" charset="0"/>
                <a:ea typeface="+mj-ea"/>
                <a:cs typeface="Brock Script" panose="0200050702000002000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7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D4639"/>
      </a:accent1>
      <a:accent2>
        <a:srgbClr val="A6924C"/>
      </a:accent2>
      <a:accent3>
        <a:srgbClr val="1D5D4E"/>
      </a:accent3>
      <a:accent4>
        <a:srgbClr val="927635"/>
      </a:accent4>
      <a:accent5>
        <a:srgbClr val="6C9B8B"/>
      </a:accent5>
      <a:accent6>
        <a:srgbClr val="716734"/>
      </a:accent6>
      <a:hlink>
        <a:srgbClr val="5F5F5F"/>
      </a:hlink>
      <a:folHlink>
        <a:srgbClr val="919191"/>
      </a:folHlink>
    </a:clrScheme>
    <a:fontScheme name="Custom 1226">
      <a:majorFont>
        <a:latin typeface="Century Gothic"/>
        <a:ea typeface="方正清刻本悦宋简体"/>
        <a:cs typeface=""/>
      </a:majorFont>
      <a:minorFont>
        <a:latin typeface="Century Gothic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452</Words>
  <Application>Microsoft Office PowerPoint</Application>
  <PresentationFormat>宽屏</PresentationFormat>
  <Paragraphs>82</Paragraphs>
  <Slides>15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Brock Script</vt:lpstr>
      <vt:lpstr>Arial</vt:lpstr>
      <vt:lpstr>Calibri</vt:lpstr>
      <vt:lpstr>Century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佳逸 袁</dc:creator>
  <cp:lastModifiedBy>佳逸 袁</cp:lastModifiedBy>
  <cp:revision>50</cp:revision>
  <dcterms:created xsi:type="dcterms:W3CDTF">2019-01-14T05:30:00Z</dcterms:created>
  <dcterms:modified xsi:type="dcterms:W3CDTF">2025-10-29T07:33:23Z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E564DF8FDDDD4B96A18418E17742B569_13</vt:lpwstr>
  </property>
</Properties>
</file>