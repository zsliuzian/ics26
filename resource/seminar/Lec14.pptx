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D582C-0EAC-390A-4F33-01377CA3A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C84F2E-3740-2FE2-8F03-A3748B4D9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C7B076-D62A-724B-B003-6FD4C704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ADB19-0F12-02E9-AAEE-8ACDEBDF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C3E2B-0D8A-BE32-808F-F741DBB0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06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11931-D752-1393-A8E8-ED19185A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36A7A-D5FC-2A9E-A9D7-0F2E6FAA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31D8D-8DCA-DD08-8588-84E6DA09A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788558-1D84-3341-6559-21D2BF0C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6481E4-AB4C-4765-039B-FC70B13A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09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EE295-71A9-B62C-23C4-EC752900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416740-FF47-1D8A-1CA9-F7504CAC1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1008D-1057-24B0-638B-97296A1D0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6C9872-F6AD-B27D-90AA-2D827F88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230AC-5FAB-D21F-A5F3-0A5B70B4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71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CA127-0978-D4A5-9955-3C90B828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7A417A-63F5-98D8-D880-274DD59C5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0AE51F-899A-EFF6-30CC-E0D5700CC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6ABB69-619F-06B0-20A6-9D92F3BC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E145D-B428-D494-DD01-C3E7C51F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8514F3-2F17-8783-DCED-0F2C6E7B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22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369B9-FBDA-39E4-4783-EB43BC06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2E12CA-7D53-C699-890E-CF62E97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3F547F-D99B-CCD9-15E5-86EB341D4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98551B-535D-FC2E-CDB0-F9B16FA26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ACD4FE-DF34-5254-4D9B-76C0551F6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ECADA4-EAD4-46BA-8944-07EA133E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5E7DB1-B891-65FA-BED6-7A916252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3344C9-C55B-3DFD-279D-A66261EF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0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3BD92-642D-ACC2-49CC-EF1C2245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7F8D85-D5BA-07D5-1158-3CFEFA12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EE8A68-6547-3E21-4953-64278611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959BD0-353B-6BB1-D8C7-028C837F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0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3BE710-B366-532E-8B7F-097EFFCC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06E3D8-A46C-60E1-3312-DC2F9543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395A79-EE64-E37B-A979-AE81764F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60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41700-E4C0-D9D6-88AC-95BACA40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0C097-D459-3CBF-74D6-A82C9225E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8B90FC-55E0-9A32-230A-CE717FFB5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81F9C9-8685-5EDD-04C1-E1B50FC7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C57F6B-3466-FED2-5EEC-AD8369B7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19C107-66AB-1E3B-DB76-FCA2FC4C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01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E0229-174A-3F45-8DDD-C80C3D382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F24024-F759-16C3-A2F8-571039FA7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EE8CE7-5A70-D96D-9F76-B5DEF9268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DF835B-6D6A-A53F-4A5B-4EA64D05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56BA43-2AA2-F81C-C2F0-DDE515A4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24EAE1-0906-1AF3-DB91-00AC72B9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0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17C1C-96E7-1EC7-A53D-8233BAB5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4E5B0D-EADD-46FA-63C0-FA2E3257F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0EC2E3-A653-220B-9FDB-DFC76696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B488B-8806-7E29-5AF6-2CAE1D03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29C14-3825-B58E-705A-CA680238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79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F906D6-8DB4-BA85-F80F-1F19B8E8B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3C30A6-B9AF-B69A-A1BD-4FC0C21E8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B4ACC9-ADC4-5034-A971-2FFD9127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F9FBB-BF5C-B082-A26C-68E36499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EC171-36AB-3082-538B-8B3085FF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92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7F8D16-E47C-E893-3750-29F05842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BBCC01-4E7C-FE7C-4040-C873B2425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136B3B-F9B1-498C-6E1A-F135CB708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E56C3-585C-4606-8905-02D8C47FDB47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993DB-7D6C-FE59-0972-F7C70487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A40D2-A54A-8879-2C09-414EDCCD9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FF064-2AD3-49CB-979F-ED7A8A24F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00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D5E9C-1C5A-5AEB-5B72-41FC2D31E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ICS</a:t>
            </a:r>
            <a:r>
              <a:rPr lang="zh-CN" altLang="en-US" dirty="0"/>
              <a:t>回课 </a:t>
            </a: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3286FD-7035-3BFB-4434-11CD0E742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郭梓墨</a:t>
            </a:r>
          </a:p>
        </p:txBody>
      </p:sp>
    </p:spTree>
    <p:extLst>
      <p:ext uri="{BB962C8B-B14F-4D97-AF65-F5344CB8AC3E}">
        <p14:creationId xmlns:p14="http://schemas.microsoft.com/office/powerpoint/2010/main" val="398034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DF430-FF27-D2D0-538E-D70C657A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</a:t>
            </a:r>
            <a:r>
              <a:rPr lang="zh-CN" altLang="en-US" dirty="0"/>
              <a:t>上一讲回顾：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5A85A8-1407-C990-BC84-82BCFEB38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内存局部性：</a:t>
            </a:r>
            <a:endParaRPr lang="en-US" altLang="zh-CN" dirty="0"/>
          </a:p>
          <a:p>
            <a:pPr lvl="1"/>
            <a:r>
              <a:rPr lang="zh-CN" altLang="en-US" dirty="0"/>
              <a:t>动机：程序更容易使用地址接近于先前使用过的数据的数据</a:t>
            </a:r>
          </a:p>
          <a:p>
            <a:pPr lvl="1"/>
            <a:r>
              <a:rPr lang="zh-CN" altLang="en-US" dirty="0"/>
              <a:t>分为空间与时间局部性</a:t>
            </a:r>
            <a:endParaRPr lang="en-US" altLang="zh-CN" dirty="0"/>
          </a:p>
          <a:p>
            <a:pPr lvl="1"/>
            <a:r>
              <a:rPr lang="zh-CN" altLang="en-US" dirty="0"/>
              <a:t>空间局部性：邻近的数据更有可能连续访问</a:t>
            </a:r>
            <a:endParaRPr lang="en-US" altLang="zh-CN" dirty="0"/>
          </a:p>
          <a:p>
            <a:pPr lvl="1"/>
            <a:r>
              <a:rPr lang="zh-CN" altLang="en-US" dirty="0"/>
              <a:t>时间局部性：先前访问过的数据更有可能访问</a:t>
            </a:r>
          </a:p>
        </p:txBody>
      </p:sp>
    </p:spTree>
    <p:extLst>
      <p:ext uri="{BB962C8B-B14F-4D97-AF65-F5344CB8AC3E}">
        <p14:creationId xmlns:p14="http://schemas.microsoft.com/office/powerpoint/2010/main" val="328559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16212-A56B-0E83-355C-F70CB592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</a:t>
            </a:r>
            <a:r>
              <a:rPr lang="zh-CN" altLang="en-US" dirty="0"/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E57F43-80DA-885B-9D8F-EC2F9266C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Memory Hierarchy</a:t>
            </a:r>
          </a:p>
          <a:p>
            <a:pPr lvl="1"/>
            <a:r>
              <a:rPr lang="zh-CN" altLang="en-US" dirty="0"/>
              <a:t>上一层作为下一层的缓存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8B059B-740D-182C-4F3B-F2228A832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90" y="681037"/>
            <a:ext cx="6660161" cy="49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42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CE392-74BE-0E32-29F9-9B14142A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0.</a:t>
            </a:r>
            <a:r>
              <a:rPr lang="zh-CN" altLang="en-US" dirty="0"/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FC255-E655-5439-57BB-DBCE0492B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缓存：</a:t>
            </a:r>
            <a:endParaRPr lang="en-US" altLang="zh-CN" dirty="0"/>
          </a:p>
          <a:p>
            <a:pPr lvl="1"/>
            <a:r>
              <a:rPr lang="zh-CN" altLang="en-US" dirty="0"/>
              <a:t>缓存相对较小，较快</a:t>
            </a:r>
            <a:endParaRPr lang="en-US" altLang="zh-CN" dirty="0"/>
          </a:p>
          <a:p>
            <a:pPr lvl="1"/>
            <a:r>
              <a:rPr lang="zh-CN" altLang="en-US" dirty="0"/>
              <a:t>访问的两种情况：</a:t>
            </a:r>
            <a:r>
              <a:rPr lang="en-US" altLang="zh-CN" dirty="0"/>
              <a:t>Hit/Miss</a:t>
            </a:r>
          </a:p>
          <a:p>
            <a:pPr lvl="2"/>
            <a:r>
              <a:rPr lang="en-US" altLang="zh-CN" dirty="0"/>
              <a:t>Hit</a:t>
            </a:r>
            <a:r>
              <a:rPr lang="zh-CN" altLang="en-US" dirty="0"/>
              <a:t>：访问的数据在缓存内</a:t>
            </a:r>
            <a:endParaRPr lang="en-US" altLang="zh-CN" dirty="0"/>
          </a:p>
          <a:p>
            <a:pPr lvl="2"/>
            <a:r>
              <a:rPr lang="en-US" altLang="zh-CN" dirty="0"/>
              <a:t>Miss</a:t>
            </a:r>
            <a:r>
              <a:rPr lang="zh-CN" altLang="en-US" dirty="0"/>
              <a:t>：访问的数据不在缓存内，分为</a:t>
            </a:r>
            <a:r>
              <a:rPr lang="en-US" altLang="zh-CN" dirty="0"/>
              <a:t>3</a:t>
            </a:r>
            <a:r>
              <a:rPr lang="zh-CN" altLang="en-US" dirty="0"/>
              <a:t>种（</a:t>
            </a:r>
            <a:r>
              <a:rPr lang="en-US" altLang="zh-CN" dirty="0"/>
              <a:t>3C</a:t>
            </a:r>
            <a:r>
              <a:rPr lang="zh-CN" altLang="en-US" dirty="0"/>
              <a:t>，</a:t>
            </a:r>
            <a:r>
              <a:rPr lang="en-US" altLang="zh-CN" dirty="0"/>
              <a:t>Cold/Capacity/Conflict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en-US" altLang="zh-CN" dirty="0"/>
              <a:t>Cold – </a:t>
            </a:r>
            <a:r>
              <a:rPr lang="zh-CN" altLang="en-US" dirty="0"/>
              <a:t>程序启动时缓存中未加载数据</a:t>
            </a:r>
            <a:endParaRPr lang="en-US" altLang="zh-CN" dirty="0"/>
          </a:p>
          <a:p>
            <a:pPr lvl="3"/>
            <a:r>
              <a:rPr lang="en-US" altLang="zh-CN" dirty="0"/>
              <a:t>Capacity – </a:t>
            </a:r>
            <a:r>
              <a:rPr lang="zh-CN" altLang="en-US" dirty="0"/>
              <a:t>工作集大于缓存大小</a:t>
            </a:r>
            <a:endParaRPr lang="en-US" altLang="zh-CN" dirty="0"/>
          </a:p>
          <a:p>
            <a:pPr lvl="3"/>
            <a:r>
              <a:rPr lang="en-US" altLang="zh-CN" dirty="0"/>
              <a:t>Conflict – </a:t>
            </a:r>
            <a:r>
              <a:rPr lang="zh-CN" altLang="en-US" dirty="0"/>
              <a:t>多个块映射到同一个缓存区域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512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C165C-E0D1-E464-06A3-CBE109D7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内存读写流程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44299C-3628-F27B-B7D8-FD6309A0F662}"/>
              </a:ext>
            </a:extLst>
          </p:cNvPr>
          <p:cNvPicPr>
            <a:picLocks/>
          </p:cNvPicPr>
          <p:nvPr/>
        </p:nvPicPr>
        <p:blipFill>
          <a:blip r:embed="rId2"/>
          <a:srcRect l="8010" t="15908" r="6343" b="-207"/>
          <a:stretch>
            <a:fillRect/>
          </a:stretch>
        </p:blipFill>
        <p:spPr>
          <a:xfrm>
            <a:off x="4234469" y="3676038"/>
            <a:ext cx="6983807" cy="2516134"/>
          </a:xfrm>
          <a:prstGeom prst="rect">
            <a:avLst/>
          </a:prstGeom>
        </p:spPr>
      </p:pic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E6ED122-CA2C-005F-6852-0A9B60072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先将需要访问的地址传输到</a:t>
            </a:r>
            <a:r>
              <a:rPr lang="en-US" altLang="zh-CN" dirty="0"/>
              <a:t>Cache</a:t>
            </a:r>
          </a:p>
          <a:p>
            <a:pPr lvl="1"/>
            <a:r>
              <a:rPr lang="zh-CN" altLang="en-US" dirty="0"/>
              <a:t>若命中：直接返回访问的值</a:t>
            </a:r>
            <a:endParaRPr lang="en-US" altLang="zh-CN" dirty="0"/>
          </a:p>
          <a:p>
            <a:pPr lvl="1"/>
            <a:r>
              <a:rPr lang="zh-CN" altLang="en-US" dirty="0"/>
              <a:t>否则：通过总线将地址传输至</a:t>
            </a:r>
            <a:r>
              <a:rPr lang="en-US" altLang="zh-CN" dirty="0"/>
              <a:t>Main Memory</a:t>
            </a:r>
            <a:r>
              <a:rPr lang="zh-CN" altLang="en-US" dirty="0"/>
              <a:t>，获取对应位置的数据，并修改</a:t>
            </a:r>
            <a:r>
              <a:rPr lang="en-US" altLang="zh-CN" dirty="0"/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401291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0408D-F2C3-938C-C439-03CAE447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2.Cache</a:t>
            </a:r>
            <a:r>
              <a:rPr lang="zh-CN" altLang="en-US" dirty="0"/>
              <a:t>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ADE2BD-576B-127C-97BC-B5C67B98C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地址被从高到低分为</a:t>
            </a:r>
            <a:r>
              <a:rPr lang="en-US" altLang="zh-CN" dirty="0"/>
              <a:t>tag</a:t>
            </a:r>
            <a:r>
              <a:rPr lang="zh-CN" altLang="en-US" dirty="0"/>
              <a:t>，</a:t>
            </a:r>
            <a:r>
              <a:rPr lang="en-US" altLang="zh-CN" dirty="0"/>
              <a:t>index</a:t>
            </a:r>
            <a:r>
              <a:rPr lang="zh-CN" altLang="en-US" dirty="0"/>
              <a:t>与</a:t>
            </a:r>
            <a:r>
              <a:rPr lang="en-US" altLang="zh-CN" dirty="0"/>
              <a:t>offset</a:t>
            </a:r>
            <a:r>
              <a:rPr lang="zh-CN" altLang="en-US" dirty="0"/>
              <a:t>三段</a:t>
            </a:r>
            <a:endParaRPr lang="en-US" altLang="zh-CN" dirty="0"/>
          </a:p>
          <a:p>
            <a:r>
              <a:rPr lang="zh-CN" altLang="en-US" dirty="0"/>
              <a:t>先利用</a:t>
            </a:r>
            <a:r>
              <a:rPr lang="en-US" altLang="zh-CN" dirty="0"/>
              <a:t>index</a:t>
            </a:r>
            <a:r>
              <a:rPr lang="zh-CN" altLang="en-US" dirty="0"/>
              <a:t>找到</a:t>
            </a:r>
            <a:r>
              <a:rPr lang="en-US" altLang="zh-CN" dirty="0"/>
              <a:t>cache</a:t>
            </a:r>
            <a:r>
              <a:rPr lang="zh-CN" altLang="en-US" dirty="0"/>
              <a:t>中的组（</a:t>
            </a:r>
            <a:r>
              <a:rPr lang="en-US" altLang="zh-CN" dirty="0"/>
              <a:t>Set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再根据</a:t>
            </a:r>
            <a:r>
              <a:rPr lang="en-US" altLang="zh-CN" dirty="0"/>
              <a:t>tag</a:t>
            </a:r>
            <a:r>
              <a:rPr lang="zh-CN" altLang="en-US" dirty="0"/>
              <a:t>（是否与组内某一行的</a:t>
            </a:r>
            <a:r>
              <a:rPr lang="en-US" altLang="zh-CN" dirty="0"/>
              <a:t>tag</a:t>
            </a:r>
            <a:r>
              <a:rPr lang="zh-CN" altLang="en-US" dirty="0"/>
              <a:t>相同）与</a:t>
            </a:r>
            <a:r>
              <a:rPr lang="en-US" altLang="zh-CN" dirty="0"/>
              <a:t>validation bit</a:t>
            </a:r>
            <a:r>
              <a:rPr lang="zh-CN" altLang="en-US" dirty="0"/>
              <a:t>（是否为</a:t>
            </a:r>
            <a:r>
              <a:rPr lang="en-US" altLang="zh-CN" dirty="0"/>
              <a:t>1</a:t>
            </a:r>
            <a:r>
              <a:rPr lang="zh-CN" altLang="en-US" dirty="0"/>
              <a:t>）查看是否命中</a:t>
            </a:r>
            <a:endParaRPr lang="en-US" altLang="zh-CN" dirty="0"/>
          </a:p>
          <a:p>
            <a:r>
              <a:rPr lang="zh-CN" altLang="en-US" dirty="0"/>
              <a:t>最后根据</a:t>
            </a:r>
            <a:r>
              <a:rPr lang="en-US" altLang="zh-CN" dirty="0"/>
              <a:t>offset</a:t>
            </a:r>
            <a:r>
              <a:rPr lang="zh-CN" altLang="en-US" dirty="0"/>
              <a:t>决定取出数据的位置。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408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350A9-FC30-E7A2-CEFB-425E3299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直接映射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3F373-44EE-8730-407B-E7912C34E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每一个</a:t>
            </a:r>
            <a:r>
              <a:rPr lang="en-US" altLang="zh-CN" dirty="0"/>
              <a:t>Set</a:t>
            </a:r>
            <a:r>
              <a:rPr lang="zh-CN" altLang="en-US" dirty="0"/>
              <a:t>中只有一行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CB3B6D-0477-17C0-3E7D-C7E8851FC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75" y="2478693"/>
            <a:ext cx="4026107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5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25B4-94A3-6D66-FB5D-67680D5D8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8A643-176A-FAB2-751E-F2AE54A0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直接映射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5C7B0D96-A4DE-91EA-309E-0ED18E3442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965339"/>
              </p:ext>
            </p:extLst>
          </p:nvPr>
        </p:nvGraphicFramePr>
        <p:xfrm>
          <a:off x="838200" y="1825625"/>
          <a:ext cx="6643916" cy="380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79">
                  <a:extLst>
                    <a:ext uri="{9D8B030D-6E8A-4147-A177-3AD203B41FA5}">
                      <a16:colId xmlns:a16="http://schemas.microsoft.com/office/drawing/2014/main" val="1479333930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540731573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81285451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905489828"/>
                    </a:ext>
                  </a:extLst>
                </a:gridCol>
              </a:tblGrid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Set 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Block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625425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M[0xA0~0xA7]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81960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708196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54158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M[0x38~0x3F]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82977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367A94C-4E0A-FB75-9905-4DFCEA43CB43}"/>
              </a:ext>
            </a:extLst>
          </p:cNvPr>
          <p:cNvSpPr txBox="1"/>
          <p:nvPr/>
        </p:nvSpPr>
        <p:spPr>
          <a:xfrm>
            <a:off x="7482114" y="1825625"/>
            <a:ext cx="39180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r>
              <a:rPr lang="zh-CN" altLang="en-US" dirty="0"/>
              <a:t>位地址，</a:t>
            </a:r>
            <a:r>
              <a:rPr lang="en-US" altLang="zh-CN" dirty="0"/>
              <a:t>8bytes/block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类型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0x3A = 0011 1010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 </a:t>
            </a:r>
            <a:r>
              <a:rPr lang="en-US" altLang="zh-CN" dirty="0"/>
              <a:t>Hit!</a:t>
            </a:r>
          </a:p>
          <a:p>
            <a:r>
              <a:rPr lang="zh-CN" altLang="en-US" dirty="0"/>
              <a:t>直接取</a:t>
            </a:r>
            <a:r>
              <a:rPr lang="en-US" altLang="zh-CN" dirty="0"/>
              <a:t>set 3</a:t>
            </a:r>
            <a:r>
              <a:rPr lang="zh-CN" altLang="en-US" dirty="0"/>
              <a:t>的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两个</a:t>
            </a:r>
            <a:r>
              <a:rPr lang="en-US" altLang="zh-CN" dirty="0"/>
              <a:t>byte</a:t>
            </a:r>
          </a:p>
        </p:txBody>
      </p:sp>
    </p:spTree>
    <p:extLst>
      <p:ext uri="{BB962C8B-B14F-4D97-AF65-F5344CB8AC3E}">
        <p14:creationId xmlns:p14="http://schemas.microsoft.com/office/powerpoint/2010/main" val="403444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0664-5107-DC85-5283-FFFFF653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D9535-B0E6-CD07-673E-774EEBD4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直接映射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09F5A0E9-8798-E2B0-31DC-68449A073D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6643916" cy="380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79">
                  <a:extLst>
                    <a:ext uri="{9D8B030D-6E8A-4147-A177-3AD203B41FA5}">
                      <a16:colId xmlns:a16="http://schemas.microsoft.com/office/drawing/2014/main" val="1479333930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540731573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81285451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905489828"/>
                    </a:ext>
                  </a:extLst>
                </a:gridCol>
              </a:tblGrid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Set 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Block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625425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M[0xA0~0xA7]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81960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708196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54158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M[0x38~0x3F]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82977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5D295CA-A8A0-2437-B726-F9771C7F9AC1}"/>
              </a:ext>
            </a:extLst>
          </p:cNvPr>
          <p:cNvSpPr txBox="1"/>
          <p:nvPr/>
        </p:nvSpPr>
        <p:spPr>
          <a:xfrm>
            <a:off x="7482114" y="1825625"/>
            <a:ext cx="385233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r>
              <a:rPr lang="zh-CN" altLang="en-US" dirty="0"/>
              <a:t>位地址，</a:t>
            </a:r>
            <a:r>
              <a:rPr lang="en-US" altLang="zh-CN" dirty="0"/>
              <a:t>8bytes/block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类型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0x3A = 0011 1010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 </a:t>
            </a:r>
            <a:r>
              <a:rPr lang="en-US" altLang="zh-CN" dirty="0"/>
              <a:t>Hit!</a:t>
            </a:r>
          </a:p>
          <a:p>
            <a:r>
              <a:rPr lang="zh-CN" altLang="en-US" dirty="0"/>
              <a:t>直接取</a:t>
            </a:r>
            <a:r>
              <a:rPr lang="en-US" altLang="zh-CN" dirty="0"/>
              <a:t>set 3</a:t>
            </a:r>
            <a:r>
              <a:rPr lang="zh-CN" altLang="en-US" dirty="0"/>
              <a:t>的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两个</a:t>
            </a:r>
            <a:r>
              <a:rPr lang="en-US" altLang="zh-CN" dirty="0"/>
              <a:t>byte</a:t>
            </a:r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0x49 = 0100 1001 Miss</a:t>
            </a:r>
          </a:p>
          <a:p>
            <a:r>
              <a:rPr lang="zh-CN" altLang="en-US" dirty="0"/>
              <a:t>访问内存。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7558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C614-9C72-C1D3-D8BB-024DAD94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106B1-0923-4331-7C1E-08FBC129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直接映射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13378FEF-C9C5-7763-FC9C-CA3D6B981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091875"/>
              </p:ext>
            </p:extLst>
          </p:nvPr>
        </p:nvGraphicFramePr>
        <p:xfrm>
          <a:off x="838200" y="1825625"/>
          <a:ext cx="6643916" cy="380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79">
                  <a:extLst>
                    <a:ext uri="{9D8B030D-6E8A-4147-A177-3AD203B41FA5}">
                      <a16:colId xmlns:a16="http://schemas.microsoft.com/office/drawing/2014/main" val="1479333930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540731573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81285451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905489828"/>
                    </a:ext>
                  </a:extLst>
                </a:gridCol>
              </a:tblGrid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Set 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Block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625425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M[0xA0~0xA7]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81960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M[0x48~0x4F]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708196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54158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M[0x38~0x3F]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82977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6F08B7F-F8A3-A217-75E8-19EBF254411F}"/>
              </a:ext>
            </a:extLst>
          </p:cNvPr>
          <p:cNvSpPr txBox="1"/>
          <p:nvPr/>
        </p:nvSpPr>
        <p:spPr>
          <a:xfrm>
            <a:off x="7482114" y="1825625"/>
            <a:ext cx="385233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r>
              <a:rPr lang="zh-CN" altLang="en-US" dirty="0"/>
              <a:t>位地址，</a:t>
            </a:r>
            <a:r>
              <a:rPr lang="en-US" altLang="zh-CN" dirty="0"/>
              <a:t>8bytes/block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类型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0x3A = 0011 1010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 </a:t>
            </a:r>
            <a:r>
              <a:rPr lang="en-US" altLang="zh-CN" dirty="0"/>
              <a:t>Hit!</a:t>
            </a:r>
          </a:p>
          <a:p>
            <a:r>
              <a:rPr lang="zh-CN" altLang="en-US" dirty="0"/>
              <a:t>直接取</a:t>
            </a:r>
            <a:r>
              <a:rPr lang="en-US" altLang="zh-CN" dirty="0"/>
              <a:t>set 3</a:t>
            </a:r>
            <a:r>
              <a:rPr lang="zh-CN" altLang="en-US" dirty="0"/>
              <a:t>的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两个</a:t>
            </a:r>
            <a:r>
              <a:rPr lang="en-US" altLang="zh-CN" dirty="0"/>
              <a:t>byte</a:t>
            </a:r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0x49 = 0100 1001 Miss</a:t>
            </a:r>
          </a:p>
          <a:p>
            <a:r>
              <a:rPr lang="zh-CN" altLang="en-US" dirty="0"/>
              <a:t>访问内存。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3869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89796-936E-B2AC-8F08-89DDD6F0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组相联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2D1AE-D06F-E8FA-29B6-07CA45FE2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每一个</a:t>
            </a:r>
            <a:r>
              <a:rPr lang="en-US" altLang="zh-CN" dirty="0"/>
              <a:t>Set</a:t>
            </a:r>
            <a:r>
              <a:rPr lang="zh-CN" altLang="en-US" dirty="0"/>
              <a:t>中存在着多个行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51915-8671-471F-A5D8-840C168F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75" y="2805264"/>
            <a:ext cx="4026107" cy="29020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E0B39B7-F8E3-1BB2-2A1B-7E0ED813B754}"/>
              </a:ext>
            </a:extLst>
          </p:cNvPr>
          <p:cNvPicPr>
            <a:picLocks/>
          </p:cNvPicPr>
          <p:nvPr/>
        </p:nvPicPr>
        <p:blipFill>
          <a:blip r:embed="rId2"/>
          <a:srcRect l="24945"/>
          <a:stretch>
            <a:fillRect/>
          </a:stretch>
        </p:blipFill>
        <p:spPr>
          <a:xfrm>
            <a:off x="5036457" y="2805263"/>
            <a:ext cx="3021795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33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217B-8F81-F470-B97B-9E6909D6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1AB1F-B637-07E7-8211-6CD3A114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组相联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7F28BF5-81B6-0BA4-364C-1B2943C21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282089"/>
              </p:ext>
            </p:extLst>
          </p:nvPr>
        </p:nvGraphicFramePr>
        <p:xfrm>
          <a:off x="838200" y="1825625"/>
          <a:ext cx="6643916" cy="380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79">
                  <a:extLst>
                    <a:ext uri="{9D8B030D-6E8A-4147-A177-3AD203B41FA5}">
                      <a16:colId xmlns:a16="http://schemas.microsoft.com/office/drawing/2014/main" val="1479333930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540731573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81285451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905489828"/>
                    </a:ext>
                  </a:extLst>
                </a:gridCol>
              </a:tblGrid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Set 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Block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625425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M[0xA0~0xA7]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81960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708196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54158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M[0x38~0x3F]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82977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54B7ADA-5583-779E-7CB0-69C07CDCAD3C}"/>
              </a:ext>
            </a:extLst>
          </p:cNvPr>
          <p:cNvSpPr txBox="1"/>
          <p:nvPr/>
        </p:nvSpPr>
        <p:spPr>
          <a:xfrm>
            <a:off x="7482114" y="1825625"/>
            <a:ext cx="38523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r>
              <a:rPr lang="zh-CN" altLang="en-US" dirty="0"/>
              <a:t>位地址，</a:t>
            </a:r>
            <a:r>
              <a:rPr lang="en-US" altLang="zh-CN" dirty="0"/>
              <a:t>8bytes/block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类型</a:t>
            </a:r>
            <a:endParaRPr lang="en-US" altLang="zh-CN" dirty="0"/>
          </a:p>
          <a:p>
            <a:r>
              <a:rPr lang="en-US" altLang="zh-CN" dirty="0"/>
              <a:t>2 lines/set</a:t>
            </a:r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0x3A = 0011 1010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 </a:t>
            </a:r>
            <a:r>
              <a:rPr lang="en-US" altLang="zh-CN" dirty="0"/>
              <a:t>Hit!</a:t>
            </a:r>
          </a:p>
          <a:p>
            <a:r>
              <a:rPr lang="zh-CN" altLang="en-US" dirty="0"/>
              <a:t>直接取</a:t>
            </a:r>
            <a:r>
              <a:rPr lang="en-US" altLang="zh-CN" dirty="0"/>
              <a:t>set 3</a:t>
            </a:r>
            <a:r>
              <a:rPr lang="zh-CN" altLang="en-US" dirty="0"/>
              <a:t>的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两个</a:t>
            </a:r>
            <a:r>
              <a:rPr lang="en-US" altLang="zh-CN" dirty="0"/>
              <a:t>byte</a:t>
            </a:r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0x49 = 0100 1001 Miss</a:t>
            </a:r>
          </a:p>
          <a:p>
            <a:r>
              <a:rPr lang="zh-CN" altLang="en-US" dirty="0"/>
              <a:t>访问内存。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5048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13DEC-F31D-9AEB-2EED-5E022987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18E38-302D-EC46-A6B8-4287C8B5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组相联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85D52A60-10A0-3B02-5F66-E9BABFA1E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920064"/>
              </p:ext>
            </p:extLst>
          </p:nvPr>
        </p:nvGraphicFramePr>
        <p:xfrm>
          <a:off x="838200" y="1825625"/>
          <a:ext cx="6643916" cy="380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79">
                  <a:extLst>
                    <a:ext uri="{9D8B030D-6E8A-4147-A177-3AD203B41FA5}">
                      <a16:colId xmlns:a16="http://schemas.microsoft.com/office/drawing/2014/main" val="1479333930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540731573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381285451"/>
                    </a:ext>
                  </a:extLst>
                </a:gridCol>
                <a:gridCol w="1660979">
                  <a:extLst>
                    <a:ext uri="{9D8B030D-6E8A-4147-A177-3AD203B41FA5}">
                      <a16:colId xmlns:a16="http://schemas.microsoft.com/office/drawing/2014/main" val="905489828"/>
                    </a:ext>
                  </a:extLst>
                </a:gridCol>
              </a:tblGrid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Set 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Block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625425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M[0xA0~0xA7]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81960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M[0x48~0x4F]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708196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54158"/>
                  </a:ext>
                </a:extLst>
              </a:tr>
              <a:tr h="76118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M[0x38~0x3F]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82977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1E43E3F-96E9-C4D3-23AA-1DF6D9D0A0F7}"/>
              </a:ext>
            </a:extLst>
          </p:cNvPr>
          <p:cNvSpPr txBox="1"/>
          <p:nvPr/>
        </p:nvSpPr>
        <p:spPr>
          <a:xfrm>
            <a:off x="7482114" y="1825625"/>
            <a:ext cx="38523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r>
              <a:rPr lang="zh-CN" altLang="en-US" dirty="0"/>
              <a:t>位地址，</a:t>
            </a:r>
            <a:r>
              <a:rPr lang="en-US" altLang="zh-CN" dirty="0"/>
              <a:t>8bytes/block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类型</a:t>
            </a:r>
            <a:endParaRPr lang="en-US" altLang="zh-CN" dirty="0"/>
          </a:p>
          <a:p>
            <a:r>
              <a:rPr lang="en-US" altLang="zh-CN" dirty="0"/>
              <a:t>2 lines/set</a:t>
            </a:r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0x3A = 0011 1010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 </a:t>
            </a:r>
            <a:r>
              <a:rPr lang="en-US" altLang="zh-CN" dirty="0"/>
              <a:t>Hit!</a:t>
            </a:r>
          </a:p>
          <a:p>
            <a:r>
              <a:rPr lang="zh-CN" altLang="en-US" dirty="0"/>
              <a:t>直接取</a:t>
            </a:r>
            <a:r>
              <a:rPr lang="en-US" altLang="zh-CN" dirty="0"/>
              <a:t>set 3</a:t>
            </a:r>
            <a:r>
              <a:rPr lang="zh-CN" altLang="en-US" dirty="0"/>
              <a:t>的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两个</a:t>
            </a:r>
            <a:r>
              <a:rPr lang="en-US" altLang="zh-CN" dirty="0"/>
              <a:t>byte</a:t>
            </a:r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0x49 = 0100 1001 Miss</a:t>
            </a:r>
          </a:p>
          <a:p>
            <a:r>
              <a:rPr lang="zh-CN" altLang="en-US" dirty="0"/>
              <a:t>访问内存。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20329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3F32A-2B70-B7EF-19EB-6B4500E6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一般情况 </a:t>
            </a:r>
            <a:r>
              <a:rPr lang="en-US" altLang="zh-CN" dirty="0"/>
              <a:t>– </a:t>
            </a:r>
            <a:r>
              <a:rPr lang="zh-CN" altLang="en-US" dirty="0"/>
              <a:t>读取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7CE64-5259-D49E-65A5-A47B79BC6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下面的讨论基于存在</a:t>
            </a:r>
            <a:r>
              <a:rPr lang="en-US" altLang="zh-CN" dirty="0"/>
              <a:t>2^e</a:t>
            </a:r>
            <a:r>
              <a:rPr lang="zh-CN" altLang="en-US" dirty="0"/>
              <a:t>个</a:t>
            </a:r>
            <a:r>
              <a:rPr lang="en-US" altLang="zh-CN" dirty="0"/>
              <a:t>Sets</a:t>
            </a:r>
            <a:r>
              <a:rPr lang="zh-CN" altLang="en-US" dirty="0"/>
              <a:t>，每个</a:t>
            </a:r>
            <a:r>
              <a:rPr lang="en-US" altLang="zh-CN" dirty="0"/>
              <a:t>Sets</a:t>
            </a:r>
            <a:r>
              <a:rPr lang="zh-CN" altLang="en-US" dirty="0"/>
              <a:t>中存在</a:t>
            </a:r>
            <a:r>
              <a:rPr lang="en-US" altLang="zh-CN" dirty="0"/>
              <a:t>2^e</a:t>
            </a:r>
            <a:r>
              <a:rPr lang="zh-CN" altLang="en-US" dirty="0"/>
              <a:t>行，每一个</a:t>
            </a:r>
            <a:r>
              <a:rPr lang="en-US" altLang="zh-CN" dirty="0"/>
              <a:t>block</a:t>
            </a:r>
            <a:r>
              <a:rPr lang="zh-CN" altLang="en-US" dirty="0"/>
              <a:t>的尺寸是</a:t>
            </a:r>
            <a:r>
              <a:rPr lang="en-US" altLang="zh-CN" dirty="0"/>
              <a:t>2^b</a:t>
            </a:r>
            <a:r>
              <a:rPr lang="zh-CN" altLang="en-US" dirty="0"/>
              <a:t>进行。</a:t>
            </a:r>
            <a:endParaRPr lang="en-US" altLang="zh-CN" dirty="0"/>
          </a:p>
          <a:p>
            <a:r>
              <a:rPr lang="zh-CN" altLang="en-US" dirty="0"/>
              <a:t>读取时，先根据</a:t>
            </a:r>
            <a:r>
              <a:rPr lang="en-US" altLang="zh-CN" dirty="0"/>
              <a:t>index</a:t>
            </a:r>
            <a:r>
              <a:rPr lang="zh-CN" altLang="en-US" dirty="0"/>
              <a:t>查找对应的</a:t>
            </a:r>
            <a:r>
              <a:rPr lang="en-US" altLang="zh-CN" dirty="0"/>
              <a:t>Set</a:t>
            </a:r>
            <a:r>
              <a:rPr lang="zh-CN" altLang="en-US" dirty="0"/>
              <a:t>，再根据</a:t>
            </a:r>
            <a:r>
              <a:rPr lang="en-US" altLang="zh-CN" dirty="0"/>
              <a:t>tag</a:t>
            </a:r>
            <a:r>
              <a:rPr lang="zh-CN" altLang="en-US" dirty="0"/>
              <a:t>逐一与</a:t>
            </a:r>
            <a:r>
              <a:rPr lang="en-US" altLang="zh-CN" dirty="0"/>
              <a:t>Set</a:t>
            </a:r>
            <a:r>
              <a:rPr lang="zh-CN" altLang="en-US" dirty="0"/>
              <a:t>中的行进行验证</a:t>
            </a:r>
            <a:endParaRPr lang="en-US" altLang="zh-CN" dirty="0"/>
          </a:p>
          <a:p>
            <a:r>
              <a:rPr lang="zh-CN" altLang="en-US" dirty="0"/>
              <a:t>若存在</a:t>
            </a:r>
            <a:r>
              <a:rPr lang="en-US" altLang="zh-CN" dirty="0"/>
              <a:t>tag</a:t>
            </a:r>
            <a:r>
              <a:rPr lang="zh-CN" altLang="en-US" dirty="0"/>
              <a:t>与</a:t>
            </a:r>
            <a:r>
              <a:rPr lang="en-US" altLang="zh-CN" dirty="0"/>
              <a:t>index</a:t>
            </a:r>
            <a:r>
              <a:rPr lang="zh-CN" altLang="en-US" dirty="0"/>
              <a:t>均匹配且</a:t>
            </a:r>
            <a:r>
              <a:rPr lang="en-US" altLang="zh-CN" dirty="0"/>
              <a:t>valid bit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的行，则根据</a:t>
            </a:r>
            <a:r>
              <a:rPr lang="en-US" altLang="zh-CN" dirty="0"/>
              <a:t>offset</a:t>
            </a:r>
            <a:r>
              <a:rPr lang="zh-CN" altLang="en-US" dirty="0"/>
              <a:t>从行中对应位置取出数据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3719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D587-29CB-C427-963D-43F8EC47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5F164-004D-802E-9A98-974DCFC1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一般情况 </a:t>
            </a:r>
            <a:r>
              <a:rPr lang="en-US" altLang="zh-CN" dirty="0"/>
              <a:t>– </a:t>
            </a:r>
            <a:r>
              <a:rPr lang="zh-CN" altLang="en-US" dirty="0"/>
              <a:t>写入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DAFF3D-ABA5-B5C7-0EA1-DAB4E59F0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下面的讨论基于存在</a:t>
            </a:r>
            <a:r>
              <a:rPr lang="en-US" altLang="zh-CN" dirty="0"/>
              <a:t>2^e</a:t>
            </a:r>
            <a:r>
              <a:rPr lang="zh-CN" altLang="en-US" dirty="0"/>
              <a:t>个</a:t>
            </a:r>
            <a:r>
              <a:rPr lang="en-US" altLang="zh-CN" dirty="0"/>
              <a:t>Sets</a:t>
            </a:r>
            <a:r>
              <a:rPr lang="zh-CN" altLang="en-US" dirty="0"/>
              <a:t>，每个</a:t>
            </a:r>
            <a:r>
              <a:rPr lang="en-US" altLang="zh-CN" dirty="0"/>
              <a:t>Sets</a:t>
            </a:r>
            <a:r>
              <a:rPr lang="zh-CN" altLang="en-US" dirty="0"/>
              <a:t>中存在</a:t>
            </a:r>
            <a:r>
              <a:rPr lang="en-US" altLang="zh-CN" dirty="0"/>
              <a:t>2^e</a:t>
            </a:r>
            <a:r>
              <a:rPr lang="zh-CN" altLang="en-US" dirty="0"/>
              <a:t>行，每一个</a:t>
            </a:r>
            <a:r>
              <a:rPr lang="en-US" altLang="zh-CN" dirty="0"/>
              <a:t>block</a:t>
            </a:r>
            <a:r>
              <a:rPr lang="zh-CN" altLang="en-US" dirty="0"/>
              <a:t>的尺寸是</a:t>
            </a:r>
            <a:r>
              <a:rPr lang="en-US" altLang="zh-CN" dirty="0"/>
              <a:t>2^b</a:t>
            </a:r>
            <a:r>
              <a:rPr lang="zh-CN" altLang="en-US" dirty="0"/>
              <a:t>进行。</a:t>
            </a:r>
            <a:endParaRPr lang="en-US" altLang="zh-CN" dirty="0"/>
          </a:p>
          <a:p>
            <a:r>
              <a:rPr lang="zh-CN" altLang="en-US" dirty="0"/>
              <a:t>写入时存在多种方案：</a:t>
            </a:r>
            <a:endParaRPr lang="en-US" altLang="zh-CN" dirty="0"/>
          </a:p>
          <a:p>
            <a:r>
              <a:rPr lang="zh-CN" altLang="en-US" dirty="0"/>
              <a:t>命中时直接写入内存（</a:t>
            </a:r>
            <a:r>
              <a:rPr lang="en-US" altLang="zh-CN" dirty="0"/>
              <a:t>write-through</a:t>
            </a:r>
            <a:r>
              <a:rPr lang="zh-CN" altLang="en-US" dirty="0"/>
              <a:t>）还是先写入</a:t>
            </a:r>
            <a:r>
              <a:rPr lang="en-US" altLang="zh-CN" dirty="0"/>
              <a:t>Cache</a:t>
            </a:r>
            <a:r>
              <a:rPr lang="zh-CN" altLang="en-US" dirty="0"/>
              <a:t>待交换时写入内存（</a:t>
            </a:r>
            <a:r>
              <a:rPr lang="en-US" altLang="zh-CN" dirty="0"/>
              <a:t>write-back</a:t>
            </a:r>
            <a:r>
              <a:rPr lang="zh-CN" altLang="en-US" dirty="0"/>
              <a:t>）？</a:t>
            </a:r>
            <a:endParaRPr lang="en-US" altLang="zh-CN" dirty="0"/>
          </a:p>
          <a:p>
            <a:r>
              <a:rPr lang="zh-CN" altLang="en-US" dirty="0"/>
              <a:t>未命中时写入</a:t>
            </a:r>
            <a:r>
              <a:rPr lang="en-US" altLang="zh-CN" dirty="0"/>
              <a:t>Cache</a:t>
            </a:r>
            <a:r>
              <a:rPr lang="zh-CN" altLang="en-US" dirty="0"/>
              <a:t>的某一行中（</a:t>
            </a:r>
            <a:r>
              <a:rPr lang="en-US" altLang="zh-CN" dirty="0"/>
              <a:t>write-allocate</a:t>
            </a:r>
            <a:r>
              <a:rPr lang="zh-CN" altLang="en-US" dirty="0"/>
              <a:t>）还是直接写入内存（</a:t>
            </a:r>
            <a:r>
              <a:rPr lang="en-US" altLang="zh-CN" dirty="0"/>
              <a:t>no-write-allocate</a:t>
            </a:r>
            <a:r>
              <a:rPr lang="zh-CN" altLang="en-US" dirty="0"/>
              <a:t>）？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325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294A5-D9E9-1C5F-C2DB-5B415DE1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78DD6-D24F-C742-DAFB-5EA2F61B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一般情况 </a:t>
            </a:r>
            <a:r>
              <a:rPr lang="en-US" altLang="zh-CN" dirty="0"/>
              <a:t>– </a:t>
            </a:r>
            <a:r>
              <a:rPr lang="zh-CN" altLang="en-US" dirty="0"/>
              <a:t>写入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C2DC22-57AA-A3DB-6285-9613A20E2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更好地利用</a:t>
            </a:r>
            <a:r>
              <a:rPr lang="en-US" altLang="zh-CN" dirty="0"/>
              <a:t>Cache</a:t>
            </a:r>
          </a:p>
          <a:p>
            <a:r>
              <a:rPr lang="zh-CN" altLang="en-US" dirty="0"/>
              <a:t>选择</a:t>
            </a:r>
            <a:r>
              <a:rPr lang="en-US" altLang="zh-CN" dirty="0" err="1"/>
              <a:t>write-back+write-allocate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728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19B0-A756-EA35-7292-5C68F103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37A07-A1B3-A64D-84F9-270B947D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一般情况 </a:t>
            </a:r>
            <a:r>
              <a:rPr lang="en-US" altLang="zh-CN" dirty="0"/>
              <a:t>– </a:t>
            </a:r>
            <a:r>
              <a:rPr lang="zh-CN" altLang="en-US" dirty="0"/>
              <a:t>写入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CE984-F5AF-11E3-3B12-3541CE163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在每一行中添加一个</a:t>
            </a:r>
            <a:r>
              <a:rPr lang="en-US" altLang="zh-CN" dirty="0"/>
              <a:t>dirty bit</a:t>
            </a:r>
            <a:r>
              <a:rPr lang="zh-CN" altLang="en-US" dirty="0"/>
              <a:t>（以标记是否需要写入内存）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write hit</a:t>
            </a:r>
            <a:r>
              <a:rPr lang="zh-CN" altLang="en-US" dirty="0"/>
              <a:t>时直接写入</a:t>
            </a:r>
            <a:r>
              <a:rPr lang="en-US" altLang="zh-CN" dirty="0"/>
              <a:t>cache</a:t>
            </a:r>
            <a:r>
              <a:rPr lang="zh-CN" altLang="en-US" dirty="0"/>
              <a:t>，并将</a:t>
            </a:r>
            <a:r>
              <a:rPr lang="en-US" altLang="zh-CN" dirty="0"/>
              <a:t>dirty bit</a:t>
            </a:r>
            <a:r>
              <a:rPr lang="zh-CN" altLang="en-US" dirty="0"/>
              <a:t>置为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Miss</a:t>
            </a:r>
            <a:r>
              <a:rPr lang="zh-CN" altLang="en-US" dirty="0"/>
              <a:t>时先把对应的</a:t>
            </a:r>
            <a:r>
              <a:rPr lang="en-US" altLang="zh-CN" dirty="0"/>
              <a:t>block</a:t>
            </a:r>
            <a:r>
              <a:rPr lang="zh-CN" altLang="en-US" dirty="0"/>
              <a:t>读入</a:t>
            </a:r>
            <a:r>
              <a:rPr lang="en-US" altLang="zh-CN" dirty="0"/>
              <a:t>cache</a:t>
            </a:r>
            <a:r>
              <a:rPr lang="zh-CN" altLang="en-US" dirty="0"/>
              <a:t>，再写入数据，置</a:t>
            </a:r>
            <a:r>
              <a:rPr lang="en-US" altLang="zh-CN" dirty="0"/>
              <a:t>dirty bit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在交换时将整个块写入内存，并归零</a:t>
            </a:r>
            <a:r>
              <a:rPr lang="en-US" altLang="zh-CN" dirty="0"/>
              <a:t>dirty bit</a:t>
            </a:r>
          </a:p>
        </p:txBody>
      </p:sp>
    </p:spTree>
    <p:extLst>
      <p:ext uri="{BB962C8B-B14F-4D97-AF65-F5344CB8AC3E}">
        <p14:creationId xmlns:p14="http://schemas.microsoft.com/office/powerpoint/2010/main" val="323568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3C2AD-C4F1-C851-83D6-723A2523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221B8-F487-96A4-4FB2-CA19CC87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318DF-71F9-4EEB-02FC-637AA447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为什么使用中间的位作为查找</a:t>
            </a:r>
            <a:r>
              <a:rPr lang="en-US" altLang="zh-CN" dirty="0"/>
              <a:t>Set</a:t>
            </a:r>
            <a:r>
              <a:rPr lang="zh-CN" altLang="en-US" dirty="0"/>
              <a:t>的</a:t>
            </a:r>
            <a:r>
              <a:rPr lang="en-US" altLang="zh-CN" dirty="0"/>
              <a:t>index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1929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04C4-638F-0FBC-219E-233ADEE9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E0876-6621-1A30-91EC-70AC9536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921A9-8BAA-225F-7C1F-955FFADF4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为什么使用中间的位作为查找</a:t>
            </a:r>
            <a:r>
              <a:rPr lang="en-US" altLang="zh-CN" dirty="0"/>
              <a:t>Set</a:t>
            </a:r>
            <a:r>
              <a:rPr lang="zh-CN" altLang="en-US" dirty="0"/>
              <a:t>的</a:t>
            </a:r>
            <a:r>
              <a:rPr lang="en-US" altLang="zh-CN" dirty="0"/>
              <a:t>index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空间连续性强：选择高位作为</a:t>
            </a:r>
            <a:r>
              <a:rPr lang="en-US" altLang="zh-CN" dirty="0"/>
              <a:t>index</a:t>
            </a:r>
            <a:r>
              <a:rPr lang="zh-CN" altLang="en-US" dirty="0"/>
              <a:t>时，访问相邻元素易引发</a:t>
            </a:r>
            <a:r>
              <a:rPr lang="en-US" altLang="zh-CN" dirty="0"/>
              <a:t>Conflict Miss</a:t>
            </a:r>
            <a:r>
              <a:rPr lang="zh-CN" altLang="en-US" dirty="0"/>
              <a:t>，降低</a:t>
            </a:r>
            <a:r>
              <a:rPr lang="en-US" altLang="zh-CN" dirty="0"/>
              <a:t>Cache</a:t>
            </a:r>
            <a:r>
              <a:rPr lang="zh-CN" altLang="en-US" dirty="0"/>
              <a:t>效果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2053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24D4D-38AE-BE47-82B3-126A41857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intel i7</a:t>
            </a:r>
            <a:r>
              <a:rPr lang="zh-CN" altLang="en-US" dirty="0"/>
              <a:t>缓存结构分析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36AC91E-E3CD-34D4-299D-4231DC4BE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1750" y="1953313"/>
            <a:ext cx="6788499" cy="4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23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DC896-90B1-130C-C85B-DF9BC0931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Cache</a:t>
            </a:r>
            <a:r>
              <a:rPr lang="zh-CN" altLang="en-US" dirty="0"/>
              <a:t>性能指标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289B8-5CE2-6D7E-E886-88BBAA513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Miss Rate</a:t>
            </a:r>
            <a:r>
              <a:rPr lang="zh-CN" altLang="en-US" dirty="0"/>
              <a:t>：</a:t>
            </a:r>
            <a:r>
              <a:rPr lang="en-US" altLang="zh-CN" dirty="0"/>
              <a:t>Cache Miss</a:t>
            </a:r>
            <a:r>
              <a:rPr lang="zh-CN" altLang="en-US" dirty="0"/>
              <a:t>的比例</a:t>
            </a:r>
            <a:endParaRPr lang="en-US" altLang="zh-CN" dirty="0"/>
          </a:p>
          <a:p>
            <a:r>
              <a:rPr lang="en-US" altLang="zh-CN" dirty="0"/>
              <a:t>Hit Time</a:t>
            </a:r>
            <a:r>
              <a:rPr lang="zh-CN" altLang="en-US" dirty="0"/>
              <a:t>：</a:t>
            </a:r>
            <a:r>
              <a:rPr lang="en-US" altLang="zh-CN" dirty="0"/>
              <a:t>Cache Hit</a:t>
            </a:r>
            <a:r>
              <a:rPr lang="zh-CN" altLang="en-US" dirty="0"/>
              <a:t>时所需时钟周期数</a:t>
            </a:r>
            <a:endParaRPr lang="en-US" altLang="zh-CN" dirty="0"/>
          </a:p>
          <a:p>
            <a:r>
              <a:rPr lang="en-US" altLang="zh-CN" dirty="0"/>
              <a:t>Miss Penalty</a:t>
            </a:r>
            <a:r>
              <a:rPr lang="zh-CN" altLang="en-US" dirty="0"/>
              <a:t>：</a:t>
            </a:r>
            <a:r>
              <a:rPr lang="en-US" altLang="zh-CN" dirty="0"/>
              <a:t>Cache Miss</a:t>
            </a:r>
            <a:r>
              <a:rPr lang="zh-CN" altLang="en-US" dirty="0"/>
              <a:t>时带来的额外时间开销，可能在量级上与</a:t>
            </a:r>
            <a:r>
              <a:rPr lang="en-US" altLang="zh-CN" dirty="0"/>
              <a:t>Hit Time</a:t>
            </a:r>
            <a:r>
              <a:rPr lang="zh-CN" altLang="en-US" dirty="0"/>
              <a:t>有显著差异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040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BBC60-E1BD-BB79-BADE-E42EC09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示例程序分析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F9B5DFE-8EE0-6A46-96E1-71888AEBB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2224" y="1837899"/>
            <a:ext cx="46634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88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EC810-5A74-0D76-32D6-D5601E9D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The Memory Mountain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AA514F9-A212-B529-E936-5B4F0EF02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6643" y="1825625"/>
            <a:ext cx="6218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54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0CF39-3C87-AA04-B597-6D043D11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另一个例子：矩阵乘法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80A7C-C936-9AD7-45FB-303C25115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5875" cy="4351338"/>
          </a:xfrm>
        </p:spPr>
        <p:txBody>
          <a:bodyPr/>
          <a:lstStyle/>
          <a:p>
            <a:r>
              <a:rPr lang="zh-CN" altLang="en-US" dirty="0"/>
              <a:t>由于矩阵的行是连续存储的，在计算矩阵乘法时，若可以行遍历更多矩阵，则可以更好地利用局部性提升效率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3A852B-E04C-FE46-03AB-191E324CF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841" y="1842183"/>
            <a:ext cx="3435527" cy="21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1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5F0D-DDDE-8600-C0A9-A76EA364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D79FE-DD04-3F6F-07B0-6195F49C0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另一个例子：矩阵乘法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0F59AD-58B9-7873-68FC-0C3E80AFE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5875" cy="4351338"/>
          </a:xfrm>
        </p:spPr>
        <p:txBody>
          <a:bodyPr/>
          <a:lstStyle/>
          <a:p>
            <a:r>
              <a:rPr lang="zh-CN" altLang="en-US" dirty="0"/>
              <a:t>由于矩阵的行是连续存储的，在计算矩阵乘法时，若可以行遍历更多矩阵，则可以更好地利用局部性提升效率</a:t>
            </a:r>
            <a:endParaRPr lang="en-US" altLang="zh-CN" dirty="0"/>
          </a:p>
          <a:p>
            <a:r>
              <a:rPr lang="zh-CN" altLang="en-US" dirty="0"/>
              <a:t>经典方法：</a:t>
            </a:r>
            <a:r>
              <a:rPr lang="en-US" altLang="zh-CN" dirty="0"/>
              <a:t>A</a:t>
            </a:r>
            <a:r>
              <a:rPr lang="zh-CN" altLang="en-US" dirty="0"/>
              <a:t>的某一列逐元素乘以</a:t>
            </a:r>
            <a:r>
              <a:rPr lang="en-US" altLang="zh-CN" dirty="0"/>
              <a:t>B</a:t>
            </a:r>
            <a:r>
              <a:rPr lang="zh-CN" altLang="en-US" dirty="0"/>
              <a:t>的某一行，存入</a:t>
            </a:r>
            <a:r>
              <a:rPr lang="en-US" altLang="zh-CN" dirty="0"/>
              <a:t>C</a:t>
            </a:r>
            <a:r>
              <a:rPr lang="zh-CN" altLang="en-US" dirty="0"/>
              <a:t>的某一位置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63C63F-2161-7196-3BA6-5388E32CA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841" y="1842183"/>
            <a:ext cx="3435527" cy="21591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AE4D9A-4A5B-62B3-F73B-7D0BC771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536" y="4001294"/>
            <a:ext cx="3549832" cy="2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21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3495-3103-CAE4-B015-569616CD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EEFAB-F4FB-E791-2088-C3E1121C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另一个例子：矩阵乘法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62478E-75CE-4484-EC5A-485CE41C5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5875" cy="4351338"/>
          </a:xfrm>
        </p:spPr>
        <p:txBody>
          <a:bodyPr/>
          <a:lstStyle/>
          <a:p>
            <a:r>
              <a:rPr lang="zh-CN" altLang="en-US" dirty="0"/>
              <a:t>由于矩阵的行是连续存储的，在计算矩阵乘法时，若可以行遍历更多矩阵，则可以更好地利用局部性提升效率</a:t>
            </a:r>
            <a:endParaRPr lang="en-US" altLang="zh-CN" dirty="0"/>
          </a:p>
          <a:p>
            <a:r>
              <a:rPr lang="zh-CN" altLang="en-US" dirty="0"/>
              <a:t>糟糕的情况：把</a:t>
            </a:r>
            <a:r>
              <a:rPr lang="en-US" altLang="zh-CN" dirty="0"/>
              <a:t>B</a:t>
            </a:r>
            <a:r>
              <a:rPr lang="zh-CN" altLang="en-US" dirty="0"/>
              <a:t>的某一元素存起来，和</a:t>
            </a:r>
            <a:r>
              <a:rPr lang="en-US" altLang="zh-CN" dirty="0"/>
              <a:t>A</a:t>
            </a:r>
            <a:r>
              <a:rPr lang="zh-CN" altLang="en-US" dirty="0"/>
              <a:t>某一列元素分别向成并累加在</a:t>
            </a:r>
            <a:r>
              <a:rPr lang="en-US" altLang="zh-CN" dirty="0"/>
              <a:t>C</a:t>
            </a:r>
            <a:r>
              <a:rPr lang="zh-CN" altLang="en-US" dirty="0"/>
              <a:t>的某一行上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7A772E-6F8A-CB84-9728-66A3455AC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416" y="1825625"/>
            <a:ext cx="3914928" cy="22887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DA4AB5B-0BA0-4ED3-DD5C-EE22762A6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012" y="4041201"/>
            <a:ext cx="3779736" cy="213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59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94FB-537F-00B5-B66D-19E22BCB4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F824B-787F-D42B-0C95-202F9AEF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另一个例子：矩阵乘法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AA185-AB16-C268-00CC-FFA8C5E8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5875" cy="4351338"/>
          </a:xfrm>
        </p:spPr>
        <p:txBody>
          <a:bodyPr/>
          <a:lstStyle/>
          <a:p>
            <a:r>
              <a:rPr lang="zh-CN" altLang="en-US" dirty="0"/>
              <a:t>由于矩阵的行是连续存储的，在计算矩阵乘法时，若可以行遍历更多矩阵，则可以更好地利用局部性提升效率</a:t>
            </a:r>
            <a:endParaRPr lang="en-US" altLang="zh-CN" dirty="0"/>
          </a:p>
          <a:p>
            <a:r>
              <a:rPr lang="zh-CN" altLang="en-US" dirty="0"/>
              <a:t>一种优化：将</a:t>
            </a:r>
            <a:r>
              <a:rPr lang="en-US" altLang="zh-CN" dirty="0"/>
              <a:t>A</a:t>
            </a:r>
            <a:r>
              <a:rPr lang="zh-CN" altLang="en-US" dirty="0"/>
              <a:t>的某一个元素存入寄存器，并用其乘以</a:t>
            </a:r>
            <a:r>
              <a:rPr lang="en-US" altLang="zh-CN" dirty="0"/>
              <a:t>B</a:t>
            </a:r>
            <a:r>
              <a:rPr lang="zh-CN" altLang="en-US" dirty="0"/>
              <a:t>的某一行，累加在</a:t>
            </a:r>
            <a:r>
              <a:rPr lang="en-US" altLang="zh-CN" dirty="0"/>
              <a:t>C</a:t>
            </a:r>
            <a:r>
              <a:rPr lang="zh-CN" altLang="en-US" dirty="0"/>
              <a:t>的某一行上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387433-BE1A-8A00-7682-E42F759AD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959" y="1825625"/>
            <a:ext cx="3187864" cy="19304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36AAF2-3742-C5AB-13BC-43B28935A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384" y="3912085"/>
            <a:ext cx="3752592" cy="226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72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AAFE1-5980-2347-6515-244AE9028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miss</a:t>
            </a:r>
            <a:r>
              <a:rPr lang="zh-CN" altLang="en-US" dirty="0"/>
              <a:t>次数分析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53BB7-B382-B817-ABBA-0E7C6E9B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76291" cy="4351338"/>
          </a:xfrm>
        </p:spPr>
        <p:txBody>
          <a:bodyPr/>
          <a:lstStyle/>
          <a:p>
            <a:r>
              <a:rPr lang="zh-CN" altLang="en-US" dirty="0"/>
              <a:t>假设</a:t>
            </a:r>
            <a:r>
              <a:rPr lang="en-US" altLang="zh-CN" dirty="0"/>
              <a:t>Cache</a:t>
            </a:r>
            <a:r>
              <a:rPr lang="zh-CN" altLang="en-US" dirty="0"/>
              <a:t>每一</a:t>
            </a:r>
            <a:r>
              <a:rPr lang="en-US" altLang="zh-CN" dirty="0"/>
              <a:t>Block</a:t>
            </a:r>
            <a:r>
              <a:rPr lang="zh-CN" altLang="en-US" dirty="0"/>
              <a:t>可以存储</a:t>
            </a:r>
            <a:r>
              <a:rPr lang="en-US" altLang="zh-CN" dirty="0"/>
              <a:t>8</a:t>
            </a:r>
            <a:r>
              <a:rPr lang="zh-CN" altLang="en-US" dirty="0"/>
              <a:t>个矩阵元素</a:t>
            </a:r>
            <a:endParaRPr lang="en-US" altLang="zh-CN" dirty="0"/>
          </a:p>
          <a:p>
            <a:r>
              <a:rPr lang="zh-CN" altLang="en-US" dirty="0"/>
              <a:t>计算</a:t>
            </a:r>
            <a:r>
              <a:rPr lang="en-US" altLang="zh-CN" dirty="0"/>
              <a:t>C</a:t>
            </a:r>
            <a:r>
              <a:rPr lang="zh-CN" altLang="en-US" dirty="0"/>
              <a:t>的每一个位置需要</a:t>
            </a:r>
            <a:r>
              <a:rPr lang="en-US" altLang="zh-CN" dirty="0"/>
              <a:t>miss 9n/8</a:t>
            </a:r>
            <a:r>
              <a:rPr lang="zh-CN" altLang="en-US" dirty="0"/>
              <a:t>次</a:t>
            </a:r>
            <a:endParaRPr lang="en-US" altLang="zh-CN" dirty="0"/>
          </a:p>
          <a:p>
            <a:r>
              <a:rPr lang="zh-CN" altLang="en-US" dirty="0"/>
              <a:t>一共</a:t>
            </a:r>
            <a:r>
              <a:rPr lang="en-US" altLang="zh-CN" dirty="0"/>
              <a:t>9n^3/8</a:t>
            </a:r>
            <a:r>
              <a:rPr lang="zh-CN" altLang="en-US" dirty="0"/>
              <a:t>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E14B34-99A5-B729-F579-4B3744FD1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525" y="2209483"/>
            <a:ext cx="3600635" cy="11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43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1D588-9C1B-340B-2499-9F4A6ED7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一种解决方案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0B466E-CFB1-89E2-D559-CCED2AD4E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将矩阵分成</a:t>
            </a:r>
            <a:r>
              <a:rPr lang="en-US" altLang="zh-CN" dirty="0"/>
              <a:t>B*B</a:t>
            </a:r>
            <a:r>
              <a:rPr lang="zh-CN" altLang="en-US" dirty="0"/>
              <a:t>子矩阵</a:t>
            </a:r>
            <a:endParaRPr lang="en-US" altLang="zh-CN" dirty="0"/>
          </a:p>
          <a:p>
            <a:r>
              <a:rPr lang="en-US" altLang="zh-CN" dirty="0"/>
              <a:t>Miss</a:t>
            </a:r>
            <a:r>
              <a:rPr lang="zh-CN" altLang="en-US" dirty="0"/>
              <a:t>次数降低至</a:t>
            </a:r>
            <a:r>
              <a:rPr lang="en-US" altLang="zh-CN" dirty="0"/>
              <a:t>n^3/4B</a:t>
            </a:r>
          </a:p>
          <a:p>
            <a:r>
              <a:rPr lang="en-US" altLang="zh-CN" dirty="0"/>
              <a:t>(</a:t>
            </a:r>
            <a:r>
              <a:rPr lang="zh-CN" altLang="en-US" dirty="0"/>
              <a:t>此时</a:t>
            </a:r>
            <a:r>
              <a:rPr lang="en-US" altLang="zh-CN" dirty="0"/>
              <a:t>B</a:t>
            </a:r>
            <a:r>
              <a:rPr lang="zh-CN" altLang="en-US" dirty="0"/>
              <a:t>不能过大，否则可能超出</a:t>
            </a:r>
            <a:r>
              <a:rPr lang="en-US" altLang="zh-CN" dirty="0"/>
              <a:t>cache</a:t>
            </a:r>
            <a:r>
              <a:rPr lang="zh-CN" altLang="en-US" dirty="0"/>
              <a:t>大小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31AC58-5AA2-F973-18F1-BCB15FA5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246" y="4800522"/>
            <a:ext cx="4934204" cy="15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91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86A98-BA5E-91C1-3DAD-F6EC9EC9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2787B-9DE4-6820-4655-455F766F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一种解决方案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A14263-C2AE-9AF0-1AB5-C4E25413D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代码分析：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23980F-8853-5E10-A4A9-DF43D8496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785" y="2532193"/>
            <a:ext cx="6712295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48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796BF-5591-C43A-B40D-104E7DB15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感谢聆听！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D1FBE2-2AA1-6513-793E-47230E4A7C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48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1293</Words>
  <Application>Microsoft Office PowerPoint</Application>
  <PresentationFormat>宽屏</PresentationFormat>
  <Paragraphs>207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等线</vt:lpstr>
      <vt:lpstr>等线 Light</vt:lpstr>
      <vt:lpstr>Arial</vt:lpstr>
      <vt:lpstr>Office 主题​​</vt:lpstr>
      <vt:lpstr>ICS回课 13</vt:lpstr>
      <vt:lpstr>0.上一讲回顾：</vt:lpstr>
      <vt:lpstr>0.上一讲回顾</vt:lpstr>
      <vt:lpstr>0.上一讲回顾</vt:lpstr>
      <vt:lpstr>1.1 内存读写流程</vt:lpstr>
      <vt:lpstr>2.Cache结构</vt:lpstr>
      <vt:lpstr>2.1 直接映射</vt:lpstr>
      <vt:lpstr>2.1 直接映射</vt:lpstr>
      <vt:lpstr>2.1 直接映射</vt:lpstr>
      <vt:lpstr>2.1 直接映射</vt:lpstr>
      <vt:lpstr>2.2 组相联</vt:lpstr>
      <vt:lpstr>2.2 组相联</vt:lpstr>
      <vt:lpstr>2.2 组相联</vt:lpstr>
      <vt:lpstr>2.3 一般情况 – 读取</vt:lpstr>
      <vt:lpstr>2.3 一般情况 – 写入</vt:lpstr>
      <vt:lpstr>2.3 一般情况 – 写入</vt:lpstr>
      <vt:lpstr>2.3 一般情况 – 写入</vt:lpstr>
      <vt:lpstr>2.4 讨论</vt:lpstr>
      <vt:lpstr>2.4 讨论</vt:lpstr>
      <vt:lpstr>2.5 intel i7缓存结构分析</vt:lpstr>
      <vt:lpstr>2.6 Cache性能指标</vt:lpstr>
      <vt:lpstr>3.1 示例程序分析</vt:lpstr>
      <vt:lpstr>3.2 The Memory Mountain</vt:lpstr>
      <vt:lpstr>3.3 另一个例子：矩阵乘法</vt:lpstr>
      <vt:lpstr>3.3 另一个例子：矩阵乘法</vt:lpstr>
      <vt:lpstr>3.3 另一个例子：矩阵乘法</vt:lpstr>
      <vt:lpstr>3.3 另一个例子：矩阵乘法</vt:lpstr>
      <vt:lpstr>3.4 miss次数分析</vt:lpstr>
      <vt:lpstr>3.5 一种解决方案</vt:lpstr>
      <vt:lpstr>3.5 一种解决方案</vt:lpstr>
      <vt:lpstr>感谢聆听！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梓墨 郭</dc:creator>
  <cp:lastModifiedBy>梓墨 郭</cp:lastModifiedBy>
  <cp:revision>43</cp:revision>
  <dcterms:created xsi:type="dcterms:W3CDTF">2025-11-05T09:21:33Z</dcterms:created>
  <dcterms:modified xsi:type="dcterms:W3CDTF">2025-11-05T10:34:54Z</dcterms:modified>
</cp:coreProperties>
</file>