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65" r:id="rId5"/>
    <p:sldId id="267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Lec14 program optimization</a:t>
            </a:r>
            <a:br>
              <a:rPr lang="en-US" dirty="0"/>
            </a:br>
            <a:r>
              <a:rPr lang="zh-CN" altLang="en-US" dirty="0"/>
              <a:t>回课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6600"/>
              <a:t>Overview</a:t>
            </a:r>
            <a:endParaRPr lang="en-US" altLang="en-US" sz="66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7340"/>
            <a:ext cx="10515600" cy="4351338"/>
          </a:xfrm>
        </p:spPr>
        <p:txBody>
          <a:bodyPr/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3200">
                <a:sym typeface="+mn-ea"/>
              </a:rPr>
              <a:t>概述（为什么需要优化？）</a:t>
            </a:r>
            <a:endParaRPr lang="zh-CN" altLang="en-US" sz="3200"/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3200">
                <a:sym typeface="+mn-ea"/>
              </a:rPr>
              <a:t>通用优化方法</a:t>
            </a:r>
            <a:r>
              <a:rPr lang="en-US" altLang="en-US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（代码外提、强度削弱、公共子表达式）</a:t>
            </a:r>
            <a:endParaRPr lang="zh-CN" altLang="en-US" sz="3200"/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3200">
                <a:sym typeface="+mn-ea"/>
              </a:rPr>
              <a:t>优化障碍</a:t>
            </a:r>
            <a:r>
              <a:rPr lang="en-US" altLang="zh-CN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（编译器不敢优化的原因）</a:t>
            </a:r>
            <a:r>
              <a:rPr lang="en-US" altLang="en-US" sz="3200">
                <a:sym typeface="+mn-ea"/>
              </a:rPr>
              <a:t> </a:t>
            </a:r>
            <a:endParaRPr lang="en-US" altLang="en-US" sz="3200"/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3200">
                <a:sym typeface="+mn-ea"/>
              </a:rPr>
              <a:t>指令级并行</a:t>
            </a:r>
            <a:r>
              <a:rPr lang="en-US" altLang="zh-CN" sz="3200">
                <a:sym typeface="+mn-ea"/>
              </a:rPr>
              <a:t> </a:t>
            </a:r>
            <a:r>
              <a:rPr lang="zh-CN" altLang="en-US" sz="3200">
                <a:sym typeface="+mn-ea"/>
              </a:rPr>
              <a:t>（挖掘现代</a:t>
            </a:r>
            <a:r>
              <a:rPr lang="en-US" altLang="en-US" sz="3200">
                <a:sym typeface="+mn-ea"/>
              </a:rPr>
              <a:t>CPU</a:t>
            </a:r>
            <a:r>
              <a:rPr lang="zh-CN" altLang="en-US" sz="3200">
                <a:sym typeface="+mn-ea"/>
              </a:rPr>
              <a:t>的潜力）</a:t>
            </a:r>
            <a:r>
              <a:rPr lang="en-US" altLang="en-US" sz="3200">
                <a:sym typeface="+mn-ea"/>
              </a:rPr>
              <a:t> </a:t>
            </a:r>
            <a:endParaRPr lang="en-US" altLang="en-US" sz="3200"/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zh-CN" altLang="en-US" sz="3200">
                <a:sym typeface="+mn-ea"/>
              </a:rPr>
              <a:t>条件处理</a:t>
            </a:r>
            <a:r>
              <a:rPr lang="en-US" altLang="en-US" sz="3200">
                <a:sym typeface="+mn-ea"/>
              </a:rPr>
              <a:t>  </a:t>
            </a:r>
            <a:r>
              <a:rPr lang="zh-CN" altLang="en-US" sz="3200">
                <a:sym typeface="+mn-ea"/>
              </a:rPr>
              <a:t>（分支预测的影响）</a:t>
            </a:r>
            <a:endParaRPr lang="zh-CN" altLang="en-US" sz="3200"/>
          </a:p>
          <a:p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性能的现实（</a:t>
            </a:r>
            <a:r>
              <a:rPr lang="en-US" altLang="en-US"/>
              <a:t>Performance Realities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p>
            <a:pPr>
              <a:lnSpc>
                <a:spcPct val="160000"/>
              </a:lnSpc>
            </a:pPr>
            <a:r>
              <a:rPr lang="zh-CN" altLang="en-US" sz="3200"/>
              <a:t>算法复杂度不是全部，常数因子也很重要</a:t>
            </a:r>
            <a:endParaRPr lang="zh-CN" altLang="en-US" sz="3200"/>
          </a:p>
          <a:p>
            <a:pPr>
              <a:lnSpc>
                <a:spcPct val="160000"/>
              </a:lnSpc>
            </a:pPr>
            <a:r>
              <a:rPr lang="zh-CN" altLang="en-US" sz="3200"/>
              <a:t>相同算法，不同实现可能有</a:t>
            </a:r>
            <a:r>
              <a:rPr lang="en-US" altLang="en-US" sz="3200"/>
              <a:t>10</a:t>
            </a:r>
            <a:r>
              <a:rPr lang="zh-CN" altLang="en-US" sz="3200"/>
              <a:t>倍性能差</a:t>
            </a:r>
            <a:endParaRPr lang="zh-CN" altLang="en-US" sz="3200"/>
          </a:p>
          <a:p>
            <a:pPr>
              <a:lnSpc>
                <a:spcPct val="160000"/>
              </a:lnSpc>
            </a:pPr>
            <a:r>
              <a:rPr lang="zh-CN" altLang="en-US" sz="3200"/>
              <a:t>需要理解：编译器、处理器、内存系统</a:t>
            </a:r>
            <a:endParaRPr lang="zh-CN" altLang="en-US" sz="3200"/>
          </a:p>
          <a:p>
            <a:pPr>
              <a:lnSpc>
                <a:spcPct val="160000"/>
              </a:lnSpc>
            </a:pPr>
            <a:r>
              <a:rPr lang="zh-CN" altLang="en-US" sz="3200"/>
              <a:t>目标：提升性能同时保持代码质量</a:t>
            </a:r>
            <a:endParaRPr lang="zh-CN" altLang="en-US" sz="3200"/>
          </a:p>
          <a:p>
            <a:pPr marL="0" indent="0">
              <a:lnSpc>
                <a:spcPct val="160000"/>
              </a:lnSpc>
              <a:buNone/>
            </a:pPr>
            <a:r>
              <a:rPr lang="zh-CN" altLang="en-US" sz="3200"/>
              <a:t>算法复杂度不是性能的全部，常数因子往往起到决定性作用，而实际上看到相同算法却有</a:t>
            </a:r>
            <a:r>
              <a:rPr lang="en-US" altLang="en-US" sz="3200"/>
              <a:t>10</a:t>
            </a:r>
            <a:r>
              <a:rPr lang="zh-CN" altLang="en-US" sz="3200"/>
              <a:t>倍性能差距，就知道优化的重要性了</a:t>
            </a:r>
            <a:endParaRPr lang="zh-CN" altLang="en-US" sz="3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编译器优化（</a:t>
            </a:r>
            <a:r>
              <a:rPr lang="en-US" altLang="en-US"/>
              <a:t>Optimizing Compilers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>
              <a:lnSpc>
                <a:spcPct val="70000"/>
              </a:lnSpc>
              <a:buNone/>
            </a:pPr>
            <a:r>
              <a:rPr lang="zh-CN" altLang="en-US">
                <a:highlight>
                  <a:srgbClr val="FFFF00"/>
                </a:highlight>
              </a:rPr>
              <a:t>编译器能力：</a:t>
            </a:r>
            <a:endParaRPr lang="zh-CN" altLang="en-US">
              <a:highlight>
                <a:srgbClr val="FFFF00"/>
              </a:highlight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en-US"/>
              <a:t> ✓ </a:t>
            </a:r>
            <a:r>
              <a:rPr lang="zh-CN" altLang="en-US"/>
              <a:t>寄存器分配</a:t>
            </a:r>
            <a:endParaRPr lang="zh-CN" altLang="en-US"/>
          </a:p>
          <a:p>
            <a:pPr marL="0" indent="0">
              <a:lnSpc>
                <a:spcPct val="70000"/>
              </a:lnSpc>
              <a:buNone/>
            </a:pPr>
            <a:r>
              <a:rPr lang="en-US" altLang="en-US"/>
              <a:t> ✓ </a:t>
            </a:r>
            <a:r>
              <a:rPr lang="zh-CN" altLang="en-US"/>
              <a:t>指令调度</a:t>
            </a:r>
            <a:r>
              <a:rPr lang="en-US" altLang="en-US"/>
              <a:t> </a:t>
            </a:r>
            <a:endParaRPr lang="en-US" altLang="en-US"/>
          </a:p>
          <a:p>
            <a:pPr marL="0" indent="0">
              <a:lnSpc>
                <a:spcPct val="70000"/>
              </a:lnSpc>
              <a:buNone/>
            </a:pPr>
            <a:r>
              <a:rPr lang="en-US" altLang="en-US"/>
              <a:t> ✓ </a:t>
            </a:r>
            <a:r>
              <a:rPr lang="zh-CN" altLang="en-US"/>
              <a:t>死代码消除</a:t>
            </a:r>
            <a:endParaRPr lang="zh-CN" altLang="en-US"/>
          </a:p>
          <a:p>
            <a:pPr marL="0" indent="0">
              <a:lnSpc>
                <a:spcPct val="70000"/>
              </a:lnSpc>
              <a:buNone/>
            </a:pPr>
            <a:r>
              <a:rPr lang="zh-CN" altLang="en-US">
                <a:highlight>
                  <a:srgbClr val="FFFF00"/>
                </a:highlight>
              </a:rPr>
              <a:t>编译器局限：</a:t>
            </a:r>
            <a:r>
              <a:rPr lang="en-US" altLang="en-US">
                <a:highlight>
                  <a:srgbClr val="FFFF00"/>
                </a:highlight>
              </a:rPr>
              <a:t> </a:t>
            </a:r>
            <a:endParaRPr lang="en-US" altLang="en-US">
              <a:highlight>
                <a:srgbClr val="FFFF00"/>
              </a:highlight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en-US"/>
              <a:t>✗ </a:t>
            </a:r>
            <a:r>
              <a:rPr lang="zh-CN" altLang="en-US"/>
              <a:t>不能改变算法复杂度</a:t>
            </a:r>
            <a:r>
              <a:rPr lang="en-US" altLang="en-US"/>
              <a:t> </a:t>
            </a:r>
            <a:endParaRPr lang="en-US" altLang="en-US"/>
          </a:p>
          <a:p>
            <a:pPr marL="0" indent="0">
              <a:lnSpc>
                <a:spcPct val="70000"/>
              </a:lnSpc>
              <a:buNone/>
            </a:pPr>
            <a:r>
              <a:rPr lang="en-US" altLang="en-US"/>
              <a:t>✗ </a:t>
            </a:r>
            <a:r>
              <a:rPr lang="zh-CN" altLang="en-US"/>
              <a:t>受限于函数副作用</a:t>
            </a:r>
            <a:r>
              <a:rPr lang="en-US" altLang="en-US"/>
              <a:t> </a:t>
            </a:r>
            <a:endParaRPr lang="en-US" altLang="en-US"/>
          </a:p>
          <a:p>
            <a:pPr marL="0" indent="0">
              <a:lnSpc>
                <a:spcPct val="70000"/>
              </a:lnSpc>
              <a:buNone/>
            </a:pPr>
            <a:r>
              <a:rPr lang="en-US" altLang="en-US"/>
              <a:t>✗ </a:t>
            </a:r>
            <a:r>
              <a:rPr lang="zh-CN" altLang="en-US"/>
              <a:t>害怕内存别名</a:t>
            </a:r>
            <a:endParaRPr lang="zh-CN" altLang="en-US"/>
          </a:p>
          <a:p>
            <a:pPr marL="0" indent="0">
              <a:lnSpc>
                <a:spcPct val="70000"/>
              </a:lnSpc>
              <a:buNone/>
            </a:pPr>
            <a:r>
              <a:rPr lang="zh-CN" altLang="en-US"/>
              <a:t>编译器是第一道优化防线，但其设计本身就具有某种保守性，所以</a:t>
            </a:r>
            <a:endParaRPr lang="zh-CN" altLang="en-US"/>
          </a:p>
          <a:p>
            <a:pPr marL="0" indent="0">
              <a:lnSpc>
                <a:spcPct val="70000"/>
              </a:lnSpc>
              <a:buNone/>
            </a:pPr>
            <a:r>
              <a:rPr lang="zh-CN" altLang="en-US"/>
              <a:t>需要需要程序员弥补其不足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通用优化技术（</a:t>
            </a:r>
            <a:r>
              <a:rPr lang="en-US" altLang="en-US"/>
              <a:t>Generally Useful Optimizations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三种核心技巧：</a:t>
            </a:r>
            <a:endParaRPr lang="zh-CN" altLang="en-US"/>
          </a:p>
          <a:p>
            <a:pPr marL="514350" indent="-514350">
              <a:lnSpc>
                <a:spcPct val="180000"/>
              </a:lnSpc>
              <a:buAutoNum type="arabicPeriod"/>
            </a:pPr>
            <a:r>
              <a:rPr lang="zh-CN" altLang="en-US"/>
              <a:t>代码外提</a:t>
            </a:r>
            <a:r>
              <a:rPr lang="en-US" altLang="zh-CN"/>
              <a:t>=</a:t>
            </a:r>
            <a:r>
              <a:rPr lang="zh-CN" altLang="en-US"/>
              <a:t>把不变计算移出循环</a:t>
            </a:r>
            <a:r>
              <a:rPr lang="en-US" altLang="en-US"/>
              <a:t> </a:t>
            </a:r>
            <a:endParaRPr lang="en-US" altLang="en-US"/>
          </a:p>
          <a:p>
            <a:pPr marL="514350" indent="-514350">
              <a:lnSpc>
                <a:spcPct val="180000"/>
              </a:lnSpc>
              <a:buAutoNum type="arabicPeriod"/>
            </a:pPr>
            <a:r>
              <a:rPr lang="zh-CN" altLang="en-US"/>
              <a:t>强度削弱</a:t>
            </a:r>
            <a:r>
              <a:rPr lang="en-US" altLang="zh-CN"/>
              <a:t>=</a:t>
            </a:r>
            <a:r>
              <a:rPr lang="zh-CN" altLang="en-US"/>
              <a:t>用便宜操作代替昂贵操作</a:t>
            </a:r>
            <a:r>
              <a:rPr lang="en-US" altLang="en-US"/>
              <a:t> </a:t>
            </a:r>
            <a:endParaRPr lang="en-US" altLang="en-US"/>
          </a:p>
          <a:p>
            <a:pPr marL="514350" indent="-514350">
              <a:lnSpc>
                <a:spcPct val="180000"/>
              </a:lnSpc>
              <a:buAutoNum type="arabicPeriod"/>
            </a:pPr>
            <a:r>
              <a:rPr lang="zh-CN" altLang="en-US"/>
              <a:t>公共子表达式消除</a:t>
            </a:r>
            <a:r>
              <a:rPr lang="en-US" altLang="zh-CN"/>
              <a:t>=</a:t>
            </a:r>
            <a:r>
              <a:rPr lang="zh-CN" altLang="en-US"/>
              <a:t>避免重复计算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代码外提（</a:t>
            </a:r>
            <a:r>
              <a:rPr lang="en-US" altLang="en-US"/>
              <a:t>Code Motion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优化前</a:t>
            </a:r>
            <a:r>
              <a:rPr lang="en-US" altLang="zh-CN">
                <a:highlight>
                  <a:srgbClr val="FFFF00"/>
                </a:highlight>
              </a:rPr>
              <a:t> </a:t>
            </a:r>
            <a:endParaRPr lang="en-US" altLang="zh-CN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en-US"/>
              <a:t>for (j = 0; j &lt; n; j++)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a[n*i + j] = b[j];</a:t>
            </a:r>
            <a:endParaRPr lang="en-US" altLang="en-US"/>
          </a:p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优化后</a:t>
            </a:r>
            <a:endParaRPr lang="zh-CN" altLang="en-US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en-US"/>
              <a:t>int ni = n * i;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(j = 0; j &lt; n; j++)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a[ni + j] = b[j];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zh-CN" altLang="en-US"/>
              <a:t>将循环中不变的计算移到循环外部，这里的例子</a:t>
            </a:r>
            <a:r>
              <a:rPr lang="zh-CN" altLang="en-US"/>
              <a:t>就是把</a:t>
            </a:r>
            <a:r>
              <a:rPr lang="en-US" altLang="en-US"/>
              <a:t>n*i</a:t>
            </a:r>
            <a:r>
              <a:rPr lang="zh-CN" altLang="en-US"/>
              <a:t>从循环中提出来，减少了</a:t>
            </a:r>
            <a:r>
              <a:rPr lang="en-US" altLang="en-US"/>
              <a:t>O(n)</a:t>
            </a:r>
            <a:r>
              <a:rPr lang="zh-CN" altLang="en-US"/>
              <a:t>次乘法运算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强度削弱（</a:t>
            </a:r>
            <a:r>
              <a:rPr lang="en-US" altLang="en-US"/>
              <a:t>Strength Reduction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替换规则</a:t>
            </a:r>
            <a:r>
              <a:rPr lang="en-US" altLang="zh-CN">
                <a:highlight>
                  <a:srgbClr val="FFFF00"/>
                </a:highlight>
              </a:rPr>
              <a:t>:</a:t>
            </a:r>
            <a:endParaRPr lang="en-US" altLang="zh-CN">
              <a:highlight>
                <a:srgbClr val="FFFF00"/>
              </a:highlight>
            </a:endParaRPr>
          </a:p>
          <a:p>
            <a:pPr>
              <a:lnSpc>
                <a:spcPct val="130000"/>
              </a:lnSpc>
            </a:pPr>
            <a:r>
              <a:rPr lang="en-US" altLang="en-US"/>
              <a:t>16 * x → x &lt;&lt; 4</a:t>
            </a:r>
            <a:endParaRPr lang="en-US" altLang="en-US"/>
          </a:p>
          <a:p>
            <a:pPr>
              <a:lnSpc>
                <a:spcPct val="130000"/>
              </a:lnSpc>
            </a:pPr>
            <a:r>
              <a:rPr lang="en-US" altLang="en-US"/>
              <a:t>x / 8 → x &gt;&gt; 3</a:t>
            </a:r>
            <a:endParaRPr lang="en-US" altLang="en-US"/>
          </a:p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适用场景</a:t>
            </a:r>
            <a:r>
              <a:rPr lang="en-US" altLang="zh-CN">
                <a:highlight>
                  <a:srgbClr val="FFFF00"/>
                </a:highlight>
              </a:rPr>
              <a:t>:</a:t>
            </a:r>
            <a:endParaRPr lang="en-US" altLang="zh-CN">
              <a:highlight>
                <a:srgbClr val="FFFF00"/>
              </a:highlight>
            </a:endParaRPr>
          </a:p>
          <a:p>
            <a:pPr>
              <a:lnSpc>
                <a:spcPct val="130000"/>
              </a:lnSpc>
            </a:pPr>
            <a:r>
              <a:rPr lang="zh-CN" altLang="en-US"/>
              <a:t>乘除法指令较贵的平台</a:t>
            </a:r>
            <a:endParaRPr lang="zh-CN" altLang="en-US"/>
          </a:p>
          <a:p>
            <a:pPr>
              <a:lnSpc>
                <a:spcPct val="130000"/>
              </a:lnSpc>
            </a:pPr>
            <a:r>
              <a:rPr lang="zh-CN" altLang="en-US"/>
              <a:t>循环中的连续计算</a:t>
            </a:r>
            <a:endParaRPr lang="zh-CN" altLang="en-US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/>
              <a:t>其核心思想</a:t>
            </a:r>
            <a:r>
              <a:rPr lang="zh-CN" altLang="en-US"/>
              <a:t>就是用计算代价更低的操作替代昂贵操作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共享公共子表达式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520"/>
          </a:xfrm>
        </p:spPr>
        <p:txBody>
          <a:bodyPr>
            <a:normAutofit fontScale="90000" lnSpcReduction="20000"/>
          </a:bodyPr>
          <a:p>
            <a:pPr marL="0" indent="0">
              <a:lnSpc>
                <a:spcPct val="110000"/>
              </a:lnSpc>
              <a:buNone/>
            </a:pPr>
            <a:r>
              <a:rPr lang="zh-CN" altLang="en-US">
                <a:highlight>
                  <a:srgbClr val="FFFF00"/>
                </a:highlight>
              </a:rPr>
              <a:t>优化前：</a:t>
            </a:r>
            <a:br>
              <a:rPr lang="zh-CN" altLang="en-US">
                <a:highlight>
                  <a:srgbClr val="FFFF00"/>
                </a:highlight>
              </a:rPr>
            </a:br>
            <a:r>
              <a:rPr lang="en-US" altLang="en-US">
                <a:highlight>
                  <a:srgbClr val="FFFF00"/>
                </a:highlight>
              </a:rPr>
              <a:t>up = val[(i-1)*n + j];</a:t>
            </a:r>
            <a:endParaRPr lang="en-US" altLang="en-US">
              <a:highlight>
                <a:srgbClr val="FFFF00"/>
              </a:highlight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/>
              <a:t>down = val[(i+1)*n + j];</a:t>
            </a:r>
            <a:endParaRPr lang="en-US" altLang="en-US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/>
              <a:t>left = val[i*n + j-1];</a:t>
            </a:r>
            <a:endParaRPr lang="en-US" altLang="en-US"/>
          </a:p>
          <a:p>
            <a:pPr marL="0" indent="0">
              <a:lnSpc>
                <a:spcPct val="110000"/>
              </a:lnSpc>
              <a:buNone/>
            </a:pPr>
            <a:br>
              <a:rPr lang="en-US" altLang="en-US">
                <a:highlight>
                  <a:srgbClr val="FFFF00"/>
                </a:highlight>
              </a:rPr>
            </a:br>
            <a:r>
              <a:rPr lang="zh-CN" altLang="en-US">
                <a:highlight>
                  <a:srgbClr val="FFFF00"/>
                </a:highlight>
              </a:rPr>
              <a:t>优化后：</a:t>
            </a:r>
            <a:br>
              <a:rPr lang="en-US" altLang="en-US">
                <a:highlight>
                  <a:srgbClr val="FFFF00"/>
                </a:highlight>
              </a:rPr>
            </a:br>
            <a:r>
              <a:rPr lang="en-US" altLang="en-US">
                <a:highlight>
                  <a:srgbClr val="FFFF00"/>
                </a:highlight>
              </a:rPr>
              <a:t>long inj = i*n + j;</a:t>
            </a:r>
            <a:endParaRPr lang="en-US" altLang="en-US">
              <a:highlight>
                <a:srgbClr val="FFFF00"/>
              </a:highlight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en-US"/>
              <a:t>up = val[inj - n];</a:t>
            </a:r>
            <a:endParaRPr lang="en-US" altLang="en-US"/>
          </a:p>
          <a:p>
            <a:pPr marL="0" indent="0">
              <a:lnSpc>
                <a:spcPct val="110000"/>
              </a:lnSpc>
              <a:buNone/>
            </a:pPr>
            <a:r>
              <a:rPr lang="en-US" altLang="en-US"/>
              <a:t>down = val[inj + n];</a:t>
            </a:r>
            <a:br>
              <a:rPr lang="en-US" altLang="en-US">
                <a:highlight>
                  <a:srgbClr val="FFFF00"/>
                </a:highlight>
              </a:rPr>
            </a:br>
            <a:br>
              <a:rPr lang="en-US" altLang="en-US"/>
            </a:br>
            <a:r>
              <a:rPr lang="zh-CN" altLang="en-US"/>
              <a:t>把重复的</a:t>
            </a:r>
            <a:r>
              <a:rPr lang="en-US" altLang="en-US"/>
              <a:t>i*n</a:t>
            </a:r>
            <a:r>
              <a:rPr lang="zh-CN" altLang="en-US"/>
              <a:t>计算提取出来，</a:t>
            </a:r>
            <a:r>
              <a:rPr lang="en-US" altLang="en-US"/>
              <a:t>3</a:t>
            </a:r>
            <a:r>
              <a:rPr lang="zh-CN" altLang="en-US"/>
              <a:t>次乘法变成</a:t>
            </a:r>
            <a:r>
              <a:rPr lang="en-US" altLang="en-US"/>
              <a:t>1</a:t>
            </a:r>
            <a:r>
              <a:rPr lang="zh-CN" altLang="en-US"/>
              <a:t>次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优化障碍（</a:t>
            </a:r>
            <a:r>
              <a:rPr lang="en-US" altLang="en-US"/>
              <a:t>Optimization Blockers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lnSpc>
                <a:spcPct val="90000"/>
              </a:lnSpc>
              <a:buNone/>
            </a:pPr>
            <a:r>
              <a:rPr lang="zh-CN" altLang="en-US">
                <a:highlight>
                  <a:srgbClr val="FFFF00"/>
                </a:highlight>
              </a:rPr>
              <a:t>障碍</a:t>
            </a:r>
            <a:r>
              <a:rPr lang="en-US" altLang="zh-CN">
                <a:highlight>
                  <a:srgbClr val="FFFF00"/>
                </a:highlight>
              </a:rPr>
              <a:t>1-</a:t>
            </a:r>
            <a:r>
              <a:rPr lang="zh-CN" altLang="en-US">
                <a:highlight>
                  <a:srgbClr val="FFFF00"/>
                </a:highlight>
              </a:rPr>
              <a:t>过程调用</a:t>
            </a:r>
            <a:endParaRPr lang="en-US" altLang="zh-CN">
              <a:highlight>
                <a:srgbClr val="FFFF00"/>
              </a:highlight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/>
              <a:t>例子：循环中调用</a:t>
            </a:r>
            <a:r>
              <a:rPr lang="en-US" altLang="en-US"/>
              <a:t>strlen()</a:t>
            </a:r>
            <a:endParaRPr lang="en-US" altLang="en-US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/>
              <a:t>解决</a:t>
            </a:r>
            <a:r>
              <a:rPr lang="zh-CN" altLang="en-US"/>
              <a:t>方法：提前计算，移出循环</a:t>
            </a:r>
            <a:endParaRPr lang="en-US" altLang="zh-CN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>
                <a:highlight>
                  <a:srgbClr val="FFFF00"/>
                </a:highlight>
              </a:rPr>
              <a:t>障碍</a:t>
            </a:r>
            <a:r>
              <a:rPr lang="en-US" altLang="zh-CN">
                <a:highlight>
                  <a:srgbClr val="FFFF00"/>
                </a:highlight>
              </a:rPr>
              <a:t>2-</a:t>
            </a:r>
            <a:r>
              <a:rPr lang="zh-CN" altLang="en-US">
                <a:highlight>
                  <a:srgbClr val="FFFF00"/>
                </a:highlight>
              </a:rPr>
              <a:t>内存别名</a:t>
            </a:r>
            <a:endParaRPr lang="en-US" altLang="zh-CN">
              <a:highlight>
                <a:srgbClr val="FFFF00"/>
              </a:highlight>
            </a:endParaRPr>
          </a:p>
          <a:p>
            <a:pPr marL="0" indent="0">
              <a:lnSpc>
                <a:spcPct val="90000"/>
              </a:lnSpc>
              <a:buFont typeface="+mj-lt"/>
              <a:buNone/>
            </a:pPr>
            <a:r>
              <a:rPr lang="zh-CN" altLang="en-US"/>
              <a:t>不同指针指向同一内存</a:t>
            </a:r>
            <a:endParaRPr lang="zh-CN" altLang="en-US"/>
          </a:p>
          <a:p>
            <a:pPr marL="0" indent="0">
              <a:lnSpc>
                <a:spcPct val="90000"/>
              </a:lnSpc>
              <a:buFont typeface="+mj-lt"/>
              <a:buNone/>
            </a:pPr>
            <a:r>
              <a:rPr lang="zh-CN" altLang="en-US"/>
              <a:t>解决：使用局部变量</a:t>
            </a:r>
            <a:endParaRPr lang="zh-CN" altLang="en-US"/>
          </a:p>
          <a:p>
            <a:pPr marL="0" indent="0">
              <a:lnSpc>
                <a:spcPct val="90000"/>
              </a:lnSpc>
              <a:buNone/>
            </a:pPr>
            <a:endParaRPr lang="en-US" altLang="zh-CN"/>
          </a:p>
          <a:p>
            <a:pPr marL="0" indent="0">
              <a:lnSpc>
                <a:spcPct val="110000"/>
              </a:lnSpc>
              <a:buNone/>
            </a:pPr>
            <a:r>
              <a:rPr lang="zh-CN" altLang="en-US"/>
              <a:t>这些就是刚才说的让编译器变得保守不敢优化的情况，这时就需要程序员识别并手动解决这些优化障碍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过程调用阻塞优化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问题代码：</a:t>
            </a:r>
            <a:endParaRPr lang="zh-CN" altLang="en-US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en-US"/>
              <a:t>for (i = 0; i &lt; strlen(s); i++)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if (s[i] &gt;= 'A' &amp;&amp; s[i] &lt;= 'Z')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s[i] -= ('A' - 'a');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0">
              <a:lnSpc>
                <a:spcPct val="130000"/>
              </a:lnSpc>
              <a:buNone/>
            </a:pPr>
            <a:r>
              <a:rPr lang="en-US" altLang="en-US"/>
              <a:t>strlen</a:t>
            </a:r>
            <a:r>
              <a:rPr lang="zh-CN" altLang="en-US"/>
              <a:t>需要遍历整个字符串，在循环中调用就变成了</a:t>
            </a:r>
            <a:r>
              <a:rPr lang="en-US" altLang="en-US"/>
              <a:t>O(n²)</a:t>
            </a:r>
            <a:r>
              <a:rPr lang="zh-CN" altLang="en-US"/>
              <a:t>，解决办法就是</a:t>
            </a:r>
            <a:r>
              <a:rPr lang="zh-CN" altLang="en-US">
                <a:sym typeface="+mn-ea"/>
              </a:rPr>
              <a:t>把</a:t>
            </a:r>
            <a:r>
              <a:rPr lang="en-US" altLang="en-US">
                <a:sym typeface="+mn-ea"/>
              </a:rPr>
              <a:t>strlen</a:t>
            </a:r>
            <a:r>
              <a:rPr lang="zh-CN" altLang="en-US">
                <a:sym typeface="+mn-ea"/>
              </a:rPr>
              <a:t>移出循环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内存别名（</a:t>
            </a:r>
            <a:r>
              <a:rPr lang="en-US" altLang="en-US"/>
              <a:t>Memory Aliasing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问题场景：</a:t>
            </a:r>
            <a:endParaRPr lang="zh-CN" altLang="en-US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en-US"/>
              <a:t>double B[3] = A+3;  // B</a:t>
            </a:r>
            <a:r>
              <a:rPr lang="zh-CN" altLang="en-US"/>
              <a:t>指向</a:t>
            </a:r>
            <a:r>
              <a:rPr lang="en-US" altLang="en-US"/>
              <a:t>A</a:t>
            </a:r>
            <a:r>
              <a:rPr lang="zh-CN" altLang="en-US"/>
              <a:t>的一部分</a:t>
            </a:r>
            <a:endParaRPr lang="zh-CN" altLang="en-US"/>
          </a:p>
          <a:p>
            <a:pPr marL="0" indent="0">
              <a:buNone/>
            </a:pPr>
            <a:r>
              <a:rPr lang="en-US" altLang="en-US"/>
              <a:t>sum_rows1(A, B, 3); // A</a:t>
            </a:r>
            <a:r>
              <a:rPr lang="zh-CN" altLang="en-US"/>
              <a:t>和</a:t>
            </a:r>
            <a:r>
              <a:rPr lang="en-US" altLang="en-US"/>
              <a:t>B</a:t>
            </a:r>
            <a:r>
              <a:rPr lang="zh-CN" altLang="en-US"/>
              <a:t>有重叠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编译器困境</a:t>
            </a:r>
            <a:r>
              <a:rPr lang="en-US" altLang="zh-CN">
                <a:highlight>
                  <a:srgbClr val="FFFF00"/>
                </a:highlight>
              </a:rPr>
              <a:t>: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zh-CN" altLang="en-US"/>
              <a:t>不知道</a:t>
            </a:r>
            <a:r>
              <a:rPr lang="en-US" altLang="en-US"/>
              <a:t>b[i]</a:t>
            </a:r>
            <a:r>
              <a:rPr lang="zh-CN" altLang="en-US"/>
              <a:t>是否指向</a:t>
            </a:r>
            <a:r>
              <a:rPr lang="en-US" altLang="en-US"/>
              <a:t>a</a:t>
            </a:r>
            <a:r>
              <a:rPr lang="zh-CN" altLang="en-US"/>
              <a:t>的某个元素</a:t>
            </a:r>
            <a:endParaRPr lang="zh-CN" altLang="en-US"/>
          </a:p>
          <a:p>
            <a:r>
              <a:rPr lang="zh-CN" altLang="en-US"/>
              <a:t>不敢优化存储操作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解决：</a:t>
            </a:r>
            <a:r>
              <a:rPr lang="en-US" altLang="en-US"/>
              <a:t> </a:t>
            </a:r>
            <a:r>
              <a:rPr lang="zh-CN" altLang="en-US"/>
              <a:t>使用局部变量累积结果，明确告诉编译器没有别名问题</a:t>
            </a:r>
            <a:endParaRPr lang="zh-CN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利用指令级并行（</a:t>
            </a:r>
            <a:r>
              <a:rPr lang="en-US" altLang="en-US"/>
              <a:t>ILP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marL="0" indent="0">
              <a:lnSpc>
                <a:spcPct val="90000"/>
              </a:lnSpc>
              <a:buNone/>
            </a:pPr>
            <a:r>
              <a:rPr lang="zh-CN" altLang="en-US">
                <a:highlight>
                  <a:srgbClr val="FFFF00"/>
                </a:highlight>
              </a:rPr>
              <a:t>现代</a:t>
            </a:r>
            <a:r>
              <a:rPr lang="en-US" altLang="en-US">
                <a:highlight>
                  <a:srgbClr val="FFFF00"/>
                </a:highlight>
              </a:rPr>
              <a:t>CPU</a:t>
            </a:r>
            <a:r>
              <a:rPr lang="zh-CN" altLang="en-US">
                <a:highlight>
                  <a:srgbClr val="FFFF00"/>
                </a:highlight>
              </a:rPr>
              <a:t>特性：</a:t>
            </a:r>
            <a:endParaRPr lang="zh-CN" altLang="en-US">
              <a:highlight>
                <a:srgbClr val="FFFF00"/>
              </a:highlight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/>
              <a:t>超标量架构（同时执行多条指令）</a:t>
            </a:r>
            <a:endParaRPr lang="zh-CN" altLang="en-US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/>
              <a:t>流水线（重叠执行不同阶段）</a:t>
            </a:r>
            <a:endParaRPr lang="zh-CN" altLang="en-US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/>
              <a:t>多功能单元（并行工作）</a:t>
            </a:r>
            <a:endParaRPr lang="zh-CN" altLang="en-US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>
                <a:highlight>
                  <a:srgbClr val="FFFF00"/>
                </a:highlight>
              </a:rPr>
              <a:t>优化目标：</a:t>
            </a:r>
            <a:endParaRPr lang="zh-CN" altLang="en-US">
              <a:highlight>
                <a:srgbClr val="FFFF00"/>
              </a:highlight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zh-CN" altLang="en-US"/>
              <a:t>打破数据依赖</a:t>
            </a:r>
            <a:endParaRPr lang="zh-CN" altLang="en-US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/>
              <a:t>提高指令吞吐量</a:t>
            </a:r>
            <a:endParaRPr lang="zh-CN" altLang="en-US"/>
          </a:p>
          <a:p>
            <a:pPr marL="0" indent="0">
              <a:lnSpc>
                <a:spcPct val="90000"/>
              </a:lnSpc>
              <a:buNone/>
            </a:pPr>
            <a:endParaRPr lang="zh-CN" altLang="en-US"/>
          </a:p>
          <a:p>
            <a:pPr marL="0" indent="0">
              <a:lnSpc>
                <a:spcPct val="90000"/>
              </a:lnSpc>
              <a:buNone/>
            </a:pPr>
            <a:r>
              <a:rPr lang="zh-CN" altLang="en-US"/>
              <a:t>可类比成现代</a:t>
            </a:r>
            <a:r>
              <a:rPr lang="en-US" altLang="en-US"/>
              <a:t>CPU</a:t>
            </a:r>
            <a:r>
              <a:rPr lang="zh-CN" altLang="en-US"/>
              <a:t>就像多车道高速公路，我们要让车流顺畅而不是堵车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循环展开（</a:t>
            </a:r>
            <a:r>
              <a:rPr lang="en-US" altLang="en-US"/>
              <a:t>Loop Unrolling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>
                <a:highlight>
                  <a:srgbClr val="FFFF00"/>
                </a:highlight>
              </a:rPr>
              <a:t>2x1</a:t>
            </a:r>
            <a:r>
              <a:rPr lang="zh-CN" altLang="en-US">
                <a:highlight>
                  <a:srgbClr val="FFFF00"/>
                </a:highlight>
              </a:rPr>
              <a:t>展开：</a:t>
            </a:r>
            <a:endParaRPr lang="zh-CN" altLang="en-US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en-US"/>
              <a:t>for (i = 0; i &lt; limit; i+=2) 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x = (x OP d[i]) OP d[i+1];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效果：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/>
              <a:t>减少循环开销</a:t>
            </a:r>
            <a:endParaRPr lang="zh-CN" altLang="en-US"/>
          </a:p>
          <a:p>
            <a:r>
              <a:rPr lang="zh-CN" altLang="en-US"/>
              <a:t>增加并行机会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每次迭代处理多个数据元素，但这样还是顺序依赖，我们需要更进一步优化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重新结合（</a:t>
            </a:r>
            <a:r>
              <a:rPr lang="en-US" altLang="en-US"/>
              <a:t>Reassociation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可改变运算结合顺序来打破数据依赖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改变结合顺序：</a:t>
            </a:r>
            <a:endParaRPr lang="zh-CN" altLang="en-US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en-US"/>
              <a:t>// </a:t>
            </a:r>
            <a:r>
              <a:rPr lang="zh-CN" altLang="en-US"/>
              <a:t>之前：顺序依赖</a:t>
            </a:r>
            <a:endParaRPr lang="zh-CN" altLang="en-US"/>
          </a:p>
          <a:p>
            <a:pPr marL="0" indent="0">
              <a:buNone/>
            </a:pPr>
            <a:r>
              <a:rPr lang="en-US" altLang="en-US"/>
              <a:t>x = (x OP d[i]) OP d[i+1];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// </a:t>
            </a:r>
            <a:r>
              <a:rPr lang="zh-CN" altLang="en-US"/>
              <a:t>之后：打破依赖</a:t>
            </a:r>
            <a:endParaRPr lang="zh-CN" altLang="en-US"/>
          </a:p>
          <a:p>
            <a:pPr marL="0" indent="0">
              <a:buNone/>
            </a:pPr>
            <a:r>
              <a:rPr lang="en-US" altLang="en-US"/>
              <a:t>x = x OP (d[i] OP d[i+1]);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CPE</a:t>
            </a:r>
            <a:r>
              <a:rPr lang="zh-CN" altLang="en-US"/>
              <a:t>从</a:t>
            </a:r>
            <a:r>
              <a:rPr lang="en-US" altLang="en-US"/>
              <a:t>3.01</a:t>
            </a:r>
            <a:r>
              <a:rPr lang="zh-CN" altLang="en-US"/>
              <a:t>降到</a:t>
            </a:r>
            <a:r>
              <a:rPr lang="en-US" altLang="en-US"/>
              <a:t>1.51</a:t>
            </a:r>
            <a:r>
              <a:rPr lang="zh-CN" altLang="en-US"/>
              <a:t>！（</a:t>
            </a:r>
            <a:r>
              <a:rPr lang="en-US" altLang="en-US"/>
              <a:t>2</a:t>
            </a:r>
            <a:r>
              <a:rPr lang="zh-CN" altLang="en-US"/>
              <a:t>倍加速），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多累加器（</a:t>
            </a:r>
            <a:r>
              <a:rPr lang="en-US" altLang="en-US"/>
              <a:t>Separate Accumulators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创建多个独立的计算流水线</a:t>
            </a:r>
            <a:endParaRPr lang="zh-CN" altLang="en-US"/>
          </a:p>
          <a:p>
            <a:pPr marL="0" indent="0">
              <a:buNone/>
            </a:pPr>
            <a:r>
              <a:rPr lang="en-US" altLang="en-US">
                <a:highlight>
                  <a:srgbClr val="FFFF00"/>
                </a:highlight>
              </a:rPr>
              <a:t>2x2</a:t>
            </a:r>
            <a:r>
              <a:rPr lang="zh-CN" altLang="en-US">
                <a:highlight>
                  <a:srgbClr val="FFFF00"/>
                </a:highlight>
              </a:rPr>
              <a:t>展开：</a:t>
            </a:r>
            <a:endParaRPr lang="zh-CN" altLang="en-US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en-US"/>
              <a:t>x0 = x0 OP d[i];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x1 = x1 OP d[i+1];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// ...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*dest = x0 OP x1;</a:t>
            </a:r>
            <a:endParaRPr lang="en-US" altLang="en-US"/>
          </a:p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达到效果：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/>
              <a:t>创建两个独立计算流</a:t>
            </a:r>
            <a:endParaRPr lang="zh-CN" altLang="en-US"/>
          </a:p>
          <a:p>
            <a:r>
              <a:rPr lang="zh-CN" altLang="en-US"/>
              <a:t>充分利用</a:t>
            </a:r>
            <a:r>
              <a:rPr lang="en-US" altLang="en-US"/>
              <a:t>CPU</a:t>
            </a:r>
            <a:r>
              <a:rPr lang="zh-CN" altLang="en-US"/>
              <a:t>功能单元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SIMD</a:t>
            </a:r>
            <a:r>
              <a:rPr lang="zh-CN" altLang="en-US"/>
              <a:t>优化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/>
              <a:t>利用现代处理器的向量指令集</a:t>
            </a:r>
            <a:endParaRPr lang="zh-CN" altLang="en-US"/>
          </a:p>
          <a:p>
            <a:pPr marL="0" indent="0">
              <a:buNone/>
            </a:pPr>
            <a:r>
              <a:rPr lang="en-US" altLang="en-US">
                <a:highlight>
                  <a:srgbClr val="FFFF00"/>
                </a:highlight>
              </a:rPr>
              <a:t>SIMD</a:t>
            </a:r>
            <a:r>
              <a:rPr lang="zh-CN" altLang="en-US">
                <a:highlight>
                  <a:srgbClr val="FFFF00"/>
                </a:highlight>
              </a:rPr>
              <a:t>优势：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/>
              <a:t>单指令处理多数据</a:t>
            </a:r>
            <a:endParaRPr lang="en-US" altLang="en-US"/>
          </a:p>
          <a:p>
            <a:r>
              <a:rPr lang="en-US" altLang="en-US"/>
              <a:t>AVX2</a:t>
            </a:r>
            <a:r>
              <a:rPr lang="zh-CN" altLang="en-US"/>
              <a:t>寄存器：</a:t>
            </a:r>
            <a:r>
              <a:rPr lang="en-US" altLang="en-US"/>
              <a:t>256</a:t>
            </a:r>
            <a:r>
              <a:rPr lang="zh-CN" altLang="en-US"/>
              <a:t>位，</a:t>
            </a:r>
            <a:r>
              <a:rPr lang="en-US" altLang="en-US"/>
              <a:t>8</a:t>
            </a:r>
            <a:r>
              <a:rPr lang="zh-CN" altLang="en-US"/>
              <a:t>个单精度浮点</a:t>
            </a:r>
            <a:endParaRPr lang="en-US" altLang="en-US"/>
          </a:p>
          <a:p>
            <a:r>
              <a:rPr lang="zh-CN" altLang="en-US"/>
              <a:t>大幅提升数据并行性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性能提升：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/>
              <a:t>整数加法：</a:t>
            </a:r>
            <a:r>
              <a:rPr lang="en-US" altLang="en-US"/>
              <a:t>0.54 → 0.06 CPE</a:t>
            </a:r>
            <a:endParaRPr lang="en-US" altLang="en-US"/>
          </a:p>
          <a:p>
            <a:r>
              <a:rPr lang="zh-CN" altLang="en-US"/>
              <a:t>浮点乘法：</a:t>
            </a:r>
            <a:r>
              <a:rPr lang="en-US" altLang="en-US"/>
              <a:t>0.52 → 0.16 CPE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处理条件分支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好的分支预测的准确性直接影响流水线效率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分支预测机制：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/>
              <a:t>预测分支方向继续执行</a:t>
            </a:r>
            <a:endParaRPr lang="en-US" altLang="en-US"/>
          </a:p>
          <a:p>
            <a:r>
              <a:rPr lang="zh-CN" altLang="en-US"/>
              <a:t>预测正确：无缝继续</a:t>
            </a:r>
            <a:endParaRPr lang="en-US" altLang="en-US"/>
          </a:p>
          <a:p>
            <a:r>
              <a:rPr lang="zh-CN" altLang="en-US"/>
              <a:t>预测错误：清空流水线（</a:t>
            </a:r>
            <a:r>
              <a:rPr lang="en-US" altLang="en-US"/>
              <a:t>10-20</a:t>
            </a:r>
            <a:r>
              <a:rPr lang="zh-CN" altLang="en-US"/>
              <a:t>周期惩罚）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highlight>
                  <a:srgbClr val="FFFF00"/>
                </a:highlight>
              </a:rPr>
              <a:t>编写友好代码：</a:t>
            </a:r>
            <a:endParaRPr lang="zh-CN" altLang="en-US">
              <a:highlight>
                <a:srgbClr val="FFFF00"/>
              </a:highlight>
            </a:endParaRPr>
          </a:p>
          <a:p>
            <a:r>
              <a:rPr lang="zh-CN" altLang="en-US"/>
              <a:t>使用可预测分支模式</a:t>
            </a:r>
            <a:endParaRPr lang="zh-CN" altLang="en-US"/>
          </a:p>
          <a:p>
            <a:r>
              <a:rPr lang="zh-CN" altLang="en-US"/>
              <a:t>避免随机数据分支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2106</Words>
  <Application>WPS Presentation</Application>
  <PresentationFormat>Widescreen</PresentationFormat>
  <Paragraphs>174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ivor lai</cp:lastModifiedBy>
  <cp:revision>4</cp:revision>
  <dcterms:created xsi:type="dcterms:W3CDTF">2025-07-23T00:59:00Z</dcterms:created>
  <dcterms:modified xsi:type="dcterms:W3CDTF">2025-11-05T09:22:05Z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949A0809919145398878C1B96979D66A_11</vt:lpwstr>
  </property>
  <property fmtid="{D5CDD505-2E9C-101B-9397-08002B2CF9AE}" pid="3" name="KSOProductBuildVer">
    <vt:lpwstr>1033-12.2.0.23155</vt:lpwstr>
  </property>
</Properties>
</file>