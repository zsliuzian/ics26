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89" r:id="rId6"/>
    <p:sldId id="288" r:id="rId7"/>
    <p:sldId id="290" r:id="rId8"/>
    <p:sldId id="291" r:id="rId9"/>
    <p:sldId id="292" r:id="rId10"/>
    <p:sldId id="261" r:id="rId11"/>
    <p:sldId id="262" r:id="rId12"/>
    <p:sldId id="263" r:id="rId13"/>
    <p:sldId id="293" r:id="rId14"/>
    <p:sldId id="294" r:id="rId15"/>
    <p:sldId id="295" r:id="rId16"/>
    <p:sldId id="264" r:id="rId17"/>
    <p:sldId id="296" r:id="rId18"/>
    <p:sldId id="297" r:id="rId19"/>
    <p:sldId id="298" r:id="rId20"/>
    <p:sldId id="299" r:id="rId21"/>
    <p:sldId id="300" r:id="rId22"/>
    <p:sldId id="301" r:id="rId23"/>
    <p:sldId id="302" r:id="rId24"/>
    <p:sldId id="265" r:id="rId25"/>
    <p:sldId id="303" r:id="rId26"/>
    <p:sldId id="304" r:id="rId27"/>
    <p:sldId id="28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39" y="2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6D582C-0EAC-390A-4F33-01377CA3AC8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DC84F2E-3740-2FE2-8F03-A3748B4D97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C7B076-D62A-724B-B003-6FD4C704F5E4}"/>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5" name="页脚占位符 4">
            <a:extLst>
              <a:ext uri="{FF2B5EF4-FFF2-40B4-BE49-F238E27FC236}">
                <a16:creationId xmlns:a16="http://schemas.microsoft.com/office/drawing/2014/main" id="{7A9ADB19-0F12-02E9-AAEE-8ACDEBDFCA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DC3E2B-0D8A-BE32-808F-F741DBB0B276}"/>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3122065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711931-D752-1393-A8E8-ED19185A32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2836A7A-D5FC-2A9E-A9D7-0F2E6FAABAE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631D8D-8DCA-DD08-8588-84E6DA09AE59}"/>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5" name="页脚占位符 4">
            <a:extLst>
              <a:ext uri="{FF2B5EF4-FFF2-40B4-BE49-F238E27FC236}">
                <a16:creationId xmlns:a16="http://schemas.microsoft.com/office/drawing/2014/main" id="{F9788558-1D84-3341-6559-21D2BF0C35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6481E4-AB4C-4765-039B-FC70B13A88D5}"/>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3672093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7EE295-71A9-B62C-23C4-EC7529005E8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B416740-FF47-1D8A-1CA9-F7504CAC15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661008D-1057-24B0-638B-97296A1D0A5A}"/>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5" name="页脚占位符 4">
            <a:extLst>
              <a:ext uri="{FF2B5EF4-FFF2-40B4-BE49-F238E27FC236}">
                <a16:creationId xmlns:a16="http://schemas.microsoft.com/office/drawing/2014/main" id="{176C9872-F6AD-B27D-90AA-2D827F88F04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A230AC-5FAB-D21F-A5F3-0A5B70B425FB}"/>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3479712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1CA127-0978-D4A5-9955-3C90B82865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17A417A-63F5-98D8-D880-274DD59C534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A0AE51F-899A-EFF6-30CC-E0D5700CCC1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66ABB69-619F-06B0-20A6-9D92F3BCD5F0}"/>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6" name="页脚占位符 5">
            <a:extLst>
              <a:ext uri="{FF2B5EF4-FFF2-40B4-BE49-F238E27FC236}">
                <a16:creationId xmlns:a16="http://schemas.microsoft.com/office/drawing/2014/main" id="{321E145D-B428-D494-DD01-C3E7C51FCB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08514F3-2F17-8783-DCED-0F2C6E7BC3BC}"/>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1120228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E369B9-FBDA-39E4-4783-EB43BC06819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62E12CA-7D53-C699-890E-CF62E973E5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83F547F-D99B-CCD9-15E5-86EB341D490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798551B-535D-FC2E-CDB0-F9B16FA26E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9ACD4FE-DF34-5254-4D9B-76C0551F686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3ECADA4-EAD4-46BA-8944-07EA133E4547}"/>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8" name="页脚占位符 7">
            <a:extLst>
              <a:ext uri="{FF2B5EF4-FFF2-40B4-BE49-F238E27FC236}">
                <a16:creationId xmlns:a16="http://schemas.microsoft.com/office/drawing/2014/main" id="{785E7DB1-B891-65FA-BED6-7A91625203D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03344C9-C55B-3DFD-279D-A66261EF8C6B}"/>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969906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3BD92-642D-ACC2-49CC-EF1C2245B08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97F8D85-D5BA-07D5-1158-3CFEFA129D03}"/>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4" name="页脚占位符 3">
            <a:extLst>
              <a:ext uri="{FF2B5EF4-FFF2-40B4-BE49-F238E27FC236}">
                <a16:creationId xmlns:a16="http://schemas.microsoft.com/office/drawing/2014/main" id="{C0EE8A68-6547-3E21-4953-642786111D1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6959BD0-353B-6BB1-D8C7-028C837F9B08}"/>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132160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D3BE710-B366-532E-8B7F-097EFFCCE0B9}"/>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3" name="页脚占位符 2">
            <a:extLst>
              <a:ext uri="{FF2B5EF4-FFF2-40B4-BE49-F238E27FC236}">
                <a16:creationId xmlns:a16="http://schemas.microsoft.com/office/drawing/2014/main" id="{F506E3D8-A46C-60E1-3312-DC2F95439DF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6395A79-EE64-E37B-A979-AE81764F9834}"/>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4190609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C41700-E4C0-D9D6-88AC-95BACA40C33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CD0C097-D459-3CBF-74D6-A82C9225EC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8B90FC-55E0-9A32-230A-CE717FFB5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381F9C9-8685-5EDD-04C1-E1B50FC751C7}"/>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6" name="页脚占位符 5">
            <a:extLst>
              <a:ext uri="{FF2B5EF4-FFF2-40B4-BE49-F238E27FC236}">
                <a16:creationId xmlns:a16="http://schemas.microsoft.com/office/drawing/2014/main" id="{80C57F6B-3466-FED2-5EEC-AD8369B7E00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19C107-66AB-1E3B-DB76-FCA2FC4C16E8}"/>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2443016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E0229-174A-3F45-8DDD-C80C3D3820D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DF24024-F759-16C3-A2F8-571039FA7F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FEE8CE7-5A70-D96D-9F76-B5DEF9268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7DF835B-6D6A-A53F-4A5B-4EA64D0581A4}"/>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6" name="页脚占位符 5">
            <a:extLst>
              <a:ext uri="{FF2B5EF4-FFF2-40B4-BE49-F238E27FC236}">
                <a16:creationId xmlns:a16="http://schemas.microsoft.com/office/drawing/2014/main" id="{4056BA43-2AA2-F81C-C2F0-DDE515A4341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24EAE1-0906-1AF3-DB91-00AC72B99A7C}"/>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1447101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417C1C-96E7-1EC7-A53D-8233BAB53B5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44E5B0D-EADD-46FA-63C0-FA2E3257F72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A0EC2E3-A653-220B-9FDB-DFC76696061D}"/>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5" name="页脚占位符 4">
            <a:extLst>
              <a:ext uri="{FF2B5EF4-FFF2-40B4-BE49-F238E27FC236}">
                <a16:creationId xmlns:a16="http://schemas.microsoft.com/office/drawing/2014/main" id="{6C4B488B-8806-7E29-5AF6-2CAE1D038D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C29C14-3825-B58E-705A-CA6802381557}"/>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3131793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6F906D6-8DB4-BA85-F80F-1F19B8E8B7A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E3C30A6-B9AF-B69A-A1BD-4FC0C21E832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B4ACC9-ADC4-5034-A971-2FFD912712CE}"/>
              </a:ext>
            </a:extLst>
          </p:cNvPr>
          <p:cNvSpPr>
            <a:spLocks noGrp="1"/>
          </p:cNvSpPr>
          <p:nvPr>
            <p:ph type="dt" sz="half" idx="10"/>
          </p:nvPr>
        </p:nvSpPr>
        <p:spPr/>
        <p:txBody>
          <a:bodyPr/>
          <a:lstStyle/>
          <a:p>
            <a:fld id="{927E56C3-585C-4606-8905-02D8C47FDB47}" type="datetimeFigureOut">
              <a:rPr lang="zh-CN" altLang="en-US" smtClean="0"/>
              <a:t>2025/11/19</a:t>
            </a:fld>
            <a:endParaRPr lang="zh-CN" altLang="en-US"/>
          </a:p>
        </p:txBody>
      </p:sp>
      <p:sp>
        <p:nvSpPr>
          <p:cNvPr id="5" name="页脚占位符 4">
            <a:extLst>
              <a:ext uri="{FF2B5EF4-FFF2-40B4-BE49-F238E27FC236}">
                <a16:creationId xmlns:a16="http://schemas.microsoft.com/office/drawing/2014/main" id="{147F9FBB-BF5C-B082-A26C-68E3649954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8EC171-36AB-3082-538B-8B3085FF7E7B}"/>
              </a:ext>
            </a:extLst>
          </p:cNvPr>
          <p:cNvSpPr>
            <a:spLocks noGrp="1"/>
          </p:cNvSpPr>
          <p:nvPr>
            <p:ph type="sldNum" sz="quarter" idx="12"/>
          </p:nvPr>
        </p:nvSpPr>
        <p:spPr/>
        <p:txBody>
          <a:body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3428929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27F8D16-E47C-E893-3750-29F058427E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BBCC01-4E7C-FE7C-4040-C873B24255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136B3B-F9B1-498C-6E1A-F135CB708C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7E56C3-585C-4606-8905-02D8C47FDB47}" type="datetimeFigureOut">
              <a:rPr lang="zh-CN" altLang="en-US" smtClean="0"/>
              <a:t>2025/11/19</a:t>
            </a:fld>
            <a:endParaRPr lang="zh-CN" altLang="en-US"/>
          </a:p>
        </p:txBody>
      </p:sp>
      <p:sp>
        <p:nvSpPr>
          <p:cNvPr id="5" name="页脚占位符 4">
            <a:extLst>
              <a:ext uri="{FF2B5EF4-FFF2-40B4-BE49-F238E27FC236}">
                <a16:creationId xmlns:a16="http://schemas.microsoft.com/office/drawing/2014/main" id="{9ED993DB-7D6C-FE59-0972-F7C7048741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07A40D2-A54A-8879-2C09-414EDCCD98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EFF064-2AD3-49CB-979F-ED7A8A24F731}" type="slidenum">
              <a:rPr lang="zh-CN" altLang="en-US" smtClean="0"/>
              <a:t>‹#›</a:t>
            </a:fld>
            <a:endParaRPr lang="zh-CN" altLang="en-US"/>
          </a:p>
        </p:txBody>
      </p:sp>
    </p:spTree>
    <p:extLst>
      <p:ext uri="{BB962C8B-B14F-4D97-AF65-F5344CB8AC3E}">
        <p14:creationId xmlns:p14="http://schemas.microsoft.com/office/powerpoint/2010/main" val="3320005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1D5E9C-1C5A-5AEB-5B72-41FC2D31EB73}"/>
              </a:ext>
            </a:extLst>
          </p:cNvPr>
          <p:cNvSpPr>
            <a:spLocks noGrp="1"/>
          </p:cNvSpPr>
          <p:nvPr>
            <p:ph type="ctrTitle"/>
          </p:nvPr>
        </p:nvSpPr>
        <p:spPr/>
        <p:txBody>
          <a:bodyPr/>
          <a:lstStyle/>
          <a:p>
            <a:r>
              <a:rPr lang="en-US" altLang="zh-CN" dirty="0"/>
              <a:t>Lec18 </a:t>
            </a:r>
            <a:r>
              <a:rPr lang="zh-CN" altLang="en-US" dirty="0"/>
              <a:t>回课</a:t>
            </a:r>
          </a:p>
        </p:txBody>
      </p:sp>
      <p:sp>
        <p:nvSpPr>
          <p:cNvPr id="3" name="副标题 2">
            <a:extLst>
              <a:ext uri="{FF2B5EF4-FFF2-40B4-BE49-F238E27FC236}">
                <a16:creationId xmlns:a16="http://schemas.microsoft.com/office/drawing/2014/main" id="{5A3286FD-7035-3BFB-4434-11CD0E742896}"/>
              </a:ext>
            </a:extLst>
          </p:cNvPr>
          <p:cNvSpPr>
            <a:spLocks noGrp="1"/>
          </p:cNvSpPr>
          <p:nvPr>
            <p:ph type="subTitle" idx="1"/>
          </p:nvPr>
        </p:nvSpPr>
        <p:spPr/>
        <p:txBody>
          <a:bodyPr/>
          <a:lstStyle/>
          <a:p>
            <a:r>
              <a:rPr lang="zh-CN" altLang="en-US" dirty="0"/>
              <a:t>赖镜丞</a:t>
            </a:r>
          </a:p>
        </p:txBody>
      </p:sp>
    </p:spTree>
    <p:extLst>
      <p:ext uri="{BB962C8B-B14F-4D97-AF65-F5344CB8AC3E}">
        <p14:creationId xmlns:p14="http://schemas.microsoft.com/office/powerpoint/2010/main" val="3980348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DDF430-FF27-D2D0-538E-D70C657AC12F}"/>
              </a:ext>
            </a:extLst>
          </p:cNvPr>
          <p:cNvSpPr>
            <a:spLocks noGrp="1"/>
          </p:cNvSpPr>
          <p:nvPr>
            <p:ph type="title"/>
          </p:nvPr>
        </p:nvSpPr>
        <p:spPr/>
        <p:txBody>
          <a:bodyPr/>
          <a:lstStyle/>
          <a:p>
            <a:r>
              <a:rPr lang="en-US" altLang="zh-CN" dirty="0"/>
              <a:t>0.</a:t>
            </a:r>
            <a:r>
              <a:rPr lang="zh-CN" altLang="en-US" dirty="0"/>
              <a:t>上一讲回顾：</a:t>
            </a:r>
          </a:p>
        </p:txBody>
      </p:sp>
      <p:sp>
        <p:nvSpPr>
          <p:cNvPr id="3" name="内容占位符 2">
            <a:extLst>
              <a:ext uri="{FF2B5EF4-FFF2-40B4-BE49-F238E27FC236}">
                <a16:creationId xmlns:a16="http://schemas.microsoft.com/office/drawing/2014/main" id="{945A85A8-1407-C990-BC84-82BCFEB38C35}"/>
              </a:ext>
            </a:extLst>
          </p:cNvPr>
          <p:cNvSpPr>
            <a:spLocks noGrp="1"/>
          </p:cNvSpPr>
          <p:nvPr>
            <p:ph idx="1"/>
          </p:nvPr>
        </p:nvSpPr>
        <p:spPr>
          <a:xfrm>
            <a:off x="838200" y="1825625"/>
            <a:ext cx="10515600" cy="1411061"/>
          </a:xfrm>
        </p:spPr>
        <p:txBody>
          <a:bodyPr/>
          <a:lstStyle/>
          <a:p>
            <a:r>
              <a:rPr lang="zh-CN" altLang="en-US" dirty="0"/>
              <a:t>异常：</a:t>
            </a:r>
            <a:endParaRPr lang="en-US" altLang="zh-CN" dirty="0"/>
          </a:p>
          <a:p>
            <a:pPr lvl="1"/>
            <a:r>
              <a:rPr lang="zh-CN" altLang="en-US" dirty="0"/>
              <a:t>改变原来的控制流</a:t>
            </a:r>
            <a:endParaRPr lang="en-US" altLang="zh-CN" dirty="0"/>
          </a:p>
          <a:p>
            <a:pPr lvl="1"/>
            <a:r>
              <a:rPr lang="zh-CN" altLang="en-US" dirty="0"/>
              <a:t>分为外部的</a:t>
            </a:r>
            <a:r>
              <a:rPr lang="en-US" altLang="zh-CN" dirty="0"/>
              <a:t>(</a:t>
            </a:r>
            <a:r>
              <a:rPr lang="zh-CN" altLang="en-US" dirty="0"/>
              <a:t>中断</a:t>
            </a:r>
            <a:r>
              <a:rPr lang="en-US" altLang="zh-CN" dirty="0"/>
              <a:t>)</a:t>
            </a:r>
            <a:r>
              <a:rPr lang="zh-CN" altLang="en-US" dirty="0"/>
              <a:t>和内部的</a:t>
            </a:r>
            <a:r>
              <a:rPr lang="en-US" altLang="zh-CN" dirty="0"/>
              <a:t>(</a:t>
            </a:r>
            <a:r>
              <a:rPr lang="zh-CN" altLang="en-US" dirty="0"/>
              <a:t>陷阱和故障</a:t>
            </a:r>
            <a:r>
              <a:rPr lang="en-US" altLang="zh-CN" dirty="0"/>
              <a:t>)</a:t>
            </a:r>
          </a:p>
          <a:p>
            <a:pPr marL="457200" lvl="1" indent="0">
              <a:buNone/>
            </a:pPr>
            <a:endParaRPr lang="en-US" altLang="zh-CN" dirty="0"/>
          </a:p>
        </p:txBody>
      </p:sp>
      <p:sp>
        <p:nvSpPr>
          <p:cNvPr id="4" name="内容占位符 2">
            <a:extLst>
              <a:ext uri="{FF2B5EF4-FFF2-40B4-BE49-F238E27FC236}">
                <a16:creationId xmlns:a16="http://schemas.microsoft.com/office/drawing/2014/main" id="{60B3B32E-AB48-7B9B-9799-1E402F4AB7AC}"/>
              </a:ext>
            </a:extLst>
          </p:cNvPr>
          <p:cNvSpPr txBox="1">
            <a:spLocks/>
          </p:cNvSpPr>
          <p:nvPr/>
        </p:nvSpPr>
        <p:spPr>
          <a:xfrm>
            <a:off x="838200" y="3429000"/>
            <a:ext cx="10515600" cy="2144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进程：</a:t>
            </a:r>
            <a:endParaRPr lang="en-US" altLang="zh-CN" dirty="0"/>
          </a:p>
          <a:p>
            <a:pPr lvl="1"/>
            <a:r>
              <a:rPr lang="zh-CN" altLang="en-US" dirty="0"/>
              <a:t>每个进程都有自己的逻辑控制流和私有地址空间</a:t>
            </a:r>
            <a:endParaRPr lang="en-US" altLang="zh-CN" dirty="0"/>
          </a:p>
          <a:p>
            <a:pPr lvl="1"/>
            <a:r>
              <a:rPr lang="zh-CN" altLang="en-US" dirty="0"/>
              <a:t>单个核心上，同一时间只能执行一个进程</a:t>
            </a:r>
            <a:endParaRPr lang="en-US" altLang="zh-CN" dirty="0"/>
          </a:p>
          <a:p>
            <a:pPr lvl="1"/>
            <a:r>
              <a:rPr lang="zh-CN" altLang="en-US" dirty="0"/>
              <a:t>在任何给定时刻，系统都有多个正在执行的进程</a:t>
            </a:r>
          </a:p>
        </p:txBody>
      </p:sp>
    </p:spTree>
    <p:extLst>
      <p:ext uri="{BB962C8B-B14F-4D97-AF65-F5344CB8AC3E}">
        <p14:creationId xmlns:p14="http://schemas.microsoft.com/office/powerpoint/2010/main" val="3285592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E16212-A56B-0E83-355C-F70CB5923B28}"/>
              </a:ext>
            </a:extLst>
          </p:cNvPr>
          <p:cNvSpPr>
            <a:spLocks noGrp="1"/>
          </p:cNvSpPr>
          <p:nvPr>
            <p:ph type="title"/>
          </p:nvPr>
        </p:nvSpPr>
        <p:spPr/>
        <p:txBody>
          <a:bodyPr/>
          <a:lstStyle/>
          <a:p>
            <a:r>
              <a:rPr lang="en-US" altLang="zh-CN" dirty="0"/>
              <a:t>0.</a:t>
            </a:r>
            <a:r>
              <a:rPr lang="zh-CN" altLang="en-US" dirty="0"/>
              <a:t>上一讲回顾</a:t>
            </a:r>
          </a:p>
        </p:txBody>
      </p:sp>
      <p:sp>
        <p:nvSpPr>
          <p:cNvPr id="3" name="内容占位符 2">
            <a:extLst>
              <a:ext uri="{FF2B5EF4-FFF2-40B4-BE49-F238E27FC236}">
                <a16:creationId xmlns:a16="http://schemas.microsoft.com/office/drawing/2014/main" id="{23E57F43-80DA-885B-9D8F-EC2F9266C70F}"/>
              </a:ext>
            </a:extLst>
          </p:cNvPr>
          <p:cNvSpPr>
            <a:spLocks noGrp="1"/>
          </p:cNvSpPr>
          <p:nvPr>
            <p:ph idx="1"/>
          </p:nvPr>
        </p:nvSpPr>
        <p:spPr>
          <a:xfrm>
            <a:off x="838200" y="1825625"/>
            <a:ext cx="10515600" cy="2289175"/>
          </a:xfrm>
        </p:spPr>
        <p:txBody>
          <a:bodyPr/>
          <a:lstStyle/>
          <a:p>
            <a:r>
              <a:rPr lang="zh-CN" altLang="en-US" dirty="0"/>
              <a:t>一些基础函数</a:t>
            </a:r>
            <a:endParaRPr lang="en-US" altLang="zh-CN" dirty="0"/>
          </a:p>
          <a:p>
            <a:pPr lvl="1"/>
            <a:r>
              <a:rPr lang="en-US" altLang="zh-CN" dirty="0"/>
              <a:t>fork</a:t>
            </a:r>
            <a:r>
              <a:rPr lang="zh-CN" altLang="en-US" dirty="0"/>
              <a:t>：创建新进程，调用一次返回两次</a:t>
            </a:r>
            <a:endParaRPr lang="en-US" altLang="zh-CN" dirty="0"/>
          </a:p>
          <a:p>
            <a:pPr lvl="1"/>
            <a:r>
              <a:rPr lang="en-US" altLang="zh-CN" dirty="0"/>
              <a:t>exit</a:t>
            </a:r>
            <a:r>
              <a:rPr lang="zh-CN" altLang="en-US" dirty="0"/>
              <a:t>：终止当前进程，调用后不会返回，进程进入僵死状态</a:t>
            </a:r>
            <a:endParaRPr lang="en-US" altLang="zh-CN" dirty="0"/>
          </a:p>
          <a:p>
            <a:pPr lvl="1"/>
            <a:r>
              <a:rPr lang="en-US" altLang="zh-CN" dirty="0"/>
              <a:t>wait/</a:t>
            </a:r>
            <a:r>
              <a:rPr lang="en-US" altLang="zh-CN" dirty="0" err="1"/>
              <a:t>waitpid</a:t>
            </a:r>
            <a:r>
              <a:rPr lang="zh-CN" altLang="en-US" dirty="0"/>
              <a:t>：等待并回收已终止的子进程</a:t>
            </a:r>
            <a:endParaRPr lang="en-US" altLang="zh-CN" dirty="0"/>
          </a:p>
          <a:p>
            <a:pPr lvl="1"/>
            <a:r>
              <a:rPr lang="en-US" altLang="zh-CN" dirty="0" err="1"/>
              <a:t>execve</a:t>
            </a:r>
            <a:r>
              <a:rPr lang="zh-CN" altLang="en-US" dirty="0"/>
              <a:t>：在现有进程的空间中运行新程序，通常不会返回</a:t>
            </a:r>
          </a:p>
        </p:txBody>
      </p:sp>
    </p:spTree>
    <p:extLst>
      <p:ext uri="{BB962C8B-B14F-4D97-AF65-F5344CB8AC3E}">
        <p14:creationId xmlns:p14="http://schemas.microsoft.com/office/powerpoint/2010/main" val="1590942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FC165C-E0D1-E464-06A3-CBE109D716AE}"/>
              </a:ext>
            </a:extLst>
          </p:cNvPr>
          <p:cNvSpPr>
            <a:spLocks noGrp="1"/>
          </p:cNvSpPr>
          <p:nvPr>
            <p:ph type="title"/>
          </p:nvPr>
        </p:nvSpPr>
        <p:spPr/>
        <p:txBody>
          <a:bodyPr/>
          <a:lstStyle/>
          <a:p>
            <a:r>
              <a:rPr lang="en-US" altLang="zh-CN" dirty="0"/>
              <a:t>1.shell</a:t>
            </a:r>
            <a:endParaRPr lang="zh-CN" altLang="en-US" dirty="0"/>
          </a:p>
        </p:txBody>
      </p:sp>
      <p:sp>
        <p:nvSpPr>
          <p:cNvPr id="10" name="内容占位符 9">
            <a:extLst>
              <a:ext uri="{FF2B5EF4-FFF2-40B4-BE49-F238E27FC236}">
                <a16:creationId xmlns:a16="http://schemas.microsoft.com/office/drawing/2014/main" id="{5E6ED122-CA2C-005F-6852-0A9B60072139}"/>
              </a:ext>
            </a:extLst>
          </p:cNvPr>
          <p:cNvSpPr>
            <a:spLocks noGrp="1"/>
          </p:cNvSpPr>
          <p:nvPr>
            <p:ph idx="1"/>
          </p:nvPr>
        </p:nvSpPr>
        <p:spPr>
          <a:xfrm>
            <a:off x="838199" y="1825624"/>
            <a:ext cx="3624944" cy="4067176"/>
          </a:xfrm>
        </p:spPr>
        <p:txBody>
          <a:bodyPr>
            <a:normAutofit/>
          </a:bodyPr>
          <a:lstStyle/>
          <a:p>
            <a:r>
              <a:rPr lang="en-US" altLang="zh-CN" dirty="0"/>
              <a:t>0</a:t>
            </a:r>
            <a:r>
              <a:rPr lang="zh-CN" altLang="en-US" dirty="0"/>
              <a:t>号进程</a:t>
            </a:r>
            <a:endParaRPr lang="en-US" altLang="zh-CN" dirty="0"/>
          </a:p>
          <a:p>
            <a:r>
              <a:rPr lang="en-US" altLang="zh-CN" dirty="0"/>
              <a:t>1</a:t>
            </a:r>
            <a:r>
              <a:rPr lang="zh-CN" altLang="en-US" dirty="0"/>
              <a:t>号进程</a:t>
            </a:r>
            <a:endParaRPr lang="en-US" altLang="zh-CN" dirty="0"/>
          </a:p>
          <a:p>
            <a:pPr lvl="1"/>
            <a:r>
              <a:rPr lang="zh-CN" altLang="en-US" dirty="0"/>
              <a:t>第一个用户态进程</a:t>
            </a:r>
            <a:endParaRPr lang="en-US" altLang="zh-CN" dirty="0"/>
          </a:p>
          <a:p>
            <a:pPr lvl="1"/>
            <a:r>
              <a:rPr lang="zh-CN" altLang="en-US" dirty="0"/>
              <a:t>所有用户进程的祖先，收养孤儿进程</a:t>
            </a:r>
            <a:endParaRPr lang="en-US" altLang="zh-CN" dirty="0"/>
          </a:p>
          <a:p>
            <a:r>
              <a:rPr lang="en-US" altLang="zh-CN" dirty="0"/>
              <a:t>Daemon</a:t>
            </a:r>
            <a:r>
              <a:rPr lang="zh-CN" altLang="en-US" dirty="0"/>
              <a:t>进程</a:t>
            </a:r>
            <a:endParaRPr lang="en-US" altLang="zh-CN" dirty="0"/>
          </a:p>
          <a:p>
            <a:pPr lvl="1"/>
            <a:r>
              <a:rPr lang="zh-CN" altLang="en-US" dirty="0"/>
              <a:t>后台运行，脱离终端的进程</a:t>
            </a:r>
            <a:endParaRPr lang="en-US" altLang="zh-CN" dirty="0"/>
          </a:p>
          <a:p>
            <a:pPr lvl="1"/>
            <a:r>
              <a:rPr lang="zh-CN" altLang="en-US" dirty="0"/>
              <a:t>提供稳定的系统服务</a:t>
            </a:r>
            <a:endParaRPr lang="en-US" altLang="zh-CN" dirty="0"/>
          </a:p>
          <a:p>
            <a:endParaRPr lang="en-US" altLang="zh-CN" dirty="0"/>
          </a:p>
        </p:txBody>
      </p:sp>
      <p:pic>
        <p:nvPicPr>
          <p:cNvPr id="4" name="图片 3">
            <a:extLst>
              <a:ext uri="{FF2B5EF4-FFF2-40B4-BE49-F238E27FC236}">
                <a16:creationId xmlns:a16="http://schemas.microsoft.com/office/drawing/2014/main" id="{050E622F-3C29-EDFE-0200-8299A86232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3943" y="676282"/>
            <a:ext cx="7473605" cy="4831890"/>
          </a:xfrm>
          <a:prstGeom prst="rect">
            <a:avLst/>
          </a:prstGeom>
        </p:spPr>
      </p:pic>
    </p:spTree>
    <p:extLst>
      <p:ext uri="{BB962C8B-B14F-4D97-AF65-F5344CB8AC3E}">
        <p14:creationId xmlns:p14="http://schemas.microsoft.com/office/powerpoint/2010/main" val="4012915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6E940-ADBB-6FA2-3E2E-F2F0F345669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9C7DD32-A41F-CBF9-9526-D93B21C186FC}"/>
              </a:ext>
            </a:extLst>
          </p:cNvPr>
          <p:cNvSpPr>
            <a:spLocks noGrp="1"/>
          </p:cNvSpPr>
          <p:nvPr>
            <p:ph type="title"/>
          </p:nvPr>
        </p:nvSpPr>
        <p:spPr/>
        <p:txBody>
          <a:bodyPr/>
          <a:lstStyle/>
          <a:p>
            <a:r>
              <a:rPr lang="en-US" altLang="zh-CN" dirty="0"/>
              <a:t>1.shell</a:t>
            </a:r>
            <a:endParaRPr lang="zh-CN" altLang="en-US" dirty="0"/>
          </a:p>
        </p:txBody>
      </p:sp>
      <p:pic>
        <p:nvPicPr>
          <p:cNvPr id="4" name="图片 3">
            <a:extLst>
              <a:ext uri="{FF2B5EF4-FFF2-40B4-BE49-F238E27FC236}">
                <a16:creationId xmlns:a16="http://schemas.microsoft.com/office/drawing/2014/main" id="{C54F8CF6-955F-D892-7DE4-A8A5A3C17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8458" y="639997"/>
            <a:ext cx="7473605" cy="4831890"/>
          </a:xfrm>
          <a:prstGeom prst="rect">
            <a:avLst/>
          </a:prstGeom>
        </p:spPr>
      </p:pic>
      <p:sp>
        <p:nvSpPr>
          <p:cNvPr id="3" name="内容占位符 9">
            <a:extLst>
              <a:ext uri="{FF2B5EF4-FFF2-40B4-BE49-F238E27FC236}">
                <a16:creationId xmlns:a16="http://schemas.microsoft.com/office/drawing/2014/main" id="{489CFC20-B3D2-0B2C-095F-DD28670D6FA4}"/>
              </a:ext>
            </a:extLst>
          </p:cNvPr>
          <p:cNvSpPr txBox="1">
            <a:spLocks/>
          </p:cNvSpPr>
          <p:nvPr/>
        </p:nvSpPr>
        <p:spPr>
          <a:xfrm>
            <a:off x="838199" y="1825624"/>
            <a:ext cx="3370944" cy="3522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Shell</a:t>
            </a:r>
          </a:p>
          <a:p>
            <a:pPr lvl="1"/>
            <a:r>
              <a:rPr lang="zh-CN" altLang="en-US" dirty="0"/>
              <a:t>一个交互型的应用程序</a:t>
            </a:r>
            <a:endParaRPr lang="en-US" altLang="zh-CN" dirty="0"/>
          </a:p>
          <a:p>
            <a:pPr lvl="1"/>
            <a:r>
              <a:rPr lang="zh-CN" altLang="en-US" dirty="0"/>
              <a:t>代表用户运行其他程序</a:t>
            </a:r>
            <a:endParaRPr lang="en-US" altLang="zh-CN" dirty="0"/>
          </a:p>
          <a:p>
            <a:endParaRPr lang="en-US" altLang="zh-CN" dirty="0"/>
          </a:p>
        </p:txBody>
      </p:sp>
    </p:spTree>
    <p:extLst>
      <p:ext uri="{BB962C8B-B14F-4D97-AF65-F5344CB8AC3E}">
        <p14:creationId xmlns:p14="http://schemas.microsoft.com/office/powerpoint/2010/main" val="3307287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9B0A4-13D8-85D7-3AF0-BE55864F1C3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36398F-D10D-2776-FB21-A5F5CF94E35A}"/>
              </a:ext>
            </a:extLst>
          </p:cNvPr>
          <p:cNvSpPr>
            <a:spLocks noGrp="1"/>
          </p:cNvSpPr>
          <p:nvPr>
            <p:ph type="title"/>
          </p:nvPr>
        </p:nvSpPr>
        <p:spPr/>
        <p:txBody>
          <a:bodyPr/>
          <a:lstStyle/>
          <a:p>
            <a:r>
              <a:rPr lang="en-US" altLang="zh-CN" dirty="0"/>
              <a:t>1.1</a:t>
            </a:r>
            <a:r>
              <a:rPr lang="zh-CN" altLang="en-US" dirty="0"/>
              <a:t>一个简单的</a:t>
            </a:r>
            <a:r>
              <a:rPr lang="en-US" altLang="zh-CN" dirty="0"/>
              <a:t>shell</a:t>
            </a:r>
            <a:r>
              <a:rPr lang="zh-CN" altLang="en-US" dirty="0"/>
              <a:t>架构</a:t>
            </a:r>
          </a:p>
        </p:txBody>
      </p:sp>
      <p:sp>
        <p:nvSpPr>
          <p:cNvPr id="10" name="内容占位符 9">
            <a:extLst>
              <a:ext uri="{FF2B5EF4-FFF2-40B4-BE49-F238E27FC236}">
                <a16:creationId xmlns:a16="http://schemas.microsoft.com/office/drawing/2014/main" id="{EF7139FB-1861-FC7F-B20F-90F3756BFD09}"/>
              </a:ext>
            </a:extLst>
          </p:cNvPr>
          <p:cNvSpPr>
            <a:spLocks noGrp="1"/>
          </p:cNvSpPr>
          <p:nvPr>
            <p:ph idx="1"/>
          </p:nvPr>
        </p:nvSpPr>
        <p:spPr>
          <a:xfrm>
            <a:off x="838200" y="1915886"/>
            <a:ext cx="5257801" cy="3978760"/>
          </a:xfrm>
        </p:spPr>
        <p:txBody>
          <a:bodyPr>
            <a:normAutofit/>
          </a:bodyPr>
          <a:lstStyle/>
          <a:p>
            <a:r>
              <a:rPr lang="en-US" altLang="zh-CN" dirty="0"/>
              <a:t>main</a:t>
            </a:r>
            <a:r>
              <a:rPr lang="zh-CN" altLang="en-US" dirty="0"/>
              <a:t>例程</a:t>
            </a:r>
            <a:endParaRPr lang="en-US" altLang="zh-CN" dirty="0"/>
          </a:p>
          <a:p>
            <a:pPr lvl="1"/>
            <a:r>
              <a:rPr lang="zh-CN" altLang="en-US" dirty="0"/>
              <a:t>打印命令行提示符</a:t>
            </a:r>
            <a:endParaRPr lang="en-US" altLang="zh-CN" dirty="0"/>
          </a:p>
          <a:p>
            <a:pPr lvl="1"/>
            <a:r>
              <a:rPr lang="zh-CN" altLang="en-US" dirty="0"/>
              <a:t>读取用户输入的命令行</a:t>
            </a:r>
            <a:endParaRPr lang="en-US" altLang="zh-CN" dirty="0"/>
          </a:p>
        </p:txBody>
      </p:sp>
      <p:pic>
        <p:nvPicPr>
          <p:cNvPr id="5" name="图片 4">
            <a:extLst>
              <a:ext uri="{FF2B5EF4-FFF2-40B4-BE49-F238E27FC236}">
                <a16:creationId xmlns:a16="http://schemas.microsoft.com/office/drawing/2014/main" id="{E0183674-544E-86A4-DE39-7B6D77ABFD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7943" y="1516855"/>
            <a:ext cx="5549506" cy="4032737"/>
          </a:xfrm>
          <a:prstGeom prst="rect">
            <a:avLst/>
          </a:prstGeom>
        </p:spPr>
      </p:pic>
    </p:spTree>
    <p:extLst>
      <p:ext uri="{BB962C8B-B14F-4D97-AF65-F5344CB8AC3E}">
        <p14:creationId xmlns:p14="http://schemas.microsoft.com/office/powerpoint/2010/main" val="2476355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B9E25-C312-0E70-EF21-B8243AD0FF6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6BA1E51-65D3-B1E9-0F9F-1287189B39B0}"/>
              </a:ext>
            </a:extLst>
          </p:cNvPr>
          <p:cNvSpPr>
            <a:spLocks noGrp="1"/>
          </p:cNvSpPr>
          <p:nvPr>
            <p:ph type="title"/>
          </p:nvPr>
        </p:nvSpPr>
        <p:spPr/>
        <p:txBody>
          <a:bodyPr/>
          <a:lstStyle/>
          <a:p>
            <a:r>
              <a:rPr lang="en-US" altLang="zh-CN" dirty="0"/>
              <a:t>1.1</a:t>
            </a:r>
            <a:r>
              <a:rPr lang="zh-CN" altLang="en-US" dirty="0"/>
              <a:t>一个简单的</a:t>
            </a:r>
            <a:r>
              <a:rPr lang="en-US" altLang="zh-CN" dirty="0"/>
              <a:t>shell</a:t>
            </a:r>
            <a:r>
              <a:rPr lang="zh-CN" altLang="en-US" dirty="0"/>
              <a:t>架构</a:t>
            </a:r>
          </a:p>
        </p:txBody>
      </p:sp>
      <p:sp>
        <p:nvSpPr>
          <p:cNvPr id="10" name="内容占位符 9">
            <a:extLst>
              <a:ext uri="{FF2B5EF4-FFF2-40B4-BE49-F238E27FC236}">
                <a16:creationId xmlns:a16="http://schemas.microsoft.com/office/drawing/2014/main" id="{A94F1F1F-8086-13B2-6EB2-7CDFEFD01287}"/>
              </a:ext>
            </a:extLst>
          </p:cNvPr>
          <p:cNvSpPr>
            <a:spLocks noGrp="1"/>
          </p:cNvSpPr>
          <p:nvPr>
            <p:ph idx="1"/>
          </p:nvPr>
        </p:nvSpPr>
        <p:spPr>
          <a:xfrm>
            <a:off x="838200" y="1915886"/>
            <a:ext cx="5257801" cy="3978760"/>
          </a:xfrm>
        </p:spPr>
        <p:txBody>
          <a:bodyPr>
            <a:normAutofit/>
          </a:bodyPr>
          <a:lstStyle/>
          <a:p>
            <a:r>
              <a:rPr lang="zh-CN" altLang="en-US" dirty="0"/>
              <a:t>解析命令行</a:t>
            </a:r>
            <a:endParaRPr lang="en-US" altLang="zh-CN" dirty="0"/>
          </a:p>
          <a:p>
            <a:pPr lvl="1"/>
            <a:r>
              <a:rPr lang="zh-CN" altLang="en-US" dirty="0"/>
              <a:t>调用</a:t>
            </a:r>
            <a:r>
              <a:rPr lang="en-US" altLang="zh-CN" dirty="0" err="1"/>
              <a:t>parseline</a:t>
            </a:r>
            <a:r>
              <a:rPr lang="zh-CN" altLang="en-US" dirty="0"/>
              <a:t>函数，以解析命令行参数并构造</a:t>
            </a:r>
            <a:r>
              <a:rPr lang="en-US" altLang="zh-CN" dirty="0" err="1"/>
              <a:t>argv</a:t>
            </a:r>
            <a:endParaRPr lang="en-US" altLang="zh-CN" dirty="0"/>
          </a:p>
          <a:p>
            <a:pPr lvl="1"/>
            <a:r>
              <a:rPr lang="en-US" altLang="zh-CN" dirty="0" err="1"/>
              <a:t>argv</a:t>
            </a:r>
            <a:r>
              <a:rPr lang="zh-CN" altLang="en-US" dirty="0"/>
              <a:t>第一个参数是内置</a:t>
            </a:r>
            <a:r>
              <a:rPr lang="en-US" altLang="zh-CN" dirty="0"/>
              <a:t>shell</a:t>
            </a:r>
            <a:r>
              <a:rPr lang="zh-CN" altLang="en-US" dirty="0"/>
              <a:t>命令，或者是可执行目标文件</a:t>
            </a:r>
            <a:endParaRPr lang="en-US" altLang="zh-CN" dirty="0"/>
          </a:p>
          <a:p>
            <a:pPr lvl="1"/>
            <a:r>
              <a:rPr lang="zh-CN" altLang="en-US" dirty="0"/>
              <a:t>最后一个参数如果是“</a:t>
            </a:r>
            <a:r>
              <a:rPr lang="en-US" altLang="zh-CN" dirty="0"/>
              <a:t>&amp;</a:t>
            </a:r>
            <a:r>
              <a:rPr lang="zh-CN" altLang="en-US" dirty="0"/>
              <a:t>”，表示后台执行</a:t>
            </a:r>
            <a:endParaRPr lang="en-US" altLang="zh-CN" dirty="0"/>
          </a:p>
          <a:p>
            <a:pPr lvl="1"/>
            <a:endParaRPr lang="en-US" altLang="zh-CN" dirty="0"/>
          </a:p>
        </p:txBody>
      </p:sp>
      <p:pic>
        <p:nvPicPr>
          <p:cNvPr id="4" name="图片 3">
            <a:extLst>
              <a:ext uri="{FF2B5EF4-FFF2-40B4-BE49-F238E27FC236}">
                <a16:creationId xmlns:a16="http://schemas.microsoft.com/office/drawing/2014/main" id="{08F2A620-1E9F-3C6B-0EFD-880FE66F94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3945" y="478972"/>
            <a:ext cx="5123976" cy="5754914"/>
          </a:xfrm>
          <a:prstGeom prst="rect">
            <a:avLst/>
          </a:prstGeom>
        </p:spPr>
      </p:pic>
    </p:spTree>
    <p:extLst>
      <p:ext uri="{BB962C8B-B14F-4D97-AF65-F5344CB8AC3E}">
        <p14:creationId xmlns:p14="http://schemas.microsoft.com/office/powerpoint/2010/main" val="6019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09353-9C5C-4FFC-AECB-E64217C66E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139298-367B-F9C8-BC54-F2F56E09843A}"/>
              </a:ext>
            </a:extLst>
          </p:cNvPr>
          <p:cNvSpPr>
            <a:spLocks noGrp="1"/>
          </p:cNvSpPr>
          <p:nvPr>
            <p:ph type="title"/>
          </p:nvPr>
        </p:nvSpPr>
        <p:spPr/>
        <p:txBody>
          <a:bodyPr/>
          <a:lstStyle/>
          <a:p>
            <a:r>
              <a:rPr lang="en-US" altLang="zh-CN" dirty="0"/>
              <a:t>1.1</a:t>
            </a:r>
            <a:r>
              <a:rPr lang="zh-CN" altLang="en-US" dirty="0"/>
              <a:t>一个简单的</a:t>
            </a:r>
            <a:r>
              <a:rPr lang="en-US" altLang="zh-CN" dirty="0"/>
              <a:t>shell</a:t>
            </a:r>
            <a:r>
              <a:rPr lang="zh-CN" altLang="en-US" dirty="0"/>
              <a:t>架构</a:t>
            </a:r>
          </a:p>
        </p:txBody>
      </p:sp>
      <p:sp>
        <p:nvSpPr>
          <p:cNvPr id="10" name="内容占位符 9">
            <a:extLst>
              <a:ext uri="{FF2B5EF4-FFF2-40B4-BE49-F238E27FC236}">
                <a16:creationId xmlns:a16="http://schemas.microsoft.com/office/drawing/2014/main" id="{B419406C-5329-0EAE-C0E4-C3E3D3CE4362}"/>
              </a:ext>
            </a:extLst>
          </p:cNvPr>
          <p:cNvSpPr>
            <a:spLocks noGrp="1"/>
          </p:cNvSpPr>
          <p:nvPr>
            <p:ph idx="1"/>
          </p:nvPr>
        </p:nvSpPr>
        <p:spPr>
          <a:xfrm>
            <a:off x="838200" y="1915886"/>
            <a:ext cx="5257801" cy="3978760"/>
          </a:xfrm>
        </p:spPr>
        <p:txBody>
          <a:bodyPr>
            <a:normAutofit/>
          </a:bodyPr>
          <a:lstStyle/>
          <a:p>
            <a:r>
              <a:rPr lang="zh-CN" altLang="en-US" dirty="0"/>
              <a:t>解析命令行</a:t>
            </a:r>
            <a:endParaRPr lang="en-US" altLang="zh-CN" dirty="0"/>
          </a:p>
          <a:p>
            <a:pPr lvl="1"/>
            <a:r>
              <a:rPr lang="zh-CN" altLang="en-US" dirty="0"/>
              <a:t>然后调用</a:t>
            </a:r>
            <a:r>
              <a:rPr lang="en-US" altLang="zh-CN" dirty="0" err="1"/>
              <a:t>builtin_command</a:t>
            </a:r>
            <a:endParaRPr lang="en-US" altLang="zh-CN" dirty="0"/>
          </a:p>
          <a:p>
            <a:pPr lvl="1"/>
            <a:r>
              <a:rPr lang="zh-CN" altLang="en-US" dirty="0"/>
              <a:t>检查</a:t>
            </a:r>
            <a:r>
              <a:rPr lang="en-US" altLang="zh-CN" dirty="0" err="1"/>
              <a:t>argv</a:t>
            </a:r>
            <a:r>
              <a:rPr lang="en-US" altLang="zh-CN" dirty="0"/>
              <a:t>[0]</a:t>
            </a:r>
            <a:r>
              <a:rPr lang="zh-CN" altLang="en-US" dirty="0"/>
              <a:t>，是</a:t>
            </a:r>
            <a:r>
              <a:rPr lang="en-US" altLang="zh-CN" dirty="0"/>
              <a:t>shell</a:t>
            </a:r>
            <a:r>
              <a:rPr lang="zh-CN" altLang="en-US" dirty="0"/>
              <a:t>命令返回</a:t>
            </a:r>
            <a:r>
              <a:rPr lang="en-US" altLang="zh-CN" dirty="0"/>
              <a:t>1</a:t>
            </a:r>
            <a:r>
              <a:rPr lang="zh-CN" altLang="en-US" dirty="0"/>
              <a:t>，否则返回</a:t>
            </a:r>
            <a:r>
              <a:rPr lang="en-US" altLang="zh-CN" dirty="0"/>
              <a:t>0</a:t>
            </a:r>
          </a:p>
          <a:p>
            <a:pPr lvl="1"/>
            <a:r>
              <a:rPr lang="zh-CN" altLang="en-US" dirty="0"/>
              <a:t>返回</a:t>
            </a:r>
            <a:r>
              <a:rPr lang="en-US" altLang="zh-CN" dirty="0"/>
              <a:t>0</a:t>
            </a:r>
            <a:r>
              <a:rPr lang="zh-CN" altLang="en-US" dirty="0"/>
              <a:t>时，</a:t>
            </a:r>
            <a:r>
              <a:rPr lang="en-US" altLang="zh-CN" dirty="0"/>
              <a:t>shell</a:t>
            </a:r>
            <a:r>
              <a:rPr lang="zh-CN" altLang="en-US" dirty="0"/>
              <a:t>创建子进程并执行程序</a:t>
            </a:r>
            <a:endParaRPr lang="en-US" altLang="zh-CN" dirty="0"/>
          </a:p>
          <a:p>
            <a:pPr lvl="1"/>
            <a:r>
              <a:rPr lang="zh-CN" altLang="en-US" dirty="0"/>
              <a:t>若后台运行则</a:t>
            </a:r>
            <a:r>
              <a:rPr lang="en-US" altLang="zh-CN" dirty="0"/>
              <a:t>shell</a:t>
            </a:r>
            <a:r>
              <a:rPr lang="zh-CN" altLang="en-US" dirty="0"/>
              <a:t>返回循环顶部，前台运行则使用</a:t>
            </a:r>
            <a:r>
              <a:rPr lang="en-US" altLang="zh-CN" dirty="0" err="1"/>
              <a:t>waitpid</a:t>
            </a:r>
            <a:r>
              <a:rPr lang="zh-CN" altLang="en-US" dirty="0"/>
              <a:t>等待作业终止再进行下一轮迭代</a:t>
            </a:r>
            <a:endParaRPr lang="en-US" altLang="zh-CN" dirty="0"/>
          </a:p>
          <a:p>
            <a:pPr lvl="1"/>
            <a:endParaRPr lang="en-US" altLang="zh-CN" dirty="0"/>
          </a:p>
        </p:txBody>
      </p:sp>
      <p:pic>
        <p:nvPicPr>
          <p:cNvPr id="4" name="图片 3">
            <a:extLst>
              <a:ext uri="{FF2B5EF4-FFF2-40B4-BE49-F238E27FC236}">
                <a16:creationId xmlns:a16="http://schemas.microsoft.com/office/drawing/2014/main" id="{08A5A766-BC10-5C15-07DA-3FAC46718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3945" y="478972"/>
            <a:ext cx="5123976" cy="5754914"/>
          </a:xfrm>
          <a:prstGeom prst="rect">
            <a:avLst/>
          </a:prstGeom>
        </p:spPr>
      </p:pic>
    </p:spTree>
    <p:extLst>
      <p:ext uri="{BB962C8B-B14F-4D97-AF65-F5344CB8AC3E}">
        <p14:creationId xmlns:p14="http://schemas.microsoft.com/office/powerpoint/2010/main" val="1015038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CC459-9AA6-5940-695E-DA16FA8CAB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25B7A7-C722-59BD-E119-48EB9C60018E}"/>
              </a:ext>
            </a:extLst>
          </p:cNvPr>
          <p:cNvSpPr>
            <a:spLocks noGrp="1"/>
          </p:cNvSpPr>
          <p:nvPr>
            <p:ph type="title"/>
          </p:nvPr>
        </p:nvSpPr>
        <p:spPr/>
        <p:txBody>
          <a:bodyPr/>
          <a:lstStyle/>
          <a:p>
            <a:r>
              <a:rPr lang="en-US" altLang="zh-CN" dirty="0"/>
              <a:t>1.1</a:t>
            </a:r>
            <a:r>
              <a:rPr lang="zh-CN" altLang="en-US" dirty="0"/>
              <a:t>一个简单的</a:t>
            </a:r>
            <a:r>
              <a:rPr lang="en-US" altLang="zh-CN" dirty="0"/>
              <a:t>shell</a:t>
            </a:r>
            <a:r>
              <a:rPr lang="zh-CN" altLang="en-US" dirty="0"/>
              <a:t>架构</a:t>
            </a:r>
          </a:p>
        </p:txBody>
      </p:sp>
      <p:sp>
        <p:nvSpPr>
          <p:cNvPr id="10" name="内容占位符 9">
            <a:extLst>
              <a:ext uri="{FF2B5EF4-FFF2-40B4-BE49-F238E27FC236}">
                <a16:creationId xmlns:a16="http://schemas.microsoft.com/office/drawing/2014/main" id="{2AAC1968-0828-516F-FCA2-6F7D0DB84D92}"/>
              </a:ext>
            </a:extLst>
          </p:cNvPr>
          <p:cNvSpPr>
            <a:spLocks noGrp="1"/>
          </p:cNvSpPr>
          <p:nvPr>
            <p:ph idx="1"/>
          </p:nvPr>
        </p:nvSpPr>
        <p:spPr>
          <a:xfrm>
            <a:off x="838200" y="1915886"/>
            <a:ext cx="5257801" cy="3978760"/>
          </a:xfrm>
        </p:spPr>
        <p:txBody>
          <a:bodyPr>
            <a:normAutofit/>
          </a:bodyPr>
          <a:lstStyle/>
          <a:p>
            <a:r>
              <a:rPr lang="zh-CN" altLang="en-US" dirty="0"/>
              <a:t>简单架构的问题</a:t>
            </a:r>
            <a:endParaRPr lang="en-US" altLang="zh-CN" dirty="0"/>
          </a:p>
          <a:p>
            <a:pPr lvl="1"/>
            <a:r>
              <a:rPr lang="zh-CN" altLang="en-US" dirty="0"/>
              <a:t>无限运行</a:t>
            </a:r>
            <a:endParaRPr lang="en-US" altLang="zh-CN" dirty="0"/>
          </a:p>
          <a:p>
            <a:pPr lvl="2"/>
            <a:r>
              <a:rPr lang="zh-CN" altLang="en-US" dirty="0"/>
              <a:t>占用资源</a:t>
            </a:r>
            <a:endParaRPr lang="en-US" altLang="zh-CN" dirty="0"/>
          </a:p>
          <a:p>
            <a:pPr lvl="2"/>
            <a:r>
              <a:rPr lang="zh-CN" altLang="en-US" dirty="0"/>
              <a:t>对前台进程可以正确回收</a:t>
            </a:r>
            <a:endParaRPr lang="en-US" altLang="zh-CN" dirty="0"/>
          </a:p>
          <a:p>
            <a:pPr lvl="1"/>
            <a:r>
              <a:rPr lang="zh-CN" altLang="en-US" dirty="0"/>
              <a:t>后台进程</a:t>
            </a:r>
            <a:endParaRPr lang="en-US" altLang="zh-CN" dirty="0"/>
          </a:p>
          <a:p>
            <a:pPr lvl="2"/>
            <a:r>
              <a:rPr lang="zh-CN" altLang="en-US" dirty="0"/>
              <a:t>停止运行时会变成</a:t>
            </a:r>
            <a:r>
              <a:rPr lang="en-US" altLang="zh-CN" dirty="0"/>
              <a:t>zombie</a:t>
            </a:r>
          </a:p>
          <a:p>
            <a:pPr lvl="2"/>
            <a:r>
              <a:rPr lang="zh-CN" altLang="en-US" dirty="0"/>
              <a:t>因为</a:t>
            </a:r>
            <a:r>
              <a:rPr lang="en-US" altLang="zh-CN" dirty="0"/>
              <a:t>shell</a:t>
            </a:r>
            <a:r>
              <a:rPr lang="zh-CN" altLang="en-US" dirty="0"/>
              <a:t>通常不终止运行，这些进程不会被回收</a:t>
            </a:r>
            <a:endParaRPr lang="en-US" altLang="zh-CN" dirty="0"/>
          </a:p>
          <a:p>
            <a:pPr lvl="1"/>
            <a:r>
              <a:rPr lang="zh-CN" altLang="en-US" dirty="0"/>
              <a:t>如何解决？</a:t>
            </a:r>
            <a:r>
              <a:rPr lang="en-US" altLang="zh-CN" dirty="0"/>
              <a:t>signal</a:t>
            </a:r>
          </a:p>
        </p:txBody>
      </p:sp>
    </p:spTree>
    <p:extLst>
      <p:ext uri="{BB962C8B-B14F-4D97-AF65-F5344CB8AC3E}">
        <p14:creationId xmlns:p14="http://schemas.microsoft.com/office/powerpoint/2010/main" val="1537563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0408D-F2C3-938C-C439-03CAE447D922}"/>
              </a:ext>
            </a:extLst>
          </p:cNvPr>
          <p:cNvSpPr>
            <a:spLocks noGrp="1"/>
          </p:cNvSpPr>
          <p:nvPr>
            <p:ph type="title"/>
          </p:nvPr>
        </p:nvSpPr>
        <p:spPr/>
        <p:txBody>
          <a:bodyPr/>
          <a:lstStyle/>
          <a:p>
            <a:r>
              <a:rPr lang="en-US" altLang="zh-CN" dirty="0"/>
              <a:t>2. Signal</a:t>
            </a:r>
            <a:endParaRPr lang="zh-CN" altLang="en-US" dirty="0"/>
          </a:p>
        </p:txBody>
      </p:sp>
      <p:sp>
        <p:nvSpPr>
          <p:cNvPr id="3" name="内容占位符 2">
            <a:extLst>
              <a:ext uri="{FF2B5EF4-FFF2-40B4-BE49-F238E27FC236}">
                <a16:creationId xmlns:a16="http://schemas.microsoft.com/office/drawing/2014/main" id="{A1ADE2BD-576B-127C-97BC-B5C67B98C6A9}"/>
              </a:ext>
            </a:extLst>
          </p:cNvPr>
          <p:cNvSpPr>
            <a:spLocks noGrp="1"/>
          </p:cNvSpPr>
          <p:nvPr>
            <p:ph idx="1"/>
          </p:nvPr>
        </p:nvSpPr>
        <p:spPr>
          <a:xfrm>
            <a:off x="838200" y="1825625"/>
            <a:ext cx="10515600" cy="1541689"/>
          </a:xfrm>
        </p:spPr>
        <p:txBody>
          <a:bodyPr/>
          <a:lstStyle/>
          <a:p>
            <a:r>
              <a:rPr lang="zh-CN" altLang="en-US" dirty="0"/>
              <a:t>异步，在进程之间进行，需要操作系统支持</a:t>
            </a:r>
            <a:endParaRPr lang="en-US" altLang="zh-CN" dirty="0"/>
          </a:p>
          <a:p>
            <a:r>
              <a:rPr lang="zh-CN" altLang="en-US" dirty="0"/>
              <a:t>信号是一条小消息，通过内核发送，通知进程 系统中发生了某一类型的事件</a:t>
            </a:r>
            <a:endParaRPr lang="en-US" altLang="zh-CN" dirty="0"/>
          </a:p>
        </p:txBody>
      </p:sp>
      <p:pic>
        <p:nvPicPr>
          <p:cNvPr id="5" name="图片 4">
            <a:extLst>
              <a:ext uri="{FF2B5EF4-FFF2-40B4-BE49-F238E27FC236}">
                <a16:creationId xmlns:a16="http://schemas.microsoft.com/office/drawing/2014/main" id="{6F92D85B-E4F1-9429-9E25-9F6B085B3E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429000"/>
            <a:ext cx="10109200" cy="2705808"/>
          </a:xfrm>
          <a:prstGeom prst="rect">
            <a:avLst/>
          </a:prstGeom>
        </p:spPr>
      </p:pic>
    </p:spTree>
    <p:extLst>
      <p:ext uri="{BB962C8B-B14F-4D97-AF65-F5344CB8AC3E}">
        <p14:creationId xmlns:p14="http://schemas.microsoft.com/office/powerpoint/2010/main" val="4024084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4350A9-FC30-E7A2-CEFB-425E3299183D}"/>
              </a:ext>
            </a:extLst>
          </p:cNvPr>
          <p:cNvSpPr>
            <a:spLocks noGrp="1"/>
          </p:cNvSpPr>
          <p:nvPr>
            <p:ph type="title"/>
          </p:nvPr>
        </p:nvSpPr>
        <p:spPr/>
        <p:txBody>
          <a:bodyPr/>
          <a:lstStyle/>
          <a:p>
            <a:r>
              <a:rPr lang="en-US" altLang="zh-CN" dirty="0"/>
              <a:t>2.1</a:t>
            </a:r>
            <a:r>
              <a:rPr lang="zh-CN" altLang="en-US" dirty="0"/>
              <a:t> 信号术语</a:t>
            </a:r>
          </a:p>
        </p:txBody>
      </p:sp>
      <p:sp>
        <p:nvSpPr>
          <p:cNvPr id="3" name="内容占位符 2">
            <a:extLst>
              <a:ext uri="{FF2B5EF4-FFF2-40B4-BE49-F238E27FC236}">
                <a16:creationId xmlns:a16="http://schemas.microsoft.com/office/drawing/2014/main" id="{8F73F373-44EE-8730-407B-E7912C34E1F0}"/>
              </a:ext>
            </a:extLst>
          </p:cNvPr>
          <p:cNvSpPr>
            <a:spLocks noGrp="1"/>
          </p:cNvSpPr>
          <p:nvPr>
            <p:ph idx="1"/>
          </p:nvPr>
        </p:nvSpPr>
        <p:spPr/>
        <p:txBody>
          <a:bodyPr/>
          <a:lstStyle/>
          <a:p>
            <a:r>
              <a:rPr lang="zh-CN" altLang="en-US" dirty="0"/>
              <a:t>待处理信号：发出而没有被接受的信号</a:t>
            </a:r>
            <a:endParaRPr lang="en-US" altLang="zh-CN" dirty="0"/>
          </a:p>
          <a:p>
            <a:pPr lvl="1"/>
            <a:r>
              <a:rPr lang="zh-CN" altLang="en-US" dirty="0"/>
              <a:t>任何时刻，一种类型至多有一个待处理信号</a:t>
            </a:r>
            <a:endParaRPr lang="en-US" altLang="zh-CN" dirty="0"/>
          </a:p>
          <a:p>
            <a:pPr lvl="1"/>
            <a:r>
              <a:rPr lang="zh-CN" altLang="en-US" dirty="0"/>
              <a:t>信号不会排队</a:t>
            </a:r>
            <a:endParaRPr lang="en-US" altLang="zh-CN" dirty="0"/>
          </a:p>
          <a:p>
            <a:r>
              <a:rPr lang="zh-CN" altLang="en-US" dirty="0"/>
              <a:t>信号的阻塞：进程可以选择性阻塞某种信号</a:t>
            </a:r>
            <a:endParaRPr lang="en-US" altLang="zh-CN" dirty="0"/>
          </a:p>
          <a:p>
            <a:pPr lvl="1"/>
            <a:r>
              <a:rPr lang="zh-CN" altLang="en-US" dirty="0"/>
              <a:t>一种信号被阻塞时，仍然可以发送，但待处理信号不会被接收，直到阻塞结束</a:t>
            </a:r>
            <a:endParaRPr lang="en-US" altLang="zh-CN" dirty="0"/>
          </a:p>
          <a:p>
            <a:r>
              <a:rPr lang="en-US" altLang="zh-CN" dirty="0"/>
              <a:t>pending</a:t>
            </a:r>
            <a:r>
              <a:rPr lang="zh-CN" altLang="en-US" dirty="0"/>
              <a:t>位向量维护待处理信号，</a:t>
            </a:r>
            <a:r>
              <a:rPr lang="en-US" altLang="zh-CN" dirty="0"/>
              <a:t>blocked</a:t>
            </a:r>
            <a:r>
              <a:rPr lang="zh-CN" altLang="en-US" dirty="0"/>
              <a:t>位向量维护被阻塞信号</a:t>
            </a:r>
            <a:endParaRPr lang="en-US" altLang="zh-CN" dirty="0"/>
          </a:p>
          <a:p>
            <a:pPr lvl="1"/>
            <a:r>
              <a:rPr lang="zh-CN" altLang="en-US" dirty="0"/>
              <a:t>由内核维护，传送一个信号</a:t>
            </a:r>
            <a:r>
              <a:rPr lang="en-US" altLang="zh-CN" dirty="0"/>
              <a:t>k</a:t>
            </a:r>
            <a:r>
              <a:rPr lang="zh-CN" altLang="en-US" dirty="0"/>
              <a:t>时设置</a:t>
            </a:r>
            <a:r>
              <a:rPr lang="en-US" altLang="zh-CN" dirty="0"/>
              <a:t>pending</a:t>
            </a:r>
            <a:r>
              <a:rPr lang="zh-CN" altLang="en-US" dirty="0"/>
              <a:t>第</a:t>
            </a:r>
            <a:r>
              <a:rPr lang="en-US" altLang="zh-CN" dirty="0"/>
              <a:t>k</a:t>
            </a:r>
            <a:r>
              <a:rPr lang="zh-CN" altLang="en-US" dirty="0"/>
              <a:t>位，接收一个信号</a:t>
            </a:r>
            <a:r>
              <a:rPr lang="en-US" altLang="zh-CN" dirty="0"/>
              <a:t>k</a:t>
            </a:r>
            <a:r>
              <a:rPr lang="zh-CN" altLang="en-US" dirty="0"/>
              <a:t>时清除</a:t>
            </a:r>
            <a:r>
              <a:rPr lang="en-US" altLang="zh-CN" dirty="0"/>
              <a:t>pending</a:t>
            </a:r>
            <a:r>
              <a:rPr lang="zh-CN" altLang="en-US" dirty="0"/>
              <a:t>第</a:t>
            </a:r>
            <a:r>
              <a:rPr lang="en-US" altLang="zh-CN" dirty="0"/>
              <a:t>k</a:t>
            </a:r>
            <a:r>
              <a:rPr lang="zh-CN" altLang="en-US" dirty="0"/>
              <a:t>位</a:t>
            </a:r>
            <a:endParaRPr lang="en-US" altLang="zh-CN" dirty="0"/>
          </a:p>
        </p:txBody>
      </p:sp>
    </p:spTree>
    <p:extLst>
      <p:ext uri="{BB962C8B-B14F-4D97-AF65-F5344CB8AC3E}">
        <p14:creationId xmlns:p14="http://schemas.microsoft.com/office/powerpoint/2010/main" val="1075358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D25B4-94A3-6D66-FB5D-67680D5D84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28A643-176A-FAB2-751E-F2AE54A0764F}"/>
              </a:ext>
            </a:extLst>
          </p:cNvPr>
          <p:cNvSpPr>
            <a:spLocks noGrp="1"/>
          </p:cNvSpPr>
          <p:nvPr>
            <p:ph type="title"/>
          </p:nvPr>
        </p:nvSpPr>
        <p:spPr/>
        <p:txBody>
          <a:bodyPr/>
          <a:lstStyle/>
          <a:p>
            <a:r>
              <a:rPr lang="en-US" altLang="zh-CN" dirty="0"/>
              <a:t>2.2 </a:t>
            </a:r>
            <a:r>
              <a:rPr lang="zh-CN" altLang="en-US" dirty="0"/>
              <a:t>发送信号</a:t>
            </a:r>
          </a:p>
        </p:txBody>
      </p:sp>
      <p:sp>
        <p:nvSpPr>
          <p:cNvPr id="4" name="内容占位符 3">
            <a:extLst>
              <a:ext uri="{FF2B5EF4-FFF2-40B4-BE49-F238E27FC236}">
                <a16:creationId xmlns:a16="http://schemas.microsoft.com/office/drawing/2014/main" id="{3E6C2C62-4A4A-A224-19CD-038B96FEC5A9}"/>
              </a:ext>
            </a:extLst>
          </p:cNvPr>
          <p:cNvSpPr>
            <a:spLocks noGrp="1"/>
          </p:cNvSpPr>
          <p:nvPr>
            <p:ph idx="1"/>
          </p:nvPr>
        </p:nvSpPr>
        <p:spPr/>
        <p:txBody>
          <a:bodyPr/>
          <a:lstStyle/>
          <a:p>
            <a:r>
              <a:rPr lang="zh-CN" altLang="en-US" dirty="0"/>
              <a:t>发送条件</a:t>
            </a:r>
            <a:endParaRPr lang="en-US" altLang="zh-CN" dirty="0"/>
          </a:p>
          <a:p>
            <a:pPr lvl="1"/>
            <a:r>
              <a:rPr lang="zh-CN" altLang="en-US" dirty="0"/>
              <a:t>内核检测到系统事件</a:t>
            </a:r>
            <a:endParaRPr lang="en-US" altLang="zh-CN" dirty="0"/>
          </a:p>
          <a:p>
            <a:pPr lvl="1"/>
            <a:r>
              <a:rPr lang="zh-CN" altLang="en-US" dirty="0"/>
              <a:t>一个进程调用了</a:t>
            </a:r>
            <a:r>
              <a:rPr lang="en-US" altLang="zh-CN" dirty="0"/>
              <a:t>kill</a:t>
            </a:r>
            <a:r>
              <a:rPr lang="zh-CN" altLang="en-US" dirty="0"/>
              <a:t>函数</a:t>
            </a:r>
          </a:p>
          <a:p>
            <a:r>
              <a:rPr lang="zh-CN" altLang="en-US" dirty="0"/>
              <a:t>进程组</a:t>
            </a:r>
            <a:endParaRPr lang="en-US" altLang="zh-CN" dirty="0"/>
          </a:p>
          <a:p>
            <a:pPr lvl="1"/>
            <a:r>
              <a:rPr lang="zh-CN" altLang="en-US" dirty="0"/>
              <a:t>每个进程都属于一个进程组，通过正整数</a:t>
            </a:r>
            <a:r>
              <a:rPr lang="en-US" altLang="zh-CN" dirty="0"/>
              <a:t>ID</a:t>
            </a:r>
            <a:r>
              <a:rPr lang="zh-CN" altLang="en-US" dirty="0"/>
              <a:t>标识</a:t>
            </a:r>
            <a:endParaRPr lang="en-US" altLang="zh-CN" dirty="0"/>
          </a:p>
          <a:p>
            <a:pPr lvl="1"/>
            <a:r>
              <a:rPr lang="en-US" altLang="zh-CN" dirty="0" err="1"/>
              <a:t>getpgrp</a:t>
            </a:r>
            <a:r>
              <a:rPr lang="zh-CN" altLang="en-US" dirty="0"/>
              <a:t>返回当前进程组</a:t>
            </a:r>
            <a:r>
              <a:rPr lang="en-US" altLang="zh-CN" dirty="0"/>
              <a:t>ID</a:t>
            </a:r>
            <a:r>
              <a:rPr lang="zh-CN" altLang="en-US" dirty="0"/>
              <a:t>，</a:t>
            </a:r>
            <a:r>
              <a:rPr lang="en-US" altLang="zh-CN" dirty="0" err="1"/>
              <a:t>setpgid</a:t>
            </a:r>
            <a:r>
              <a:rPr lang="zh-CN" altLang="en-US" dirty="0"/>
              <a:t>用于设置进程组</a:t>
            </a:r>
            <a:endParaRPr lang="en-US" altLang="zh-CN" dirty="0"/>
          </a:p>
          <a:p>
            <a:pPr lvl="1"/>
            <a:r>
              <a:rPr lang="zh-CN" altLang="en-US" dirty="0"/>
              <a:t>信号可以发给一个进程，也可以发给一组进程</a:t>
            </a:r>
            <a:endParaRPr lang="en-US" altLang="zh-CN" dirty="0"/>
          </a:p>
          <a:p>
            <a:endParaRPr lang="en-US" altLang="zh-CN" dirty="0"/>
          </a:p>
        </p:txBody>
      </p:sp>
    </p:spTree>
    <p:extLst>
      <p:ext uri="{BB962C8B-B14F-4D97-AF65-F5344CB8AC3E}">
        <p14:creationId xmlns:p14="http://schemas.microsoft.com/office/powerpoint/2010/main" val="4034440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23AF9-EE74-4022-7ECC-8D101AB31C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6C38F6-6E5C-6D19-7A23-87C28C6DCAA4}"/>
              </a:ext>
            </a:extLst>
          </p:cNvPr>
          <p:cNvSpPr>
            <a:spLocks noGrp="1"/>
          </p:cNvSpPr>
          <p:nvPr>
            <p:ph type="title"/>
          </p:nvPr>
        </p:nvSpPr>
        <p:spPr/>
        <p:txBody>
          <a:bodyPr/>
          <a:lstStyle/>
          <a:p>
            <a:r>
              <a:rPr lang="en-US" altLang="zh-CN" dirty="0"/>
              <a:t>2.2 </a:t>
            </a:r>
            <a:r>
              <a:rPr lang="zh-CN" altLang="en-US" dirty="0"/>
              <a:t>发送信号</a:t>
            </a:r>
          </a:p>
        </p:txBody>
      </p:sp>
      <p:sp>
        <p:nvSpPr>
          <p:cNvPr id="4" name="内容占位符 3">
            <a:extLst>
              <a:ext uri="{FF2B5EF4-FFF2-40B4-BE49-F238E27FC236}">
                <a16:creationId xmlns:a16="http://schemas.microsoft.com/office/drawing/2014/main" id="{D267E820-E98C-1D6B-59C7-096466DCB5D6}"/>
              </a:ext>
            </a:extLst>
          </p:cNvPr>
          <p:cNvSpPr>
            <a:spLocks noGrp="1"/>
          </p:cNvSpPr>
          <p:nvPr>
            <p:ph idx="1"/>
          </p:nvPr>
        </p:nvSpPr>
        <p:spPr>
          <a:xfrm>
            <a:off x="838200" y="1825625"/>
            <a:ext cx="7180943" cy="4351338"/>
          </a:xfrm>
        </p:spPr>
        <p:txBody>
          <a:bodyPr/>
          <a:lstStyle/>
          <a:p>
            <a:r>
              <a:rPr lang="zh-CN" altLang="en-US" dirty="0"/>
              <a:t>发送方式</a:t>
            </a:r>
            <a:endParaRPr lang="en-US" altLang="zh-CN" dirty="0"/>
          </a:p>
          <a:p>
            <a:pPr lvl="1"/>
            <a:r>
              <a:rPr lang="zh-CN" altLang="en-US" dirty="0"/>
              <a:t>使用</a:t>
            </a:r>
            <a:r>
              <a:rPr lang="en-US" altLang="zh-CN" dirty="0"/>
              <a:t>/bin/kill</a:t>
            </a:r>
            <a:r>
              <a:rPr lang="zh-CN" altLang="en-US" dirty="0"/>
              <a:t>，</a:t>
            </a:r>
            <a:r>
              <a:rPr lang="en-US" altLang="zh-CN" dirty="0" err="1"/>
              <a:t>pid</a:t>
            </a:r>
            <a:r>
              <a:rPr lang="zh-CN" altLang="en-US" dirty="0"/>
              <a:t>为负数时信号发至</a:t>
            </a:r>
            <a:r>
              <a:rPr lang="en-US" altLang="zh-CN" dirty="0" err="1"/>
              <a:t>pid</a:t>
            </a:r>
            <a:r>
              <a:rPr lang="zh-CN" altLang="en-US" dirty="0"/>
              <a:t>进程组</a:t>
            </a:r>
            <a:endParaRPr lang="en-US" altLang="zh-CN" dirty="0"/>
          </a:p>
          <a:p>
            <a:pPr lvl="2"/>
            <a:r>
              <a:rPr lang="zh-CN" altLang="en-US" dirty="0"/>
              <a:t>如</a:t>
            </a:r>
            <a:r>
              <a:rPr lang="en-US" altLang="zh-CN" dirty="0" err="1"/>
              <a:t>linux</a:t>
            </a:r>
            <a:r>
              <a:rPr lang="en-US" altLang="zh-CN" dirty="0"/>
              <a:t>&gt; /bin/kill -9 15213</a:t>
            </a:r>
          </a:p>
          <a:p>
            <a:pPr lvl="1"/>
            <a:r>
              <a:rPr lang="zh-CN" altLang="en-US" dirty="0"/>
              <a:t>从键盘发出</a:t>
            </a:r>
            <a:endParaRPr lang="en-US" altLang="zh-CN" dirty="0"/>
          </a:p>
          <a:p>
            <a:pPr lvl="2"/>
            <a:r>
              <a:rPr lang="en-US" altLang="zh-CN" dirty="0" err="1"/>
              <a:t>Ctrl+C</a:t>
            </a:r>
            <a:r>
              <a:rPr lang="zh-CN" altLang="en-US" dirty="0"/>
              <a:t>终止前台作业</a:t>
            </a:r>
            <a:r>
              <a:rPr lang="en-US" altLang="zh-CN" dirty="0"/>
              <a:t>(SIGINT)</a:t>
            </a:r>
          </a:p>
          <a:p>
            <a:pPr lvl="2"/>
            <a:r>
              <a:rPr lang="en-US" altLang="zh-CN" dirty="0"/>
              <a:t>Ctrl+Z</a:t>
            </a:r>
            <a:r>
              <a:rPr lang="zh-CN" altLang="en-US" dirty="0"/>
              <a:t>挂起前台作业</a:t>
            </a:r>
            <a:r>
              <a:rPr lang="en-US" altLang="zh-CN" dirty="0"/>
              <a:t>(SIGTSTP)</a:t>
            </a:r>
          </a:p>
          <a:p>
            <a:pPr lvl="1"/>
            <a:r>
              <a:rPr lang="zh-CN" altLang="en-US" dirty="0"/>
              <a:t>使用</a:t>
            </a:r>
            <a:r>
              <a:rPr lang="en-US" altLang="zh-CN" dirty="0"/>
              <a:t>kill</a:t>
            </a:r>
            <a:r>
              <a:rPr lang="zh-CN" altLang="en-US" dirty="0"/>
              <a:t>函数</a:t>
            </a:r>
            <a:endParaRPr lang="en-US" altLang="zh-CN" dirty="0"/>
          </a:p>
          <a:p>
            <a:pPr lvl="2"/>
            <a:r>
              <a:rPr lang="en-US" altLang="zh-CN" dirty="0" err="1"/>
              <a:t>pid</a:t>
            </a:r>
            <a:r>
              <a:rPr lang="en-US" altLang="zh-CN" dirty="0"/>
              <a:t>&gt;0</a:t>
            </a:r>
            <a:r>
              <a:rPr lang="zh-CN" altLang="en-US" dirty="0"/>
              <a:t>，发送</a:t>
            </a:r>
            <a:r>
              <a:rPr lang="en-US" altLang="zh-CN" dirty="0"/>
              <a:t>sig</a:t>
            </a:r>
            <a:r>
              <a:rPr lang="zh-CN" altLang="en-US" dirty="0"/>
              <a:t>信号给</a:t>
            </a:r>
            <a:r>
              <a:rPr lang="en-US" altLang="zh-CN" dirty="0" err="1"/>
              <a:t>pid</a:t>
            </a:r>
            <a:endParaRPr lang="en-US" altLang="zh-CN" dirty="0"/>
          </a:p>
          <a:p>
            <a:pPr lvl="2"/>
            <a:r>
              <a:rPr lang="en-US" altLang="zh-CN" dirty="0" err="1"/>
              <a:t>pid</a:t>
            </a:r>
            <a:r>
              <a:rPr lang="en-US" altLang="zh-CN" dirty="0"/>
              <a:t>==0</a:t>
            </a:r>
            <a:r>
              <a:rPr lang="zh-CN" altLang="en-US" dirty="0"/>
              <a:t>，发送</a:t>
            </a:r>
            <a:r>
              <a:rPr lang="en-US" altLang="zh-CN" dirty="0"/>
              <a:t>sig</a:t>
            </a:r>
            <a:r>
              <a:rPr lang="zh-CN" altLang="en-US" dirty="0"/>
              <a:t>给调用进程所在进程组的每个进程</a:t>
            </a:r>
            <a:endParaRPr lang="en-US" altLang="zh-CN" dirty="0"/>
          </a:p>
          <a:p>
            <a:pPr lvl="2"/>
            <a:r>
              <a:rPr lang="en-US" altLang="zh-CN" dirty="0" err="1"/>
              <a:t>pid</a:t>
            </a:r>
            <a:r>
              <a:rPr lang="en-US" altLang="zh-CN" dirty="0"/>
              <a:t>&lt;0</a:t>
            </a:r>
            <a:r>
              <a:rPr lang="zh-CN" altLang="en-US" dirty="0"/>
              <a:t>，发送</a:t>
            </a:r>
            <a:r>
              <a:rPr lang="en-US" altLang="zh-CN" dirty="0"/>
              <a:t>sig</a:t>
            </a:r>
            <a:r>
              <a:rPr lang="zh-CN" altLang="en-US" dirty="0"/>
              <a:t>给</a:t>
            </a:r>
            <a:r>
              <a:rPr lang="en-US" altLang="zh-CN" dirty="0"/>
              <a:t>|</a:t>
            </a:r>
            <a:r>
              <a:rPr lang="en-US" altLang="zh-CN" dirty="0" err="1"/>
              <a:t>pid</a:t>
            </a:r>
            <a:r>
              <a:rPr lang="en-US" altLang="zh-CN" dirty="0"/>
              <a:t>|</a:t>
            </a:r>
            <a:r>
              <a:rPr lang="zh-CN" altLang="en-US" dirty="0"/>
              <a:t>进程组的每个进程</a:t>
            </a:r>
            <a:endParaRPr lang="en-US" altLang="zh-CN" dirty="0"/>
          </a:p>
          <a:p>
            <a:pPr lvl="1"/>
            <a:r>
              <a:rPr lang="zh-CN" altLang="en-US" dirty="0"/>
              <a:t>使用</a:t>
            </a:r>
            <a:r>
              <a:rPr lang="en-US" altLang="zh-CN" dirty="0"/>
              <a:t>alarm</a:t>
            </a:r>
            <a:r>
              <a:rPr lang="zh-CN" altLang="en-US" dirty="0"/>
              <a:t>函数向自己发送</a:t>
            </a:r>
            <a:r>
              <a:rPr lang="en-US" altLang="zh-CN" dirty="0"/>
              <a:t>SIGALRM</a:t>
            </a:r>
          </a:p>
        </p:txBody>
      </p:sp>
      <p:pic>
        <p:nvPicPr>
          <p:cNvPr id="5" name="图片 4">
            <a:extLst>
              <a:ext uri="{FF2B5EF4-FFF2-40B4-BE49-F238E27FC236}">
                <a16:creationId xmlns:a16="http://schemas.microsoft.com/office/drawing/2014/main" id="{6EE2357C-7176-59D1-3E17-C567141175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9641" y="4001294"/>
            <a:ext cx="4429743" cy="495369"/>
          </a:xfrm>
          <a:prstGeom prst="rect">
            <a:avLst/>
          </a:prstGeom>
        </p:spPr>
      </p:pic>
    </p:spTree>
    <p:extLst>
      <p:ext uri="{BB962C8B-B14F-4D97-AF65-F5344CB8AC3E}">
        <p14:creationId xmlns:p14="http://schemas.microsoft.com/office/powerpoint/2010/main" val="3357708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D8699-442F-711D-BF65-3C4AA9BFD56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1A89D7-E444-C5BC-66CA-CF360A3E115E}"/>
              </a:ext>
            </a:extLst>
          </p:cNvPr>
          <p:cNvSpPr>
            <a:spLocks noGrp="1"/>
          </p:cNvSpPr>
          <p:nvPr>
            <p:ph type="title"/>
          </p:nvPr>
        </p:nvSpPr>
        <p:spPr/>
        <p:txBody>
          <a:bodyPr/>
          <a:lstStyle/>
          <a:p>
            <a:r>
              <a:rPr lang="en-US" altLang="zh-CN" dirty="0"/>
              <a:t>2.3 </a:t>
            </a:r>
            <a:r>
              <a:rPr lang="zh-CN" altLang="en-US" dirty="0"/>
              <a:t>接收信号</a:t>
            </a:r>
          </a:p>
        </p:txBody>
      </p:sp>
      <p:sp>
        <p:nvSpPr>
          <p:cNvPr id="4" name="内容占位符 3">
            <a:extLst>
              <a:ext uri="{FF2B5EF4-FFF2-40B4-BE49-F238E27FC236}">
                <a16:creationId xmlns:a16="http://schemas.microsoft.com/office/drawing/2014/main" id="{F0DC6F8C-204C-640D-47EA-D95649304B11}"/>
              </a:ext>
            </a:extLst>
          </p:cNvPr>
          <p:cNvSpPr>
            <a:spLocks noGrp="1"/>
          </p:cNvSpPr>
          <p:nvPr>
            <p:ph idx="1"/>
          </p:nvPr>
        </p:nvSpPr>
        <p:spPr>
          <a:xfrm>
            <a:off x="838200" y="1825625"/>
            <a:ext cx="9017000" cy="4351338"/>
          </a:xfrm>
        </p:spPr>
        <p:txBody>
          <a:bodyPr/>
          <a:lstStyle/>
          <a:p>
            <a:r>
              <a:rPr lang="zh-CN" altLang="en-US" dirty="0"/>
              <a:t>接收</a:t>
            </a:r>
            <a:endParaRPr lang="en-US" altLang="zh-CN" dirty="0"/>
          </a:p>
          <a:p>
            <a:pPr lvl="1"/>
            <a:r>
              <a:rPr lang="zh-CN" altLang="en-US" dirty="0"/>
              <a:t>内核将进程从内核模式切换回用户模式时检查未屏蔽待处理信号集合</a:t>
            </a:r>
            <a:endParaRPr lang="en-US" altLang="zh-CN" dirty="0"/>
          </a:p>
          <a:p>
            <a:pPr lvl="1"/>
            <a:r>
              <a:rPr lang="zh-CN" altLang="en-US" dirty="0"/>
              <a:t>非空时，内核选择集合中最小信号</a:t>
            </a:r>
            <a:r>
              <a:rPr lang="en-US" altLang="zh-CN" dirty="0"/>
              <a:t>k</a:t>
            </a:r>
            <a:r>
              <a:rPr lang="zh-CN" altLang="en-US" dirty="0"/>
              <a:t>强制</a:t>
            </a:r>
            <a:r>
              <a:rPr lang="en-US" altLang="zh-CN" dirty="0"/>
              <a:t>p</a:t>
            </a:r>
            <a:r>
              <a:rPr lang="zh-CN" altLang="en-US" dirty="0"/>
              <a:t>接收，进程执行某些操作后，重复以上选择直至集合为空</a:t>
            </a:r>
            <a:endParaRPr lang="en-US" altLang="zh-CN" dirty="0"/>
          </a:p>
          <a:p>
            <a:r>
              <a:rPr lang="zh-CN" altLang="en-US" dirty="0"/>
              <a:t>接收信号后进程采取的行为</a:t>
            </a:r>
            <a:endParaRPr lang="en-US" altLang="zh-CN" dirty="0"/>
          </a:p>
          <a:p>
            <a:pPr lvl="1"/>
            <a:r>
              <a:rPr lang="zh-CN" altLang="en-US" dirty="0"/>
              <a:t>默认行为</a:t>
            </a:r>
            <a:endParaRPr lang="en-US" altLang="zh-CN" dirty="0"/>
          </a:p>
          <a:p>
            <a:pPr lvl="2"/>
            <a:r>
              <a:rPr lang="zh-CN" altLang="en-US" dirty="0"/>
              <a:t>忽略该信号</a:t>
            </a:r>
            <a:endParaRPr lang="en-US" altLang="zh-CN" dirty="0"/>
          </a:p>
          <a:p>
            <a:pPr lvl="2"/>
            <a:r>
              <a:rPr lang="zh-CN" altLang="en-US" dirty="0"/>
              <a:t>终止</a:t>
            </a:r>
            <a:r>
              <a:rPr lang="en-US" altLang="zh-CN" dirty="0"/>
              <a:t>(</a:t>
            </a:r>
            <a:r>
              <a:rPr lang="zh-CN" altLang="en-US" dirty="0"/>
              <a:t>并转储内存</a:t>
            </a:r>
            <a:r>
              <a:rPr lang="en-US" altLang="zh-CN" dirty="0"/>
              <a:t>)</a:t>
            </a:r>
          </a:p>
          <a:p>
            <a:pPr lvl="2"/>
            <a:r>
              <a:rPr lang="zh-CN" altLang="en-US" dirty="0"/>
              <a:t>停止</a:t>
            </a:r>
            <a:r>
              <a:rPr lang="en-US" altLang="zh-CN" dirty="0"/>
              <a:t>(</a:t>
            </a:r>
            <a:r>
              <a:rPr lang="zh-CN" altLang="en-US" dirty="0"/>
              <a:t>挂起</a:t>
            </a:r>
            <a:r>
              <a:rPr lang="en-US" altLang="zh-CN" dirty="0"/>
              <a:t>)</a:t>
            </a:r>
            <a:r>
              <a:rPr lang="zh-CN" altLang="en-US" dirty="0"/>
              <a:t>直到被</a:t>
            </a:r>
            <a:r>
              <a:rPr lang="en-US" altLang="zh-CN" dirty="0"/>
              <a:t>SIGCONT</a:t>
            </a:r>
            <a:r>
              <a:rPr lang="zh-CN" altLang="en-US" dirty="0"/>
              <a:t>重启</a:t>
            </a:r>
            <a:endParaRPr lang="en-US" altLang="zh-CN" dirty="0"/>
          </a:p>
          <a:p>
            <a:pPr lvl="1"/>
            <a:r>
              <a:rPr lang="zh-CN" altLang="en-US" dirty="0"/>
              <a:t>也可以执行用户级函数“信号处理程序” 捕捉信号</a:t>
            </a:r>
            <a:endParaRPr lang="en-US" altLang="zh-CN" dirty="0"/>
          </a:p>
        </p:txBody>
      </p:sp>
      <p:pic>
        <p:nvPicPr>
          <p:cNvPr id="6" name="图片 5">
            <a:extLst>
              <a:ext uri="{FF2B5EF4-FFF2-40B4-BE49-F238E27FC236}">
                <a16:creationId xmlns:a16="http://schemas.microsoft.com/office/drawing/2014/main" id="{2128CB4C-D588-529A-F972-E7C99955D0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028" y="3803497"/>
            <a:ext cx="5529943" cy="1815237"/>
          </a:xfrm>
          <a:prstGeom prst="rect">
            <a:avLst/>
          </a:prstGeom>
        </p:spPr>
      </p:pic>
    </p:spTree>
    <p:extLst>
      <p:ext uri="{BB962C8B-B14F-4D97-AF65-F5344CB8AC3E}">
        <p14:creationId xmlns:p14="http://schemas.microsoft.com/office/powerpoint/2010/main" val="3188588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887B6-C4D0-EC3C-01A6-40808E98385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DA42B1A-4D9E-5F3F-BECA-041A9682A1E5}"/>
              </a:ext>
            </a:extLst>
          </p:cNvPr>
          <p:cNvSpPr>
            <a:spLocks noGrp="1"/>
          </p:cNvSpPr>
          <p:nvPr>
            <p:ph type="title"/>
          </p:nvPr>
        </p:nvSpPr>
        <p:spPr/>
        <p:txBody>
          <a:bodyPr/>
          <a:lstStyle/>
          <a:p>
            <a:r>
              <a:rPr lang="en-US" altLang="zh-CN" dirty="0"/>
              <a:t>2.3 </a:t>
            </a:r>
            <a:r>
              <a:rPr lang="zh-CN" altLang="en-US" dirty="0"/>
              <a:t>接收信号</a:t>
            </a:r>
          </a:p>
        </p:txBody>
      </p:sp>
      <p:sp>
        <p:nvSpPr>
          <p:cNvPr id="4" name="内容占位符 3">
            <a:extLst>
              <a:ext uri="{FF2B5EF4-FFF2-40B4-BE49-F238E27FC236}">
                <a16:creationId xmlns:a16="http://schemas.microsoft.com/office/drawing/2014/main" id="{55307C40-04E0-44F7-7345-AED487EBA03A}"/>
              </a:ext>
            </a:extLst>
          </p:cNvPr>
          <p:cNvSpPr>
            <a:spLocks noGrp="1"/>
          </p:cNvSpPr>
          <p:nvPr>
            <p:ph idx="1"/>
          </p:nvPr>
        </p:nvSpPr>
        <p:spPr>
          <a:xfrm>
            <a:off x="693057" y="1690688"/>
            <a:ext cx="8567057" cy="4351338"/>
          </a:xfrm>
        </p:spPr>
        <p:txBody>
          <a:bodyPr/>
          <a:lstStyle/>
          <a:p>
            <a:r>
              <a:rPr lang="zh-CN" altLang="en-US" dirty="0"/>
              <a:t>接收信号后进程采取的行为</a:t>
            </a:r>
            <a:endParaRPr lang="en-US" altLang="zh-CN" dirty="0"/>
          </a:p>
          <a:p>
            <a:pPr lvl="1"/>
            <a:r>
              <a:rPr lang="zh-CN" altLang="en-US" dirty="0"/>
              <a:t>通过</a:t>
            </a:r>
            <a:r>
              <a:rPr lang="en-US" altLang="zh-CN" dirty="0"/>
              <a:t>signal</a:t>
            </a:r>
            <a:r>
              <a:rPr lang="zh-CN" altLang="en-US" dirty="0"/>
              <a:t>函数修改默认行为</a:t>
            </a:r>
            <a:r>
              <a:rPr lang="en-US" altLang="zh-CN" dirty="0"/>
              <a:t>(</a:t>
            </a:r>
            <a:r>
              <a:rPr lang="zh-CN" altLang="en-US" dirty="0"/>
              <a:t>不可修改</a:t>
            </a:r>
            <a:r>
              <a:rPr lang="en-US" altLang="zh-CN" dirty="0"/>
              <a:t>SIGSTOP</a:t>
            </a:r>
            <a:r>
              <a:rPr lang="zh-CN" altLang="en-US" dirty="0"/>
              <a:t>和</a:t>
            </a:r>
            <a:r>
              <a:rPr lang="en-US" altLang="zh-CN" dirty="0"/>
              <a:t>SIGKILL)</a:t>
            </a:r>
          </a:p>
          <a:p>
            <a:pPr lvl="1"/>
            <a:endParaRPr lang="en-US" altLang="zh-CN" dirty="0"/>
          </a:p>
          <a:p>
            <a:pPr lvl="1"/>
            <a:endParaRPr lang="en-US" altLang="zh-CN" dirty="0"/>
          </a:p>
          <a:p>
            <a:pPr lvl="1"/>
            <a:r>
              <a:rPr lang="en-US" altLang="zh-CN" dirty="0"/>
              <a:t>handler</a:t>
            </a:r>
            <a:r>
              <a:rPr lang="zh-CN" altLang="en-US" dirty="0"/>
              <a:t>为</a:t>
            </a:r>
            <a:r>
              <a:rPr lang="en-US" altLang="zh-CN" dirty="0"/>
              <a:t>SIG_IGN</a:t>
            </a:r>
            <a:r>
              <a:rPr lang="zh-CN" altLang="en-US" dirty="0"/>
              <a:t>时，忽略</a:t>
            </a:r>
            <a:r>
              <a:rPr lang="en-US" altLang="zh-CN" dirty="0"/>
              <a:t>signum</a:t>
            </a:r>
          </a:p>
          <a:p>
            <a:pPr lvl="1"/>
            <a:r>
              <a:rPr lang="zh-CN" altLang="en-US" dirty="0"/>
              <a:t>为</a:t>
            </a:r>
            <a:r>
              <a:rPr lang="en-US" altLang="zh-CN" dirty="0"/>
              <a:t>SIG_DFL</a:t>
            </a:r>
            <a:r>
              <a:rPr lang="zh-CN" altLang="en-US" dirty="0"/>
              <a:t>，恢复</a:t>
            </a:r>
            <a:r>
              <a:rPr lang="en-US" altLang="zh-CN" dirty="0"/>
              <a:t>signum</a:t>
            </a:r>
            <a:r>
              <a:rPr lang="zh-CN" altLang="en-US" dirty="0"/>
              <a:t>的默认行为</a:t>
            </a:r>
            <a:endParaRPr lang="en-US" altLang="zh-CN" dirty="0"/>
          </a:p>
          <a:p>
            <a:pPr lvl="1"/>
            <a:r>
              <a:rPr lang="zh-CN" altLang="en-US" dirty="0"/>
              <a:t>否则，</a:t>
            </a:r>
            <a:r>
              <a:rPr lang="en-US" altLang="zh-CN" dirty="0"/>
              <a:t>handler</a:t>
            </a:r>
            <a:r>
              <a:rPr lang="zh-CN" altLang="en-US" dirty="0"/>
              <a:t>为用户定义的信号处理程序的地址，捕获信号时会调用为其设置的信号处理程序</a:t>
            </a:r>
            <a:endParaRPr lang="en-US" altLang="zh-CN" dirty="0"/>
          </a:p>
          <a:p>
            <a:pPr lvl="1"/>
            <a:r>
              <a:rPr lang="zh-CN" altLang="en-US" dirty="0"/>
              <a:t>信号处理程序返回时将控制权传递给进程</a:t>
            </a:r>
            <a:r>
              <a:rPr lang="en-US" altLang="zh-CN" dirty="0"/>
              <a:t>(</a:t>
            </a:r>
            <a:r>
              <a:rPr lang="zh-CN" altLang="en-US" dirty="0"/>
              <a:t>二者并发运行</a:t>
            </a:r>
            <a:r>
              <a:rPr lang="en-US" altLang="zh-CN" dirty="0"/>
              <a:t>)</a:t>
            </a:r>
          </a:p>
          <a:p>
            <a:pPr lvl="1"/>
            <a:r>
              <a:rPr lang="zh-CN" altLang="en-US" dirty="0"/>
              <a:t>信号处理程序可以被其他信号处理程序中断</a:t>
            </a:r>
            <a:endParaRPr lang="en-US" altLang="zh-CN" dirty="0"/>
          </a:p>
          <a:p>
            <a:pPr lvl="1"/>
            <a:endParaRPr lang="en-US" altLang="zh-CN" dirty="0"/>
          </a:p>
        </p:txBody>
      </p:sp>
      <p:pic>
        <p:nvPicPr>
          <p:cNvPr id="5" name="图片 4">
            <a:extLst>
              <a:ext uri="{FF2B5EF4-FFF2-40B4-BE49-F238E27FC236}">
                <a16:creationId xmlns:a16="http://schemas.microsoft.com/office/drawing/2014/main" id="{E2EF9311-D91B-4423-8D6F-E058F43C0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9869" y="2587566"/>
            <a:ext cx="8183117" cy="428685"/>
          </a:xfrm>
          <a:prstGeom prst="rect">
            <a:avLst/>
          </a:prstGeom>
        </p:spPr>
      </p:pic>
    </p:spTree>
    <p:extLst>
      <p:ext uri="{BB962C8B-B14F-4D97-AF65-F5344CB8AC3E}">
        <p14:creationId xmlns:p14="http://schemas.microsoft.com/office/powerpoint/2010/main" val="3306477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0664-5107-DC85-5283-FFFFF653E17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D9D9535-B0E6-CD07-673E-774EEBD4901E}"/>
              </a:ext>
            </a:extLst>
          </p:cNvPr>
          <p:cNvSpPr>
            <a:spLocks noGrp="1"/>
          </p:cNvSpPr>
          <p:nvPr>
            <p:ph type="title"/>
          </p:nvPr>
        </p:nvSpPr>
        <p:spPr/>
        <p:txBody>
          <a:bodyPr/>
          <a:lstStyle/>
          <a:p>
            <a:r>
              <a:rPr lang="en-US" altLang="zh-CN" dirty="0"/>
              <a:t>2.4</a:t>
            </a:r>
            <a:r>
              <a:rPr lang="zh-CN" altLang="en-US" dirty="0"/>
              <a:t> 信号的阻塞与解除</a:t>
            </a:r>
          </a:p>
        </p:txBody>
      </p:sp>
      <p:sp>
        <p:nvSpPr>
          <p:cNvPr id="8" name="内容占位符 7">
            <a:extLst>
              <a:ext uri="{FF2B5EF4-FFF2-40B4-BE49-F238E27FC236}">
                <a16:creationId xmlns:a16="http://schemas.microsoft.com/office/drawing/2014/main" id="{7C5844ED-AC03-9EEC-4BE4-2A12C63DFF2B}"/>
              </a:ext>
            </a:extLst>
          </p:cNvPr>
          <p:cNvSpPr>
            <a:spLocks noGrp="1"/>
          </p:cNvSpPr>
          <p:nvPr>
            <p:ph idx="1"/>
          </p:nvPr>
        </p:nvSpPr>
        <p:spPr/>
        <p:txBody>
          <a:bodyPr/>
          <a:lstStyle/>
          <a:p>
            <a:r>
              <a:rPr lang="zh-CN" altLang="en-US" dirty="0"/>
              <a:t>隐式阻塞</a:t>
            </a:r>
            <a:endParaRPr lang="en-US" altLang="zh-CN" dirty="0"/>
          </a:p>
          <a:p>
            <a:pPr lvl="1"/>
            <a:r>
              <a:rPr lang="zh-CN" altLang="en-US" dirty="0"/>
              <a:t>若当前正在处理某信号类型，内核默认阻塞该类型的待处理信号</a:t>
            </a:r>
          </a:p>
          <a:p>
            <a:r>
              <a:rPr lang="zh-CN" altLang="en-US" dirty="0"/>
              <a:t>显式阻塞</a:t>
            </a:r>
            <a:endParaRPr lang="en-US" altLang="zh-CN" dirty="0"/>
          </a:p>
          <a:p>
            <a:pPr lvl="1"/>
            <a:r>
              <a:rPr lang="zh-CN" altLang="en-US" dirty="0"/>
              <a:t>使用</a:t>
            </a:r>
            <a:r>
              <a:rPr lang="en-US" altLang="zh-CN" dirty="0" err="1"/>
              <a:t>sigprocmask</a:t>
            </a:r>
            <a:r>
              <a:rPr lang="zh-CN" altLang="en-US" dirty="0"/>
              <a:t>函数</a:t>
            </a:r>
            <a:endParaRPr lang="en-US" altLang="zh-CN" dirty="0"/>
          </a:p>
          <a:p>
            <a:pPr lvl="1"/>
            <a:endParaRPr lang="en-US" altLang="zh-CN" dirty="0"/>
          </a:p>
          <a:p>
            <a:pPr lvl="1"/>
            <a:r>
              <a:rPr lang="en-US" altLang="zh-CN" dirty="0"/>
              <a:t>how</a:t>
            </a:r>
            <a:r>
              <a:rPr lang="zh-CN" altLang="en-US" dirty="0"/>
              <a:t>为</a:t>
            </a:r>
            <a:r>
              <a:rPr lang="en-US" altLang="zh-CN" dirty="0"/>
              <a:t>SIG_BLOCK</a:t>
            </a:r>
            <a:r>
              <a:rPr lang="zh-CN" altLang="en-US" dirty="0"/>
              <a:t>时，把</a:t>
            </a:r>
            <a:r>
              <a:rPr lang="en-US" altLang="zh-CN" dirty="0"/>
              <a:t>set</a:t>
            </a:r>
            <a:r>
              <a:rPr lang="zh-CN" altLang="en-US" dirty="0"/>
              <a:t>的信号添加到</a:t>
            </a:r>
            <a:r>
              <a:rPr lang="en-US" altLang="zh-CN" dirty="0"/>
              <a:t>blocked</a:t>
            </a:r>
            <a:r>
              <a:rPr lang="zh-CN" altLang="en-US" dirty="0"/>
              <a:t>中</a:t>
            </a:r>
            <a:endParaRPr lang="en-US" altLang="zh-CN" dirty="0"/>
          </a:p>
          <a:p>
            <a:pPr lvl="1"/>
            <a:r>
              <a:rPr lang="en-US" altLang="zh-CN" dirty="0"/>
              <a:t>how</a:t>
            </a:r>
            <a:r>
              <a:rPr lang="zh-CN" altLang="en-US" dirty="0"/>
              <a:t>为</a:t>
            </a:r>
            <a:r>
              <a:rPr lang="en-US" altLang="zh-CN" dirty="0"/>
              <a:t>UNBLOCK</a:t>
            </a:r>
            <a:r>
              <a:rPr lang="zh-CN" altLang="en-US" dirty="0"/>
              <a:t>时，从</a:t>
            </a:r>
            <a:r>
              <a:rPr lang="en-US" altLang="zh-CN" dirty="0"/>
              <a:t>blocked</a:t>
            </a:r>
            <a:r>
              <a:rPr lang="zh-CN" altLang="en-US" dirty="0"/>
              <a:t>中删除</a:t>
            </a:r>
            <a:r>
              <a:rPr lang="en-US" altLang="zh-CN" dirty="0"/>
              <a:t>set</a:t>
            </a:r>
            <a:r>
              <a:rPr lang="zh-CN" altLang="en-US" dirty="0"/>
              <a:t>中的信号</a:t>
            </a:r>
            <a:endParaRPr lang="en-US" altLang="zh-CN" dirty="0"/>
          </a:p>
          <a:p>
            <a:pPr lvl="1"/>
            <a:r>
              <a:rPr lang="en-US" altLang="zh-CN" dirty="0"/>
              <a:t>how</a:t>
            </a:r>
            <a:r>
              <a:rPr lang="zh-CN" altLang="en-US" dirty="0"/>
              <a:t>为</a:t>
            </a:r>
            <a:r>
              <a:rPr lang="en-US" altLang="zh-CN" dirty="0"/>
              <a:t>SIG_SETMASK</a:t>
            </a:r>
            <a:r>
              <a:rPr lang="zh-CN" altLang="en-US" dirty="0"/>
              <a:t>时，</a:t>
            </a:r>
            <a:r>
              <a:rPr lang="en-US" altLang="zh-CN" dirty="0"/>
              <a:t>blocked = set</a:t>
            </a:r>
            <a:r>
              <a:rPr lang="zh-CN" altLang="en-US" dirty="0"/>
              <a:t>，若</a:t>
            </a:r>
            <a:r>
              <a:rPr lang="en-US" altLang="zh-CN" dirty="0" err="1"/>
              <a:t>oldset</a:t>
            </a:r>
            <a:r>
              <a:rPr lang="zh-CN" altLang="en-US" dirty="0"/>
              <a:t>非空，将</a:t>
            </a:r>
            <a:r>
              <a:rPr lang="en-US" altLang="zh-CN" dirty="0"/>
              <a:t>blocked</a:t>
            </a:r>
            <a:r>
              <a:rPr lang="zh-CN" altLang="en-US" dirty="0"/>
              <a:t>的旧值保存到</a:t>
            </a:r>
            <a:r>
              <a:rPr lang="en-US" altLang="zh-CN" dirty="0" err="1"/>
              <a:t>oldset</a:t>
            </a:r>
            <a:endParaRPr lang="en-US" altLang="zh-CN" dirty="0"/>
          </a:p>
        </p:txBody>
      </p:sp>
      <p:pic>
        <p:nvPicPr>
          <p:cNvPr id="12" name="图片 11">
            <a:extLst>
              <a:ext uri="{FF2B5EF4-FFF2-40B4-BE49-F238E27FC236}">
                <a16:creationId xmlns:a16="http://schemas.microsoft.com/office/drawing/2014/main" id="{61ACE265-555A-2A06-692F-46F428531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755" y="3572609"/>
            <a:ext cx="9697803" cy="428685"/>
          </a:xfrm>
          <a:prstGeom prst="rect">
            <a:avLst/>
          </a:prstGeom>
        </p:spPr>
      </p:pic>
    </p:spTree>
    <p:extLst>
      <p:ext uri="{BB962C8B-B14F-4D97-AF65-F5344CB8AC3E}">
        <p14:creationId xmlns:p14="http://schemas.microsoft.com/office/powerpoint/2010/main" val="617558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359F1-DD9A-944D-7FC3-9B9BBDBD144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28406D-D83F-C5E8-719F-789E7C0145CA}"/>
              </a:ext>
            </a:extLst>
          </p:cNvPr>
          <p:cNvSpPr>
            <a:spLocks noGrp="1"/>
          </p:cNvSpPr>
          <p:nvPr>
            <p:ph type="title"/>
          </p:nvPr>
        </p:nvSpPr>
        <p:spPr/>
        <p:txBody>
          <a:bodyPr/>
          <a:lstStyle/>
          <a:p>
            <a:r>
              <a:rPr lang="en-US" altLang="zh-CN" dirty="0"/>
              <a:t>2.4</a:t>
            </a:r>
            <a:r>
              <a:rPr lang="zh-CN" altLang="en-US" dirty="0"/>
              <a:t> 信号的阻塞与解除</a:t>
            </a:r>
          </a:p>
        </p:txBody>
      </p:sp>
      <p:sp>
        <p:nvSpPr>
          <p:cNvPr id="8" name="内容占位符 7">
            <a:extLst>
              <a:ext uri="{FF2B5EF4-FFF2-40B4-BE49-F238E27FC236}">
                <a16:creationId xmlns:a16="http://schemas.microsoft.com/office/drawing/2014/main" id="{B26E9D4F-230C-FB74-04A5-A7F8D2CB5A9E}"/>
              </a:ext>
            </a:extLst>
          </p:cNvPr>
          <p:cNvSpPr>
            <a:spLocks noGrp="1"/>
          </p:cNvSpPr>
          <p:nvPr>
            <p:ph idx="1"/>
          </p:nvPr>
        </p:nvSpPr>
        <p:spPr/>
        <p:txBody>
          <a:bodyPr/>
          <a:lstStyle/>
          <a:p>
            <a:r>
              <a:rPr lang="zh-CN" altLang="en-US" dirty="0"/>
              <a:t>显式阻塞</a:t>
            </a:r>
            <a:endParaRPr lang="en-US" altLang="zh-CN" dirty="0"/>
          </a:p>
          <a:p>
            <a:pPr lvl="1"/>
            <a:r>
              <a:rPr lang="zh-CN" altLang="en-US" dirty="0"/>
              <a:t>其他辅助函数</a:t>
            </a:r>
            <a:endParaRPr lang="en-US" altLang="zh-CN" dirty="0"/>
          </a:p>
          <a:p>
            <a:pPr lvl="1"/>
            <a:r>
              <a:rPr lang="en-US" altLang="zh-CN" dirty="0" err="1"/>
              <a:t>sigemptyset</a:t>
            </a:r>
            <a:r>
              <a:rPr lang="zh-CN" altLang="en-US" dirty="0"/>
              <a:t>将</a:t>
            </a:r>
            <a:r>
              <a:rPr lang="en-US" altLang="zh-CN" dirty="0"/>
              <a:t>set</a:t>
            </a:r>
            <a:r>
              <a:rPr lang="zh-CN" altLang="en-US" dirty="0"/>
              <a:t>初始化为空</a:t>
            </a:r>
            <a:endParaRPr lang="en-US" altLang="zh-CN" dirty="0"/>
          </a:p>
          <a:p>
            <a:pPr lvl="1"/>
            <a:r>
              <a:rPr lang="en-US" altLang="zh-CN" dirty="0" err="1"/>
              <a:t>sigfillset</a:t>
            </a:r>
            <a:r>
              <a:rPr lang="zh-CN" altLang="en-US" dirty="0"/>
              <a:t>把每个信号都添加到</a:t>
            </a:r>
            <a:r>
              <a:rPr lang="en-US" altLang="zh-CN" dirty="0"/>
              <a:t>set</a:t>
            </a:r>
          </a:p>
          <a:p>
            <a:pPr lvl="1"/>
            <a:r>
              <a:rPr lang="en-US" altLang="zh-CN" dirty="0" err="1"/>
              <a:t>sigaddset</a:t>
            </a:r>
            <a:r>
              <a:rPr lang="zh-CN" altLang="en-US" dirty="0"/>
              <a:t>把</a:t>
            </a:r>
            <a:r>
              <a:rPr lang="en-US" altLang="zh-CN" dirty="0"/>
              <a:t>signum</a:t>
            </a:r>
            <a:r>
              <a:rPr lang="zh-CN" altLang="en-US" dirty="0"/>
              <a:t>添加到</a:t>
            </a:r>
            <a:r>
              <a:rPr lang="en-US" altLang="zh-CN" dirty="0"/>
              <a:t>set</a:t>
            </a:r>
          </a:p>
          <a:p>
            <a:pPr lvl="1"/>
            <a:r>
              <a:rPr lang="en-US" altLang="zh-CN" dirty="0" err="1"/>
              <a:t>sigdelset</a:t>
            </a:r>
            <a:r>
              <a:rPr lang="zh-CN" altLang="en-US" dirty="0"/>
              <a:t>从</a:t>
            </a:r>
            <a:r>
              <a:rPr lang="en-US" altLang="zh-CN" dirty="0"/>
              <a:t>set</a:t>
            </a:r>
            <a:r>
              <a:rPr lang="zh-CN" altLang="en-US" dirty="0"/>
              <a:t>中删除</a:t>
            </a:r>
            <a:r>
              <a:rPr lang="en-US" altLang="zh-CN" dirty="0"/>
              <a:t>signum</a:t>
            </a:r>
          </a:p>
          <a:p>
            <a:pPr lvl="1"/>
            <a:r>
              <a:rPr lang="zh-CN" altLang="en-US" dirty="0"/>
              <a:t>如果</a:t>
            </a:r>
            <a:r>
              <a:rPr lang="en-US" altLang="zh-CN" dirty="0"/>
              <a:t>signum</a:t>
            </a:r>
            <a:r>
              <a:rPr lang="zh-CN" altLang="en-US" dirty="0"/>
              <a:t>是</a:t>
            </a:r>
            <a:r>
              <a:rPr lang="en-US" altLang="zh-CN" dirty="0"/>
              <a:t>set</a:t>
            </a:r>
            <a:r>
              <a:rPr lang="zh-CN" altLang="en-US" dirty="0"/>
              <a:t>成员，</a:t>
            </a:r>
            <a:r>
              <a:rPr lang="en-US" altLang="zh-CN" dirty="0" err="1"/>
              <a:t>sigisnumber</a:t>
            </a:r>
            <a:r>
              <a:rPr lang="zh-CN" altLang="en-US" dirty="0"/>
              <a:t>返回</a:t>
            </a:r>
            <a:r>
              <a:rPr lang="en-US" altLang="zh-CN" dirty="0"/>
              <a:t>1</a:t>
            </a:r>
            <a:r>
              <a:rPr lang="zh-CN" altLang="en-US" dirty="0"/>
              <a:t>，否则返回</a:t>
            </a:r>
            <a:r>
              <a:rPr lang="en-US" altLang="zh-CN" dirty="0"/>
              <a:t>0</a:t>
            </a:r>
          </a:p>
        </p:txBody>
      </p:sp>
      <p:pic>
        <p:nvPicPr>
          <p:cNvPr id="4" name="图片 3">
            <a:extLst>
              <a:ext uri="{FF2B5EF4-FFF2-40B4-BE49-F238E27FC236}">
                <a16:creationId xmlns:a16="http://schemas.microsoft.com/office/drawing/2014/main" id="{3D91A1CD-0199-515B-E07E-088CD5EC8F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2327177"/>
            <a:ext cx="5347591" cy="1186547"/>
          </a:xfrm>
          <a:prstGeom prst="rect">
            <a:avLst/>
          </a:prstGeom>
        </p:spPr>
      </p:pic>
      <p:pic>
        <p:nvPicPr>
          <p:cNvPr id="6" name="图片 5">
            <a:extLst>
              <a:ext uri="{FF2B5EF4-FFF2-40B4-BE49-F238E27FC236}">
                <a16:creationId xmlns:a16="http://schemas.microsoft.com/office/drawing/2014/main" id="{2EF653CD-E542-A467-7435-84094CBF1A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8" y="4775168"/>
            <a:ext cx="5723679" cy="355877"/>
          </a:xfrm>
          <a:prstGeom prst="rect">
            <a:avLst/>
          </a:prstGeom>
        </p:spPr>
      </p:pic>
    </p:spTree>
    <p:extLst>
      <p:ext uri="{BB962C8B-B14F-4D97-AF65-F5344CB8AC3E}">
        <p14:creationId xmlns:p14="http://schemas.microsoft.com/office/powerpoint/2010/main" val="897564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2032C-55B2-1899-A10A-4CA31ADAE5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180BCEE-DCE0-AFB1-EB04-F77B2AD7E31D}"/>
              </a:ext>
            </a:extLst>
          </p:cNvPr>
          <p:cNvSpPr>
            <a:spLocks noGrp="1"/>
          </p:cNvSpPr>
          <p:nvPr>
            <p:ph type="title"/>
          </p:nvPr>
        </p:nvSpPr>
        <p:spPr/>
        <p:txBody>
          <a:bodyPr/>
          <a:lstStyle/>
          <a:p>
            <a:r>
              <a:rPr lang="en-US" altLang="zh-CN" dirty="0"/>
              <a:t>2.4</a:t>
            </a:r>
            <a:r>
              <a:rPr lang="zh-CN" altLang="en-US" dirty="0"/>
              <a:t> 信号的阻塞与解除</a:t>
            </a:r>
          </a:p>
        </p:txBody>
      </p:sp>
      <p:sp>
        <p:nvSpPr>
          <p:cNvPr id="8" name="内容占位符 7">
            <a:extLst>
              <a:ext uri="{FF2B5EF4-FFF2-40B4-BE49-F238E27FC236}">
                <a16:creationId xmlns:a16="http://schemas.microsoft.com/office/drawing/2014/main" id="{F59BAEAD-D5C1-ABEB-9C84-09B83A6BDCA9}"/>
              </a:ext>
            </a:extLst>
          </p:cNvPr>
          <p:cNvSpPr>
            <a:spLocks noGrp="1"/>
          </p:cNvSpPr>
          <p:nvPr>
            <p:ph idx="1"/>
          </p:nvPr>
        </p:nvSpPr>
        <p:spPr/>
        <p:txBody>
          <a:bodyPr/>
          <a:lstStyle/>
          <a:p>
            <a:r>
              <a:rPr lang="zh-CN" altLang="en-US" dirty="0"/>
              <a:t>实例：临时阻塞</a:t>
            </a:r>
            <a:r>
              <a:rPr lang="en-US" altLang="zh-CN" dirty="0"/>
              <a:t>SIGINT</a:t>
            </a:r>
          </a:p>
        </p:txBody>
      </p:sp>
      <p:pic>
        <p:nvPicPr>
          <p:cNvPr id="4" name="图片 3">
            <a:extLst>
              <a:ext uri="{FF2B5EF4-FFF2-40B4-BE49-F238E27FC236}">
                <a16:creationId xmlns:a16="http://schemas.microsoft.com/office/drawing/2014/main" id="{38382549-19C6-E937-0FCB-E586BF8E92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372123"/>
            <a:ext cx="8097380" cy="4029637"/>
          </a:xfrm>
          <a:prstGeom prst="rect">
            <a:avLst/>
          </a:prstGeom>
        </p:spPr>
      </p:pic>
    </p:spTree>
    <p:extLst>
      <p:ext uri="{BB962C8B-B14F-4D97-AF65-F5344CB8AC3E}">
        <p14:creationId xmlns:p14="http://schemas.microsoft.com/office/powerpoint/2010/main" val="3328880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F689F-20E4-ACD1-38B6-30E72C55F1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E831EE-0B86-D747-4A8A-F68A2039D7AA}"/>
              </a:ext>
            </a:extLst>
          </p:cNvPr>
          <p:cNvSpPr>
            <a:spLocks noGrp="1"/>
          </p:cNvSpPr>
          <p:nvPr>
            <p:ph type="title"/>
          </p:nvPr>
        </p:nvSpPr>
        <p:spPr/>
        <p:txBody>
          <a:bodyPr/>
          <a:lstStyle/>
          <a:p>
            <a:r>
              <a:rPr lang="en-US" altLang="zh-CN" dirty="0"/>
              <a:t>2.5</a:t>
            </a:r>
            <a:r>
              <a:rPr lang="zh-CN" altLang="en-US" dirty="0"/>
              <a:t> 编写信号处理程序</a:t>
            </a:r>
          </a:p>
        </p:txBody>
      </p:sp>
      <p:sp>
        <p:nvSpPr>
          <p:cNvPr id="8" name="内容占位符 7">
            <a:extLst>
              <a:ext uri="{FF2B5EF4-FFF2-40B4-BE49-F238E27FC236}">
                <a16:creationId xmlns:a16="http://schemas.microsoft.com/office/drawing/2014/main" id="{39CFF7A2-46DF-5C57-8362-AA8E42A9A414}"/>
              </a:ext>
            </a:extLst>
          </p:cNvPr>
          <p:cNvSpPr>
            <a:spLocks noGrp="1"/>
          </p:cNvSpPr>
          <p:nvPr>
            <p:ph idx="1"/>
          </p:nvPr>
        </p:nvSpPr>
        <p:spPr/>
        <p:txBody>
          <a:bodyPr/>
          <a:lstStyle/>
          <a:p>
            <a:r>
              <a:rPr lang="zh-CN" altLang="en-US" dirty="0"/>
              <a:t>原则</a:t>
            </a:r>
            <a:endParaRPr lang="en-US" altLang="zh-CN" dirty="0"/>
          </a:p>
          <a:p>
            <a:pPr lvl="1"/>
            <a:r>
              <a:rPr lang="zh-CN" altLang="en-US" dirty="0"/>
              <a:t>处理程序尽可能简单</a:t>
            </a:r>
            <a:endParaRPr lang="en-US" altLang="zh-CN" dirty="0"/>
          </a:p>
          <a:p>
            <a:pPr lvl="1"/>
            <a:r>
              <a:rPr lang="zh-CN" altLang="en-US" dirty="0"/>
              <a:t>在处理程序中只调用异步信号安全的函数</a:t>
            </a:r>
            <a:endParaRPr lang="en-US" altLang="zh-CN" dirty="0"/>
          </a:p>
          <a:p>
            <a:pPr lvl="2"/>
            <a:r>
              <a:rPr lang="zh-CN" altLang="en-US" dirty="0"/>
              <a:t>安全的函数可重入</a:t>
            </a:r>
            <a:r>
              <a:rPr lang="en-US" altLang="zh-CN" dirty="0"/>
              <a:t>(</a:t>
            </a:r>
            <a:r>
              <a:rPr lang="zh-CN" altLang="en-US" dirty="0"/>
              <a:t>如只访问局部变量</a:t>
            </a:r>
            <a:r>
              <a:rPr lang="en-US" altLang="zh-CN" dirty="0"/>
              <a:t>)</a:t>
            </a:r>
            <a:r>
              <a:rPr lang="zh-CN" altLang="en-US" dirty="0"/>
              <a:t>或不能被信号处理程序中断</a:t>
            </a:r>
            <a:endParaRPr lang="en-US" altLang="zh-CN" dirty="0"/>
          </a:p>
          <a:p>
            <a:pPr lvl="1"/>
            <a:r>
              <a:rPr lang="zh-CN" altLang="en-US" dirty="0"/>
              <a:t>保存并恢复</a:t>
            </a:r>
            <a:r>
              <a:rPr lang="en-US" altLang="zh-CN" dirty="0" err="1"/>
              <a:t>errno</a:t>
            </a:r>
            <a:endParaRPr lang="en-US" altLang="zh-CN" dirty="0"/>
          </a:p>
          <a:p>
            <a:pPr lvl="1"/>
            <a:r>
              <a:rPr lang="zh-CN" altLang="en-US" dirty="0"/>
              <a:t>阻塞所有的信号，保护对共享全局数据结构的访问</a:t>
            </a:r>
            <a:endParaRPr lang="en-US" altLang="zh-CN" dirty="0"/>
          </a:p>
          <a:p>
            <a:pPr lvl="1"/>
            <a:r>
              <a:rPr lang="zh-CN" altLang="en-US" dirty="0"/>
              <a:t>用</a:t>
            </a:r>
            <a:r>
              <a:rPr lang="en-US" altLang="zh-CN" dirty="0"/>
              <a:t>volatile</a:t>
            </a:r>
            <a:r>
              <a:rPr lang="zh-CN" altLang="en-US" dirty="0"/>
              <a:t>声明全局变量</a:t>
            </a:r>
            <a:endParaRPr lang="en-US" altLang="zh-CN" dirty="0"/>
          </a:p>
          <a:p>
            <a:pPr lvl="2"/>
            <a:r>
              <a:rPr lang="zh-CN" altLang="en-US" dirty="0"/>
              <a:t>强制编译器每次在代码中引用</a:t>
            </a:r>
            <a:r>
              <a:rPr lang="en-US" altLang="zh-CN" dirty="0"/>
              <a:t>volatile</a:t>
            </a:r>
            <a:r>
              <a:rPr lang="zh-CN" altLang="en-US" dirty="0"/>
              <a:t>限定的变量时都要从内存中读取</a:t>
            </a:r>
            <a:endParaRPr lang="en-US" altLang="zh-CN" dirty="0"/>
          </a:p>
          <a:p>
            <a:pPr lvl="1"/>
            <a:r>
              <a:rPr lang="zh-CN" altLang="en-US" dirty="0"/>
              <a:t>使用</a:t>
            </a:r>
            <a:r>
              <a:rPr lang="en-US" altLang="zh-CN" dirty="0" err="1"/>
              <a:t>sig_atomic_t</a:t>
            </a:r>
            <a:r>
              <a:rPr lang="zh-CN" altLang="en-US" dirty="0"/>
              <a:t>声明标志</a:t>
            </a:r>
            <a:endParaRPr lang="en-US" altLang="zh-CN" dirty="0"/>
          </a:p>
          <a:p>
            <a:pPr lvl="2"/>
            <a:r>
              <a:rPr lang="zh-CN" altLang="en-US" dirty="0"/>
              <a:t>这一类型保证单个读和写是原子的，不需要暂时阻塞信号</a:t>
            </a:r>
            <a:endParaRPr lang="en-US" altLang="zh-CN" dirty="0"/>
          </a:p>
        </p:txBody>
      </p:sp>
    </p:spTree>
    <p:extLst>
      <p:ext uri="{BB962C8B-B14F-4D97-AF65-F5344CB8AC3E}">
        <p14:creationId xmlns:p14="http://schemas.microsoft.com/office/powerpoint/2010/main" val="861982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B08C-CF95-91E2-8A93-FFBFE2E6ECA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7F2EFE-FF9C-9746-38B2-B059F96B6F70}"/>
              </a:ext>
            </a:extLst>
          </p:cNvPr>
          <p:cNvSpPr>
            <a:spLocks noGrp="1"/>
          </p:cNvSpPr>
          <p:nvPr>
            <p:ph type="title"/>
          </p:nvPr>
        </p:nvSpPr>
        <p:spPr/>
        <p:txBody>
          <a:bodyPr/>
          <a:lstStyle/>
          <a:p>
            <a:r>
              <a:rPr lang="en-US" altLang="zh-CN" dirty="0"/>
              <a:t>2.5</a:t>
            </a:r>
            <a:r>
              <a:rPr lang="zh-CN" altLang="en-US" dirty="0"/>
              <a:t> 编写信号处理程序</a:t>
            </a:r>
          </a:p>
        </p:txBody>
      </p:sp>
      <p:pic>
        <p:nvPicPr>
          <p:cNvPr id="4" name="内容占位符 3">
            <a:extLst>
              <a:ext uri="{FF2B5EF4-FFF2-40B4-BE49-F238E27FC236}">
                <a16:creationId xmlns:a16="http://schemas.microsoft.com/office/drawing/2014/main" id="{A32E0563-BBFA-63DA-A465-74913DB9DD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49853"/>
            <a:ext cx="5075847" cy="3377746"/>
          </a:xfrm>
        </p:spPr>
      </p:pic>
      <p:pic>
        <p:nvPicPr>
          <p:cNvPr id="6" name="图片 5">
            <a:extLst>
              <a:ext uri="{FF2B5EF4-FFF2-40B4-BE49-F238E27FC236}">
                <a16:creationId xmlns:a16="http://schemas.microsoft.com/office/drawing/2014/main" id="{45CCB661-12EB-3594-78FB-B81404F80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549853"/>
            <a:ext cx="5636902" cy="4053290"/>
          </a:xfrm>
          <a:prstGeom prst="rect">
            <a:avLst/>
          </a:prstGeom>
        </p:spPr>
      </p:pic>
    </p:spTree>
    <p:extLst>
      <p:ext uri="{BB962C8B-B14F-4D97-AF65-F5344CB8AC3E}">
        <p14:creationId xmlns:p14="http://schemas.microsoft.com/office/powerpoint/2010/main" val="2907571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3BC06-5484-9B07-2873-EC6BE232EDE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1E271D-1BEF-2399-DE7C-23232CC4E07A}"/>
              </a:ext>
            </a:extLst>
          </p:cNvPr>
          <p:cNvSpPr>
            <a:spLocks noGrp="1"/>
          </p:cNvSpPr>
          <p:nvPr>
            <p:ph type="title"/>
          </p:nvPr>
        </p:nvSpPr>
        <p:spPr/>
        <p:txBody>
          <a:bodyPr/>
          <a:lstStyle/>
          <a:p>
            <a:r>
              <a:rPr lang="en-US" altLang="zh-CN" dirty="0"/>
              <a:t>2.5</a:t>
            </a:r>
            <a:r>
              <a:rPr lang="zh-CN" altLang="en-US" dirty="0"/>
              <a:t> 编写信号处理程序</a:t>
            </a:r>
          </a:p>
        </p:txBody>
      </p:sp>
      <p:pic>
        <p:nvPicPr>
          <p:cNvPr id="8" name="内容占位符 7">
            <a:extLst>
              <a:ext uri="{FF2B5EF4-FFF2-40B4-BE49-F238E27FC236}">
                <a16:creationId xmlns:a16="http://schemas.microsoft.com/office/drawing/2014/main" id="{91C0A37C-977E-5B48-0074-68BB5D61B2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0143" y="1927225"/>
            <a:ext cx="7300107" cy="3885746"/>
          </a:xfrm>
        </p:spPr>
      </p:pic>
    </p:spTree>
    <p:extLst>
      <p:ext uri="{BB962C8B-B14F-4D97-AF65-F5344CB8AC3E}">
        <p14:creationId xmlns:p14="http://schemas.microsoft.com/office/powerpoint/2010/main" val="3166043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8976C-B24F-40F0-D3E0-2820514F95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C42916B-A5BE-1D02-9916-D247CAD190BD}"/>
              </a:ext>
            </a:extLst>
          </p:cNvPr>
          <p:cNvSpPr>
            <a:spLocks noGrp="1"/>
          </p:cNvSpPr>
          <p:nvPr>
            <p:ph type="title"/>
          </p:nvPr>
        </p:nvSpPr>
        <p:spPr/>
        <p:txBody>
          <a:bodyPr/>
          <a:lstStyle/>
          <a:p>
            <a:r>
              <a:rPr lang="en-US" altLang="zh-CN" dirty="0"/>
              <a:t>2.6</a:t>
            </a:r>
            <a:r>
              <a:rPr lang="zh-CN" altLang="en-US" dirty="0"/>
              <a:t> 同步流以避免并发错误</a:t>
            </a:r>
          </a:p>
        </p:txBody>
      </p:sp>
      <p:pic>
        <p:nvPicPr>
          <p:cNvPr id="6" name="内容占位符 5">
            <a:extLst>
              <a:ext uri="{FF2B5EF4-FFF2-40B4-BE49-F238E27FC236}">
                <a16:creationId xmlns:a16="http://schemas.microsoft.com/office/drawing/2014/main" id="{A24F8070-F67D-4A16-1BF4-AE27082330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7719"/>
            <a:ext cx="5570537" cy="2910341"/>
          </a:xfrm>
        </p:spPr>
      </p:pic>
      <p:pic>
        <p:nvPicPr>
          <p:cNvPr id="9" name="图片 8">
            <a:extLst>
              <a:ext uri="{FF2B5EF4-FFF2-40B4-BE49-F238E27FC236}">
                <a16:creationId xmlns:a16="http://schemas.microsoft.com/office/drawing/2014/main" id="{41DD150C-353F-E683-A103-1E4B64B5F0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737" y="1442973"/>
            <a:ext cx="5666744" cy="3419831"/>
          </a:xfrm>
          <a:prstGeom prst="rect">
            <a:avLst/>
          </a:prstGeom>
        </p:spPr>
      </p:pic>
      <p:sp>
        <p:nvSpPr>
          <p:cNvPr id="10" name="文本框 9">
            <a:extLst>
              <a:ext uri="{FF2B5EF4-FFF2-40B4-BE49-F238E27FC236}">
                <a16:creationId xmlns:a16="http://schemas.microsoft.com/office/drawing/2014/main" id="{A32B05DA-BF8D-F01C-65E5-D723C427A606}"/>
              </a:ext>
            </a:extLst>
          </p:cNvPr>
          <p:cNvSpPr txBox="1"/>
          <p:nvPr/>
        </p:nvSpPr>
        <p:spPr>
          <a:xfrm>
            <a:off x="838200" y="4975615"/>
            <a:ext cx="9800771" cy="1477328"/>
          </a:xfrm>
          <a:prstGeom prst="rect">
            <a:avLst/>
          </a:prstGeom>
          <a:noFill/>
        </p:spPr>
        <p:txBody>
          <a:bodyPr wrap="square" rtlCol="0">
            <a:spAutoFit/>
          </a:bodyPr>
          <a:lstStyle/>
          <a:p>
            <a:r>
              <a:rPr lang="zh-CN" altLang="en-US" dirty="0"/>
              <a:t>可能出现以下情况：</a:t>
            </a:r>
            <a:endParaRPr lang="en-US" altLang="zh-CN" dirty="0"/>
          </a:p>
          <a:p>
            <a:r>
              <a:rPr lang="en-US" altLang="zh-CN" dirty="0"/>
              <a:t>Fork</a:t>
            </a:r>
            <a:r>
              <a:rPr lang="zh-CN" altLang="en-US" dirty="0"/>
              <a:t>之后内核调度子进程运行直到终止，给父进程传递</a:t>
            </a:r>
            <a:r>
              <a:rPr lang="en-US" altLang="zh-CN" dirty="0"/>
              <a:t>SIGCHLD</a:t>
            </a:r>
          </a:p>
          <a:p>
            <a:r>
              <a:rPr lang="zh-CN" altLang="en-US" dirty="0"/>
              <a:t>随后运行父进程，先接收</a:t>
            </a:r>
            <a:r>
              <a:rPr lang="en-US" altLang="zh-CN" dirty="0"/>
              <a:t>SIGCHLD</a:t>
            </a:r>
            <a:r>
              <a:rPr lang="zh-CN" altLang="en-US" dirty="0"/>
              <a:t>，信号处理程序执行</a:t>
            </a:r>
            <a:r>
              <a:rPr lang="en-US" altLang="zh-CN" dirty="0" err="1"/>
              <a:t>deletejob</a:t>
            </a:r>
            <a:r>
              <a:rPr lang="zh-CN" altLang="en-US" dirty="0"/>
              <a:t>，但由于父进程没有执行</a:t>
            </a:r>
            <a:r>
              <a:rPr lang="en-US" altLang="zh-CN" dirty="0" err="1"/>
              <a:t>addjob</a:t>
            </a:r>
            <a:r>
              <a:rPr lang="zh-CN" altLang="en-US" dirty="0"/>
              <a:t>，实际上什么都没有做</a:t>
            </a:r>
            <a:endParaRPr lang="en-US" altLang="zh-CN" dirty="0"/>
          </a:p>
          <a:p>
            <a:r>
              <a:rPr lang="zh-CN" altLang="en-US" dirty="0"/>
              <a:t>然后运行父进程，父进程从</a:t>
            </a:r>
            <a:r>
              <a:rPr lang="en-US" altLang="zh-CN" dirty="0"/>
              <a:t>fork</a:t>
            </a:r>
            <a:r>
              <a:rPr lang="zh-CN" altLang="en-US" dirty="0"/>
              <a:t>返回后</a:t>
            </a:r>
            <a:r>
              <a:rPr lang="en-US" altLang="zh-CN" dirty="0" err="1"/>
              <a:t>addjob</a:t>
            </a:r>
            <a:r>
              <a:rPr lang="zh-CN" altLang="en-US" dirty="0"/>
              <a:t>，将本不存在的子进程加入作业列表</a:t>
            </a:r>
          </a:p>
        </p:txBody>
      </p:sp>
    </p:spTree>
    <p:extLst>
      <p:ext uri="{BB962C8B-B14F-4D97-AF65-F5344CB8AC3E}">
        <p14:creationId xmlns:p14="http://schemas.microsoft.com/office/powerpoint/2010/main" val="3622682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69842-2EDC-A1AD-77D0-7AA4576518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59C606-A81D-273D-94F0-3198A2B44E44}"/>
              </a:ext>
            </a:extLst>
          </p:cNvPr>
          <p:cNvSpPr>
            <a:spLocks noGrp="1"/>
          </p:cNvSpPr>
          <p:nvPr>
            <p:ph type="title"/>
          </p:nvPr>
        </p:nvSpPr>
        <p:spPr/>
        <p:txBody>
          <a:bodyPr/>
          <a:lstStyle/>
          <a:p>
            <a:r>
              <a:rPr lang="en-US" altLang="zh-CN" dirty="0"/>
              <a:t>2.6</a:t>
            </a:r>
            <a:r>
              <a:rPr lang="zh-CN" altLang="en-US" dirty="0"/>
              <a:t> 同步流以避免并发错误</a:t>
            </a:r>
          </a:p>
        </p:txBody>
      </p:sp>
      <p:pic>
        <p:nvPicPr>
          <p:cNvPr id="7" name="内容占位符 6">
            <a:extLst>
              <a:ext uri="{FF2B5EF4-FFF2-40B4-BE49-F238E27FC236}">
                <a16:creationId xmlns:a16="http://schemas.microsoft.com/office/drawing/2014/main" id="{9AD494A6-F302-F94B-AD17-08E2C145DE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7055500" cy="4905253"/>
          </a:xfrm>
        </p:spPr>
      </p:pic>
      <p:sp>
        <p:nvSpPr>
          <p:cNvPr id="8" name="文本框 7">
            <a:extLst>
              <a:ext uri="{FF2B5EF4-FFF2-40B4-BE49-F238E27FC236}">
                <a16:creationId xmlns:a16="http://schemas.microsoft.com/office/drawing/2014/main" id="{72D0CEE4-EDD7-E70D-9652-A9BAF1FFAE9F}"/>
              </a:ext>
            </a:extLst>
          </p:cNvPr>
          <p:cNvSpPr txBox="1"/>
          <p:nvPr/>
        </p:nvSpPr>
        <p:spPr>
          <a:xfrm>
            <a:off x="8541658" y="2801257"/>
            <a:ext cx="2946400" cy="1477328"/>
          </a:xfrm>
          <a:prstGeom prst="rect">
            <a:avLst/>
          </a:prstGeom>
          <a:noFill/>
        </p:spPr>
        <p:txBody>
          <a:bodyPr wrap="square" rtlCol="0">
            <a:spAutoFit/>
          </a:bodyPr>
          <a:lstStyle/>
          <a:p>
            <a:r>
              <a:rPr lang="zh-CN" altLang="en-US" dirty="0"/>
              <a:t>这是正确的实现。</a:t>
            </a:r>
            <a:endParaRPr lang="en-US" altLang="zh-CN" dirty="0"/>
          </a:p>
          <a:p>
            <a:r>
              <a:rPr lang="zh-CN" altLang="en-US" dirty="0"/>
              <a:t>通过屏蔽保证</a:t>
            </a:r>
            <a:r>
              <a:rPr lang="en-US" altLang="zh-CN" dirty="0" err="1"/>
              <a:t>addjob</a:t>
            </a:r>
            <a:r>
              <a:rPr lang="zh-CN" altLang="en-US" dirty="0"/>
              <a:t>执行前不会接收信号</a:t>
            </a:r>
            <a:endParaRPr lang="en-US" altLang="zh-CN" dirty="0"/>
          </a:p>
          <a:p>
            <a:r>
              <a:rPr lang="zh-CN" altLang="en-US" dirty="0"/>
              <a:t>同时在</a:t>
            </a:r>
            <a:r>
              <a:rPr lang="en-US" altLang="zh-CN" dirty="0"/>
              <a:t>fork</a:t>
            </a:r>
            <a:r>
              <a:rPr lang="zh-CN" altLang="en-US" dirty="0"/>
              <a:t>后解除子进程阻塞的</a:t>
            </a:r>
            <a:r>
              <a:rPr lang="en-US" altLang="zh-CN" dirty="0"/>
              <a:t>SIGCHLD</a:t>
            </a:r>
            <a:endParaRPr lang="zh-CN" altLang="en-US" dirty="0"/>
          </a:p>
        </p:txBody>
      </p:sp>
    </p:spTree>
    <p:extLst>
      <p:ext uri="{BB962C8B-B14F-4D97-AF65-F5344CB8AC3E}">
        <p14:creationId xmlns:p14="http://schemas.microsoft.com/office/powerpoint/2010/main" val="3926188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5C614-9C72-C1D3-D8BB-024DAD9496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3C106B1-0923-4331-7C1E-08FBC1295836}"/>
              </a:ext>
            </a:extLst>
          </p:cNvPr>
          <p:cNvSpPr>
            <a:spLocks noGrp="1"/>
          </p:cNvSpPr>
          <p:nvPr>
            <p:ph type="title"/>
          </p:nvPr>
        </p:nvSpPr>
        <p:spPr/>
        <p:txBody>
          <a:bodyPr/>
          <a:lstStyle/>
          <a:p>
            <a:r>
              <a:rPr lang="en-US" altLang="zh-CN" dirty="0"/>
              <a:t>2.7</a:t>
            </a:r>
            <a:r>
              <a:rPr lang="zh-CN" altLang="en-US" dirty="0"/>
              <a:t> 显式地等待信号</a:t>
            </a:r>
          </a:p>
        </p:txBody>
      </p:sp>
      <p:sp>
        <p:nvSpPr>
          <p:cNvPr id="8" name="内容占位符 7">
            <a:extLst>
              <a:ext uri="{FF2B5EF4-FFF2-40B4-BE49-F238E27FC236}">
                <a16:creationId xmlns:a16="http://schemas.microsoft.com/office/drawing/2014/main" id="{8D376909-5276-DC02-A9C4-AF60E7891BFB}"/>
              </a:ext>
            </a:extLst>
          </p:cNvPr>
          <p:cNvSpPr>
            <a:spLocks noGrp="1"/>
          </p:cNvSpPr>
          <p:nvPr>
            <p:ph idx="1"/>
          </p:nvPr>
        </p:nvSpPr>
        <p:spPr/>
        <p:txBody>
          <a:bodyPr/>
          <a:lstStyle/>
          <a:p>
            <a:r>
              <a:rPr lang="zh-CN" altLang="en-US" dirty="0"/>
              <a:t>有时主程序需要显式地等待信号处理程序运行</a:t>
            </a:r>
            <a:r>
              <a:rPr lang="en-US" altLang="zh-CN" dirty="0"/>
              <a:t>(</a:t>
            </a:r>
            <a:r>
              <a:rPr lang="zh-CN" altLang="en-US" dirty="0"/>
              <a:t>如</a:t>
            </a:r>
            <a:r>
              <a:rPr lang="en-US" altLang="zh-CN" dirty="0"/>
              <a:t>shell</a:t>
            </a:r>
            <a:r>
              <a:rPr lang="zh-CN" altLang="en-US" dirty="0"/>
              <a:t>的前台作业</a:t>
            </a:r>
            <a:r>
              <a:rPr lang="en-US" altLang="zh-CN" dirty="0"/>
              <a:t>)</a:t>
            </a:r>
          </a:p>
          <a:p>
            <a:r>
              <a:rPr lang="zh-CN" altLang="en-US" dirty="0"/>
              <a:t>使用循环等待，会浪费处理器资源；使用休眠函数会有竞争，同时难以确定休眠的间隔</a:t>
            </a:r>
            <a:endParaRPr lang="en-US" altLang="zh-CN" dirty="0"/>
          </a:p>
          <a:p>
            <a:endParaRPr lang="en-US" altLang="zh-CN" dirty="0"/>
          </a:p>
          <a:p>
            <a:r>
              <a:rPr lang="zh-CN" altLang="en-US" dirty="0"/>
              <a:t>可以使用</a:t>
            </a:r>
            <a:r>
              <a:rPr lang="en-US" altLang="zh-CN" dirty="0" err="1"/>
              <a:t>sigsuspend</a:t>
            </a:r>
            <a:r>
              <a:rPr lang="zh-CN" altLang="en-US" dirty="0"/>
              <a:t>函数解决</a:t>
            </a:r>
            <a:endParaRPr lang="en-US" altLang="zh-CN" dirty="0"/>
          </a:p>
          <a:p>
            <a:pPr lvl="1"/>
            <a:r>
              <a:rPr lang="zh-CN" altLang="en-US" dirty="0"/>
              <a:t>该函数会暂时用</a:t>
            </a:r>
            <a:r>
              <a:rPr lang="en-US" altLang="zh-CN" dirty="0"/>
              <a:t>mask</a:t>
            </a:r>
            <a:r>
              <a:rPr lang="zh-CN" altLang="en-US" dirty="0"/>
              <a:t>替换当前阻塞集合，然后挂起该进程直到收到信号</a:t>
            </a:r>
            <a:endParaRPr lang="en-US" altLang="zh-CN" dirty="0"/>
          </a:p>
          <a:p>
            <a:pPr lvl="1"/>
            <a:r>
              <a:rPr lang="zh-CN" altLang="en-US" dirty="0"/>
              <a:t>如果信号的行为是终止，该进程不从</a:t>
            </a:r>
            <a:r>
              <a:rPr lang="en-US" altLang="zh-CN" dirty="0" err="1"/>
              <a:t>sigsuspend</a:t>
            </a:r>
            <a:r>
              <a:rPr lang="zh-CN" altLang="en-US" dirty="0"/>
              <a:t>返回就终止</a:t>
            </a:r>
            <a:endParaRPr lang="en-US" altLang="zh-CN" dirty="0"/>
          </a:p>
          <a:p>
            <a:pPr lvl="1"/>
            <a:r>
              <a:rPr lang="zh-CN" altLang="en-US" dirty="0"/>
              <a:t>如果行为是运行一个处理程序，函数返回并恢复原有的阻塞集合</a:t>
            </a:r>
            <a:endParaRPr lang="en-US" altLang="zh-CN" dirty="0"/>
          </a:p>
          <a:p>
            <a:pPr lvl="1"/>
            <a:endParaRPr lang="en-US" altLang="zh-CN" dirty="0"/>
          </a:p>
        </p:txBody>
      </p:sp>
      <p:pic>
        <p:nvPicPr>
          <p:cNvPr id="10" name="图片 9">
            <a:extLst>
              <a:ext uri="{FF2B5EF4-FFF2-40B4-BE49-F238E27FC236}">
                <a16:creationId xmlns:a16="http://schemas.microsoft.com/office/drawing/2014/main" id="{2576F574-B9DE-A185-BBAB-8714CC5E41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9014" y="3260920"/>
            <a:ext cx="5582429" cy="466790"/>
          </a:xfrm>
          <a:prstGeom prst="rect">
            <a:avLst/>
          </a:prstGeom>
        </p:spPr>
      </p:pic>
    </p:spTree>
    <p:extLst>
      <p:ext uri="{BB962C8B-B14F-4D97-AF65-F5344CB8AC3E}">
        <p14:creationId xmlns:p14="http://schemas.microsoft.com/office/powerpoint/2010/main" val="1943869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BA6C0-1C34-50B9-6561-E6EA37893A0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FC63A2-FBCC-2009-5503-EE7EFC5B53D0}"/>
              </a:ext>
            </a:extLst>
          </p:cNvPr>
          <p:cNvSpPr>
            <a:spLocks noGrp="1"/>
          </p:cNvSpPr>
          <p:nvPr>
            <p:ph type="title"/>
          </p:nvPr>
        </p:nvSpPr>
        <p:spPr/>
        <p:txBody>
          <a:bodyPr/>
          <a:lstStyle/>
          <a:p>
            <a:r>
              <a:rPr lang="en-US" altLang="zh-CN" dirty="0"/>
              <a:t>3.</a:t>
            </a:r>
            <a:r>
              <a:rPr lang="zh-CN" altLang="en-US" dirty="0"/>
              <a:t> 非本地跳转</a:t>
            </a:r>
          </a:p>
        </p:txBody>
      </p:sp>
      <p:sp>
        <p:nvSpPr>
          <p:cNvPr id="8" name="内容占位符 7">
            <a:extLst>
              <a:ext uri="{FF2B5EF4-FFF2-40B4-BE49-F238E27FC236}">
                <a16:creationId xmlns:a16="http://schemas.microsoft.com/office/drawing/2014/main" id="{DC953411-5932-D04B-3B47-B7037A78F2C1}"/>
              </a:ext>
            </a:extLst>
          </p:cNvPr>
          <p:cNvSpPr>
            <a:spLocks noGrp="1"/>
          </p:cNvSpPr>
          <p:nvPr>
            <p:ph idx="1"/>
          </p:nvPr>
        </p:nvSpPr>
        <p:spPr>
          <a:xfrm>
            <a:off x="838199" y="1825625"/>
            <a:ext cx="10773229" cy="4351338"/>
          </a:xfrm>
        </p:spPr>
        <p:txBody>
          <a:bodyPr/>
          <a:lstStyle/>
          <a:p>
            <a:r>
              <a:rPr lang="zh-CN" altLang="en-US" dirty="0"/>
              <a:t>将控制直接从一个函数转移到另一个当前正在执行的函数，不需要经过正常的调用返回序列。</a:t>
            </a:r>
            <a:endParaRPr lang="en-US" altLang="zh-CN" dirty="0"/>
          </a:p>
          <a:p>
            <a:r>
              <a:rPr lang="zh-CN" altLang="en-US" dirty="0"/>
              <a:t>是用户级机制，通过</a:t>
            </a:r>
            <a:r>
              <a:rPr lang="en-US" altLang="zh-CN" dirty="0" err="1"/>
              <a:t>setjmp</a:t>
            </a:r>
            <a:r>
              <a:rPr lang="zh-CN" altLang="en-US" dirty="0"/>
              <a:t>和</a:t>
            </a:r>
            <a:r>
              <a:rPr lang="en-US" altLang="zh-CN" dirty="0" err="1"/>
              <a:t>longjmp</a:t>
            </a:r>
            <a:r>
              <a:rPr lang="zh-CN" altLang="en-US" dirty="0"/>
              <a:t>函数实现。</a:t>
            </a:r>
            <a:endParaRPr lang="en-US" altLang="zh-CN" dirty="0"/>
          </a:p>
          <a:p>
            <a:r>
              <a:rPr lang="zh-CN" altLang="en-US" dirty="0"/>
              <a:t>只能在已调用但未完成的函数环境中操作，且可能产生意外的后果</a:t>
            </a:r>
            <a:endParaRPr lang="en-US" altLang="zh-CN" dirty="0"/>
          </a:p>
          <a:p>
            <a:r>
              <a:rPr lang="en-US" altLang="zh-CN" dirty="0" err="1"/>
              <a:t>setjmp</a:t>
            </a:r>
            <a:r>
              <a:rPr lang="zh-CN" altLang="en-US" dirty="0"/>
              <a:t>函数</a:t>
            </a:r>
            <a:endParaRPr lang="en-US" altLang="zh-CN" dirty="0"/>
          </a:p>
          <a:p>
            <a:pPr lvl="1"/>
            <a:r>
              <a:rPr lang="zh-CN" altLang="en-US" dirty="0"/>
              <a:t>必须在</a:t>
            </a:r>
            <a:r>
              <a:rPr lang="en-US" altLang="zh-CN" dirty="0" err="1"/>
              <a:t>longjmp</a:t>
            </a:r>
            <a:r>
              <a:rPr lang="zh-CN" altLang="en-US" dirty="0"/>
              <a:t>之前调用，为后续</a:t>
            </a:r>
            <a:r>
              <a:rPr lang="en-US" altLang="zh-CN" dirty="0" err="1"/>
              <a:t>longjmp</a:t>
            </a:r>
            <a:r>
              <a:rPr lang="zh-CN" altLang="en-US" dirty="0"/>
              <a:t>提供返回点</a:t>
            </a:r>
            <a:endParaRPr lang="en-US" altLang="zh-CN" dirty="0"/>
          </a:p>
          <a:p>
            <a:pPr lvl="1"/>
            <a:r>
              <a:rPr lang="zh-CN" altLang="en-US" dirty="0"/>
              <a:t>调用一次，可能返回一次或多次</a:t>
            </a:r>
            <a:endParaRPr lang="en-US" altLang="zh-CN" dirty="0"/>
          </a:p>
          <a:p>
            <a:pPr lvl="1"/>
            <a:r>
              <a:rPr lang="zh-CN" altLang="en-US" dirty="0"/>
              <a:t>在</a:t>
            </a:r>
            <a:r>
              <a:rPr lang="en-US" altLang="zh-CN" dirty="0"/>
              <a:t>env</a:t>
            </a:r>
            <a:r>
              <a:rPr lang="zh-CN" altLang="en-US" dirty="0"/>
              <a:t>缓冲区中保存当前</a:t>
            </a:r>
            <a:r>
              <a:rPr lang="en-US" altLang="zh-CN" dirty="0"/>
              <a:t>PC</a:t>
            </a:r>
            <a:r>
              <a:rPr lang="zh-CN" altLang="en-US" dirty="0"/>
              <a:t>、栈指针和寄存器</a:t>
            </a:r>
            <a:endParaRPr lang="en-US" altLang="zh-CN" dirty="0"/>
          </a:p>
          <a:p>
            <a:pPr lvl="1"/>
            <a:r>
              <a:rPr lang="zh-CN" altLang="en-US" dirty="0"/>
              <a:t>返回值不能赋给变量</a:t>
            </a:r>
            <a:endParaRPr lang="en-US" altLang="zh-CN" dirty="0"/>
          </a:p>
          <a:p>
            <a:pPr lvl="1"/>
            <a:endParaRPr lang="en-US" altLang="zh-CN" dirty="0"/>
          </a:p>
        </p:txBody>
      </p:sp>
      <p:pic>
        <p:nvPicPr>
          <p:cNvPr id="4" name="图片 3">
            <a:extLst>
              <a:ext uri="{FF2B5EF4-FFF2-40B4-BE49-F238E27FC236}">
                <a16:creationId xmlns:a16="http://schemas.microsoft.com/office/drawing/2014/main" id="{DE0E1700-AAB2-9A2F-6F41-F2B4DDE45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6529" y="3839346"/>
            <a:ext cx="3639058" cy="323895"/>
          </a:xfrm>
          <a:prstGeom prst="rect">
            <a:avLst/>
          </a:prstGeom>
        </p:spPr>
      </p:pic>
    </p:spTree>
    <p:extLst>
      <p:ext uri="{BB962C8B-B14F-4D97-AF65-F5344CB8AC3E}">
        <p14:creationId xmlns:p14="http://schemas.microsoft.com/office/powerpoint/2010/main" val="3849232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A9B56-B05A-67F0-D975-AA8DBFF0CFB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7F0BE4-02E3-7EC2-D49C-D4DFE4A50894}"/>
              </a:ext>
            </a:extLst>
          </p:cNvPr>
          <p:cNvSpPr>
            <a:spLocks noGrp="1"/>
          </p:cNvSpPr>
          <p:nvPr>
            <p:ph type="title"/>
          </p:nvPr>
        </p:nvSpPr>
        <p:spPr/>
        <p:txBody>
          <a:bodyPr/>
          <a:lstStyle/>
          <a:p>
            <a:r>
              <a:rPr lang="en-US" altLang="zh-CN" dirty="0"/>
              <a:t>3.</a:t>
            </a:r>
            <a:r>
              <a:rPr lang="zh-CN" altLang="en-US" dirty="0"/>
              <a:t> 非本地跳转</a:t>
            </a:r>
          </a:p>
        </p:txBody>
      </p:sp>
      <p:sp>
        <p:nvSpPr>
          <p:cNvPr id="8" name="内容占位符 7">
            <a:extLst>
              <a:ext uri="{FF2B5EF4-FFF2-40B4-BE49-F238E27FC236}">
                <a16:creationId xmlns:a16="http://schemas.microsoft.com/office/drawing/2014/main" id="{A124EA5F-A399-0D8F-5F33-4D8016B29532}"/>
              </a:ext>
            </a:extLst>
          </p:cNvPr>
          <p:cNvSpPr>
            <a:spLocks noGrp="1"/>
          </p:cNvSpPr>
          <p:nvPr>
            <p:ph idx="1"/>
          </p:nvPr>
        </p:nvSpPr>
        <p:spPr/>
        <p:txBody>
          <a:bodyPr/>
          <a:lstStyle/>
          <a:p>
            <a:r>
              <a:rPr lang="en-US" altLang="zh-CN" dirty="0" err="1"/>
              <a:t>longjmp</a:t>
            </a:r>
            <a:r>
              <a:rPr lang="zh-CN" altLang="en-US" dirty="0"/>
              <a:t>函数</a:t>
            </a:r>
            <a:endParaRPr lang="en-US" altLang="zh-CN" dirty="0"/>
          </a:p>
          <a:p>
            <a:pPr lvl="1"/>
            <a:r>
              <a:rPr lang="zh-CN" altLang="en-US" dirty="0"/>
              <a:t>从缓冲区恢复调用环境</a:t>
            </a:r>
            <a:endParaRPr lang="en-US" altLang="zh-CN" dirty="0"/>
          </a:p>
          <a:p>
            <a:pPr lvl="1"/>
            <a:r>
              <a:rPr lang="zh-CN" altLang="en-US" dirty="0"/>
              <a:t>设置</a:t>
            </a:r>
            <a:r>
              <a:rPr lang="en-US" altLang="zh-CN" dirty="0"/>
              <a:t>%</a:t>
            </a:r>
            <a:r>
              <a:rPr lang="en-US" altLang="zh-CN" dirty="0" err="1"/>
              <a:t>eax</a:t>
            </a:r>
            <a:r>
              <a:rPr lang="zh-CN" altLang="en-US" dirty="0"/>
              <a:t>为</a:t>
            </a:r>
            <a:r>
              <a:rPr lang="en-US" altLang="zh-CN" dirty="0" err="1"/>
              <a:t>retval</a:t>
            </a:r>
            <a:endParaRPr lang="en-US" altLang="zh-CN" dirty="0"/>
          </a:p>
          <a:p>
            <a:pPr lvl="1"/>
            <a:r>
              <a:rPr lang="zh-CN" altLang="en-US" dirty="0"/>
              <a:t>跳转到</a:t>
            </a:r>
            <a:r>
              <a:rPr lang="en-US" altLang="zh-CN" dirty="0"/>
              <a:t>env</a:t>
            </a:r>
            <a:r>
              <a:rPr lang="zh-CN" altLang="en-US" dirty="0"/>
              <a:t>中存储的</a:t>
            </a:r>
            <a:r>
              <a:rPr lang="en-US" altLang="zh-CN" dirty="0"/>
              <a:t>PC</a:t>
            </a:r>
            <a:r>
              <a:rPr lang="zh-CN" altLang="en-US" dirty="0"/>
              <a:t>指定的地址</a:t>
            </a:r>
            <a:endParaRPr lang="en-US" altLang="zh-CN" dirty="0"/>
          </a:p>
        </p:txBody>
      </p:sp>
      <p:pic>
        <p:nvPicPr>
          <p:cNvPr id="5" name="图片 4">
            <a:extLst>
              <a:ext uri="{FF2B5EF4-FFF2-40B4-BE49-F238E27FC236}">
                <a16:creationId xmlns:a16="http://schemas.microsoft.com/office/drawing/2014/main" id="{A27D4542-B5E8-BE3F-42B7-535DAA5030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0028" y="1890939"/>
            <a:ext cx="5830114" cy="381053"/>
          </a:xfrm>
          <a:prstGeom prst="rect">
            <a:avLst/>
          </a:prstGeom>
        </p:spPr>
      </p:pic>
    </p:spTree>
    <p:extLst>
      <p:ext uri="{BB962C8B-B14F-4D97-AF65-F5344CB8AC3E}">
        <p14:creationId xmlns:p14="http://schemas.microsoft.com/office/powerpoint/2010/main" val="2802594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8796BF-5591-C43A-B40D-104E7DB15DF7}"/>
              </a:ext>
            </a:extLst>
          </p:cNvPr>
          <p:cNvSpPr>
            <a:spLocks noGrp="1"/>
          </p:cNvSpPr>
          <p:nvPr>
            <p:ph type="ctrTitle"/>
          </p:nvPr>
        </p:nvSpPr>
        <p:spPr/>
        <p:txBody>
          <a:bodyPr/>
          <a:lstStyle/>
          <a:p>
            <a:r>
              <a:rPr lang="zh-CN" altLang="en-US"/>
              <a:t>感谢聆听！</a:t>
            </a:r>
          </a:p>
        </p:txBody>
      </p:sp>
      <p:sp>
        <p:nvSpPr>
          <p:cNvPr id="3" name="副标题 2">
            <a:extLst>
              <a:ext uri="{FF2B5EF4-FFF2-40B4-BE49-F238E27FC236}">
                <a16:creationId xmlns:a16="http://schemas.microsoft.com/office/drawing/2014/main" id="{A1D1FBE2-2AA1-6513-793E-47230E4A7C4B}"/>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51148060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1163</TotalTime>
  <Words>1420</Words>
  <Application>Microsoft Office PowerPoint</Application>
  <PresentationFormat>宽屏</PresentationFormat>
  <Paragraphs>167</Paragraphs>
  <Slides>27</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等线</vt:lpstr>
      <vt:lpstr>等线 Light</vt:lpstr>
      <vt:lpstr>Arial</vt:lpstr>
      <vt:lpstr>Office 主题​​</vt:lpstr>
      <vt:lpstr>Lec18 回课</vt:lpstr>
      <vt:lpstr>0.上一讲回顾：</vt:lpstr>
      <vt:lpstr>0.上一讲回顾</vt:lpstr>
      <vt:lpstr>1.shell</vt:lpstr>
      <vt:lpstr>1.shell</vt:lpstr>
      <vt:lpstr>1.1一个简单的shell架构</vt:lpstr>
      <vt:lpstr>1.1一个简单的shell架构</vt:lpstr>
      <vt:lpstr>1.1一个简单的shell架构</vt:lpstr>
      <vt:lpstr>1.1一个简单的shell架构</vt:lpstr>
      <vt:lpstr>2. Signal</vt:lpstr>
      <vt:lpstr>2.1 信号术语</vt:lpstr>
      <vt:lpstr>2.2 发送信号</vt:lpstr>
      <vt:lpstr>2.2 发送信号</vt:lpstr>
      <vt:lpstr>2.3 接收信号</vt:lpstr>
      <vt:lpstr>2.3 接收信号</vt:lpstr>
      <vt:lpstr>2.4 信号的阻塞与解除</vt:lpstr>
      <vt:lpstr>2.4 信号的阻塞与解除</vt:lpstr>
      <vt:lpstr>2.4 信号的阻塞与解除</vt:lpstr>
      <vt:lpstr>2.5 编写信号处理程序</vt:lpstr>
      <vt:lpstr>2.5 编写信号处理程序</vt:lpstr>
      <vt:lpstr>2.5 编写信号处理程序</vt:lpstr>
      <vt:lpstr>2.6 同步流以避免并发错误</vt:lpstr>
      <vt:lpstr>2.6 同步流以避免并发错误</vt:lpstr>
      <vt:lpstr>2.7 显式地等待信号</vt:lpstr>
      <vt:lpstr>3. 非本地跳转</vt:lpstr>
      <vt:lpstr>3. 非本地跳转</vt:lpstr>
      <vt:lpstr>感谢聆听！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梓墨 郭</dc:creator>
  <cp:lastModifiedBy>镜丞 赖</cp:lastModifiedBy>
  <cp:revision>44</cp:revision>
  <dcterms:created xsi:type="dcterms:W3CDTF">2025-11-05T09:21:33Z</dcterms:created>
  <dcterms:modified xsi:type="dcterms:W3CDTF">2025-11-19T10:10:43Z</dcterms:modified>
</cp:coreProperties>
</file>