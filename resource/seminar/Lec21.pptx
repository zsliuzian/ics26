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4" r:id="rId31"/>
    <p:sldId id="28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3" d="100"/>
          <a:sy n="53" d="100"/>
        </p:scale>
        <p:origin x="68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87326-EF49-F99E-0BE6-2960CDD47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D05982-51FC-D7E4-BC72-B0FAC1857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41BA0A-20DA-5C18-4427-6FF02F67C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4952C8-B979-158A-5FB1-377662E8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EBEFE1-ABB8-40EB-202C-C462C724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760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EEF7E-F00B-FAAA-1B13-DE89275C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F4343-79B8-F10D-401A-08FDE7D2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3CADF6-6F73-BED1-66B5-4B9F472D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A6981C-CDB5-AD92-FB1E-8D7FA5BD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B5287A-4FC7-AF59-EEB4-98F385E6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6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A323BD-784F-5CB9-1017-C26BB63B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793DFD-F070-159E-77F5-A4B0AC2E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1AB809-724E-4F2F-FFD6-C06F0B37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15199-6521-0942-1BE5-9A61AF22A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5003C6-E163-3276-D93E-B2053033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40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D71BE9-D446-1664-A638-202AC0720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89C4B5-8BB0-2A7C-CB29-3113A0CC6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DF7223-67A4-B296-3E11-96D6552D2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D92C5B-9B2A-FEC9-00B4-949CEF39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EB23AF-6575-3972-7DA1-6C3B7F6F4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9C9664-7DFC-45FE-55C5-30570931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495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6663B-529E-0BE5-D194-1DC03226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7B9ED5-74BA-521A-2855-8E8E83722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12B85C-493B-CEC4-57F2-8E97E002D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37962D-5277-A704-A9D8-675A4BBE4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66F328-D36B-9FEC-40C1-CB1B1B8FA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2D5538-A4D7-32A7-1DDB-41A5F27E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FD245B-AA9B-05D2-F54E-A13545EE6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898D61-2CE7-3331-35ED-D2C8AA46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22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1A07E-A5BF-5452-7E35-DA62D8F5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2A4A27-D636-65A1-DB0F-593B24ECD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B8B3F-A31F-3DEF-5013-79C4B1328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BD8799-AAFE-06BA-0B9E-F92C86FB9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53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D6F588-0F54-92E7-800B-0BF998185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A0ACA0-2B4C-E39F-94DD-F47D2DE15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11C70A-604D-EADF-8B55-6D36FFFAA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742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40FB2-0B8F-8CA5-16AB-74A67EF1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1BA679-8A98-8BF3-B2B7-C35BF9755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179D4C-3536-DBC0-21F9-5E88E057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2BC217-56C8-750C-FA83-5D127046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C44AB8-CD1D-AE94-5C07-ACD38876C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1ADCC8-17B9-C05B-A43B-83C06D1F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35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B57250-E9D3-0274-2492-CED275702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900D66-F4B8-1065-476E-0BB08B93E5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198939-E0B2-3D87-CCAF-E47832166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005A0C-56EA-4F85-489C-5E81D1C10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6F3BA3-8EAD-15DA-FEB5-39A30195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774DEE-412A-E5B6-60B6-05BC06294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814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DF135-265B-104F-9A77-FC21B43E6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AF93D0-3DB2-7216-CE82-3F2447085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81F694-C8A6-D08B-60C9-220791E8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1F4BF5-4623-B74D-BFF8-3D245E6A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C723A1-BAE7-DF26-15B9-2E9F5C50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79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5B4DE7-55BA-90B2-B7FD-F76517365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804E49-8DF4-49C9-9ECC-BC2536655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ACFB13-3296-64E9-3542-E15EDD91F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ABC8B9-484A-4199-A867-F0413EA47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082DF0-3989-DBD8-B09F-869BA032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79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442E5C-747E-214B-8FBB-D94EB245E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0FD562-D224-2EB2-A9D4-1B9CBA8E8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49970E-BD9D-4A95-83A9-4C3F1DF6BE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7EF0A-175C-4A32-A0E1-02B81DAF8432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D81A05-F238-CFCE-CCDC-13E2CD4ECC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772500-057C-AC4E-2F80-3AF566E49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4CF9B-909A-4B81-B06F-CE0D8B41F4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1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76AFD-B0EC-FD06-A873-9C2BF1B1BC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回课 </a:t>
            </a:r>
            <a:r>
              <a:rPr lang="en-US" altLang="zh-CN" dirty="0"/>
              <a:t>lec19 VM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8B0D1E-1B12-E14C-357D-742C4A50A2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2400013108 </a:t>
            </a:r>
            <a:r>
              <a:rPr lang="zh-CN" altLang="en-US" dirty="0"/>
              <a:t>郭梓墨</a:t>
            </a:r>
          </a:p>
        </p:txBody>
      </p:sp>
    </p:spTree>
    <p:extLst>
      <p:ext uri="{BB962C8B-B14F-4D97-AF65-F5344CB8AC3E}">
        <p14:creationId xmlns:p14="http://schemas.microsoft.com/office/powerpoint/2010/main" val="342839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5A129-EA47-CF1A-E22A-40F0E240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虚拟内存出现的动机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EF185F-ED80-132E-8907-7F6D2A3C0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地址空间巨大</a:t>
            </a:r>
            <a:endParaRPr lang="en-US" altLang="zh-CN" dirty="0"/>
          </a:p>
          <a:p>
            <a:r>
              <a:rPr lang="zh-CN" altLang="en-US" dirty="0"/>
              <a:t>多个进程需要独立的地址空间</a:t>
            </a:r>
            <a:endParaRPr lang="en-US" altLang="zh-CN" dirty="0"/>
          </a:p>
          <a:p>
            <a:r>
              <a:rPr lang="zh-CN" altLang="en-US" dirty="0"/>
              <a:t>避免进程写入错误的地址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31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524FD-094C-ACC1-8635-FB9B0E48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回顾 </a:t>
            </a:r>
            <a:r>
              <a:rPr lang="en-US" altLang="zh-CN" dirty="0"/>
              <a:t>– </a:t>
            </a:r>
            <a:r>
              <a:rPr lang="zh-CN" altLang="en-US" dirty="0"/>
              <a:t>内存组织形式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DB0DEA-AB95-55E4-7EBC-E9B8E2B99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内存空间可以看成一个长的</a:t>
            </a:r>
            <a:r>
              <a:rPr lang="en-US" altLang="zh-CN" dirty="0"/>
              <a:t>byte array</a:t>
            </a:r>
          </a:p>
          <a:p>
            <a:r>
              <a:rPr lang="zh-CN" altLang="en-US" dirty="0"/>
              <a:t>地址则是这个</a:t>
            </a:r>
            <a:r>
              <a:rPr lang="en-US" altLang="zh-CN" dirty="0"/>
              <a:t>array</a:t>
            </a:r>
            <a:r>
              <a:rPr lang="zh-CN" altLang="en-US" dirty="0"/>
              <a:t>的索引。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1632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42188-A1CB-AD34-6F8B-2711A6B9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回顾 </a:t>
            </a:r>
            <a:r>
              <a:rPr lang="en-US" altLang="zh-CN" dirty="0"/>
              <a:t>– </a:t>
            </a:r>
            <a:r>
              <a:rPr lang="zh-CN" altLang="en-US" dirty="0"/>
              <a:t>寻址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0979B9-C82C-B20B-0CAE-20F33E8EA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直接寻址：</a:t>
            </a:r>
            <a:r>
              <a:rPr lang="en-US" altLang="zh-CN" dirty="0"/>
              <a:t>Mem[Reg[R]]</a:t>
            </a:r>
          </a:p>
          <a:p>
            <a:r>
              <a:rPr lang="zh-CN" altLang="en-US" dirty="0"/>
              <a:t>间接寻址：</a:t>
            </a:r>
            <a:r>
              <a:rPr lang="en-US" altLang="zh-CN" dirty="0"/>
              <a:t>Mem[Reg[R]+D]</a:t>
            </a:r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187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734CF-5140-5D5B-381C-9400E269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地址空间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29266E-2C63-DCDF-C555-3A7A59854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地址空间是一个非负整数地址的有序集合。</a:t>
            </a:r>
            <a:endParaRPr lang="en-US" altLang="zh-CN" dirty="0"/>
          </a:p>
          <a:p>
            <a:r>
              <a:rPr lang="zh-CN" altLang="en-US" dirty="0"/>
              <a:t>如果所有整数连续，则为线性地址空间（默认使用的是线性地址空间）</a:t>
            </a:r>
            <a:endParaRPr lang="en-US" altLang="zh-CN" dirty="0"/>
          </a:p>
          <a:p>
            <a:r>
              <a:rPr lang="zh-CN" altLang="en-US" dirty="0"/>
              <a:t>虚拟地址空间：生成虚拟地址的地址空间。</a:t>
            </a:r>
            <a:endParaRPr lang="en-US" altLang="zh-CN" dirty="0"/>
          </a:p>
          <a:p>
            <a:r>
              <a:rPr lang="zh-CN" altLang="en-US" dirty="0"/>
              <a:t>物理地址空间：与物理内存的字节数量对应。</a:t>
            </a:r>
            <a:endParaRPr lang="en-US" altLang="zh-CN" dirty="0"/>
          </a:p>
          <a:p>
            <a:r>
              <a:rPr lang="zh-CN" altLang="en-US" dirty="0"/>
              <a:t>地址空间大小：表示最大地址所需位数。（一般）</a:t>
            </a:r>
          </a:p>
        </p:txBody>
      </p:sp>
    </p:spTree>
    <p:extLst>
      <p:ext uri="{BB962C8B-B14F-4D97-AF65-F5344CB8AC3E}">
        <p14:creationId xmlns:p14="http://schemas.microsoft.com/office/powerpoint/2010/main" val="315289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C544EF-FE4A-F71B-7A51-1DE78053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物理寻址 </a:t>
            </a:r>
            <a:r>
              <a:rPr lang="en-US" altLang="zh-CN" dirty="0"/>
              <a:t>vs </a:t>
            </a:r>
            <a:r>
              <a:rPr lang="zh-CN" altLang="en-US" dirty="0"/>
              <a:t>虚拟寻址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EA4F26FD-C9B9-7221-3FB4-307F0CB9E5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084485"/>
              </p:ext>
            </p:extLst>
          </p:nvPr>
        </p:nvGraphicFramePr>
        <p:xfrm>
          <a:off x="838200" y="1825625"/>
          <a:ext cx="10515597" cy="363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979">
                  <a:extLst>
                    <a:ext uri="{9D8B030D-6E8A-4147-A177-3AD203B41FA5}">
                      <a16:colId xmlns:a16="http://schemas.microsoft.com/office/drawing/2014/main" val="103742092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14354006"/>
                    </a:ext>
                  </a:extLst>
                </a:gridCol>
                <a:gridCol w="4122818">
                  <a:extLst>
                    <a:ext uri="{9D8B030D-6E8A-4147-A177-3AD203B41FA5}">
                      <a16:colId xmlns:a16="http://schemas.microsoft.com/office/drawing/2014/main" val="4131778315"/>
                    </a:ext>
                  </a:extLst>
                </a:gridCol>
              </a:tblGrid>
              <a:tr h="90917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物理寻址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虚拟寻址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593348"/>
                  </a:ext>
                </a:extLst>
              </a:tr>
              <a:tr h="909178">
                <a:tc>
                  <a:txBody>
                    <a:bodyPr/>
                    <a:lstStyle/>
                    <a:p>
                      <a:r>
                        <a:rPr lang="zh-CN" altLang="en-US" dirty="0"/>
                        <a:t>寻址方式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直接将主存组织为一个字节数组，对获得的地址直接找到对应位置的字节。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CPU</a:t>
                      </a:r>
                      <a:r>
                        <a:rPr lang="zh-CN" altLang="en-US" dirty="0"/>
                        <a:t>生成虚拟地址，虚拟地址经过</a:t>
                      </a:r>
                      <a:r>
                        <a:rPr lang="en-US" altLang="zh-CN" dirty="0"/>
                        <a:t>MMU</a:t>
                      </a:r>
                      <a:r>
                        <a:rPr lang="zh-CN" altLang="en-US" dirty="0"/>
                        <a:t>转换为物理地址访问主存。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881722"/>
                  </a:ext>
                </a:extLst>
              </a:tr>
              <a:tr h="909178">
                <a:tc>
                  <a:txBody>
                    <a:bodyPr/>
                    <a:lstStyle/>
                    <a:p>
                      <a:r>
                        <a:rPr lang="zh-CN" altLang="en-US" dirty="0"/>
                        <a:t>应用场景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相对简单的系统，如信号处理器，嵌入式设备，汽车等。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现代处理器：手机，</a:t>
                      </a:r>
                      <a:r>
                        <a:rPr lang="en-US" altLang="zh-CN" dirty="0"/>
                        <a:t>PC</a:t>
                      </a:r>
                      <a:r>
                        <a:rPr lang="zh-CN" altLang="en-US" dirty="0"/>
                        <a:t>，服务器等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370282"/>
                  </a:ext>
                </a:extLst>
              </a:tr>
              <a:tr h="90917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954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7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9D1970-FCE8-39DB-99EA-C6091D7B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虚拟内存的组织形式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E995A7-5838-33BF-2245-8B16B2B8A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可以把内存看成一个硬盘或其它外部存储的</a:t>
            </a:r>
            <a:r>
              <a:rPr lang="en-US" altLang="zh-CN" dirty="0"/>
              <a:t>Cache</a:t>
            </a:r>
          </a:p>
          <a:p>
            <a:r>
              <a:rPr lang="zh-CN" altLang="en-US" dirty="0"/>
              <a:t>每次加载一个</a:t>
            </a:r>
            <a:r>
              <a:rPr lang="en-US" altLang="zh-CN" dirty="0"/>
              <a:t>page</a:t>
            </a:r>
            <a:r>
              <a:rPr lang="zh-CN" altLang="en-US" dirty="0"/>
              <a:t>（对应</a:t>
            </a:r>
            <a:r>
              <a:rPr lang="en-US" altLang="zh-CN" dirty="0"/>
              <a:t>cache</a:t>
            </a:r>
            <a:r>
              <a:rPr lang="zh-CN" altLang="en-US" dirty="0"/>
              <a:t>的</a:t>
            </a:r>
            <a:r>
              <a:rPr lang="en-US" altLang="zh-CN" dirty="0"/>
              <a:t>block</a:t>
            </a:r>
            <a:r>
              <a:rPr lang="zh-CN" altLang="en-US" dirty="0"/>
              <a:t>）一般大小为</a:t>
            </a:r>
            <a:r>
              <a:rPr lang="en-US" altLang="zh-CN" dirty="0"/>
              <a:t>4KB</a:t>
            </a:r>
            <a:r>
              <a:rPr lang="zh-CN" altLang="en-US" dirty="0"/>
              <a:t>，也存在</a:t>
            </a:r>
            <a:r>
              <a:rPr lang="en-US" altLang="zh-CN" dirty="0"/>
              <a:t>2MB~1GB</a:t>
            </a:r>
            <a:r>
              <a:rPr lang="zh-CN" altLang="en-US" dirty="0"/>
              <a:t>的</a:t>
            </a:r>
            <a:r>
              <a:rPr lang="en-US" altLang="zh-CN" dirty="0"/>
              <a:t>huge page</a:t>
            </a:r>
            <a:r>
              <a:rPr lang="zh-CN" altLang="en-US" dirty="0"/>
              <a:t>。每一个虚拟页（</a:t>
            </a:r>
            <a:r>
              <a:rPr lang="en-US" altLang="zh-CN" dirty="0"/>
              <a:t>VP</a:t>
            </a:r>
            <a:r>
              <a:rPr lang="zh-CN" altLang="en-US" dirty="0"/>
              <a:t>）存在</a:t>
            </a:r>
            <a:r>
              <a:rPr lang="en-US" altLang="zh-CN" dirty="0"/>
              <a:t>3</a:t>
            </a:r>
            <a:r>
              <a:rPr lang="zh-CN" altLang="en-US" dirty="0"/>
              <a:t>种情况：未分配（</a:t>
            </a:r>
            <a:r>
              <a:rPr lang="en-US" altLang="zh-CN" dirty="0"/>
              <a:t>VM</a:t>
            </a:r>
            <a:r>
              <a:rPr lang="zh-CN" altLang="en-US" dirty="0"/>
              <a:t>系统没有分配），缓存（已在物理内存中且已分配），未缓存（未缓存在物理内存中但已分配）</a:t>
            </a:r>
            <a:endParaRPr lang="en-US" altLang="zh-CN" dirty="0"/>
          </a:p>
          <a:p>
            <a:r>
              <a:rPr lang="zh-CN" altLang="en-US" dirty="0"/>
              <a:t>全连接，因而需要一个复杂的映射函数</a:t>
            </a:r>
            <a:endParaRPr lang="en-US" altLang="zh-CN" dirty="0"/>
          </a:p>
          <a:p>
            <a:r>
              <a:rPr lang="zh-CN" altLang="en-US" dirty="0"/>
              <a:t>复杂的替换算法，由操作系统实现</a:t>
            </a:r>
            <a:endParaRPr lang="en-US" altLang="zh-CN" dirty="0"/>
          </a:p>
          <a:p>
            <a:r>
              <a:rPr lang="zh-CN" altLang="en-US" dirty="0"/>
              <a:t>采用</a:t>
            </a:r>
            <a:r>
              <a:rPr lang="en-US" altLang="zh-CN" dirty="0"/>
              <a:t>Write-back</a:t>
            </a:r>
            <a:r>
              <a:rPr lang="zh-CN" altLang="en-US" dirty="0"/>
              <a:t>策略进行写操作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5360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ED777-B5F5-3653-9828-A5B3A0B4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关键的数据结构：页表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18ED4E-3802-5AD7-762B-7D6887908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8379" cy="4351338"/>
          </a:xfrm>
        </p:spPr>
        <p:txBody>
          <a:bodyPr/>
          <a:lstStyle/>
          <a:p>
            <a:r>
              <a:rPr lang="zh-CN" altLang="en-US" dirty="0"/>
              <a:t>页表，是由大量页表项组成的数据结构，完成前述映射功能。</a:t>
            </a:r>
            <a:endParaRPr lang="en-US" altLang="zh-CN" dirty="0"/>
          </a:p>
          <a:p>
            <a:r>
              <a:rPr lang="zh-CN" altLang="en-US" dirty="0"/>
              <a:t>页表项有一位</a:t>
            </a:r>
            <a:r>
              <a:rPr lang="en-US" altLang="zh-CN" dirty="0"/>
              <a:t>valid bit</a:t>
            </a:r>
            <a:r>
              <a:rPr lang="zh-CN" altLang="en-US" dirty="0"/>
              <a:t>，当</a:t>
            </a:r>
            <a:r>
              <a:rPr lang="en-US" altLang="zh-CN" dirty="0"/>
              <a:t>valid bit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时，后续的地址为磁盘地址（若为</a:t>
            </a:r>
            <a:r>
              <a:rPr lang="en-US" altLang="zh-CN" dirty="0"/>
              <a:t>NULL</a:t>
            </a:r>
            <a:r>
              <a:rPr lang="zh-CN" altLang="en-US" dirty="0"/>
              <a:t>则对应未分配）；否则为对应的</a:t>
            </a:r>
            <a:r>
              <a:rPr lang="en-US" altLang="zh-CN" dirty="0"/>
              <a:t>PP</a:t>
            </a:r>
            <a:r>
              <a:rPr lang="zh-CN" altLang="en-US" dirty="0"/>
              <a:t>的</a:t>
            </a:r>
            <a:r>
              <a:rPr lang="en-US" altLang="zh-CN" dirty="0"/>
              <a:t>id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9B7663-3602-ADD4-CB3E-18E0B2CF1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939" y="1690687"/>
            <a:ext cx="4801817" cy="38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757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A628B-8993-65E3-CB9D-08B72316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关键的数据结构：页表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7661D9-5BA3-4311-F2B3-9A5851991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zh-CN" altLang="en-US" dirty="0"/>
              <a:t>和</a:t>
            </a:r>
            <a:r>
              <a:rPr lang="en-US" altLang="zh-CN" dirty="0"/>
              <a:t>Cache</a:t>
            </a:r>
            <a:r>
              <a:rPr lang="zh-CN" altLang="en-US" dirty="0"/>
              <a:t>一样，访问页表存在</a:t>
            </a:r>
            <a:r>
              <a:rPr lang="en-US" altLang="zh-CN" dirty="0"/>
              <a:t>Hit</a:t>
            </a:r>
            <a:r>
              <a:rPr lang="zh-CN" altLang="en-US" dirty="0"/>
              <a:t>和</a:t>
            </a:r>
            <a:r>
              <a:rPr lang="en-US" altLang="zh-CN" dirty="0"/>
              <a:t>Fault</a:t>
            </a:r>
            <a:r>
              <a:rPr lang="zh-CN" altLang="en-US" dirty="0"/>
              <a:t>（对应</a:t>
            </a:r>
            <a:r>
              <a:rPr lang="en-US" altLang="zh-CN" dirty="0"/>
              <a:t>Cache Miss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Page Hit</a:t>
            </a:r>
            <a:r>
              <a:rPr lang="zh-CN" altLang="en-US" dirty="0"/>
              <a:t>：访问的虚拟地址（</a:t>
            </a:r>
            <a:r>
              <a:rPr lang="en-US" altLang="zh-CN" dirty="0"/>
              <a:t>VA</a:t>
            </a:r>
            <a:r>
              <a:rPr lang="zh-CN" altLang="en-US" dirty="0"/>
              <a:t>）对应的</a:t>
            </a:r>
            <a:r>
              <a:rPr lang="en-US" altLang="zh-CN" dirty="0"/>
              <a:t>page</a:t>
            </a:r>
            <a:r>
              <a:rPr lang="zh-CN" altLang="en-US" dirty="0"/>
              <a:t>在页表中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8DEECC-E8E7-46C9-C414-4572E2694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241" y="1690687"/>
            <a:ext cx="5160863" cy="406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40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C3816-404B-38CC-B8E6-C816CC699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69FEC50E-AEE0-30C6-6F2C-801C6444C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549" y="1825625"/>
            <a:ext cx="6176494" cy="413868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AEA2F53-D570-3FDD-2DEC-AE005E0C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关键的数据结构：页表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E6A7AA-7A35-C2DF-FFB3-71F173CE3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zh-CN" altLang="en-US" dirty="0"/>
              <a:t>和</a:t>
            </a:r>
            <a:r>
              <a:rPr lang="en-US" altLang="zh-CN" dirty="0"/>
              <a:t>Cache</a:t>
            </a:r>
            <a:r>
              <a:rPr lang="zh-CN" altLang="en-US" dirty="0"/>
              <a:t>一样，访问页表存在</a:t>
            </a:r>
            <a:r>
              <a:rPr lang="en-US" altLang="zh-CN" dirty="0"/>
              <a:t>Hit</a:t>
            </a:r>
            <a:r>
              <a:rPr lang="zh-CN" altLang="en-US" dirty="0"/>
              <a:t>和</a:t>
            </a:r>
            <a:r>
              <a:rPr lang="en-US" altLang="zh-CN" dirty="0"/>
              <a:t>Fault</a:t>
            </a:r>
            <a:r>
              <a:rPr lang="zh-CN" altLang="en-US" dirty="0"/>
              <a:t>（对应</a:t>
            </a:r>
            <a:r>
              <a:rPr lang="en-US" altLang="zh-CN" dirty="0"/>
              <a:t>Cache Miss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Page Fault</a:t>
            </a:r>
            <a:r>
              <a:rPr lang="zh-CN" altLang="en-US" dirty="0"/>
              <a:t>：访问的虚拟地址（</a:t>
            </a:r>
            <a:r>
              <a:rPr lang="en-US" altLang="zh-CN" dirty="0"/>
              <a:t>VA</a:t>
            </a:r>
            <a:r>
              <a:rPr lang="zh-CN" altLang="en-US" dirty="0"/>
              <a:t>）对应的</a:t>
            </a:r>
            <a:r>
              <a:rPr lang="en-US" altLang="zh-CN" dirty="0"/>
              <a:t>page</a:t>
            </a:r>
            <a:r>
              <a:rPr lang="zh-CN" altLang="en-US" dirty="0"/>
              <a:t>不在页表中</a:t>
            </a:r>
            <a:endParaRPr lang="en-US" altLang="zh-CN" dirty="0"/>
          </a:p>
          <a:p>
            <a:r>
              <a:rPr lang="zh-CN" altLang="en-US" dirty="0"/>
              <a:t>触发缺页异常，系统选择一个物理内存中的页，访问磁盘并替换该页为所需的页。</a:t>
            </a:r>
            <a:endParaRPr lang="en-US" altLang="zh-CN" dirty="0"/>
          </a:p>
          <a:p>
            <a:r>
              <a:rPr lang="zh-CN" altLang="en-US" dirty="0"/>
              <a:t>返回原指令（触发缺页的指令），继续执行，此时</a:t>
            </a:r>
            <a:r>
              <a:rPr lang="en-US" altLang="zh-CN" dirty="0"/>
              <a:t>Page Hit</a:t>
            </a:r>
            <a:r>
              <a:rPr lang="zh-CN" altLang="en-US" dirty="0"/>
              <a:t>，程序继续运行。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01894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91C15-0B8F-BE5F-FD5D-27233F1C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C6270E6-B7D1-D93F-8A33-666FD4366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967" y="1690688"/>
            <a:ext cx="6220327" cy="435133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46ADF7D-A044-A0EA-BC9A-990F2CF6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关键的数据结构：页表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1361CD-0A47-AD65-A4AA-FAD7B58E5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58" y="1825625"/>
            <a:ext cx="5578642" cy="4667250"/>
          </a:xfrm>
        </p:spPr>
        <p:txBody>
          <a:bodyPr>
            <a:noAutofit/>
          </a:bodyPr>
          <a:lstStyle/>
          <a:p>
            <a:r>
              <a:rPr lang="zh-CN" altLang="en-US" dirty="0"/>
              <a:t>和</a:t>
            </a:r>
            <a:r>
              <a:rPr lang="en-US" altLang="zh-CN" dirty="0"/>
              <a:t>Cache</a:t>
            </a:r>
            <a:r>
              <a:rPr lang="zh-CN" altLang="en-US" dirty="0"/>
              <a:t>一样，访问页表存在</a:t>
            </a:r>
            <a:r>
              <a:rPr lang="en-US" altLang="zh-CN" dirty="0"/>
              <a:t>Hit</a:t>
            </a:r>
            <a:r>
              <a:rPr lang="zh-CN" altLang="en-US" dirty="0"/>
              <a:t>和</a:t>
            </a:r>
            <a:r>
              <a:rPr lang="en-US" altLang="zh-CN" dirty="0"/>
              <a:t>Fault</a:t>
            </a:r>
            <a:r>
              <a:rPr lang="zh-CN" altLang="en-US" dirty="0"/>
              <a:t>（对应</a:t>
            </a:r>
            <a:r>
              <a:rPr lang="en-US" altLang="zh-CN" dirty="0"/>
              <a:t>Cache Miss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Page Fault</a:t>
            </a:r>
            <a:r>
              <a:rPr lang="zh-CN" altLang="en-US" dirty="0"/>
              <a:t>：访问的虚拟地址（</a:t>
            </a:r>
            <a:r>
              <a:rPr lang="en-US" altLang="zh-CN" dirty="0"/>
              <a:t>VA</a:t>
            </a:r>
            <a:r>
              <a:rPr lang="zh-CN" altLang="en-US" dirty="0"/>
              <a:t>）对应的</a:t>
            </a:r>
            <a:r>
              <a:rPr lang="en-US" altLang="zh-CN" dirty="0"/>
              <a:t>page</a:t>
            </a:r>
            <a:r>
              <a:rPr lang="zh-CN" altLang="en-US" dirty="0"/>
              <a:t>不在页表中</a:t>
            </a:r>
            <a:endParaRPr lang="en-US" altLang="zh-CN" dirty="0"/>
          </a:p>
          <a:p>
            <a:r>
              <a:rPr lang="zh-CN" altLang="en-US" dirty="0"/>
              <a:t>触发缺页异常，进入内核态，系统选择一个物理内存中的页，访问磁盘并替换该页为所需的页。</a:t>
            </a:r>
            <a:endParaRPr lang="en-US" altLang="zh-CN" dirty="0"/>
          </a:p>
          <a:p>
            <a:r>
              <a:rPr lang="zh-CN" altLang="en-US" dirty="0"/>
              <a:t>异常处理结束后返回原指令（触发缺页的指令），继续执行，此时</a:t>
            </a:r>
            <a:r>
              <a:rPr lang="en-US" altLang="zh-CN" dirty="0"/>
              <a:t>Page Hit</a:t>
            </a:r>
            <a:r>
              <a:rPr lang="zh-CN" altLang="en-US" dirty="0"/>
              <a:t>，程序继续运行。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8594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610E57-68A5-BA07-66EF-67627031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关键的数据结构：页表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926F72-57E3-ACAF-50B8-F3080B830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2421" cy="4351338"/>
          </a:xfrm>
        </p:spPr>
        <p:txBody>
          <a:bodyPr/>
          <a:lstStyle/>
          <a:p>
            <a:r>
              <a:rPr lang="zh-CN" altLang="en-US" dirty="0"/>
              <a:t>页面分配：页表在磁盘上创建空间，更新对应的</a:t>
            </a:r>
            <a:r>
              <a:rPr lang="en-US" altLang="zh-CN" dirty="0"/>
              <a:t>PTE</a:t>
            </a:r>
            <a:r>
              <a:rPr lang="zh-CN" altLang="en-US" dirty="0"/>
              <a:t>，使其指向磁盘上这个新页面。</a:t>
            </a:r>
            <a:endParaRPr lang="en-US" altLang="zh-CN" dirty="0"/>
          </a:p>
          <a:p>
            <a:r>
              <a:rPr lang="zh-CN" altLang="en-US" dirty="0"/>
              <a:t>常见出现情况：调用</a:t>
            </a:r>
            <a:r>
              <a:rPr lang="en-US" altLang="zh-CN" dirty="0"/>
              <a:t>malloc</a:t>
            </a:r>
            <a:r>
              <a:rPr lang="zh-CN" altLang="en-US" dirty="0"/>
              <a:t>等内存分配函数时，需要额外分配内存。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D82CCB-15E4-EADD-86EE-5CAF5C67F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3" y="1576528"/>
            <a:ext cx="4973214" cy="460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44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E7514-FCB1-F550-9F77-F67EB6345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虚存的性能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5D2181-1DB5-ABDB-5717-0FE0FAE87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由于局部性原理，虚拟内存的效率相当好。程序更倾向于在一个较小的页面集合（即工作集合）上工作，因而不会触发过多的磁盘读写。</a:t>
            </a:r>
            <a:endParaRPr lang="en-US" altLang="zh-CN" dirty="0"/>
          </a:p>
          <a:p>
            <a:r>
              <a:rPr lang="zh-CN" altLang="en-US" dirty="0"/>
              <a:t>然而当工作集大小大于物理内存大小时，会出现颠簸现象，页会被反复在磁盘和内存中移动，造成效率损失。（多个进程需要对它们的工作集大小之和进行考虑）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008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3021E-DE43-117D-6B72-F7345082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虚拟存储 </a:t>
            </a:r>
            <a:r>
              <a:rPr lang="en-US" altLang="zh-CN" dirty="0"/>
              <a:t>vs Cache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A4198C8-BD43-D1BA-822A-6997D78AEA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6589225"/>
              </p:ext>
            </p:extLst>
          </p:nvPr>
        </p:nvGraphicFramePr>
        <p:xfrm>
          <a:off x="838200" y="1825625"/>
          <a:ext cx="10515597" cy="4418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789">
                  <a:extLst>
                    <a:ext uri="{9D8B030D-6E8A-4147-A177-3AD203B41FA5}">
                      <a16:colId xmlns:a16="http://schemas.microsoft.com/office/drawing/2014/main" val="1040578861"/>
                    </a:ext>
                  </a:extLst>
                </a:gridCol>
                <a:gridCol w="3862137">
                  <a:extLst>
                    <a:ext uri="{9D8B030D-6E8A-4147-A177-3AD203B41FA5}">
                      <a16:colId xmlns:a16="http://schemas.microsoft.com/office/drawing/2014/main" val="1190960400"/>
                    </a:ext>
                  </a:extLst>
                </a:gridCol>
                <a:gridCol w="4447671">
                  <a:extLst>
                    <a:ext uri="{9D8B030D-6E8A-4147-A177-3AD203B41FA5}">
                      <a16:colId xmlns:a16="http://schemas.microsoft.com/office/drawing/2014/main" val="1796924742"/>
                    </a:ext>
                  </a:extLst>
                </a:gridCol>
              </a:tblGrid>
              <a:tr h="1104691">
                <a:tc>
                  <a:txBody>
                    <a:bodyPr/>
                    <a:lstStyle/>
                    <a:p>
                      <a:r>
                        <a:rPr lang="zh-CN" altLang="en-US" dirty="0"/>
                        <a:t>共同点：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VM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Cache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319396"/>
                  </a:ext>
                </a:extLst>
              </a:tr>
              <a:tr h="1104691">
                <a:tc>
                  <a:txBody>
                    <a:bodyPr/>
                    <a:lstStyle/>
                    <a:p>
                      <a:r>
                        <a:rPr lang="zh-CN" altLang="en-US" dirty="0"/>
                        <a:t>局部性：二者都利用了空间与时间局部性原理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由于容量更大，因而单个</a:t>
                      </a:r>
                      <a:r>
                        <a:rPr lang="en-US" altLang="zh-CN" dirty="0"/>
                        <a:t>Page</a:t>
                      </a:r>
                      <a:r>
                        <a:rPr lang="zh-CN" altLang="en-US" dirty="0"/>
                        <a:t>的尺寸会更大（</a:t>
                      </a:r>
                      <a:r>
                        <a:rPr lang="en-US" altLang="zh-CN" dirty="0"/>
                        <a:t>4KB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容量较小，单个</a:t>
                      </a:r>
                      <a:r>
                        <a:rPr lang="en-US" altLang="zh-CN" dirty="0"/>
                        <a:t>Page</a:t>
                      </a:r>
                      <a:r>
                        <a:rPr lang="zh-CN" altLang="en-US" dirty="0"/>
                        <a:t>的尺寸通常小于</a:t>
                      </a:r>
                      <a:r>
                        <a:rPr lang="en-US" altLang="zh-CN" dirty="0"/>
                        <a:t>1KB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278561"/>
                  </a:ext>
                </a:extLst>
              </a:tr>
              <a:tr h="1104691">
                <a:tc>
                  <a:txBody>
                    <a:bodyPr/>
                    <a:lstStyle/>
                    <a:p>
                      <a:r>
                        <a:rPr lang="zh-CN" altLang="en-US" dirty="0"/>
                        <a:t>命中：命中后都无需访问下一级存储，带来效率提升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通过检查</a:t>
                      </a:r>
                      <a:r>
                        <a:rPr lang="en-US" altLang="zh-CN" dirty="0"/>
                        <a:t>PTE</a:t>
                      </a:r>
                      <a:r>
                        <a:rPr lang="zh-CN" altLang="en-US" dirty="0"/>
                        <a:t>对应条目的</a:t>
                      </a:r>
                      <a:r>
                        <a:rPr lang="en-US" altLang="zh-CN" dirty="0"/>
                        <a:t>valid bit</a:t>
                      </a:r>
                      <a:r>
                        <a:rPr lang="zh-CN" altLang="en-US" dirty="0"/>
                        <a:t>确认是否命中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直接对比</a:t>
                      </a:r>
                      <a:r>
                        <a:rPr lang="en-US" altLang="zh-CN" dirty="0"/>
                        <a:t>tag</a:t>
                      </a:r>
                      <a:r>
                        <a:rPr lang="zh-CN" altLang="en-US" dirty="0"/>
                        <a:t>，验证</a:t>
                      </a:r>
                      <a:r>
                        <a:rPr lang="en-US" altLang="zh-CN" dirty="0"/>
                        <a:t>valid bit</a:t>
                      </a:r>
                      <a:r>
                        <a:rPr lang="zh-CN" altLang="en-US" dirty="0"/>
                        <a:t>确认是否命中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460901"/>
                  </a:ext>
                </a:extLst>
              </a:tr>
              <a:tr h="1104691">
                <a:tc>
                  <a:txBody>
                    <a:bodyPr/>
                    <a:lstStyle/>
                    <a:p>
                      <a:r>
                        <a:rPr lang="zh-CN" altLang="en-US" dirty="0"/>
                        <a:t>不命中：均有较大的</a:t>
                      </a:r>
                      <a:r>
                        <a:rPr lang="en-US" altLang="zh-CN" dirty="0"/>
                        <a:t>miss penalty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由于全相联，只有冷启动和容量不足带来的</a:t>
                      </a:r>
                      <a:r>
                        <a:rPr lang="en-US" altLang="zh-CN" dirty="0"/>
                        <a:t>Page Fault</a:t>
                      </a:r>
                      <a:r>
                        <a:rPr lang="zh-CN" altLang="en-US" dirty="0"/>
                        <a:t>；</a:t>
                      </a:r>
                      <a:br>
                        <a:rPr lang="en-US" altLang="zh-CN" dirty="0"/>
                      </a:br>
                      <a:r>
                        <a:rPr lang="zh-CN" altLang="en-US" dirty="0"/>
                        <a:t>策略复杂，由软件控制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可能存在反复交换导致的</a:t>
                      </a:r>
                      <a:r>
                        <a:rPr lang="en-US" altLang="zh-CN" dirty="0"/>
                        <a:t>Conflict Miss</a:t>
                      </a:r>
                      <a:r>
                        <a:rPr lang="zh-CN" altLang="en-US" dirty="0"/>
                        <a:t>；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策略简单，由硬件控制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29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698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094B3-98B0-D831-0671-7EC501F4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虚拟存储进行内存管理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4202A4-2B51-8E1D-351D-D6F247AE7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altLang="zh-CN" dirty="0"/>
              <a:t>VM</a:t>
            </a:r>
            <a:r>
              <a:rPr lang="zh-CN" altLang="en-US" dirty="0"/>
              <a:t>可以为每一个进程提供一个独立的地址空间，通过维护每一个进程独立的页表。</a:t>
            </a:r>
            <a:endParaRPr lang="en-US" altLang="zh-CN" dirty="0"/>
          </a:p>
          <a:p>
            <a:r>
              <a:rPr lang="zh-CN" altLang="en-US" dirty="0"/>
              <a:t>同时，如右图中</a:t>
            </a:r>
            <a:r>
              <a:rPr lang="en-US" altLang="zh-CN" dirty="0"/>
              <a:t>PP 7</a:t>
            </a:r>
            <a:r>
              <a:rPr lang="zh-CN" altLang="en-US" dirty="0"/>
              <a:t>所示，多个进程的页表可以指向同一块地址空间。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49C390-2973-D039-CF62-E089B2A83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264" y="1690688"/>
            <a:ext cx="5496692" cy="419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08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A13F9B-4B50-B215-AA58-A60AEE61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虚拟存储进行内存管理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2FF272-6129-6CA0-6779-07F265D8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简化链接与加载过程：</a:t>
            </a:r>
            <a:endParaRPr lang="en-US" altLang="zh-CN" dirty="0"/>
          </a:p>
          <a:p>
            <a:r>
              <a:rPr lang="zh-CN" altLang="en-US" dirty="0"/>
              <a:t>链接：在</a:t>
            </a:r>
            <a:r>
              <a:rPr lang="en-US" altLang="zh-CN" dirty="0"/>
              <a:t>64</a:t>
            </a:r>
            <a:r>
              <a:rPr lang="zh-CN" altLang="en-US" dirty="0"/>
              <a:t>位地址空间中，代码段总是从虚拟地址</a:t>
            </a:r>
            <a:r>
              <a:rPr lang="en-US" altLang="zh-CN" dirty="0"/>
              <a:t>0x400000</a:t>
            </a:r>
            <a:r>
              <a:rPr lang="zh-CN" altLang="en-US" dirty="0"/>
              <a:t>开始，而数据段在其后面，相隔一段用于对齐的空白。统一的虚拟地址基本格式简化了链接器的设计与实现。</a:t>
            </a:r>
            <a:endParaRPr lang="en-US" altLang="zh-CN" dirty="0"/>
          </a:p>
          <a:p>
            <a:r>
              <a:rPr lang="zh-CN" altLang="en-US" dirty="0"/>
              <a:t>加载：加载过程中可以直接为代码段和数据段分配虚拟页，而后标记为无效，再将对应的</a:t>
            </a:r>
            <a:r>
              <a:rPr lang="en-US" altLang="zh-CN" dirty="0"/>
              <a:t>PTE</a:t>
            </a:r>
            <a:r>
              <a:rPr lang="zh-CN" altLang="en-US" dirty="0"/>
              <a:t>指向目标文件中的对应位置，从而执行时系统会自动从磁盘中复制内存数据，简化了加载过程。</a:t>
            </a:r>
          </a:p>
        </p:txBody>
      </p:sp>
    </p:spTree>
    <p:extLst>
      <p:ext uri="{BB962C8B-B14F-4D97-AF65-F5344CB8AC3E}">
        <p14:creationId xmlns:p14="http://schemas.microsoft.com/office/powerpoint/2010/main" val="2037109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DD1F7-83DA-5764-54AB-AB4A58A4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虚拟存储实现存储保护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44583A-21B5-4CCB-6C88-61313B383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947" y="1825625"/>
            <a:ext cx="5522495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带许可位的页表：</a:t>
            </a:r>
            <a:endParaRPr lang="en-US" altLang="zh-CN" dirty="0"/>
          </a:p>
          <a:p>
            <a:r>
              <a:rPr lang="en-US" altLang="zh-CN" dirty="0"/>
              <a:t>SUP</a:t>
            </a:r>
            <a:r>
              <a:rPr lang="zh-CN" altLang="en-US" dirty="0"/>
              <a:t>代表需要是否内核模式访问（内核模式可以访问所有页）</a:t>
            </a:r>
            <a:endParaRPr lang="en-US" altLang="zh-CN" dirty="0"/>
          </a:p>
          <a:p>
            <a:r>
              <a:rPr lang="en-US" altLang="zh-CN" dirty="0"/>
              <a:t>READ</a:t>
            </a:r>
            <a:r>
              <a:rPr lang="zh-CN" altLang="en-US" dirty="0"/>
              <a:t>代表用户模式下是否可读</a:t>
            </a:r>
            <a:endParaRPr lang="en-US" altLang="zh-CN" dirty="0"/>
          </a:p>
          <a:p>
            <a:r>
              <a:rPr lang="en-US" altLang="zh-CN" dirty="0"/>
              <a:t>WRITE</a:t>
            </a:r>
            <a:r>
              <a:rPr lang="zh-CN" altLang="en-US" dirty="0"/>
              <a:t>代表用户模式下是否可写</a:t>
            </a:r>
            <a:endParaRPr lang="en-US" altLang="zh-CN" dirty="0"/>
          </a:p>
          <a:p>
            <a:r>
              <a:rPr lang="en-US" altLang="zh-CN" dirty="0"/>
              <a:t>EXEC</a:t>
            </a:r>
            <a:r>
              <a:rPr lang="zh-CN" altLang="en-US" dirty="0"/>
              <a:t>位代表用户模式下是否可执行</a:t>
            </a:r>
            <a:endParaRPr lang="en-US" altLang="zh-CN" dirty="0"/>
          </a:p>
          <a:p>
            <a:r>
              <a:rPr lang="zh-CN" altLang="en-US" dirty="0"/>
              <a:t>若违反条件，触发</a:t>
            </a:r>
            <a:r>
              <a:rPr lang="en-US" altLang="zh-CN" dirty="0"/>
              <a:t>Segmentation Fault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7485C37-AB12-7F24-A05A-4F2C960C3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442" y="1462088"/>
            <a:ext cx="5511396" cy="442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07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AFCBB-B06A-F76D-64DA-2B34814DA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8BA1A-4284-0DD5-4125-83BB00B5C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如何将虚拟地址转换为物理地址？</a:t>
            </a:r>
          </a:p>
        </p:txBody>
      </p:sp>
    </p:spTree>
    <p:extLst>
      <p:ext uri="{BB962C8B-B14F-4D97-AF65-F5344CB8AC3E}">
        <p14:creationId xmlns:p14="http://schemas.microsoft.com/office/powerpoint/2010/main" val="1208364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B5C6-2C67-1CE2-1913-4E6D9F41D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D8D95-E398-3FCD-52B8-887A319D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96AA05-98F2-29BA-3EDD-67B3B827D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符号说明：</a:t>
            </a:r>
            <a:endParaRPr lang="en-US" altLang="zh-CN" dirty="0"/>
          </a:p>
          <a:p>
            <a:r>
              <a:rPr lang="en-US" altLang="zh-CN" dirty="0"/>
              <a:t>N,M,P</a:t>
            </a:r>
            <a:r>
              <a:rPr lang="zh-CN" altLang="en-US" dirty="0"/>
              <a:t>分别代表虚拟</a:t>
            </a:r>
            <a:r>
              <a:rPr lang="en-US" altLang="zh-CN" dirty="0"/>
              <a:t>/</a:t>
            </a:r>
            <a:r>
              <a:rPr lang="zh-CN" altLang="en-US" dirty="0"/>
              <a:t>物理地址空间的地址数量以及页大小。</a:t>
            </a:r>
            <a:endParaRPr lang="en-US" altLang="zh-CN" dirty="0"/>
          </a:p>
          <a:p>
            <a:r>
              <a:rPr lang="zh-CN" altLang="en-US" dirty="0"/>
              <a:t>虚拟地址（</a:t>
            </a:r>
            <a:r>
              <a:rPr lang="en-US" altLang="zh-CN" dirty="0"/>
              <a:t>VA</a:t>
            </a:r>
            <a:r>
              <a:rPr lang="zh-CN" altLang="en-US" dirty="0"/>
              <a:t>）组成部分：</a:t>
            </a:r>
            <a:endParaRPr lang="en-US" altLang="zh-CN" dirty="0"/>
          </a:p>
          <a:p>
            <a:r>
              <a:rPr lang="en-US" altLang="zh-CN" dirty="0"/>
              <a:t>VPO</a:t>
            </a:r>
            <a:r>
              <a:rPr lang="zh-CN" altLang="en-US" dirty="0"/>
              <a:t>（</a:t>
            </a:r>
            <a:r>
              <a:rPr lang="en-US" altLang="zh-CN" dirty="0"/>
              <a:t>Virtual Page Offset</a:t>
            </a:r>
            <a:r>
              <a:rPr lang="zh-CN" altLang="en-US" dirty="0"/>
              <a:t>）：虚拟页面偏移量</a:t>
            </a:r>
            <a:endParaRPr lang="en-US" altLang="zh-CN" dirty="0"/>
          </a:p>
          <a:p>
            <a:r>
              <a:rPr lang="en-US" altLang="zh-CN" dirty="0"/>
              <a:t>VPN</a:t>
            </a:r>
            <a:r>
              <a:rPr lang="zh-CN" altLang="en-US" dirty="0"/>
              <a:t>（</a:t>
            </a:r>
            <a:r>
              <a:rPr lang="en-US" altLang="zh-CN" dirty="0"/>
              <a:t>Virtual Page Number</a:t>
            </a:r>
            <a:r>
              <a:rPr lang="zh-CN" altLang="en-US" dirty="0"/>
              <a:t>）：虚拟页号</a:t>
            </a:r>
            <a:endParaRPr lang="en-US" altLang="zh-CN" dirty="0"/>
          </a:p>
          <a:p>
            <a:r>
              <a:rPr lang="en-US" altLang="zh-CN" dirty="0"/>
              <a:t>TLBI</a:t>
            </a:r>
            <a:r>
              <a:rPr lang="zh-CN" altLang="en-US" dirty="0"/>
              <a:t>（</a:t>
            </a:r>
            <a:r>
              <a:rPr lang="en-US" altLang="zh-CN" dirty="0"/>
              <a:t>TLB Index</a:t>
            </a:r>
            <a:r>
              <a:rPr lang="zh-CN" altLang="en-US" dirty="0"/>
              <a:t>）：</a:t>
            </a:r>
            <a:r>
              <a:rPr lang="en-US" altLang="zh-CN" dirty="0"/>
              <a:t>TLB</a:t>
            </a:r>
            <a:r>
              <a:rPr lang="zh-CN" altLang="en-US" dirty="0"/>
              <a:t>索引</a:t>
            </a:r>
            <a:endParaRPr lang="en-US" altLang="zh-CN" dirty="0"/>
          </a:p>
          <a:p>
            <a:r>
              <a:rPr lang="en-US" altLang="zh-CN" dirty="0"/>
              <a:t>TLBT</a:t>
            </a:r>
            <a:r>
              <a:rPr lang="zh-CN" altLang="en-US" dirty="0"/>
              <a:t>（</a:t>
            </a:r>
            <a:r>
              <a:rPr lang="en-US" altLang="zh-CN" dirty="0"/>
              <a:t>TLB Tag</a:t>
            </a:r>
            <a:r>
              <a:rPr lang="zh-CN" altLang="en-US" dirty="0"/>
              <a:t>）：</a:t>
            </a:r>
            <a:r>
              <a:rPr lang="en-US" altLang="zh-CN" dirty="0"/>
              <a:t>TLB</a:t>
            </a:r>
            <a:r>
              <a:rPr lang="zh-CN" altLang="en-US" dirty="0"/>
              <a:t>标记</a:t>
            </a:r>
          </a:p>
        </p:txBody>
      </p:sp>
    </p:spTree>
    <p:extLst>
      <p:ext uri="{BB962C8B-B14F-4D97-AF65-F5344CB8AC3E}">
        <p14:creationId xmlns:p14="http://schemas.microsoft.com/office/powerpoint/2010/main" val="2488834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4AA35-F20A-0597-DE15-F2D5DCC7D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6AF27-0499-748F-C953-66F79C00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75B8C1-50B6-CC16-A9C1-0DCB80C56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符号说明：</a:t>
            </a:r>
            <a:endParaRPr lang="en-US" altLang="zh-CN" dirty="0"/>
          </a:p>
          <a:p>
            <a:r>
              <a:rPr lang="zh-CN" altLang="en-US" dirty="0"/>
              <a:t>物理地址（</a:t>
            </a:r>
            <a:r>
              <a:rPr lang="en-US" altLang="zh-CN" dirty="0"/>
              <a:t>PA</a:t>
            </a:r>
            <a:r>
              <a:rPr lang="zh-CN" altLang="en-US" dirty="0"/>
              <a:t>）组成部分：</a:t>
            </a:r>
            <a:endParaRPr lang="en-US" altLang="zh-CN" dirty="0"/>
          </a:p>
          <a:p>
            <a:r>
              <a:rPr lang="en-US" altLang="zh-CN" dirty="0"/>
              <a:t>PPO</a:t>
            </a:r>
            <a:r>
              <a:rPr lang="zh-CN" altLang="en-US" dirty="0"/>
              <a:t>（</a:t>
            </a:r>
            <a:r>
              <a:rPr lang="en-US" altLang="zh-CN" dirty="0"/>
              <a:t>Physical Page Offset</a:t>
            </a:r>
            <a:r>
              <a:rPr lang="zh-CN" altLang="en-US" dirty="0"/>
              <a:t>）：物理页面偏移量</a:t>
            </a:r>
            <a:endParaRPr lang="en-US" altLang="zh-CN" dirty="0"/>
          </a:p>
          <a:p>
            <a:r>
              <a:rPr lang="en-US" altLang="zh-CN" dirty="0"/>
              <a:t>PPN</a:t>
            </a:r>
            <a:r>
              <a:rPr lang="zh-CN" altLang="en-US" dirty="0"/>
              <a:t>（</a:t>
            </a:r>
            <a:r>
              <a:rPr lang="en-US" altLang="zh-CN" dirty="0"/>
              <a:t>Physical Page Number</a:t>
            </a:r>
            <a:r>
              <a:rPr lang="zh-CN" altLang="en-US" dirty="0"/>
              <a:t>）：物理页号</a:t>
            </a:r>
            <a:endParaRPr lang="en-US" altLang="zh-CN" dirty="0"/>
          </a:p>
          <a:p>
            <a:r>
              <a:rPr lang="en-US" altLang="zh-CN" dirty="0"/>
              <a:t>CO</a:t>
            </a:r>
            <a:r>
              <a:rPr lang="zh-CN" altLang="en-US" dirty="0"/>
              <a:t>（</a:t>
            </a:r>
            <a:r>
              <a:rPr lang="en-US" altLang="zh-CN" dirty="0"/>
              <a:t>Cache Offset</a:t>
            </a:r>
            <a:r>
              <a:rPr lang="zh-CN" altLang="en-US" dirty="0"/>
              <a:t>）：缓冲块内字节偏移量</a:t>
            </a:r>
            <a:endParaRPr lang="en-US" altLang="zh-CN" dirty="0"/>
          </a:p>
          <a:p>
            <a:r>
              <a:rPr lang="en-US" altLang="zh-CN" dirty="0"/>
              <a:t>CI</a:t>
            </a:r>
            <a:r>
              <a:rPr lang="zh-CN" altLang="en-US" dirty="0"/>
              <a:t>（</a:t>
            </a:r>
            <a:r>
              <a:rPr lang="en-US" altLang="zh-CN" dirty="0"/>
              <a:t>Cache Index</a:t>
            </a:r>
            <a:r>
              <a:rPr lang="zh-CN" altLang="en-US" dirty="0"/>
              <a:t>）：高速缓存索引</a:t>
            </a:r>
            <a:endParaRPr lang="en-US" altLang="zh-CN" dirty="0"/>
          </a:p>
          <a:p>
            <a:r>
              <a:rPr lang="en-US" altLang="zh-CN" dirty="0"/>
              <a:t>CT</a:t>
            </a:r>
            <a:r>
              <a:rPr lang="zh-CN" altLang="en-US" dirty="0"/>
              <a:t>（</a:t>
            </a:r>
            <a:r>
              <a:rPr lang="en-US" altLang="zh-CN" dirty="0"/>
              <a:t>Cache Tag</a:t>
            </a:r>
            <a:r>
              <a:rPr lang="zh-CN" altLang="en-US" dirty="0"/>
              <a:t>）：高速缓存标记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04406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345D1-4CBC-AA9A-192A-A911B057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B88FEFA-3767-F5A5-740F-81EF775F2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316" y="1690688"/>
            <a:ext cx="7355305" cy="442117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0406B18-7EAA-C6BE-D359-B204F88FB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35CEC5-4689-4584-2CAF-648E08FA5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基础版本（一级页表）：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0276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4B62A-F999-4FB1-E127-C2375989B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08BE7-ED15-2883-5E29-AFE7A385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12809-B7DC-D3EC-DBA3-EEED5AC1F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4926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转换流程（</a:t>
            </a:r>
            <a:r>
              <a:rPr lang="en-US" altLang="zh-CN" dirty="0"/>
              <a:t>Hit</a:t>
            </a:r>
            <a:r>
              <a:rPr lang="zh-CN" altLang="en-US" dirty="0"/>
              <a:t>）：</a:t>
            </a:r>
            <a:endParaRPr lang="en-US" altLang="zh-CN" dirty="0"/>
          </a:p>
          <a:p>
            <a:r>
              <a:rPr lang="en-US" altLang="zh-CN" dirty="0"/>
              <a:t>1.CPU</a:t>
            </a:r>
            <a:r>
              <a:rPr lang="zh-CN" altLang="en-US" dirty="0"/>
              <a:t>生成</a:t>
            </a:r>
            <a:r>
              <a:rPr lang="en-US" altLang="zh-CN" dirty="0"/>
              <a:t>VA</a:t>
            </a:r>
            <a:r>
              <a:rPr lang="zh-CN" altLang="en-US" dirty="0"/>
              <a:t>并传送至</a:t>
            </a:r>
            <a:r>
              <a:rPr lang="en-US" altLang="zh-CN" dirty="0"/>
              <a:t>MMU</a:t>
            </a:r>
          </a:p>
          <a:p>
            <a:r>
              <a:rPr lang="en-US" altLang="zh-CN" dirty="0"/>
              <a:t>2.MMU</a:t>
            </a:r>
            <a:r>
              <a:rPr lang="zh-CN" altLang="en-US" dirty="0"/>
              <a:t>生成</a:t>
            </a:r>
            <a:r>
              <a:rPr lang="en-US" altLang="zh-CN" dirty="0"/>
              <a:t>PTE</a:t>
            </a:r>
            <a:r>
              <a:rPr lang="zh-CN" altLang="en-US" dirty="0"/>
              <a:t>地址（</a:t>
            </a:r>
            <a:r>
              <a:rPr lang="en-US" altLang="zh-CN" dirty="0"/>
              <a:t>PTEA</a:t>
            </a:r>
            <a:r>
              <a:rPr lang="zh-CN" altLang="en-US" dirty="0"/>
              <a:t>）并传送至</a:t>
            </a:r>
            <a:r>
              <a:rPr lang="en-US" altLang="zh-CN" dirty="0"/>
              <a:t>Cache/Memory</a:t>
            </a:r>
          </a:p>
          <a:p>
            <a:r>
              <a:rPr lang="en-US" altLang="zh-CN" dirty="0"/>
              <a:t>3.Cache/Memory</a:t>
            </a:r>
            <a:r>
              <a:rPr lang="zh-CN" altLang="en-US" dirty="0"/>
              <a:t>返回</a:t>
            </a:r>
            <a:r>
              <a:rPr lang="en-US" altLang="zh-CN" dirty="0"/>
              <a:t>PTE</a:t>
            </a:r>
          </a:p>
          <a:p>
            <a:r>
              <a:rPr lang="en-US" altLang="zh-CN" dirty="0"/>
              <a:t>4.MMU</a:t>
            </a:r>
            <a:r>
              <a:rPr lang="zh-CN" altLang="en-US" dirty="0"/>
              <a:t>构造</a:t>
            </a:r>
            <a:r>
              <a:rPr lang="en-US" altLang="zh-CN" dirty="0"/>
              <a:t>PA</a:t>
            </a:r>
            <a:r>
              <a:rPr lang="zh-CN" altLang="en-US" dirty="0"/>
              <a:t>，传送至</a:t>
            </a:r>
            <a:r>
              <a:rPr lang="en-US" altLang="zh-CN" dirty="0"/>
              <a:t>Cache/Memory</a:t>
            </a:r>
          </a:p>
          <a:p>
            <a:r>
              <a:rPr lang="en-US" altLang="zh-CN" dirty="0"/>
              <a:t>5.Cache/Memory</a:t>
            </a:r>
            <a:r>
              <a:rPr lang="zh-CN" altLang="en-US" dirty="0"/>
              <a:t>返回数据至</a:t>
            </a:r>
            <a:r>
              <a:rPr lang="en-US" altLang="zh-CN" dirty="0"/>
              <a:t>CPU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553C95-359D-C64F-7033-C08D12BE0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058" y="1009651"/>
            <a:ext cx="5677742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474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96EA0-CD55-E0AF-E396-99E068B08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1BC44B4-5308-AAAF-9191-500B215B4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374" y="845344"/>
            <a:ext cx="5677742" cy="516731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FE0C0B1-A796-5BB7-8D9C-266EEA2F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CE375A-C68C-23C7-61DA-0A3DF893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95" y="1576137"/>
            <a:ext cx="5677742" cy="4600826"/>
          </a:xfrm>
        </p:spPr>
        <p:txBody>
          <a:bodyPr>
            <a:normAutofit/>
          </a:bodyPr>
          <a:lstStyle/>
          <a:p>
            <a:r>
              <a:rPr lang="zh-CN" altLang="en-US" dirty="0"/>
              <a:t>转换流程（</a:t>
            </a:r>
            <a:r>
              <a:rPr lang="en-US" altLang="zh-CN" dirty="0"/>
              <a:t>Page Fault</a:t>
            </a:r>
            <a:r>
              <a:rPr lang="zh-CN" altLang="en-US" dirty="0"/>
              <a:t>）：</a:t>
            </a:r>
            <a:endParaRPr lang="en-US" altLang="zh-CN" dirty="0"/>
          </a:p>
          <a:p>
            <a:r>
              <a:rPr lang="en-US" altLang="zh-CN" dirty="0"/>
              <a:t>1-3.</a:t>
            </a:r>
            <a:r>
              <a:rPr lang="zh-CN" altLang="en-US" dirty="0"/>
              <a:t>同</a:t>
            </a:r>
            <a:r>
              <a:rPr lang="en-US" altLang="zh-CN" dirty="0"/>
              <a:t>Hit</a:t>
            </a:r>
            <a:r>
              <a:rPr lang="zh-CN" altLang="en-US" dirty="0"/>
              <a:t>时的</a:t>
            </a:r>
            <a:r>
              <a:rPr lang="en-US" altLang="zh-CN" dirty="0"/>
              <a:t>1~3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检查到</a:t>
            </a:r>
            <a:r>
              <a:rPr lang="en-US" altLang="zh-CN" dirty="0"/>
              <a:t>PTE</a:t>
            </a:r>
            <a:r>
              <a:rPr lang="zh-CN" altLang="en-US" dirty="0"/>
              <a:t>的</a:t>
            </a:r>
            <a:r>
              <a:rPr lang="en-US" altLang="zh-CN" dirty="0"/>
              <a:t>Valid Bit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，触发缺页异常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缺页处理程序确定物理内存牺牲页，并换至磁盘</a:t>
            </a:r>
            <a:endParaRPr lang="en-US" altLang="zh-CN" dirty="0"/>
          </a:p>
          <a:p>
            <a:r>
              <a:rPr lang="en-US" altLang="zh-CN" dirty="0"/>
              <a:t>6.</a:t>
            </a:r>
            <a:r>
              <a:rPr lang="zh-CN" altLang="en-US" dirty="0"/>
              <a:t>缺页处理程序调入新页面，同时更新</a:t>
            </a:r>
            <a:r>
              <a:rPr lang="en-US" altLang="zh-CN" dirty="0"/>
              <a:t>PTE</a:t>
            </a:r>
          </a:p>
          <a:p>
            <a:r>
              <a:rPr lang="en-US" altLang="zh-CN" dirty="0"/>
              <a:t>7.</a:t>
            </a:r>
            <a:r>
              <a:rPr lang="zh-CN" altLang="en-US" dirty="0"/>
              <a:t>返回原有进程，执行触发</a:t>
            </a:r>
            <a:r>
              <a:rPr lang="en-US" altLang="zh-CN" dirty="0"/>
              <a:t>Page Fault</a:t>
            </a:r>
            <a:r>
              <a:rPr lang="zh-CN" altLang="en-US" dirty="0"/>
              <a:t>的指令，此时会引发</a:t>
            </a:r>
            <a:r>
              <a:rPr lang="en-US" altLang="zh-CN" dirty="0"/>
              <a:t>Page Hit</a:t>
            </a:r>
          </a:p>
        </p:txBody>
      </p:sp>
    </p:spTree>
    <p:extLst>
      <p:ext uri="{BB962C8B-B14F-4D97-AF65-F5344CB8AC3E}">
        <p14:creationId xmlns:p14="http://schemas.microsoft.com/office/powerpoint/2010/main" val="3983567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DE20-3C79-8ECB-F99F-2D5060340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49B9BF-65EE-8663-F4A8-95AE27109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7B1602-FDAA-D779-746C-F1EBA2B6B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95" y="1576137"/>
            <a:ext cx="11008894" cy="4600826"/>
          </a:xfrm>
        </p:spPr>
        <p:txBody>
          <a:bodyPr>
            <a:normAutofit/>
          </a:bodyPr>
          <a:lstStyle/>
          <a:p>
            <a:r>
              <a:rPr lang="en-US" altLang="zh-CN" dirty="0"/>
              <a:t>Cache</a:t>
            </a:r>
            <a:r>
              <a:rPr lang="zh-CN" altLang="en-US" dirty="0"/>
              <a:t>和</a:t>
            </a:r>
            <a:r>
              <a:rPr lang="en-US" altLang="zh-CN" dirty="0"/>
              <a:t>VM</a:t>
            </a:r>
            <a:r>
              <a:rPr lang="zh-CN" altLang="en-US" dirty="0"/>
              <a:t>同时使用时，先将</a:t>
            </a:r>
            <a:r>
              <a:rPr lang="en-US" altLang="zh-CN" dirty="0"/>
              <a:t>VA</a:t>
            </a:r>
            <a:r>
              <a:rPr lang="zh-CN" altLang="en-US" dirty="0"/>
              <a:t>转化为</a:t>
            </a:r>
            <a:r>
              <a:rPr lang="en-US" altLang="zh-CN" dirty="0"/>
              <a:t>PTEA/PA</a:t>
            </a:r>
            <a:r>
              <a:rPr lang="zh-CN" altLang="en-US" dirty="0"/>
              <a:t>，再访问</a:t>
            </a:r>
            <a:r>
              <a:rPr lang="en-US" altLang="zh-CN" dirty="0"/>
              <a:t>Cache</a:t>
            </a:r>
            <a:r>
              <a:rPr lang="zh-CN" altLang="en-US" dirty="0"/>
              <a:t>。</a:t>
            </a:r>
            <a:r>
              <a:rPr lang="en-US" altLang="zh-CN" dirty="0"/>
              <a:t>Cache</a:t>
            </a:r>
            <a:r>
              <a:rPr lang="zh-CN" altLang="en-US" dirty="0"/>
              <a:t>使用物理寻址。将</a:t>
            </a:r>
            <a:r>
              <a:rPr lang="en-US" altLang="zh-CN" dirty="0"/>
              <a:t>Cache</a:t>
            </a:r>
            <a:r>
              <a:rPr lang="zh-CN" altLang="en-US" dirty="0"/>
              <a:t>和</a:t>
            </a:r>
            <a:r>
              <a:rPr lang="en-US" altLang="zh-CN" dirty="0"/>
              <a:t>Memory</a:t>
            </a:r>
            <a:r>
              <a:rPr lang="zh-CN" altLang="en-US" dirty="0"/>
              <a:t>作为一个整体，</a:t>
            </a:r>
            <a:r>
              <a:rPr lang="en-US" altLang="zh-CN" dirty="0"/>
              <a:t>MMU</a:t>
            </a:r>
            <a:r>
              <a:rPr lang="zh-CN" altLang="en-US" dirty="0"/>
              <a:t>访问两次</a:t>
            </a:r>
            <a:r>
              <a:rPr lang="en-US" altLang="zh-CN" dirty="0"/>
              <a:t>Memory</a:t>
            </a:r>
            <a:r>
              <a:rPr lang="zh-CN" altLang="en-US" dirty="0"/>
              <a:t>，均可能存在</a:t>
            </a:r>
            <a:r>
              <a:rPr lang="en-US" altLang="zh-CN" dirty="0"/>
              <a:t>Cache Hit</a:t>
            </a:r>
            <a:r>
              <a:rPr lang="zh-CN" altLang="en-US" dirty="0"/>
              <a:t>和</a:t>
            </a:r>
            <a:r>
              <a:rPr lang="en-US" altLang="zh-CN" dirty="0"/>
              <a:t>Cache Miss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76CCF4F-3E23-905E-042C-A8D400728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976" y="2790292"/>
            <a:ext cx="8310912" cy="44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63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EAC46-0065-30D5-7E45-1FC2E4EE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4C29C7-64A3-6ABC-0290-94A56D81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493F24-2BE3-DC5F-2DE3-99B2AF7E9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95" y="1576137"/>
            <a:ext cx="11008894" cy="4600826"/>
          </a:xfrm>
        </p:spPr>
        <p:txBody>
          <a:bodyPr>
            <a:normAutofit/>
          </a:bodyPr>
          <a:lstStyle/>
          <a:p>
            <a:r>
              <a:rPr lang="en-US" altLang="zh-CN" dirty="0"/>
              <a:t>MMU</a:t>
            </a:r>
            <a:r>
              <a:rPr lang="zh-CN" altLang="en-US" dirty="0"/>
              <a:t>查询</a:t>
            </a:r>
            <a:r>
              <a:rPr lang="en-US" altLang="zh-CN" dirty="0"/>
              <a:t>PTE</a:t>
            </a:r>
            <a:r>
              <a:rPr lang="zh-CN" altLang="en-US" dirty="0"/>
              <a:t>可能带来额外的性能开销。（比较坏的情况是需要从内存获取</a:t>
            </a:r>
            <a:r>
              <a:rPr lang="en-US" altLang="zh-CN" dirty="0"/>
              <a:t>PTEA</a:t>
            </a:r>
            <a:r>
              <a:rPr lang="zh-CN" altLang="en-US" dirty="0"/>
              <a:t>，这样相当于承受了</a:t>
            </a:r>
            <a:r>
              <a:rPr lang="en-US" altLang="zh-CN" dirty="0"/>
              <a:t>Cache</a:t>
            </a:r>
            <a:r>
              <a:rPr lang="zh-CN" altLang="en-US" dirty="0"/>
              <a:t>的</a:t>
            </a:r>
            <a:r>
              <a:rPr lang="en-US" altLang="zh-CN" dirty="0"/>
              <a:t>Miss Penalty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降低额外开销的方案：使用</a:t>
            </a:r>
            <a:r>
              <a:rPr lang="en-US" altLang="zh-CN" dirty="0"/>
              <a:t>TLB</a:t>
            </a:r>
            <a:r>
              <a:rPr lang="zh-CN" altLang="en-US" dirty="0"/>
              <a:t>加速</a:t>
            </a:r>
            <a:endParaRPr lang="en-US" altLang="zh-CN" dirty="0"/>
          </a:p>
          <a:p>
            <a:r>
              <a:rPr lang="en-US" altLang="zh-CN" dirty="0"/>
              <a:t>TLB</a:t>
            </a:r>
            <a:r>
              <a:rPr lang="zh-CN" altLang="en-US" dirty="0"/>
              <a:t>：翻译后备缓冲器（一个关于</a:t>
            </a:r>
            <a:r>
              <a:rPr lang="en-US" altLang="zh-CN" dirty="0"/>
              <a:t>PTE</a:t>
            </a:r>
            <a:r>
              <a:rPr lang="zh-CN" altLang="en-US" dirty="0"/>
              <a:t>的小缓存）地址的转换规则和</a:t>
            </a:r>
            <a:r>
              <a:rPr lang="en-US" altLang="zh-CN" dirty="0"/>
              <a:t>Cache</a:t>
            </a:r>
            <a:r>
              <a:rPr lang="zh-CN" altLang="en-US" dirty="0"/>
              <a:t>完全一致，但此处的地址从</a:t>
            </a:r>
            <a:r>
              <a:rPr lang="en-US" altLang="zh-CN" dirty="0"/>
              <a:t>Cache</a:t>
            </a:r>
            <a:r>
              <a:rPr lang="zh-CN" altLang="en-US" dirty="0"/>
              <a:t>中的物理地址变为了</a:t>
            </a:r>
            <a:r>
              <a:rPr lang="en-US" altLang="zh-CN" dirty="0"/>
              <a:t>VPN</a:t>
            </a:r>
            <a:r>
              <a:rPr lang="zh-CN" altLang="en-US" dirty="0"/>
              <a:t>，</a:t>
            </a:r>
            <a:r>
              <a:rPr lang="en-US" altLang="zh-CN" dirty="0"/>
              <a:t>[TLBT,TLBI]</a:t>
            </a:r>
            <a:r>
              <a:rPr lang="zh-CN" altLang="en-US" dirty="0"/>
              <a:t>和</a:t>
            </a:r>
            <a:r>
              <a:rPr lang="en-US" altLang="zh-CN" dirty="0"/>
              <a:t>VPN</a:t>
            </a:r>
            <a:r>
              <a:rPr lang="zh-CN" altLang="en-US" dirty="0"/>
              <a:t>对应，而</a:t>
            </a:r>
            <a:r>
              <a:rPr lang="en-US" altLang="zh-CN" dirty="0"/>
              <a:t>VPO</a:t>
            </a:r>
            <a:r>
              <a:rPr lang="zh-CN" altLang="en-US" dirty="0"/>
              <a:t>则作为</a:t>
            </a:r>
            <a:r>
              <a:rPr lang="en-US" altLang="zh-CN" dirty="0"/>
              <a:t>Cache</a:t>
            </a:r>
            <a:r>
              <a:rPr lang="zh-CN" altLang="en-US" dirty="0"/>
              <a:t>中储存的数据。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E90794-019B-931A-B2A4-B19357258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117" y="4572322"/>
            <a:ext cx="6460550" cy="141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2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2420-480B-FA40-EA41-6FCCD039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CE378-EF9E-1C95-EB93-9331EF494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DA6BE-E524-4D11-B8BA-709A776D1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95" y="1576137"/>
            <a:ext cx="5775158" cy="4600826"/>
          </a:xfrm>
        </p:spPr>
        <p:txBody>
          <a:bodyPr>
            <a:normAutofit/>
          </a:bodyPr>
          <a:lstStyle/>
          <a:p>
            <a:r>
              <a:rPr lang="zh-CN" altLang="en-US" dirty="0"/>
              <a:t>带</a:t>
            </a:r>
            <a:r>
              <a:rPr lang="en-US" altLang="zh-CN" dirty="0"/>
              <a:t>TLB</a:t>
            </a:r>
            <a:r>
              <a:rPr lang="zh-CN" altLang="en-US" dirty="0"/>
              <a:t>的查询（</a:t>
            </a:r>
            <a:r>
              <a:rPr lang="en-US" altLang="zh-CN" dirty="0"/>
              <a:t>Hit</a:t>
            </a:r>
            <a:r>
              <a:rPr lang="zh-CN" altLang="en-US" dirty="0"/>
              <a:t>）：</a:t>
            </a:r>
            <a:endParaRPr lang="en-US" altLang="zh-CN" dirty="0"/>
          </a:p>
          <a:p>
            <a:r>
              <a:rPr lang="en-US" altLang="zh-CN" dirty="0"/>
              <a:t>1.CPU</a:t>
            </a:r>
            <a:r>
              <a:rPr lang="zh-CN" altLang="en-US" dirty="0"/>
              <a:t>产生</a:t>
            </a:r>
            <a:r>
              <a:rPr lang="en-US" altLang="zh-CN" dirty="0"/>
              <a:t>VA</a:t>
            </a:r>
            <a:r>
              <a:rPr lang="zh-CN" altLang="en-US" dirty="0"/>
              <a:t>传送至</a:t>
            </a:r>
            <a:r>
              <a:rPr lang="en-US" altLang="zh-CN" dirty="0"/>
              <a:t>MMU</a:t>
            </a:r>
          </a:p>
          <a:p>
            <a:r>
              <a:rPr lang="en-US" altLang="zh-CN" dirty="0"/>
              <a:t>2.MMU</a:t>
            </a:r>
            <a:r>
              <a:rPr lang="zh-CN" altLang="en-US" dirty="0"/>
              <a:t>传送</a:t>
            </a:r>
            <a:r>
              <a:rPr lang="en-US" altLang="zh-CN" dirty="0"/>
              <a:t>VPN</a:t>
            </a:r>
            <a:r>
              <a:rPr lang="zh-CN" altLang="en-US" dirty="0"/>
              <a:t>至</a:t>
            </a:r>
            <a:r>
              <a:rPr lang="en-US" altLang="zh-CN" dirty="0"/>
              <a:t>TLB</a:t>
            </a:r>
          </a:p>
          <a:p>
            <a:r>
              <a:rPr lang="en-US" altLang="zh-CN" dirty="0"/>
              <a:t>3.TLB</a:t>
            </a:r>
            <a:r>
              <a:rPr lang="zh-CN" altLang="en-US" dirty="0"/>
              <a:t>返回</a:t>
            </a:r>
            <a:r>
              <a:rPr lang="en-US" altLang="zh-CN" dirty="0"/>
              <a:t>PTE</a:t>
            </a:r>
          </a:p>
          <a:p>
            <a:r>
              <a:rPr lang="en-US" altLang="zh-CN" dirty="0"/>
              <a:t>4.PTE</a:t>
            </a:r>
            <a:r>
              <a:rPr lang="zh-CN" altLang="en-US" dirty="0"/>
              <a:t>转换为</a:t>
            </a:r>
            <a:r>
              <a:rPr lang="en-US" altLang="zh-CN" dirty="0"/>
              <a:t>PA</a:t>
            </a:r>
            <a:r>
              <a:rPr lang="zh-CN" altLang="en-US" dirty="0"/>
              <a:t>查询</a:t>
            </a:r>
            <a:r>
              <a:rPr lang="en-US" altLang="zh-CN" dirty="0"/>
              <a:t>Cache/ Memory</a:t>
            </a:r>
            <a:r>
              <a:rPr lang="zh-CN" altLang="en-US" dirty="0"/>
              <a:t>（此处发生</a:t>
            </a:r>
            <a:r>
              <a:rPr lang="en-US" altLang="zh-CN" dirty="0"/>
              <a:t>Page Fault</a:t>
            </a:r>
            <a:r>
              <a:rPr lang="zh-CN" altLang="en-US" dirty="0"/>
              <a:t>处理方式与无</a:t>
            </a:r>
            <a:r>
              <a:rPr lang="en-US" altLang="zh-CN" dirty="0"/>
              <a:t>TLB</a:t>
            </a:r>
            <a:r>
              <a:rPr lang="zh-CN" altLang="en-US" dirty="0"/>
              <a:t>相同）</a:t>
            </a:r>
            <a:endParaRPr lang="en-US" altLang="zh-CN" dirty="0"/>
          </a:p>
          <a:p>
            <a:r>
              <a:rPr lang="en-US" altLang="zh-CN" dirty="0"/>
              <a:t>5.Cache/Memory</a:t>
            </a:r>
            <a:r>
              <a:rPr lang="zh-CN" altLang="en-US" dirty="0"/>
              <a:t>将对应数据返回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BB44AE-6A66-0D58-8CD7-883FD7CF1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453" y="1318918"/>
            <a:ext cx="499179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29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2420-480B-FA40-EA41-6FCCD039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CE378-EF9E-1C95-EB93-9331EF494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DA6BE-E524-4D11-B8BA-709A776D1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95" y="1576137"/>
            <a:ext cx="5775158" cy="4600826"/>
          </a:xfrm>
        </p:spPr>
        <p:txBody>
          <a:bodyPr>
            <a:normAutofit/>
          </a:bodyPr>
          <a:lstStyle/>
          <a:p>
            <a:r>
              <a:rPr lang="zh-CN" altLang="en-US" dirty="0"/>
              <a:t>带</a:t>
            </a:r>
            <a:r>
              <a:rPr lang="en-US" altLang="zh-CN" dirty="0"/>
              <a:t>TLB</a:t>
            </a:r>
            <a:r>
              <a:rPr lang="zh-CN" altLang="en-US" dirty="0"/>
              <a:t>的查询（</a:t>
            </a:r>
            <a:r>
              <a:rPr lang="en-US" altLang="zh-CN" dirty="0"/>
              <a:t>Miss</a:t>
            </a:r>
            <a:r>
              <a:rPr lang="zh-CN" altLang="en-US" dirty="0"/>
              <a:t>）：</a:t>
            </a:r>
            <a:endParaRPr lang="en-US" altLang="zh-CN" dirty="0"/>
          </a:p>
          <a:p>
            <a:r>
              <a:rPr lang="en-US" altLang="zh-CN" dirty="0"/>
              <a:t>1.CPU</a:t>
            </a:r>
            <a:r>
              <a:rPr lang="zh-CN" altLang="en-US" dirty="0"/>
              <a:t>产生</a:t>
            </a:r>
            <a:r>
              <a:rPr lang="en-US" altLang="zh-CN" dirty="0"/>
              <a:t>VA</a:t>
            </a:r>
            <a:r>
              <a:rPr lang="zh-CN" altLang="en-US" dirty="0"/>
              <a:t>传送至</a:t>
            </a:r>
            <a:r>
              <a:rPr lang="en-US" altLang="zh-CN" dirty="0"/>
              <a:t>MMU</a:t>
            </a:r>
          </a:p>
          <a:p>
            <a:r>
              <a:rPr lang="en-US" altLang="zh-CN" dirty="0"/>
              <a:t>2.MMU</a:t>
            </a:r>
            <a:r>
              <a:rPr lang="zh-CN" altLang="en-US" dirty="0"/>
              <a:t>传送</a:t>
            </a:r>
            <a:r>
              <a:rPr lang="en-US" altLang="zh-CN" dirty="0"/>
              <a:t>VPN</a:t>
            </a:r>
            <a:r>
              <a:rPr lang="zh-CN" altLang="en-US" dirty="0"/>
              <a:t>至</a:t>
            </a:r>
            <a:r>
              <a:rPr lang="en-US" altLang="zh-CN" dirty="0"/>
              <a:t>TLB</a:t>
            </a:r>
            <a:r>
              <a:rPr lang="zh-CN" altLang="en-US" dirty="0"/>
              <a:t>，发现</a:t>
            </a:r>
            <a:r>
              <a:rPr lang="en-US" altLang="zh-CN" dirty="0"/>
              <a:t>Miss</a:t>
            </a:r>
          </a:p>
          <a:p>
            <a:r>
              <a:rPr lang="en-US" altLang="zh-CN" dirty="0"/>
              <a:t>3.MMU</a:t>
            </a:r>
            <a:r>
              <a:rPr lang="zh-CN" altLang="en-US" dirty="0"/>
              <a:t>向</a:t>
            </a:r>
            <a:r>
              <a:rPr lang="en-US" altLang="zh-CN" dirty="0"/>
              <a:t>Cache/Memory</a:t>
            </a:r>
            <a:r>
              <a:rPr lang="zh-CN" altLang="en-US" dirty="0"/>
              <a:t>传送</a:t>
            </a:r>
            <a:r>
              <a:rPr lang="en-US" altLang="zh-CN" dirty="0"/>
              <a:t>PTEA</a:t>
            </a:r>
            <a:r>
              <a:rPr lang="zh-CN" altLang="en-US" dirty="0"/>
              <a:t>，并获取对应的</a:t>
            </a:r>
            <a:r>
              <a:rPr lang="en-US" altLang="zh-CN" dirty="0"/>
              <a:t>PTE</a:t>
            </a:r>
          </a:p>
          <a:p>
            <a:r>
              <a:rPr lang="en-US" altLang="zh-CN" dirty="0"/>
              <a:t>4-5.PTE</a:t>
            </a:r>
            <a:r>
              <a:rPr lang="zh-CN" altLang="en-US" dirty="0"/>
              <a:t>存入</a:t>
            </a:r>
            <a:r>
              <a:rPr lang="en-US" altLang="zh-CN" dirty="0"/>
              <a:t>TLB</a:t>
            </a:r>
            <a:r>
              <a:rPr lang="zh-CN" altLang="en-US" dirty="0"/>
              <a:t>，并经过</a:t>
            </a:r>
            <a:r>
              <a:rPr lang="en-US" altLang="zh-CN" dirty="0"/>
              <a:t>MMU</a:t>
            </a:r>
            <a:r>
              <a:rPr lang="zh-CN" altLang="en-US" dirty="0"/>
              <a:t>计算</a:t>
            </a:r>
            <a:r>
              <a:rPr lang="en-US" altLang="zh-CN" dirty="0"/>
              <a:t>PA</a:t>
            </a:r>
            <a:r>
              <a:rPr lang="zh-CN" altLang="en-US" dirty="0"/>
              <a:t>访问</a:t>
            </a:r>
            <a:r>
              <a:rPr lang="en-US" altLang="zh-CN" dirty="0"/>
              <a:t>Cache/Memory</a:t>
            </a:r>
            <a:r>
              <a:rPr lang="zh-CN" altLang="en-US" dirty="0"/>
              <a:t>（此处发生</a:t>
            </a:r>
            <a:r>
              <a:rPr lang="en-US" altLang="zh-CN" dirty="0"/>
              <a:t>Page Fault</a:t>
            </a:r>
            <a:r>
              <a:rPr lang="zh-CN" altLang="en-US" dirty="0"/>
              <a:t>处理方式和无</a:t>
            </a:r>
            <a:r>
              <a:rPr lang="en-US" altLang="zh-CN" dirty="0"/>
              <a:t>TLB</a:t>
            </a:r>
            <a:r>
              <a:rPr lang="zh-CN" altLang="en-US" dirty="0"/>
              <a:t>相同）</a:t>
            </a:r>
            <a:endParaRPr lang="en-US" altLang="zh-CN" dirty="0"/>
          </a:p>
          <a:p>
            <a:r>
              <a:rPr lang="en-US" altLang="zh-CN" dirty="0"/>
              <a:t>6.Cache/Memory</a:t>
            </a:r>
            <a:r>
              <a:rPr lang="zh-CN" altLang="en-US" dirty="0"/>
              <a:t>将数据返回</a:t>
            </a:r>
            <a:r>
              <a:rPr lang="en-US" altLang="zh-CN" dirty="0"/>
              <a:t>CPU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A28D53-014E-8013-964E-737E7D06E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224" y="1285576"/>
            <a:ext cx="5239481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13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2420-480B-FA40-EA41-6FCCD039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CE378-EF9E-1C95-EB93-9331EF494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DA6BE-E524-4D11-B8BA-709A776D1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95" y="1576137"/>
            <a:ext cx="5602705" cy="4600826"/>
          </a:xfrm>
        </p:spPr>
        <p:txBody>
          <a:bodyPr>
            <a:normAutofit/>
          </a:bodyPr>
          <a:lstStyle/>
          <a:p>
            <a:r>
              <a:rPr lang="zh-CN" altLang="en-US" dirty="0"/>
              <a:t>问题：页表占据空间过大</a:t>
            </a:r>
            <a:endParaRPr lang="en-US" altLang="zh-CN" dirty="0"/>
          </a:p>
          <a:p>
            <a:pPr lvl="1"/>
            <a:r>
              <a:rPr lang="zh-CN" altLang="en-US" dirty="0"/>
              <a:t>示例：</a:t>
            </a:r>
            <a:r>
              <a:rPr lang="en-US" altLang="zh-CN" dirty="0"/>
              <a:t>4KB</a:t>
            </a:r>
            <a:r>
              <a:rPr lang="zh-CN" altLang="en-US" dirty="0"/>
              <a:t>页面大小</a:t>
            </a:r>
            <a:r>
              <a:rPr lang="en-US" altLang="zh-CN" dirty="0"/>
              <a:t>+48</a:t>
            </a:r>
            <a:r>
              <a:rPr lang="zh-CN" altLang="en-US" dirty="0"/>
              <a:t>位地址空间，</a:t>
            </a:r>
            <a:r>
              <a:rPr lang="en-US" altLang="zh-CN" dirty="0"/>
              <a:t>8</a:t>
            </a:r>
            <a:r>
              <a:rPr lang="zh-CN" altLang="en-US" dirty="0"/>
              <a:t>字节</a:t>
            </a:r>
            <a:r>
              <a:rPr lang="en-US" altLang="zh-CN" dirty="0"/>
              <a:t>PTE-&gt;2^39Byte=512GiB</a:t>
            </a:r>
          </a:p>
          <a:p>
            <a:r>
              <a:rPr lang="zh-CN" altLang="en-US" dirty="0"/>
              <a:t>解决方案：多级页表</a:t>
            </a:r>
            <a:endParaRPr lang="en-US" altLang="zh-CN" dirty="0"/>
          </a:p>
          <a:p>
            <a:r>
              <a:rPr lang="zh-CN" altLang="en-US" dirty="0"/>
              <a:t>非最后一级的每一级页表的</a:t>
            </a:r>
            <a:r>
              <a:rPr lang="en-US" altLang="zh-CN" dirty="0"/>
              <a:t>PTE</a:t>
            </a:r>
            <a:r>
              <a:rPr lang="zh-CN" altLang="en-US" dirty="0"/>
              <a:t>指向某一个下一级页表的起始地址</a:t>
            </a:r>
            <a:endParaRPr lang="en-US" altLang="zh-CN" dirty="0"/>
          </a:p>
          <a:p>
            <a:r>
              <a:rPr lang="zh-CN" altLang="en-US" dirty="0"/>
              <a:t>若对应</a:t>
            </a:r>
            <a:r>
              <a:rPr lang="en-US" altLang="zh-CN" dirty="0"/>
              <a:t>PTE</a:t>
            </a:r>
            <a:r>
              <a:rPr lang="zh-CN" altLang="en-US" dirty="0"/>
              <a:t>的内容为</a:t>
            </a:r>
            <a:r>
              <a:rPr lang="en-US" altLang="zh-CN" dirty="0"/>
              <a:t>NULL</a:t>
            </a:r>
            <a:r>
              <a:rPr lang="zh-CN" altLang="en-US" dirty="0"/>
              <a:t>，则下一级页表不占空间</a:t>
            </a:r>
            <a:endParaRPr lang="en-US" altLang="zh-CN" dirty="0"/>
          </a:p>
          <a:p>
            <a:r>
              <a:rPr lang="zh-CN" altLang="en-US" dirty="0"/>
              <a:t>最后一集的页表指向物理地址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C69F1F0-9EF3-015B-1462-1A3CD1270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724458" cy="387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0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F5D4-ED4C-BC47-E054-CB5A8520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B07BD23-DE74-77A3-1242-0E218D33A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340" y="827545"/>
            <a:ext cx="7029660" cy="396157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62FA807-C218-5E8B-ADC4-26DF551A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1E003B-51DC-238F-5AAB-E2C6F65AB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95" y="1576137"/>
            <a:ext cx="5602705" cy="4600826"/>
          </a:xfrm>
        </p:spPr>
        <p:txBody>
          <a:bodyPr>
            <a:normAutofit/>
          </a:bodyPr>
          <a:lstStyle/>
          <a:p>
            <a:r>
              <a:rPr lang="zh-CN" altLang="en-US" dirty="0"/>
              <a:t>虚拟地址转物理地址：</a:t>
            </a:r>
            <a:endParaRPr lang="en-US" altLang="zh-CN" dirty="0"/>
          </a:p>
          <a:p>
            <a:r>
              <a:rPr lang="zh-CN" altLang="en-US" dirty="0"/>
              <a:t>虚拟地址切成</a:t>
            </a:r>
            <a:r>
              <a:rPr lang="en-US" altLang="zh-CN" dirty="0"/>
              <a:t>k+1</a:t>
            </a:r>
            <a:r>
              <a:rPr lang="zh-CN" altLang="en-US" dirty="0"/>
              <a:t>段，前</a:t>
            </a:r>
            <a:r>
              <a:rPr lang="en-US" altLang="zh-CN" dirty="0"/>
              <a:t>k</a:t>
            </a:r>
            <a:r>
              <a:rPr lang="zh-CN" altLang="en-US" dirty="0"/>
              <a:t>段为</a:t>
            </a:r>
            <a:r>
              <a:rPr lang="en-US" altLang="zh-CN" dirty="0"/>
              <a:t>1~k</a:t>
            </a:r>
            <a:r>
              <a:rPr lang="zh-CN" altLang="en-US" dirty="0"/>
              <a:t>级页表的</a:t>
            </a:r>
            <a:r>
              <a:rPr lang="en-US" altLang="zh-CN" dirty="0"/>
              <a:t>VPN</a:t>
            </a:r>
            <a:r>
              <a:rPr lang="zh-CN" altLang="en-US" dirty="0"/>
              <a:t>，最后一段为</a:t>
            </a:r>
            <a:r>
              <a:rPr lang="en-US" altLang="zh-CN" dirty="0"/>
              <a:t>VPO</a:t>
            </a:r>
          </a:p>
          <a:p>
            <a:r>
              <a:rPr lang="zh-CN" altLang="en-US" dirty="0"/>
              <a:t>每一级页表根据自己对应的</a:t>
            </a:r>
            <a:r>
              <a:rPr lang="en-US" altLang="zh-CN" dirty="0"/>
              <a:t>VPN</a:t>
            </a:r>
            <a:r>
              <a:rPr lang="zh-CN" altLang="en-US" dirty="0"/>
              <a:t>，找到对应的</a:t>
            </a:r>
            <a:r>
              <a:rPr lang="en-US" altLang="zh-CN" dirty="0"/>
              <a:t>PTE</a:t>
            </a:r>
            <a:r>
              <a:rPr lang="zh-CN" altLang="en-US" dirty="0"/>
              <a:t>，找到对应的下一级页表。</a:t>
            </a:r>
            <a:endParaRPr lang="en-US" altLang="zh-CN" dirty="0"/>
          </a:p>
          <a:p>
            <a:r>
              <a:rPr lang="zh-CN" altLang="en-US" dirty="0"/>
              <a:t>最后一级页表的</a:t>
            </a:r>
            <a:r>
              <a:rPr lang="en-US" altLang="zh-CN" dirty="0"/>
              <a:t>PTE</a:t>
            </a:r>
            <a:r>
              <a:rPr lang="zh-CN" altLang="en-US" dirty="0"/>
              <a:t>中直接存储</a:t>
            </a:r>
            <a:r>
              <a:rPr lang="en-US" altLang="zh-CN" dirty="0"/>
              <a:t>PPN</a:t>
            </a:r>
            <a:r>
              <a:rPr lang="zh-CN" altLang="en-US" dirty="0"/>
              <a:t>，和</a:t>
            </a:r>
            <a:r>
              <a:rPr lang="en-US" altLang="zh-CN" dirty="0"/>
              <a:t>VPO</a:t>
            </a:r>
            <a:r>
              <a:rPr lang="zh-CN" altLang="en-US" dirty="0"/>
              <a:t>连接在一起作为物理地址。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92740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3F5D4-ED4C-BC47-E054-CB5A8520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FA807-C218-5E8B-ADC4-26DF551A0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地址转换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1E003B-51DC-238F-5AAB-E2C6F65AB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95" y="1576137"/>
            <a:ext cx="5602705" cy="4600826"/>
          </a:xfrm>
        </p:spPr>
        <p:txBody>
          <a:bodyPr>
            <a:normAutofit/>
          </a:bodyPr>
          <a:lstStyle/>
          <a:p>
            <a:r>
              <a:rPr lang="zh-CN" altLang="en-US" dirty="0"/>
              <a:t>课件上的两级页表示例。</a:t>
            </a:r>
            <a:endParaRPr lang="en-US" altLang="zh-CN" dirty="0"/>
          </a:p>
          <a:p>
            <a:r>
              <a:rPr lang="zh-CN" altLang="en-US" dirty="0"/>
              <a:t>空间占用：</a:t>
            </a:r>
            <a:r>
              <a:rPr lang="en-US" altLang="zh-CN" dirty="0"/>
              <a:t>512GB-&gt;16KB</a:t>
            </a:r>
          </a:p>
          <a:p>
            <a:r>
              <a:rPr lang="en-US" altLang="zh-CN" dirty="0"/>
              <a:t>32</a:t>
            </a:r>
            <a:r>
              <a:rPr lang="zh-CN" altLang="en-US" dirty="0"/>
              <a:t>位时代，两级页表刚好足够，</a:t>
            </a:r>
            <a:r>
              <a:rPr lang="en-US" altLang="zh-CN" dirty="0"/>
              <a:t>10-10-12</a:t>
            </a:r>
            <a:r>
              <a:rPr lang="zh-CN" altLang="en-US" dirty="0"/>
              <a:t>拆分每一段页表的</a:t>
            </a:r>
            <a:r>
              <a:rPr lang="en-US" altLang="zh-CN" dirty="0"/>
              <a:t>VPN</a:t>
            </a:r>
            <a:r>
              <a:rPr lang="zh-CN" altLang="en-US" dirty="0"/>
              <a:t>，和</a:t>
            </a:r>
            <a:r>
              <a:rPr lang="en-US" altLang="zh-CN" dirty="0"/>
              <a:t>VPO</a:t>
            </a:r>
            <a:r>
              <a:rPr lang="zh-CN" altLang="en-US" dirty="0"/>
              <a:t>，而每一个页表刚好占用</a:t>
            </a:r>
            <a:r>
              <a:rPr lang="en-US" altLang="zh-CN" dirty="0"/>
              <a:t>4KB</a:t>
            </a:r>
            <a:r>
              <a:rPr lang="zh-CN" altLang="en-US" dirty="0"/>
              <a:t>空间。</a:t>
            </a:r>
            <a:endParaRPr lang="en-US" altLang="zh-CN" dirty="0"/>
          </a:p>
          <a:p>
            <a:r>
              <a:rPr lang="en-US" altLang="zh-CN" dirty="0"/>
              <a:t>64</a:t>
            </a:r>
            <a:r>
              <a:rPr lang="zh-CN" altLang="en-US" dirty="0"/>
              <a:t>位时代，由于</a:t>
            </a:r>
            <a:r>
              <a:rPr lang="en-US" altLang="zh-CN" dirty="0"/>
              <a:t>4KB</a:t>
            </a:r>
            <a:r>
              <a:rPr lang="zh-CN" altLang="en-US" dirty="0"/>
              <a:t>的页大小只能容纳</a:t>
            </a:r>
            <a:r>
              <a:rPr lang="en-US" altLang="zh-CN" dirty="0"/>
              <a:t>512</a:t>
            </a:r>
            <a:r>
              <a:rPr lang="zh-CN" altLang="en-US" dirty="0"/>
              <a:t>个</a:t>
            </a:r>
            <a:r>
              <a:rPr lang="en-US" altLang="zh-CN" dirty="0"/>
              <a:t>64</a:t>
            </a:r>
            <a:r>
              <a:rPr lang="zh-CN" altLang="en-US" dirty="0"/>
              <a:t>位地址，因而</a:t>
            </a:r>
            <a:r>
              <a:rPr lang="en-US" altLang="zh-CN" dirty="0"/>
              <a:t>VPN</a:t>
            </a:r>
            <a:r>
              <a:rPr lang="zh-CN" altLang="en-US" dirty="0"/>
              <a:t>至多</a:t>
            </a:r>
            <a:r>
              <a:rPr lang="en-US" altLang="zh-CN" dirty="0"/>
              <a:t>9</a:t>
            </a:r>
            <a:r>
              <a:rPr lang="zh-CN" altLang="en-US" dirty="0"/>
              <a:t>位，从而使用</a:t>
            </a:r>
            <a:r>
              <a:rPr lang="en-US" altLang="zh-CN" dirty="0"/>
              <a:t>9-9-9-9-12</a:t>
            </a:r>
            <a:r>
              <a:rPr lang="zh-CN" altLang="en-US" dirty="0"/>
              <a:t>拆分的</a:t>
            </a:r>
            <a:r>
              <a:rPr lang="en-US" altLang="zh-CN" dirty="0"/>
              <a:t>48</a:t>
            </a:r>
            <a:r>
              <a:rPr lang="zh-CN" altLang="en-US" dirty="0"/>
              <a:t>位虚拟地址与</a:t>
            </a:r>
            <a:r>
              <a:rPr lang="en-US" altLang="zh-CN" dirty="0"/>
              <a:t>4</a:t>
            </a:r>
            <a:r>
              <a:rPr lang="zh-CN" altLang="en-US" dirty="0"/>
              <a:t>级页表。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F5F0ABA-4CEF-B8D1-1583-4835A02AA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724458" cy="387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84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00C03-93A0-F3BA-1AD3-51638125A6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谢谢聆听！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EE6170-C9F4-39D1-4356-A66B9C06DD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3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1873</Words>
  <Application>Microsoft Office PowerPoint</Application>
  <PresentationFormat>宽屏</PresentationFormat>
  <Paragraphs>156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5" baseType="lpstr">
      <vt:lpstr>等线</vt:lpstr>
      <vt:lpstr>等线 Light</vt:lpstr>
      <vt:lpstr>Arial</vt:lpstr>
      <vt:lpstr>Office 主题​​</vt:lpstr>
      <vt:lpstr>回课 lec19 VM</vt:lpstr>
      <vt:lpstr>1.虚拟内存出现的动机</vt:lpstr>
      <vt:lpstr>1.回顾 – 内存组织形式</vt:lpstr>
      <vt:lpstr>1.回顾 – 寻址</vt:lpstr>
      <vt:lpstr>1.地址空间</vt:lpstr>
      <vt:lpstr>1.物理寻址 vs 虚拟寻址</vt:lpstr>
      <vt:lpstr>2.虚拟内存的组织形式</vt:lpstr>
      <vt:lpstr>2.关键的数据结构：页表</vt:lpstr>
      <vt:lpstr>2.关键的数据结构：页表</vt:lpstr>
      <vt:lpstr>2.关键的数据结构：页表</vt:lpstr>
      <vt:lpstr>2.关键的数据结构：页表</vt:lpstr>
      <vt:lpstr>2.关键的数据结构：页表</vt:lpstr>
      <vt:lpstr>3.虚存的性能</vt:lpstr>
      <vt:lpstr>3.虚拟存储 vs Cache</vt:lpstr>
      <vt:lpstr>4.虚拟存储进行内存管理</vt:lpstr>
      <vt:lpstr>4.虚拟存储进行内存管理</vt:lpstr>
      <vt:lpstr>5.虚拟存储实现存储保护</vt:lpstr>
      <vt:lpstr>6.地址转换</vt:lpstr>
      <vt:lpstr>6.地址转换</vt:lpstr>
      <vt:lpstr>6.地址转换</vt:lpstr>
      <vt:lpstr>6.地址转换</vt:lpstr>
      <vt:lpstr>6.地址转换</vt:lpstr>
      <vt:lpstr>6.地址转换</vt:lpstr>
      <vt:lpstr>6.地址转换</vt:lpstr>
      <vt:lpstr>6.地址转换</vt:lpstr>
      <vt:lpstr>6.地址转换</vt:lpstr>
      <vt:lpstr>6.地址转换</vt:lpstr>
      <vt:lpstr>6.地址转换</vt:lpstr>
      <vt:lpstr>6.地址转换</vt:lpstr>
      <vt:lpstr>6.地址转换</vt:lpstr>
      <vt:lpstr>谢谢聆听！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梓墨 郭</dc:creator>
  <cp:lastModifiedBy>梓墨 郭</cp:lastModifiedBy>
  <cp:revision>66</cp:revision>
  <dcterms:created xsi:type="dcterms:W3CDTF">2025-11-26T05:41:07Z</dcterms:created>
  <dcterms:modified xsi:type="dcterms:W3CDTF">2025-11-26T10:26:36Z</dcterms:modified>
</cp:coreProperties>
</file>