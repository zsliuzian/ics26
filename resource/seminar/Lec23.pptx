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1" r:id="rId3"/>
    <p:sldId id="257" r:id="rId4"/>
    <p:sldId id="258" r:id="rId5"/>
    <p:sldId id="259" r:id="rId6"/>
    <p:sldId id="262" r:id="rId7"/>
    <p:sldId id="260" r:id="rId8"/>
    <p:sldId id="263" r:id="rId9"/>
    <p:sldId id="264" r:id="rId10"/>
    <p:sldId id="266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 autoAdjust="0"/>
    <p:restoredTop sz="94660"/>
  </p:normalViewPr>
  <p:slideViewPr>
    <p:cSldViewPr snapToGrid="0">
      <p:cViewPr varScale="1">
        <p:scale>
          <a:sx n="56" d="100"/>
          <a:sy n="56" d="100"/>
        </p:scale>
        <p:origin x="42" y="9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AD2BA6-5E70-4553-BEC8-4C124D58B416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2F195-605C-498D-8875-4708CDB156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585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2F195-605C-498D-8875-4708CDB1566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032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2F195-605C-498D-8875-4708CDB1566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392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2F195-605C-498D-8875-4708CDB1566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262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6C6828-AA99-CE33-3A6D-A52998548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D92371-8B11-E85D-7FD3-98F0E7861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84D767-D1C1-8FB7-5676-C86FEE588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C53A9-A6B6-4DE2-AE51-39A58F9858A4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F377EF-8B46-8DD8-B9B0-B71DBA62C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7E25C7-4F2E-2F3B-A9A8-6522CE253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14529-F83B-40B1-8B0A-54314F6044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75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D901D4-C5CE-9A74-908F-AB38E619B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64D685-C5C2-5EC7-90D0-886D58370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14B259-A198-8E9C-CF1B-761CD29CF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C53A9-A6B6-4DE2-AE51-39A58F9858A4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17AD46-351E-E2A1-3BA5-BAE4CEE4C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ACE8E0-F341-40F2-77D7-F91B8447D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14529-F83B-40B1-8B0A-54314F6044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595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A1F61F-4A13-8949-F9A8-C4291F93A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1B875A-91B6-D15C-4738-B5F4EA377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9D5F24-C0BF-E5D5-60D9-8F528B20E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C53A9-A6B6-4DE2-AE51-39A58F9858A4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CA1F89-3896-5E43-6890-E1B8B3243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6755EF-4560-F6DF-C856-B5F59AB04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14529-F83B-40B1-8B0A-54314F6044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504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6699A1-70BB-B85E-BC99-15C3E2F90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9A37A9-FD2C-24DC-8134-42123C572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B5BC60-5975-DB23-8A42-859574D5B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B89FF3-1552-C04C-5AC3-08DC20AB5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C53A9-A6B6-4DE2-AE51-39A58F9858A4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C8A69C-DE70-C916-7521-577CEF735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D7054E-859C-6A88-CCD4-2966AC624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14529-F83B-40B1-8B0A-54314F6044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139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6EC281-0021-936B-BEC3-2793D52EC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CBE4C8-5C6D-FBB5-83F4-3A801C973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5401FA-DAF5-E0BA-2775-A652D18A8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1EDE6C-C6DB-83D3-18CC-38D57879D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F365950-AB2C-5BD6-711E-27B6822FEC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95C60F-7C60-70F0-531E-6E4D3640C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C53A9-A6B6-4DE2-AE51-39A58F9858A4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2226248-5AE6-A368-D3DA-1E56DAF9E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A10E34D-A82D-9E17-A7B8-4F2C87EA9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14529-F83B-40B1-8B0A-54314F6044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136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66A43-4F93-6F62-6CB9-63B2C443C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4F7663-D9BD-8CF5-F471-78B51DFEF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C53A9-A6B6-4DE2-AE51-39A58F9858A4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A136145-0F9B-0BCC-23DF-2080F661E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A47D88C-8F4B-DDEA-4A92-75C6BB868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14529-F83B-40B1-8B0A-54314F6044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04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673A673-7D38-C5A1-DD28-86835B754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C53A9-A6B6-4DE2-AE51-39A58F9858A4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9B7E03D-87D2-8F1B-4B85-02D9283E6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58C639-3405-EDD8-B6AA-2D3CD7A0D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14529-F83B-40B1-8B0A-54314F6044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126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BDC28E-B85B-E666-1A8F-994199861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7B329A-3B5C-ADE1-71FB-F610263A7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2ABDCA-8D38-4419-CA64-C5ABECA06C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53528D-B417-229B-E7E7-6D03A5D39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C53A9-A6B6-4DE2-AE51-39A58F9858A4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2FD28A-8246-F8EA-65E1-8E85CE113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9B097F-0DF5-6C73-3AD5-DDC81A50D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14529-F83B-40B1-8B0A-54314F6044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495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1D92BD-8195-7B91-5F2E-988943D12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5669A32-65AE-201D-7DE2-F77398E764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93CFBF-91C4-35BF-1892-51C274E44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BF45C9-7EB8-3D35-6531-A0917B073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C53A9-A6B6-4DE2-AE51-39A58F9858A4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84B9B9-B0BC-C5F4-8F92-FBC44CA58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9E6033-5411-F2F6-18EF-C1B8F9B0A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14529-F83B-40B1-8B0A-54314F6044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151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76FD3E-B759-1A30-5B5F-F05F014A1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6520A6-B092-088C-768D-E128409FFF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8C8FC0-F7DA-D735-2D19-1630CAC66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C53A9-A6B6-4DE2-AE51-39A58F9858A4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E50FFD-7F2F-C5F6-3FAA-156420032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A054D4-BAA0-5A47-DB34-BB2D33917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14529-F83B-40B1-8B0A-54314F6044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3320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A32C0C2-BE71-940C-73BC-0D6BF78F88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986B061-1392-AD1A-148D-E256D6C25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085427-57C1-6031-5A22-85C3BA874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C53A9-A6B6-4DE2-AE51-39A58F9858A4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10B593-C575-1237-90AB-0626E2A16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9C39FC-96D4-CADB-4AE8-DB78F1FEB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14529-F83B-40B1-8B0A-54314F6044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6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C16D6B1-6E9A-9E0A-F1A5-5B310442D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E9B5EF-6274-F05B-92DC-4892C57C5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7317B7-67E8-B4CF-3BAE-1924F02E61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EC53A9-A6B6-4DE2-AE51-39A58F9858A4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45E791-362A-C1C9-30C9-F945327094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FD9642-2736-4F7D-6D07-D2C984316A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14529-F83B-40B1-8B0A-54314F6044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22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241D2B-FAE3-9D3F-37ED-B6CF8CDC8D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Virtual Memory System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6D9EF4F-9292-2EA6-D5DD-B6E2FD5A36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5135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AE50B4-4DBE-BD78-9DD7-9CE259594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Contents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5E8472-809F-283D-15ED-0EF6535F1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Review</a:t>
            </a:r>
          </a:p>
          <a:p>
            <a:r>
              <a:rPr lang="en-US" altLang="zh-CN" dirty="0"/>
              <a:t>End-to-End Address Translation</a:t>
            </a:r>
          </a:p>
          <a:p>
            <a:r>
              <a:rPr lang="en-US" altLang="zh-CN" dirty="0"/>
              <a:t>Core i7 and</a:t>
            </a:r>
            <a:r>
              <a:rPr lang="zh-CN" altLang="en-US" dirty="0"/>
              <a:t> </a:t>
            </a:r>
            <a:r>
              <a:rPr lang="en-US" altLang="zh-CN" dirty="0"/>
              <a:t>Linux (Case Study)</a:t>
            </a:r>
          </a:p>
          <a:p>
            <a:r>
              <a:rPr lang="en-US" altLang="zh-CN" dirty="0"/>
              <a:t>Memory Mapping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6731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487992-5587-E6BD-ADD2-E48AC0C65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</a:t>
            </a:r>
            <a:endParaRPr lang="zh-CN" alt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26ED410B-D2CD-990D-3F60-68765A3130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8" name="内容占位符 27" descr="图示&#10;&#10;AI 生成的内容可能不正确。">
            <a:extLst>
              <a:ext uri="{FF2B5EF4-FFF2-40B4-BE49-F238E27FC236}">
                <a16:creationId xmlns:a16="http://schemas.microsoft.com/office/drawing/2014/main" id="{87917BD2-A6B8-4789-13EE-1D590A8355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291" y="565978"/>
            <a:ext cx="10857142" cy="5926897"/>
          </a:xfrm>
        </p:spPr>
      </p:pic>
    </p:spTree>
    <p:extLst>
      <p:ext uri="{BB962C8B-B14F-4D97-AF65-F5344CB8AC3E}">
        <p14:creationId xmlns:p14="http://schemas.microsoft.com/office/powerpoint/2010/main" val="1922328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B326F-BBBA-2403-A047-BB95776F7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Many questions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F76374-F08D-BBB0-C00D-602E4AD3E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Question #4</a:t>
            </a:r>
          </a:p>
          <a:p>
            <a:r>
              <a:rPr lang="en-US" altLang="zh-CN" dirty="0"/>
              <a:t>Aren’t the TLB contents wrong after a context switch?</a:t>
            </a:r>
          </a:p>
          <a:p>
            <a:endParaRPr lang="en-US" altLang="zh-CN" dirty="0"/>
          </a:p>
          <a:p>
            <a:r>
              <a:rPr lang="en-US" altLang="zh-CN" dirty="0"/>
              <a:t>Yes</a:t>
            </a:r>
          </a:p>
          <a:p>
            <a:pPr lvl="1"/>
            <a:r>
              <a:rPr lang="en-US" altLang="zh-CN" dirty="0"/>
              <a:t>Option 1: flush TLB on context switch</a:t>
            </a:r>
          </a:p>
          <a:p>
            <a:pPr lvl="1"/>
            <a:r>
              <a:rPr lang="en-US" altLang="zh-CN" dirty="0"/>
              <a:t>Option 2: associate a process ID with each TLB entry</a:t>
            </a:r>
          </a:p>
          <a:p>
            <a:pPr lvl="2"/>
            <a:r>
              <a:rPr lang="en-US" altLang="zh-CN" dirty="0"/>
              <a:t>TLB</a:t>
            </a:r>
            <a:r>
              <a:rPr lang="zh-CN" altLang="en-US" dirty="0"/>
              <a:t>：</a:t>
            </a:r>
            <a:r>
              <a:rPr lang="en-US" altLang="zh-CN" dirty="0"/>
              <a:t>[VPN | PPN | PER | ASID]</a:t>
            </a:r>
          </a:p>
          <a:p>
            <a:pPr lvl="2"/>
            <a:r>
              <a:rPr lang="zh-CN" altLang="en-US" dirty="0"/>
              <a:t>当 </a:t>
            </a:r>
            <a:r>
              <a:rPr lang="en-US" altLang="zh-CN" dirty="0"/>
              <a:t>CPU </a:t>
            </a:r>
            <a:r>
              <a:rPr lang="zh-CN" altLang="en-US" dirty="0"/>
              <a:t>从进程 </a:t>
            </a:r>
            <a:r>
              <a:rPr lang="en-US" altLang="zh-CN" dirty="0"/>
              <a:t>A </a:t>
            </a:r>
            <a:r>
              <a:rPr lang="zh-CN" altLang="en-US" dirty="0"/>
              <a:t>切到进程 </a:t>
            </a:r>
            <a:r>
              <a:rPr lang="en-US" altLang="zh-CN" dirty="0"/>
              <a:t>B</a:t>
            </a:r>
            <a:r>
              <a:rPr lang="zh-CN" altLang="en-US" dirty="0"/>
              <a:t>，再切回进程 </a:t>
            </a:r>
            <a:r>
              <a:rPr lang="en-US" altLang="zh-CN" dirty="0"/>
              <a:t>A </a:t>
            </a:r>
            <a:r>
              <a:rPr lang="zh-CN" altLang="en-US" dirty="0"/>
              <a:t>时，只要进程 </a:t>
            </a:r>
            <a:r>
              <a:rPr lang="en-US" altLang="zh-CN" dirty="0"/>
              <a:t>A </a:t>
            </a:r>
            <a:r>
              <a:rPr lang="zh-CN" altLang="en-US" dirty="0"/>
              <a:t>的条目没被替换出去，依然可以直接使用。这大大减少了 </a:t>
            </a:r>
            <a:r>
              <a:rPr lang="en-US" altLang="zh-CN" dirty="0"/>
              <a:t>TLB Miss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08695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D050C1-38E5-6E70-0BC5-C06183272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390092-2466-2321-8A30-4E212CA4E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29E2810-76EB-3BC7-2DD8-3AA70F641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713" y="218661"/>
            <a:ext cx="8941568" cy="642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277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842A20-5E36-9466-7FD6-462737178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End-to-End Address Translation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35DA81-ABBC-CA2E-A418-4078BC963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02B0E60-1A3B-A330-8C18-80FE98189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563" y="1152811"/>
            <a:ext cx="7622876" cy="569696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5B88A58-A684-9C78-B4C2-AA4B8A02F619}"/>
              </a:ext>
            </a:extLst>
          </p:cNvPr>
          <p:cNvSpPr txBox="1"/>
          <p:nvPr/>
        </p:nvSpPr>
        <p:spPr>
          <a:xfrm>
            <a:off x="959127" y="5411065"/>
            <a:ext cx="120450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CR3 作为进程上下文的一部分，指向第一级页表起始位置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307404E-7EC9-176E-94E9-E67BC83255CA}"/>
              </a:ext>
            </a:extLst>
          </p:cNvPr>
          <p:cNvSpPr txBox="1"/>
          <p:nvPr/>
        </p:nvSpPr>
        <p:spPr>
          <a:xfrm>
            <a:off x="959127" y="3429000"/>
            <a:ext cx="120450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查 </a:t>
            </a:r>
            <a:r>
              <a:rPr lang="en-US" altLang="zh-CN" sz="1400" dirty="0"/>
              <a:t>TLB </a:t>
            </a:r>
            <a:r>
              <a:rPr lang="zh-CN" altLang="en-US" sz="1400" dirty="0"/>
              <a:t>和查多级页表同时进行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86EC538-812E-4D89-58BE-69DA574B1E50}"/>
              </a:ext>
            </a:extLst>
          </p:cNvPr>
          <p:cNvSpPr txBox="1"/>
          <p:nvPr/>
        </p:nvSpPr>
        <p:spPr>
          <a:xfrm>
            <a:off x="6599583" y="5610022"/>
            <a:ext cx="4962939" cy="10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/>
              <a:t>Trick</a:t>
            </a:r>
            <a:r>
              <a:rPr lang="zh-CN" altLang="en-US" sz="1400" dirty="0"/>
              <a:t>：通过对 </a:t>
            </a:r>
            <a:r>
              <a:rPr lang="en-US" altLang="zh-CN" sz="1400" dirty="0"/>
              <a:t>L1 Cache </a:t>
            </a:r>
            <a:r>
              <a:rPr lang="zh-CN" altLang="en-US" sz="1400" dirty="0"/>
              <a:t>的精心规划，查 </a:t>
            </a:r>
            <a:r>
              <a:rPr lang="en-US" altLang="zh-CN" sz="1400" dirty="0"/>
              <a:t>Cache </a:t>
            </a:r>
            <a:r>
              <a:rPr lang="zh-CN" altLang="en-US" sz="1400" dirty="0"/>
              <a:t>所需的 </a:t>
            </a:r>
            <a:r>
              <a:rPr lang="en-US" altLang="zh-CN" sz="1400" dirty="0"/>
              <a:t>index </a:t>
            </a:r>
            <a:r>
              <a:rPr lang="zh-CN" altLang="en-US" sz="1400" dirty="0"/>
              <a:t>完全被</a:t>
            </a:r>
            <a:r>
              <a:rPr lang="en-US" altLang="zh-CN" sz="1400" dirty="0"/>
              <a:t> VPO </a:t>
            </a:r>
            <a:r>
              <a:rPr lang="zh-CN" altLang="en-US" sz="1400" dirty="0"/>
              <a:t>包含，所以可以边访问</a:t>
            </a:r>
            <a:r>
              <a:rPr lang="en-US" altLang="zh-CN" sz="1400" dirty="0"/>
              <a:t> Cache </a:t>
            </a:r>
            <a:r>
              <a:rPr lang="zh-CN" altLang="en-US" sz="1400" dirty="0"/>
              <a:t>边查 </a:t>
            </a:r>
            <a:r>
              <a:rPr lang="en-US" altLang="zh-CN" sz="1400" dirty="0"/>
              <a:t>PPN</a:t>
            </a:r>
            <a:r>
              <a:rPr lang="zh-CN" altLang="en-US" sz="1400" dirty="0"/>
              <a:t>。当 </a:t>
            </a:r>
            <a:r>
              <a:rPr lang="en-US" altLang="zh-CN" sz="1400" dirty="0"/>
              <a:t>PPN </a:t>
            </a:r>
            <a:r>
              <a:rPr lang="zh-CN" altLang="en-US" sz="1400" dirty="0"/>
              <a:t>确定之后当作 </a:t>
            </a:r>
            <a:r>
              <a:rPr lang="en-US" altLang="zh-CN" sz="1400" dirty="0"/>
              <a:t>Tag </a:t>
            </a:r>
            <a:r>
              <a:rPr lang="zh-CN" altLang="en-US" sz="1400" dirty="0"/>
              <a:t>去 </a:t>
            </a:r>
            <a:r>
              <a:rPr lang="en-US" altLang="zh-CN" sz="1400" dirty="0"/>
              <a:t>check cache </a:t>
            </a:r>
            <a:r>
              <a:rPr lang="zh-CN" altLang="en-US" sz="1400" dirty="0"/>
              <a:t>即可。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960202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23D624-E338-8855-BA2B-A290FBB75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End-to-End Address Translation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E9F1BAD8-6F08-2F79-333D-F558ED2B80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64931" y="1314954"/>
            <a:ext cx="5939983" cy="435133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01B6F74-1A0B-2F6D-0E06-1CCEA3325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47" y="1305340"/>
            <a:ext cx="5939984" cy="436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365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7DB27B-56AD-C9B5-028B-7138AAF05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Core i7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ED7402-F765-5206-81F1-B3E2C200C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746A1B2-1D83-5EBC-CD64-4CD8BCE9F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026" y="1034360"/>
            <a:ext cx="7301948" cy="582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666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EC6B6E-C84A-589C-22E8-7828F7BF9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Core i7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0D6608-0A81-A626-399A-5F4FF68B7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0827"/>
          </a:xfrm>
        </p:spPr>
        <p:txBody>
          <a:bodyPr>
            <a:norm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sz="1800" dirty="0"/>
              <a:t>64 </a:t>
            </a:r>
            <a:r>
              <a:rPr lang="zh-CN" altLang="en-US" sz="1800" dirty="0"/>
              <a:t>位系统页表结构</a:t>
            </a:r>
            <a:r>
              <a:rPr lang="zh-CN" altLang="en-US" sz="1800" dirty="0">
                <a:sym typeface="Wingdings" panose="05000000000000000000" pitchFamily="2" charset="2"/>
              </a:rPr>
              <a:t>：</a:t>
            </a:r>
            <a:r>
              <a:rPr lang="en-US" altLang="zh-CN" sz="1800" dirty="0"/>
              <a:t>9-9-9-9-12</a:t>
            </a:r>
            <a:r>
              <a:rPr lang="zh-CN" altLang="en-US" sz="1800" dirty="0"/>
              <a:t>（</a:t>
            </a:r>
            <a:r>
              <a:rPr lang="en-US" altLang="zh-CN" sz="1800" dirty="0"/>
              <a:t>4</a:t>
            </a:r>
            <a:r>
              <a:rPr lang="zh-CN" altLang="en-US" sz="1800" dirty="0"/>
              <a:t>级）</a:t>
            </a:r>
            <a:endParaRPr lang="en-US" altLang="zh-CN" sz="1800" dirty="0"/>
          </a:p>
          <a:p>
            <a:r>
              <a:rPr lang="zh-CN" altLang="en-US" sz="1800" dirty="0"/>
              <a:t>如果只用三级页表，那么最后对应 </a:t>
            </a:r>
            <a:r>
              <a:rPr lang="en-US" altLang="zh-CN" sz="1800" dirty="0"/>
              <a:t>VM </a:t>
            </a:r>
            <a:r>
              <a:rPr lang="zh-CN" altLang="en-US" sz="1800" dirty="0"/>
              <a:t>映射到 </a:t>
            </a:r>
            <a:r>
              <a:rPr lang="en-US" altLang="zh-CN" sz="1800" dirty="0"/>
              <a:t>PM </a:t>
            </a:r>
            <a:r>
              <a:rPr lang="zh-CN" altLang="en-US" sz="1800" dirty="0"/>
              <a:t>的页就是 </a:t>
            </a:r>
            <a:r>
              <a:rPr lang="en-US" altLang="zh-CN" sz="1800" dirty="0"/>
              <a:t>21—2mb </a:t>
            </a:r>
            <a:r>
              <a:rPr lang="zh-CN" altLang="en-US" sz="1800" dirty="0"/>
              <a:t>大。</a:t>
            </a:r>
            <a:endParaRPr lang="en-US" altLang="zh-CN" sz="1800" dirty="0"/>
          </a:p>
          <a:p>
            <a:r>
              <a:rPr lang="en-US" altLang="zh-CN" sz="1800" dirty="0"/>
              <a:t>G </a:t>
            </a:r>
            <a:r>
              <a:rPr lang="zh-CN" altLang="en-US" sz="1800" dirty="0"/>
              <a:t>位用来确认是否对应 </a:t>
            </a:r>
            <a:r>
              <a:rPr lang="en-US" altLang="zh-CN" sz="1800" dirty="0"/>
              <a:t>TLB </a:t>
            </a:r>
            <a:r>
              <a:rPr lang="zh-CN" altLang="en-US" sz="1800" dirty="0"/>
              <a:t>条目在 </a:t>
            </a:r>
            <a:r>
              <a:rPr lang="en-US" altLang="zh-CN" sz="1800" dirty="0"/>
              <a:t>context switch </a:t>
            </a:r>
            <a:r>
              <a:rPr lang="zh-CN" altLang="en-US" sz="1800" dirty="0"/>
              <a:t>时是否被 </a:t>
            </a:r>
            <a:r>
              <a:rPr lang="en-US" altLang="zh-CN" sz="1800" dirty="0"/>
              <a:t>flush</a:t>
            </a:r>
            <a:r>
              <a:rPr lang="zh-CN" altLang="en-US" sz="1800" dirty="0"/>
              <a:t>？</a:t>
            </a:r>
            <a:endParaRPr lang="en-US" altLang="zh-CN" sz="1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E63ECC9-B1E1-0299-B7BB-9D977F9D0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86" y="1690688"/>
            <a:ext cx="5383257" cy="376791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B0BF8FF-F10F-D199-DCAA-647D40E10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850" y="197857"/>
            <a:ext cx="5503557" cy="370157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14C3854-25FD-6F14-6AC7-61459AC4A4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1073" y="4301722"/>
            <a:ext cx="3187528" cy="231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153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180192E-DF78-2EC5-2EAA-1966818E9F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7248" y="2506662"/>
            <a:ext cx="6072389" cy="435133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13FA11B-BA89-D798-57B7-D18CA5206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3414" y="3823253"/>
            <a:ext cx="3274179" cy="278110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32EE6C5-DAC6-0077-9264-15DE16015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61" y="2969487"/>
            <a:ext cx="3093587" cy="342568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86F7CB1-049C-86B5-0E49-DE59B3EB56BF}"/>
              </a:ext>
            </a:extLst>
          </p:cNvPr>
          <p:cNvSpPr txBox="1"/>
          <p:nvPr/>
        </p:nvSpPr>
        <p:spPr>
          <a:xfrm>
            <a:off x="662608" y="921026"/>
            <a:ext cx="100463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按照虚拟地址空间的基础概念划分有不同的区域。</a:t>
            </a:r>
            <a:endParaRPr lang="en-US" altLang="zh-CN" dirty="0"/>
          </a:p>
          <a:p>
            <a:r>
              <a:rPr lang="zh-CN" altLang="en-US" dirty="0"/>
              <a:t>内核为系统中的每个进程维护一个单独的任务结构 </a:t>
            </a:r>
            <a:r>
              <a:rPr lang="en-US" altLang="zh-CN" dirty="0" err="1"/>
              <a:t>task_struct</a:t>
            </a:r>
            <a:r>
              <a:rPr lang="zh-CN" altLang="en-US" dirty="0"/>
              <a:t>，包含很多进程信息</a:t>
            </a:r>
          </a:p>
          <a:p>
            <a:r>
              <a:rPr lang="en-US" altLang="zh-CN" dirty="0"/>
              <a:t>mm </a:t>
            </a:r>
            <a:r>
              <a:rPr lang="zh-CN" altLang="en-US" dirty="0"/>
              <a:t>指向 </a:t>
            </a:r>
            <a:r>
              <a:rPr lang="en-US" altLang="zh-CN" dirty="0" err="1"/>
              <a:t>mm_struct</a:t>
            </a:r>
            <a:r>
              <a:rPr lang="en-US" altLang="zh-CN" dirty="0"/>
              <a:t> </a:t>
            </a:r>
            <a:r>
              <a:rPr lang="zh-CN" altLang="en-US" dirty="0"/>
              <a:t>表示虚拟内存信息。</a:t>
            </a:r>
            <a:r>
              <a:rPr lang="en-US" altLang="zh-CN" dirty="0"/>
              <a:t>CH3 </a:t>
            </a:r>
            <a:r>
              <a:rPr lang="zh-CN" altLang="en-US" dirty="0"/>
              <a:t>被 </a:t>
            </a:r>
            <a:r>
              <a:rPr lang="en-US" altLang="zh-CN" dirty="0" err="1"/>
              <a:t>pgd</a:t>
            </a:r>
            <a:r>
              <a:rPr lang="en-US" altLang="zh-CN" dirty="0"/>
              <a:t> </a:t>
            </a:r>
            <a:r>
              <a:rPr lang="zh-CN" altLang="en-US" dirty="0"/>
              <a:t>更新，</a:t>
            </a:r>
            <a:r>
              <a:rPr lang="en-US" altLang="zh-CN" dirty="0" err="1"/>
              <a:t>mmap</a:t>
            </a:r>
            <a:r>
              <a:rPr lang="en-US" altLang="zh-CN" dirty="0"/>
              <a:t> </a:t>
            </a:r>
            <a:r>
              <a:rPr lang="zh-CN" altLang="en-US" dirty="0"/>
              <a:t>指向 </a:t>
            </a:r>
            <a:r>
              <a:rPr lang="en-US" altLang="zh-CN" dirty="0" err="1"/>
              <a:t>vm_area_structs</a:t>
            </a:r>
            <a:r>
              <a:rPr lang="en-US" altLang="zh-CN" dirty="0"/>
              <a:t> </a:t>
            </a:r>
            <a:r>
              <a:rPr lang="zh-CN" altLang="en-US" dirty="0"/>
              <a:t>的链表。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80314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52F51-331F-053A-03E3-427150240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55CC40-4D06-6F68-7D00-EBABBECAE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 Mapping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67D693-38AC-C985-F69F-1E3F96992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- </a:t>
            </a:r>
            <a:r>
              <a:rPr lang="zh-CN" altLang="en-US" dirty="0"/>
              <a:t>普通磁盘文件：如可执行文件。文件被分成页大小的片，按需调入内存 </a:t>
            </a:r>
          </a:p>
          <a:p>
            <a:pPr marL="0" indent="0">
              <a:buNone/>
            </a:pPr>
            <a:r>
              <a:rPr lang="zh-CN" altLang="en-US" dirty="0"/>
              <a:t> </a:t>
            </a:r>
            <a:r>
              <a:rPr lang="en-US" altLang="zh-CN" dirty="0"/>
              <a:t>- </a:t>
            </a:r>
            <a:r>
              <a:rPr lang="zh-CN" altLang="en-US" dirty="0"/>
              <a:t>匿名文件 </a:t>
            </a:r>
            <a:r>
              <a:rPr lang="en-US" altLang="zh-CN" dirty="0"/>
              <a:t>(Anonymous File)</a:t>
            </a:r>
            <a:r>
              <a:rPr lang="zh-CN" altLang="en-US" dirty="0"/>
              <a:t>：由内核创建，内容全为二进制零。映射到这种文件的页面在第一次被访问时，内核会在物理内存中分配一个全零的页面（称为 </a:t>
            </a:r>
            <a:r>
              <a:rPr lang="en-US" altLang="zh-CN" dirty="0"/>
              <a:t>demand-zero page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Swap File </a:t>
            </a:r>
            <a:r>
              <a:rPr lang="zh-CN" altLang="en-US" dirty="0"/>
              <a:t>用来存储那些被修改过且需要从物理内存中换出的页面。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9895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0A3C1-7C9D-5394-E471-6BF8FAC4F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F57C68-DF95-157B-DCE2-205CD048C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 Mapping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9EBC19-A4C8-44D1-84CB-5ED22BD0F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69765" cy="4926358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zh-CN" altLang="en-US" dirty="0"/>
              <a:t>共享对象 </a:t>
            </a:r>
            <a:endParaRPr lang="en-US" altLang="zh-CN" dirty="0"/>
          </a:p>
          <a:p>
            <a:pPr lvl="1">
              <a:buFontTx/>
              <a:buChar char="-"/>
            </a:pPr>
            <a:r>
              <a:rPr lang="zh-CN" altLang="en-US" dirty="0"/>
              <a:t>机制：多个进程将同一个对象映射到各自的虚拟地址空间，共享物理内存中同一个对象。</a:t>
            </a:r>
            <a:endParaRPr lang="en-US" altLang="zh-CN" dirty="0"/>
          </a:p>
          <a:p>
            <a:pPr lvl="1">
              <a:buFontTx/>
              <a:buChar char="-"/>
            </a:pPr>
            <a:r>
              <a:rPr lang="zh-CN" altLang="en-US" dirty="0"/>
              <a:t>可见性：一个进程对共享对象的写操作，对于其他映射了该对象的进程是可见的，并且会反映到磁盘上的原始文件中。</a:t>
            </a:r>
            <a:endParaRPr lang="en-US" altLang="zh-CN" dirty="0"/>
          </a:p>
          <a:p>
            <a:pPr lvl="1">
              <a:buFontTx/>
              <a:buChar char="-"/>
            </a:pP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4B945F0-411B-2647-B154-F585DB55F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439" y="1961322"/>
            <a:ext cx="3452361" cy="336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013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9C55AE-E0EA-70DB-6B3F-DE8BE26B6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 Mapping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4A8827-AA49-EA85-E0A5-390A4F173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351104" cy="4351338"/>
          </a:xfrm>
        </p:spPr>
        <p:txBody>
          <a:bodyPr/>
          <a:lstStyle/>
          <a:p>
            <a:pPr>
              <a:buFontTx/>
              <a:buChar char="-"/>
            </a:pPr>
            <a:r>
              <a:rPr lang="zh-CN" altLang="en-US" dirty="0"/>
              <a:t>私有对象与写时复制</a:t>
            </a:r>
            <a:endParaRPr lang="en-US" altLang="zh-CN" dirty="0"/>
          </a:p>
          <a:p>
            <a:pPr lvl="1">
              <a:buFontTx/>
              <a:buChar char="-"/>
            </a:pPr>
            <a:r>
              <a:rPr lang="zh-CN" altLang="en-US" dirty="0"/>
              <a:t>机制：物理内存中也先是只保存私有对象的一份副本。两个进程将私有对象映射到各自区域，这些页表项被标记为只读 </a:t>
            </a:r>
            <a:r>
              <a:rPr lang="en-US" altLang="zh-CN" dirty="0"/>
              <a:t>(Read-Only)</a:t>
            </a:r>
            <a:r>
              <a:rPr lang="zh-CN" altLang="en-US" dirty="0"/>
              <a:t>，且区域标记为</a:t>
            </a:r>
            <a:r>
              <a:rPr lang="en-US" altLang="zh-CN" dirty="0"/>
              <a:t>Private Copy-on-Write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>
              <a:buFontTx/>
              <a:buChar char="-"/>
            </a:pPr>
            <a:r>
              <a:rPr lang="zh-CN" altLang="en-US" dirty="0"/>
              <a:t>写操作：触发保护故障，内核故障处理程序在物理内存中创建该页面的新副本，更新页表指向该副本，并恢复可写权限。</a:t>
            </a:r>
            <a:endParaRPr lang="en-US" altLang="zh-CN" dirty="0"/>
          </a:p>
          <a:p>
            <a:pPr lvl="1">
              <a:buFontTx/>
              <a:buChar char="-"/>
            </a:pPr>
            <a:r>
              <a:rPr lang="zh-CN" altLang="en-US" dirty="0"/>
              <a:t>优点：</a:t>
            </a:r>
            <a:r>
              <a:rPr lang="en-US" altLang="zh-CN" dirty="0"/>
              <a:t>lazy</a:t>
            </a:r>
            <a:r>
              <a:rPr lang="zh-CN" altLang="en-US" dirty="0"/>
              <a:t>，充分利用稀缺的物理内存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5BBC61F-D87A-70B6-F55C-C331BBA35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3730" y="1878634"/>
            <a:ext cx="5055459" cy="410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164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73E631-28C6-CE13-C64A-CEDAEAF5B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 Mapping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A59A9D-7840-660F-3481-1260C5885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/>
              <a:t>对于 </a:t>
            </a:r>
            <a:r>
              <a:rPr lang="en-US" altLang="zh-CN" dirty="0"/>
              <a:t>Virtual Memory</a:t>
            </a:r>
            <a:r>
              <a:rPr lang="zh-CN" altLang="en-US" dirty="0"/>
              <a:t> 部分的复制</a:t>
            </a:r>
            <a:r>
              <a:rPr lang="en-US" altLang="zh-CN" dirty="0"/>
              <a:t>:</a:t>
            </a:r>
          </a:p>
          <a:p>
            <a:pPr>
              <a:buFontTx/>
              <a:buChar char="-"/>
            </a:pPr>
            <a:r>
              <a:rPr lang="en-US" altLang="zh-CN" dirty="0"/>
              <a:t>fork</a:t>
            </a:r>
          </a:p>
          <a:p>
            <a:pPr lvl="1">
              <a:buFontTx/>
              <a:buChar char="-"/>
            </a:pPr>
            <a:r>
              <a:rPr lang="zh-CN" altLang="en-US" dirty="0"/>
              <a:t>创建 </a:t>
            </a:r>
            <a:r>
              <a:rPr lang="en-US" altLang="zh-CN" dirty="0" err="1"/>
              <a:t>mm_struct,vm_area_struct</a:t>
            </a:r>
            <a:r>
              <a:rPr lang="en-US" altLang="zh-CN" dirty="0"/>
              <a:t> </a:t>
            </a:r>
            <a:r>
              <a:rPr lang="zh-CN" altLang="en-US" dirty="0"/>
              <a:t>和页表的副本。并且对应标记 </a:t>
            </a:r>
            <a:r>
              <a:rPr lang="en-US" altLang="zh-CN" dirty="0"/>
              <a:t>COW</a:t>
            </a:r>
            <a:r>
              <a:rPr lang="zh-CN" altLang="en-US" dirty="0"/>
              <a:t>（</a:t>
            </a:r>
            <a:r>
              <a:rPr lang="en-US" altLang="zh-CN" dirty="0"/>
              <a:t>P </a:t>
            </a:r>
            <a:r>
              <a:rPr lang="en-US" altLang="zh-CN" dirty="0" err="1"/>
              <a:t>COW+readonly</a:t>
            </a:r>
            <a:r>
              <a:rPr lang="zh-CN" altLang="en-US" dirty="0"/>
              <a:t>）。</a:t>
            </a:r>
            <a:endParaRPr lang="en-US" altLang="zh-CN" dirty="0"/>
          </a:p>
          <a:p>
            <a:pPr>
              <a:buFontTx/>
              <a:buChar char="-"/>
            </a:pPr>
            <a:r>
              <a:rPr lang="en-US" altLang="zh-CN" dirty="0" err="1"/>
              <a:t>execve</a:t>
            </a:r>
            <a:endParaRPr lang="en-US" altLang="zh-CN" dirty="0"/>
          </a:p>
          <a:p>
            <a:pPr lvl="1">
              <a:buFontTx/>
              <a:buChar char="-"/>
            </a:pPr>
            <a:r>
              <a:rPr lang="zh-CN" altLang="en-US" dirty="0"/>
              <a:t>删除已存在的用户区域</a:t>
            </a:r>
            <a:endParaRPr lang="en-US" altLang="zh-CN" dirty="0"/>
          </a:p>
          <a:p>
            <a:pPr lvl="1">
              <a:buFontTx/>
              <a:buChar char="-"/>
            </a:pPr>
            <a:r>
              <a:rPr lang="zh-CN" altLang="en-US" dirty="0"/>
              <a:t>私有区域</a:t>
            </a:r>
            <a:endParaRPr lang="en-US" altLang="zh-CN" dirty="0"/>
          </a:p>
          <a:p>
            <a:pPr lvl="2">
              <a:buFontTx/>
              <a:buChar char="-"/>
            </a:pPr>
            <a:r>
              <a:rPr lang="en-US" altLang="zh-CN" dirty="0"/>
              <a:t>.</a:t>
            </a:r>
            <a:r>
              <a:rPr lang="en-US" altLang="zh-CN" dirty="0" err="1"/>
              <a:t>text,.data</a:t>
            </a:r>
            <a:r>
              <a:rPr lang="en-US" altLang="zh-CN" dirty="0"/>
              <a:t> </a:t>
            </a:r>
            <a:r>
              <a:rPr lang="zh-CN" altLang="en-US" dirty="0"/>
              <a:t>映射到 </a:t>
            </a:r>
            <a:r>
              <a:rPr lang="en-US" altLang="zh-CN" dirty="0" err="1"/>
              <a:t>a.out</a:t>
            </a:r>
            <a:r>
              <a:rPr lang="en-US" altLang="zh-CN" dirty="0"/>
              <a:t> </a:t>
            </a:r>
            <a:r>
              <a:rPr lang="zh-CN" altLang="en-US" dirty="0"/>
              <a:t>的 </a:t>
            </a:r>
            <a:r>
              <a:rPr lang="en-US" altLang="zh-CN" dirty="0"/>
              <a:t>.text </a:t>
            </a:r>
            <a:r>
              <a:rPr lang="zh-CN" altLang="en-US" dirty="0"/>
              <a:t>和 </a:t>
            </a:r>
            <a:r>
              <a:rPr lang="en-US" altLang="zh-CN" dirty="0"/>
              <a:t>.data </a:t>
            </a:r>
            <a:r>
              <a:rPr lang="zh-CN" altLang="en-US" dirty="0"/>
              <a:t>区</a:t>
            </a:r>
            <a:endParaRPr lang="en-US" altLang="zh-CN" dirty="0"/>
          </a:p>
          <a:p>
            <a:pPr lvl="2">
              <a:buFontTx/>
              <a:buChar char="-"/>
            </a:pPr>
            <a:r>
              <a:rPr lang="zh-CN" altLang="en-US" dirty="0"/>
              <a:t>栈 堆 </a:t>
            </a:r>
            <a:r>
              <a:rPr lang="en-US" altLang="zh-CN" dirty="0"/>
              <a:t>.</a:t>
            </a:r>
            <a:r>
              <a:rPr lang="en-US" altLang="zh-CN" dirty="0" err="1"/>
              <a:t>bss</a:t>
            </a:r>
            <a:r>
              <a:rPr lang="en-US" altLang="zh-CN" dirty="0"/>
              <a:t> </a:t>
            </a:r>
            <a:r>
              <a:rPr lang="zh-CN" altLang="en-US" dirty="0"/>
              <a:t>因为 </a:t>
            </a:r>
            <a:r>
              <a:rPr lang="en-US" altLang="zh-CN" dirty="0"/>
              <a:t>demand-zero </a:t>
            </a:r>
            <a:r>
              <a:rPr lang="zh-CN" altLang="en-US" dirty="0"/>
              <a:t>自然映射到匿名文件</a:t>
            </a:r>
            <a:endParaRPr lang="en-US" altLang="zh-CN" dirty="0"/>
          </a:p>
          <a:p>
            <a:pPr lvl="1">
              <a:buFontTx/>
              <a:buChar char="-"/>
            </a:pPr>
            <a:r>
              <a:rPr lang="zh-CN" altLang="en-US" dirty="0"/>
              <a:t>共享区域</a:t>
            </a:r>
            <a:endParaRPr lang="en-US" altLang="zh-CN" dirty="0"/>
          </a:p>
          <a:p>
            <a:pPr lvl="2">
              <a:buFontTx/>
              <a:buChar char="-"/>
            </a:pPr>
            <a:r>
              <a:rPr lang="zh-CN" altLang="en-US" dirty="0"/>
              <a:t>比如 </a:t>
            </a:r>
            <a:r>
              <a:rPr lang="en-US" altLang="zh-CN" dirty="0"/>
              <a:t>libc.so</a:t>
            </a:r>
            <a:r>
              <a:rPr lang="zh-CN" altLang="en-US" dirty="0"/>
              <a:t>，作为共享区域映射到 </a:t>
            </a:r>
            <a:r>
              <a:rPr lang="en-US" altLang="zh-CN" dirty="0"/>
              <a:t>libc.so </a:t>
            </a:r>
            <a:r>
              <a:rPr lang="zh-CN" altLang="en-US" dirty="0"/>
              <a:t>文件。</a:t>
            </a:r>
          </a:p>
          <a:p>
            <a:pPr marL="457200" lvl="1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44282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E42E21-A704-C681-5DA7-CAD144CEA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用户级接口：</a:t>
            </a:r>
            <a:r>
              <a:rPr lang="en-US" altLang="zh-CN" dirty="0" err="1"/>
              <a:t>mmap</a:t>
            </a:r>
            <a:r>
              <a:rPr lang="en-US" altLang="zh-CN" dirty="0"/>
              <a:t> 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CB8185-DE9D-5322-28E9-3B801E76D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99313" cy="4351338"/>
          </a:xfrm>
        </p:spPr>
        <p:txBody>
          <a:bodyPr>
            <a:normAutofit/>
          </a:bodyPr>
          <a:lstStyle/>
          <a:p>
            <a:r>
              <a:rPr lang="en-US" altLang="zh-CN" dirty="0"/>
              <a:t>void *</a:t>
            </a:r>
            <a:r>
              <a:rPr lang="en-US" altLang="zh-CN" dirty="0" err="1"/>
              <a:t>mmap</a:t>
            </a:r>
            <a:r>
              <a:rPr lang="en-US" altLang="zh-CN" dirty="0"/>
              <a:t>(void *start, </a:t>
            </a:r>
            <a:r>
              <a:rPr lang="en-US" altLang="zh-CN" dirty="0" err="1"/>
              <a:t>size_t</a:t>
            </a:r>
            <a:r>
              <a:rPr lang="en-US" altLang="zh-CN" dirty="0"/>
              <a:t> length, int </a:t>
            </a:r>
            <a:r>
              <a:rPr lang="en-US" altLang="zh-CN" dirty="0" err="1"/>
              <a:t>prot</a:t>
            </a:r>
            <a:r>
              <a:rPr lang="en-US" altLang="zh-CN" dirty="0"/>
              <a:t>, int flags, int </a:t>
            </a:r>
            <a:r>
              <a:rPr lang="en-US" altLang="zh-CN" dirty="0" err="1"/>
              <a:t>fd</a:t>
            </a:r>
            <a:r>
              <a:rPr lang="en-US" altLang="zh-CN" dirty="0"/>
              <a:t>, </a:t>
            </a:r>
            <a:r>
              <a:rPr lang="en-US" altLang="zh-CN" dirty="0" err="1"/>
              <a:t>off_t</a:t>
            </a:r>
            <a:r>
              <a:rPr lang="en-US" altLang="zh-CN" dirty="0"/>
              <a:t> offset);</a:t>
            </a:r>
          </a:p>
          <a:p>
            <a:r>
              <a:rPr lang="en-US" altLang="zh-CN" dirty="0"/>
              <a:t>start</a:t>
            </a:r>
            <a:r>
              <a:rPr lang="zh-CN" altLang="en-US" dirty="0"/>
              <a:t>：建议的起始地址（通常为 </a:t>
            </a:r>
            <a:r>
              <a:rPr lang="en-US" altLang="zh-CN" dirty="0"/>
              <a:t>NULL</a:t>
            </a:r>
            <a:r>
              <a:rPr lang="zh-CN" altLang="en-US" dirty="0"/>
              <a:t>）。</a:t>
            </a:r>
          </a:p>
          <a:p>
            <a:r>
              <a:rPr lang="en-US" altLang="zh-CN" dirty="0" err="1"/>
              <a:t>prot</a:t>
            </a:r>
            <a:r>
              <a:rPr lang="zh-CN" altLang="en-US" dirty="0"/>
              <a:t>：访问权限（</a:t>
            </a:r>
            <a:r>
              <a:rPr lang="en-US" altLang="zh-CN" dirty="0"/>
              <a:t>PROT_READ, PROT_WRITE </a:t>
            </a:r>
            <a:r>
              <a:rPr lang="zh-CN" altLang="en-US" dirty="0"/>
              <a:t>等）。</a:t>
            </a:r>
          </a:p>
          <a:p>
            <a:r>
              <a:rPr lang="en-US" altLang="zh-CN" dirty="0"/>
              <a:t> flags</a:t>
            </a:r>
            <a:r>
              <a:rPr lang="zh-CN" altLang="en-US" dirty="0"/>
              <a:t>：映射类型（</a:t>
            </a:r>
            <a:r>
              <a:rPr lang="en-US" altLang="zh-CN" dirty="0"/>
              <a:t>MAP_PRIVATE </a:t>
            </a:r>
            <a:r>
              <a:rPr lang="zh-CN" altLang="en-US" dirty="0"/>
              <a:t>表示私有</a:t>
            </a:r>
            <a:r>
              <a:rPr lang="en-US" altLang="zh-CN" dirty="0"/>
              <a:t>+COW</a:t>
            </a:r>
            <a:r>
              <a:rPr lang="zh-CN" altLang="en-US" dirty="0"/>
              <a:t>，</a:t>
            </a:r>
            <a:r>
              <a:rPr lang="en-US" altLang="zh-CN" dirty="0"/>
              <a:t>MAP_SHARED</a:t>
            </a:r>
            <a:r>
              <a:rPr lang="zh-CN" altLang="en-US" dirty="0"/>
              <a:t>，</a:t>
            </a:r>
            <a:r>
              <a:rPr lang="en-US" altLang="zh-CN" dirty="0"/>
              <a:t>MAP_ANON </a:t>
            </a:r>
            <a:r>
              <a:rPr lang="zh-CN" altLang="en-US" dirty="0"/>
              <a:t>） 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7748D69-BEF0-274F-0EC0-5723673F4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582" y="1901686"/>
            <a:ext cx="5189496" cy="352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798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708</Words>
  <Application>Microsoft Office PowerPoint</Application>
  <PresentationFormat>宽屏</PresentationFormat>
  <Paragraphs>70</Paragraphs>
  <Slides>15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等线</vt:lpstr>
      <vt:lpstr>等线 Light</vt:lpstr>
      <vt:lpstr>Arial</vt:lpstr>
      <vt:lpstr>Wingdings</vt:lpstr>
      <vt:lpstr>Office 主题​​</vt:lpstr>
      <vt:lpstr>Virtual Memory System</vt:lpstr>
      <vt:lpstr>Contents</vt:lpstr>
      <vt:lpstr>Review</vt:lpstr>
      <vt:lpstr>Many questions</vt:lpstr>
      <vt:lpstr> </vt:lpstr>
      <vt:lpstr>End-to-End Address Translation </vt:lpstr>
      <vt:lpstr>End-to-End Address Translation </vt:lpstr>
      <vt:lpstr>Core i7 </vt:lpstr>
      <vt:lpstr>Core i7 </vt:lpstr>
      <vt:lpstr>PowerPoint 演示文稿</vt:lpstr>
      <vt:lpstr>Memory Mapping</vt:lpstr>
      <vt:lpstr>Memory Mapping</vt:lpstr>
      <vt:lpstr>Memory Mapping</vt:lpstr>
      <vt:lpstr>Memory Mapping</vt:lpstr>
      <vt:lpstr>用户级接口：mmap 函数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sinon Ha</dc:creator>
  <cp:lastModifiedBy>sinon Ha</cp:lastModifiedBy>
  <cp:revision>37</cp:revision>
  <dcterms:created xsi:type="dcterms:W3CDTF">2025-11-30T02:22:09Z</dcterms:created>
  <dcterms:modified xsi:type="dcterms:W3CDTF">2025-12-03T10:31:38Z</dcterms:modified>
</cp:coreProperties>
</file>