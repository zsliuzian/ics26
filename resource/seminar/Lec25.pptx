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8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AA041-5AD3-F643-48F7-5B33585AF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F63414-40FD-599A-E806-6FE4A50B0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A493FE-CFB4-6DD1-78D0-0B44C495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57E9A7-D7FF-844A-E237-17A1E52CF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1D375D-BCB5-433F-8534-71008F78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68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37B1E-51E3-55BA-4944-A7AEE1A8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C922EF-1374-609C-7CAD-1B98573E5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3EBEF8-CAE2-DE7D-455C-A7326957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F62BF-F838-BAC2-EF27-9E3B9355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078B3-0E04-2E2B-51AB-1B5FFEA5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31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9BEC8-4FAB-6CCB-039B-2728073C7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0661E7-5B12-D675-216A-137A32A5B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515C7C-374D-01BB-E8AF-C4EC6738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A34DC5-E3EE-05BA-5A38-AB7C1BECC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E4A9FA-D8F4-4DBC-A134-38288A36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02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075DE-2C13-B151-72C5-99756AF90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2D4113-4DA6-752E-0A4F-EBD4DC616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60CA27-D5DD-7084-7361-100DAF54F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2FD373-A8D9-502C-7F1F-49101D4B3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4C5E3E-AE6C-2B9C-7429-4C9962869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B3F049-62DD-E3F8-3482-4C936307D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489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320F1-4914-954F-08D2-40A6159B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E7B182-5D1A-5CED-E1E1-738DF18FE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22D8CE-1475-96B7-51C6-B4A59470A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C2706E-371C-E879-C810-531F01744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04348D-3C93-4335-9FE7-91D1C6A96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EBC24F-0346-9A49-7ADF-08BE0CDB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DD23B7-F3B0-9B26-8E05-3EF7D41A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523A6F-119A-5C97-BA3D-09C7B39D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078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D7531-E10E-0FE1-66D7-CC568846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EC9036-B01C-6C8D-5B6D-A4ED7780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F07A66-4D9D-3C32-B468-1370A603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60F2F8-FC8C-E8EF-9F09-6B752CD08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25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18EF0A-36F9-F875-C440-323D3812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FABBDD-9357-09EB-C0DD-A11E0931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31C004-A95D-E60E-70BE-CA9CC3B5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43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048FB-3BEA-6F82-EA19-F4C449BF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4CDBB2-9A57-848D-76C3-020E8AA2B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019DBC-2E7D-5CE3-4747-F00B564F5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5B3D26-9A5D-CA18-7B5E-5C9482F6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F48C6A-869A-DA06-94C5-0141EA32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E7C317-C46D-379A-E674-6F3B11A7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93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756BF-EAFE-D638-A6DE-029360CB7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B59FA3-F591-7C6D-731D-D1789EDEA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83ACC2-4C86-5FF0-C8E5-B8821D3FF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420183-45FD-8D32-584D-D210C410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48CE68-9C85-FA03-3AB4-F110C29F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A5A6BF-C9B4-7C45-3929-00F2DFF69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14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02123-F97D-0D42-DCEB-0D404D9DE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416D34-A9EF-A6DB-044D-BBCB15636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3E2123-BBF0-EDAE-A91E-E1D4F6CE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0115CF-14A7-EB56-4058-C9D55291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3616C-FC1A-B40B-10FA-6681B966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51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6CDB82-2424-32D7-8D86-BBB2363EB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0A75B9-EE3C-3035-EB3A-EF9EFCF28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415B8F-B6A0-DAFE-196A-C3242AF7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BD79E-024F-E84D-345B-5945D911F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C6FD61-0348-96E5-D054-2C453497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330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2A202D-68DF-22C9-7826-3067662C2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1EAA34-51CC-8423-4E62-9979D2751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38450A-E55E-EA24-31C3-35F6A79AE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0C1D1-7E9D-45EF-98A7-3929DDEB18F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1C49F5-F6C2-D058-F275-E3FB271BC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8F0F9F-1569-1462-0166-BDD0CEC22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323C3-9A46-4672-B62B-236670B1FD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44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E704F1-2C37-7E77-BC54-A5769C764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Computer networking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5753D8-9E4A-4FEB-1FFB-C2720B0C93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谌小祎</a:t>
            </a:r>
          </a:p>
        </p:txBody>
      </p:sp>
    </p:spTree>
    <p:extLst>
      <p:ext uri="{BB962C8B-B14F-4D97-AF65-F5344CB8AC3E}">
        <p14:creationId xmlns:p14="http://schemas.microsoft.com/office/powerpoint/2010/main" val="2202514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2DF6B-C3FC-CC8D-081F-EB9EDBB67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343484-FD30-FF7A-180E-A98960822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89"/>
          <a:stretch>
            <a:fillRect/>
          </a:stretch>
        </p:blipFill>
        <p:spPr>
          <a:xfrm>
            <a:off x="1500463" y="1621131"/>
            <a:ext cx="8503141" cy="450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33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9E53F-4F99-B3A8-D586-338A1F85E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D3CAE-A29A-04C0-8450-3434E4B5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protocols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ADDC5-47E5-E269-8F73-7EC8E7DE4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278" y="1629304"/>
            <a:ext cx="5671457" cy="3470275"/>
          </a:xfrm>
        </p:spPr>
        <p:txBody>
          <a:bodyPr/>
          <a:lstStyle/>
          <a:p>
            <a:pPr fontAlgn="base"/>
            <a:r>
              <a:rPr lang="zh-CN" altLang="en-US" sz="2400" dirty="0"/>
              <a:t>人类协议：问候、提问、回答</a:t>
            </a:r>
          </a:p>
          <a:p>
            <a:pPr fontAlgn="base"/>
            <a:r>
              <a:rPr lang="zh-CN" altLang="en-US" sz="2400" dirty="0"/>
              <a:t>网络协议：机器间的“对话规则”</a:t>
            </a:r>
            <a:endParaRPr lang="en-US" altLang="zh-CN" sz="2400" dirty="0"/>
          </a:p>
          <a:p>
            <a:pPr lvl="1" fontAlgn="base"/>
            <a:r>
              <a:rPr lang="zh-CN" altLang="en-US" dirty="0"/>
              <a:t>命名机制</a:t>
            </a:r>
            <a:endParaRPr lang="en-US" altLang="zh-CN" dirty="0"/>
          </a:p>
          <a:p>
            <a:pPr lvl="1" fontAlgn="base"/>
            <a:r>
              <a:rPr lang="zh-CN" altLang="en-US" dirty="0"/>
              <a:t>传送机制</a:t>
            </a:r>
          </a:p>
          <a:p>
            <a:pPr fontAlgn="base"/>
            <a:r>
              <a:rPr lang="en-US" altLang="zh-CN" sz="2400" dirty="0"/>
              <a:t>HTTP</a:t>
            </a:r>
            <a:r>
              <a:rPr lang="zh-CN" altLang="en-US" sz="2400" dirty="0"/>
              <a:t>、</a:t>
            </a:r>
            <a:r>
              <a:rPr lang="en-US" altLang="zh-CN" sz="2400" dirty="0"/>
              <a:t>TCP</a:t>
            </a:r>
            <a:r>
              <a:rPr lang="zh-CN" altLang="en-US" sz="2400" dirty="0"/>
              <a:t>、</a:t>
            </a:r>
            <a:r>
              <a:rPr lang="en-US" altLang="zh-CN" sz="2400" dirty="0"/>
              <a:t>IP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WiFi</a:t>
            </a:r>
            <a:r>
              <a:rPr lang="zh-CN" altLang="en-US" sz="2400" dirty="0"/>
              <a:t>、</a:t>
            </a:r>
            <a:r>
              <a:rPr lang="en-US" altLang="zh-CN" sz="2400" dirty="0"/>
              <a:t>4G/5G</a:t>
            </a: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488FA8-4DA2-B1AC-7C90-2E54B197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43" t="17477"/>
          <a:stretch>
            <a:fillRect/>
          </a:stretch>
        </p:blipFill>
        <p:spPr>
          <a:xfrm>
            <a:off x="7310980" y="1828801"/>
            <a:ext cx="4639837" cy="44436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06271DA-9FE1-8E62-66F1-C7C7D8CA1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7" y="3827641"/>
            <a:ext cx="5864678" cy="303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33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8340-E40D-D32D-C383-C6E2091F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44A98-5F91-56B6-8249-10ED5AD1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Internet/internet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0E9FF1-282C-6442-DE36-52F1B196A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internet</a:t>
            </a:r>
            <a:r>
              <a:rPr lang="zh-CN" altLang="en-US" dirty="0"/>
              <a:t>：</a:t>
            </a:r>
            <a:r>
              <a:rPr lang="en-US" altLang="zh-CN" dirty="0"/>
              <a:t>network of networks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全球</a:t>
            </a:r>
            <a:r>
              <a:rPr lang="en-US" altLang="zh-CN" dirty="0"/>
              <a:t>IP</a:t>
            </a:r>
            <a:r>
              <a:rPr lang="zh-CN" altLang="en-US" dirty="0"/>
              <a:t>因特网</a:t>
            </a:r>
            <a:endParaRPr lang="en-US" altLang="zh-CN" dirty="0"/>
          </a:p>
          <a:p>
            <a:pPr lvl="1"/>
            <a:r>
              <a:rPr lang="en-US" altLang="zh-CN" dirty="0"/>
              <a:t>TCP/IP</a:t>
            </a:r>
            <a:r>
              <a:rPr lang="zh-CN" altLang="en-US" dirty="0"/>
              <a:t>协议</a:t>
            </a:r>
            <a:endParaRPr lang="en-US" altLang="zh-CN" dirty="0"/>
          </a:p>
          <a:p>
            <a:pPr lvl="1"/>
            <a:r>
              <a:rPr lang="zh-CN" altLang="en-US" dirty="0"/>
              <a:t>互联网标准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RFC</a:t>
            </a:r>
            <a:r>
              <a:rPr lang="zh-CN" altLang="en-US" dirty="0"/>
              <a:t>、</a:t>
            </a:r>
            <a:r>
              <a:rPr lang="en-US" altLang="zh-CN" dirty="0"/>
              <a:t>IETF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5807FF-1ACA-CA62-A2A6-3FFDBC266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700" y="462643"/>
            <a:ext cx="7266222" cy="9688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EBBEAA-4028-44F8-D027-B50B8857B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11" t="17477" r="-1"/>
          <a:stretch>
            <a:fillRect/>
          </a:stretch>
        </p:blipFill>
        <p:spPr>
          <a:xfrm>
            <a:off x="4038602" y="2389414"/>
            <a:ext cx="8114214" cy="400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2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6CB03-CD36-63D4-7682-EC3DA9C3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421C2-5897-D8EB-46A4-34D406F76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网络组成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68DC3-367C-929E-E851-DA072BDAA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Network edge</a:t>
            </a:r>
          </a:p>
          <a:p>
            <a:pPr lvl="1"/>
            <a:r>
              <a:rPr lang="en-US" altLang="zh-CN" dirty="0"/>
              <a:t>hosts: clients and servers </a:t>
            </a:r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/>
              <a:t>Access networks, physical media</a:t>
            </a:r>
          </a:p>
          <a:p>
            <a:pPr lvl="1"/>
            <a:r>
              <a:rPr lang="zh-CN" altLang="en-US" dirty="0"/>
              <a:t>无线、有线</a:t>
            </a:r>
            <a:endParaRPr lang="en-US" altLang="zh-CN" dirty="0"/>
          </a:p>
          <a:p>
            <a:r>
              <a:rPr lang="en-US" altLang="zh-CN" dirty="0"/>
              <a:t>Network core</a:t>
            </a:r>
          </a:p>
          <a:p>
            <a:pPr lvl="1"/>
            <a:r>
              <a:rPr lang="en-US" altLang="zh-CN" dirty="0"/>
              <a:t>interconnected routers </a:t>
            </a:r>
          </a:p>
          <a:p>
            <a:pPr lvl="1"/>
            <a:r>
              <a:rPr lang="en-US" altLang="zh-CN" dirty="0"/>
              <a:t>network of networks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5A1FBD-EED6-538F-3B2C-A6F69550E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43" b="17938"/>
          <a:stretch>
            <a:fillRect/>
          </a:stretch>
        </p:blipFill>
        <p:spPr>
          <a:xfrm>
            <a:off x="784535" y="2743384"/>
            <a:ext cx="7518773" cy="12026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9EF669-48A5-0AB4-80F0-9DD322955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438" y="39239"/>
            <a:ext cx="2453870" cy="26234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1418B78-55AC-DCE2-3077-C7A491B15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339" y="39239"/>
            <a:ext cx="2867126" cy="308362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3FBBD2B-1ED4-2F20-94D1-17A07A87A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3308" y="3162559"/>
            <a:ext cx="3246451" cy="351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96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046A5-742B-538E-CC04-75360BEE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D4DC1-E295-28CA-E4A2-55E8F35CA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networks </a:t>
            </a:r>
            <a:r>
              <a:rPr lang="zh-CN" altLang="en-US" dirty="0"/>
              <a:t>接入网（有线）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DB6FEA-780C-FEB0-7F10-7F1A478DC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同轴电缆：频分复用（</a:t>
            </a:r>
            <a:r>
              <a:rPr lang="en-US" altLang="zh-CN" sz="2400" dirty="0"/>
              <a:t>FDM</a:t>
            </a:r>
            <a:r>
              <a:rPr lang="zh-CN" altLang="en-US" sz="2400" dirty="0"/>
              <a:t>）、时分复用</a:t>
            </a:r>
            <a:r>
              <a:rPr lang="en-US" altLang="zh-CN" sz="2400" dirty="0"/>
              <a:t>(TDM)</a:t>
            </a:r>
          </a:p>
          <a:p>
            <a:r>
              <a:rPr lang="en-US" altLang="zh-CN" sz="2400" dirty="0"/>
              <a:t>HFC(hybrid fiber coax)</a:t>
            </a:r>
            <a:r>
              <a:rPr lang="zh-CN" altLang="en-US" sz="2400" dirty="0"/>
              <a:t>：有线电视</a:t>
            </a:r>
            <a:endParaRPr lang="en-US" altLang="zh-CN" sz="2400" dirty="0"/>
          </a:p>
          <a:p>
            <a:r>
              <a:rPr lang="en-US" altLang="zh-CN" sz="2400" dirty="0"/>
              <a:t>DSL</a:t>
            </a:r>
            <a:r>
              <a:rPr lang="zh-CN" altLang="en-US" sz="2400" dirty="0"/>
              <a:t>：电话线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FB11D9F-1EC0-C032-DB46-1AE6B098A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508" y="345377"/>
            <a:ext cx="2867126" cy="30836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BFB0943-ABAA-96A8-B3F6-583A948B9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042" y="2167311"/>
            <a:ext cx="2867126" cy="138494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396CA6-8BD9-436C-A6E2-3270BE7B4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22" y="3697680"/>
            <a:ext cx="5409344" cy="247928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B5AACF7-41EE-2E97-1BCB-FAFE326CF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552257"/>
            <a:ext cx="4047453" cy="287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42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1D14-0EE3-ED88-37EF-F41CA614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CF688-2414-5E25-F266-9B2A4063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Access</a:t>
            </a:r>
            <a:r>
              <a:rPr lang="zh-CN" altLang="en-US" dirty="0"/>
              <a:t> </a:t>
            </a:r>
            <a:r>
              <a:rPr lang="en-US" altLang="zh-CN" dirty="0"/>
              <a:t>networks </a:t>
            </a:r>
            <a:r>
              <a:rPr lang="zh-CN" altLang="en-US" dirty="0"/>
              <a:t>接入网（无线）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83A0E2D-6A16-D6CA-99DE-70A90AF5A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508" y="345377"/>
            <a:ext cx="2867126" cy="30836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BB2BF2B-48EE-4A99-1351-B39F343D1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18" y="2327096"/>
            <a:ext cx="9235649" cy="342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96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EB4B5-2F92-2224-46E9-AB41C4572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5529D-8DDC-C1BE-D2F2-A48B70CD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物理媒介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A06115-0347-AAED-7C01-838F937CB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zh-CN" altLang="en-US" sz="2000" dirty="0"/>
              <a:t>双绞线 </a:t>
            </a:r>
            <a:r>
              <a:rPr lang="en-US" altLang="zh-CN" sz="2000" dirty="0"/>
              <a:t>Twisted Pair</a:t>
            </a:r>
            <a:r>
              <a:rPr lang="zh-CN" altLang="en-US" sz="2000" dirty="0"/>
              <a:t>：</a:t>
            </a:r>
            <a:r>
              <a:rPr lang="en-US" altLang="zh-CN" sz="2000" dirty="0"/>
              <a:t>100 Mbps–10 Gbps</a:t>
            </a:r>
          </a:p>
          <a:p>
            <a:pPr fontAlgn="base"/>
            <a:r>
              <a:rPr lang="zh-CN" altLang="en-US" sz="2000" dirty="0"/>
              <a:t>同轴电缆 </a:t>
            </a:r>
            <a:r>
              <a:rPr lang="en-US" altLang="zh-CN" sz="2000" dirty="0"/>
              <a:t>Coax</a:t>
            </a:r>
            <a:r>
              <a:rPr lang="zh-CN" altLang="en-US" sz="2000" dirty="0"/>
              <a:t>：每频道</a:t>
            </a:r>
            <a:r>
              <a:rPr lang="en-US" altLang="zh-CN" sz="2000" dirty="0"/>
              <a:t>100Mbps</a:t>
            </a:r>
            <a:endParaRPr lang="zh-CN" altLang="en-US" sz="2000" dirty="0"/>
          </a:p>
          <a:p>
            <a:pPr fontAlgn="base"/>
            <a:r>
              <a:rPr lang="zh-CN" altLang="en-US" sz="2000" dirty="0"/>
              <a:t>光纤 </a:t>
            </a:r>
            <a:r>
              <a:rPr lang="en-US" altLang="zh-CN" sz="2000" dirty="0"/>
              <a:t>Fiber</a:t>
            </a:r>
            <a:r>
              <a:rPr lang="zh-CN" altLang="en-US" sz="2000" dirty="0"/>
              <a:t>：</a:t>
            </a:r>
            <a:r>
              <a:rPr lang="en-US" altLang="zh-CN" sz="2000" dirty="0"/>
              <a:t>10–100 Gbps</a:t>
            </a:r>
            <a:r>
              <a:rPr lang="zh-CN" altLang="en-US" sz="2000" dirty="0"/>
              <a:t>，低误码</a:t>
            </a:r>
          </a:p>
          <a:p>
            <a:pPr fontAlgn="base"/>
            <a:r>
              <a:rPr lang="zh-CN" altLang="en-US" sz="2000" dirty="0"/>
              <a:t>无线电 </a:t>
            </a:r>
            <a:r>
              <a:rPr lang="en-US" altLang="zh-CN" sz="2000" dirty="0"/>
              <a:t>Radio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WiFi</a:t>
            </a:r>
            <a:r>
              <a:rPr lang="zh-CN" altLang="en-US" sz="2000" dirty="0"/>
              <a:t>、</a:t>
            </a:r>
            <a:r>
              <a:rPr lang="en-US" altLang="zh-CN" sz="2000" dirty="0"/>
              <a:t>4G</a:t>
            </a:r>
            <a:r>
              <a:rPr lang="zh-CN" altLang="en-US" sz="2000" dirty="0"/>
              <a:t>、蓝牙、卫星</a:t>
            </a:r>
          </a:p>
          <a:p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A96DC6-4238-7C3A-FC7A-8002532B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158" y="510006"/>
            <a:ext cx="2917566" cy="1647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AB2BF9-7B20-E713-AC37-CBA786A63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724" y="126824"/>
            <a:ext cx="3220928" cy="250100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95EEC29-8C5A-0AAA-77BC-8042C517C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454" y="2887129"/>
            <a:ext cx="5881955" cy="28462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D702B7F-A7C3-EDC9-A3F4-39EA6C26A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285" y="3429000"/>
            <a:ext cx="3311292" cy="322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03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8A38C-B13C-3CED-31FA-6B058A93C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security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EEE46F-61E2-1ED6-09A2-15160E30D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5982" cy="1754919"/>
          </a:xfrm>
        </p:spPr>
        <p:txBody>
          <a:bodyPr/>
          <a:lstStyle/>
          <a:p>
            <a:r>
              <a:rPr lang="zh-CN" altLang="en-US" sz="2000" dirty="0"/>
              <a:t>恶意软件通过病毒、蠕虫、木马进入网络主机</a:t>
            </a:r>
            <a:endParaRPr lang="en-US" altLang="zh-CN" sz="2000" dirty="0"/>
          </a:p>
          <a:p>
            <a:r>
              <a:rPr lang="zh-CN" altLang="en-US" sz="2000" dirty="0"/>
              <a:t>被感染的主机成为僵尸主机</a:t>
            </a:r>
            <a:endParaRPr lang="en-US" altLang="zh-CN" sz="2000" dirty="0"/>
          </a:p>
          <a:p>
            <a:r>
              <a:rPr lang="zh-CN" altLang="en-US" sz="2000" dirty="0"/>
              <a:t>恶意软件能自我复制，寻找机会从被感染主机入侵其它主机</a:t>
            </a:r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2E3682-A42B-0A36-6D2D-2ED62BD45481}"/>
              </a:ext>
            </a:extLst>
          </p:cNvPr>
          <p:cNvSpPr txBox="1">
            <a:spLocks/>
          </p:cNvSpPr>
          <p:nvPr/>
        </p:nvSpPr>
        <p:spPr>
          <a:xfrm>
            <a:off x="715713" y="3785061"/>
            <a:ext cx="7942780" cy="2563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Packet</a:t>
            </a:r>
            <a:r>
              <a:rPr lang="zh-CN" altLang="en-US" sz="2400" dirty="0"/>
              <a:t> </a:t>
            </a:r>
            <a:r>
              <a:rPr lang="en-US" altLang="zh-CN" sz="2400" dirty="0"/>
              <a:t>sniffing</a:t>
            </a:r>
          </a:p>
          <a:p>
            <a:r>
              <a:rPr lang="en-US" altLang="zh-CN" sz="2400" dirty="0"/>
              <a:t>IP</a:t>
            </a:r>
            <a:r>
              <a:rPr lang="zh-CN" altLang="en-US" sz="2400" dirty="0"/>
              <a:t> </a:t>
            </a:r>
            <a:r>
              <a:rPr lang="en-US" altLang="zh-CN" sz="2400" dirty="0"/>
              <a:t>spoofing</a:t>
            </a:r>
          </a:p>
          <a:p>
            <a:r>
              <a:rPr lang="en-US" altLang="zh-CN" sz="2400" dirty="0"/>
              <a:t>Dos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0B291D4-0039-1517-79BE-A895E1F4B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373" y="638896"/>
            <a:ext cx="5214240" cy="23369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8896A3-6C5C-AC56-EF7D-4649BFEB5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846" y="3047343"/>
            <a:ext cx="4911154" cy="188472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25706CF-B4E8-C406-3567-919A911A2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659" y="3715481"/>
            <a:ext cx="5095982" cy="279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10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6E74D7-3A86-5156-7FC0-71579A45B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保密性</a:t>
            </a:r>
            <a:endParaRPr lang="en-US" altLang="zh-CN" dirty="0"/>
          </a:p>
          <a:p>
            <a:r>
              <a:rPr lang="zh-CN" altLang="en-US" dirty="0"/>
              <a:t>身份认证</a:t>
            </a:r>
            <a:endParaRPr lang="en-US" altLang="zh-CN" dirty="0"/>
          </a:p>
          <a:p>
            <a:r>
              <a:rPr lang="zh-CN" altLang="en-US" dirty="0"/>
              <a:t>信息完整性</a:t>
            </a:r>
            <a:endParaRPr lang="en-US" altLang="zh-CN" dirty="0"/>
          </a:p>
          <a:p>
            <a:r>
              <a:rPr lang="zh-CN" altLang="en-US" dirty="0"/>
              <a:t>访问和可用性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F2C14C3-5651-2C4F-89FA-CBBEF0D18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725" y="1825625"/>
            <a:ext cx="7005253" cy="3858861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D5B4EBC0-27DF-9AE5-E029-34DA7A77B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Network security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618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0494A-372A-F39C-B099-868FAEECF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2D8D0-2124-A0F0-D295-E0A55CFD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互联网分层协议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01C213-FCB8-B79D-19EE-322BCA6BC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78952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明确的结构便于识别系统各部分及其关系 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模块化便于系统的维护和更新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A5939C-AF75-8B25-16E9-C7B0DF13A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152" y="1682019"/>
            <a:ext cx="7540799" cy="44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24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4278-762A-577B-CBFB-34C420C6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E6FEA-4901-FC13-2E08-2095F2D5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互联网分层协议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7D5AEE-4E7E-1B49-C5C3-0DE5DCE26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78952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层层封装：</a:t>
            </a:r>
            <a:endParaRPr lang="en-US" altLang="zh-CN" sz="2400" dirty="0"/>
          </a:p>
          <a:p>
            <a:pPr lvl="1"/>
            <a:r>
              <a:rPr lang="zh-CN" altLang="en-US" sz="2000" dirty="0"/>
              <a:t>包头</a:t>
            </a:r>
            <a:r>
              <a:rPr lang="en-US" altLang="zh-CN" sz="2000" dirty="0"/>
              <a:t>+</a:t>
            </a:r>
            <a:r>
              <a:rPr lang="zh-CN" altLang="en-US" sz="2000" dirty="0"/>
              <a:t>有效载荷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A8BBE72-D6C6-8844-C938-92A76601A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115" y="1978364"/>
            <a:ext cx="7542088" cy="391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1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ACF30-6E7B-C8FB-15F8-1EB81A66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54FDA-4605-358B-CDB0-725CA003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互联网分层协议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59AA43-579C-767C-6251-373334FE5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78952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层层封装：</a:t>
            </a:r>
            <a:endParaRPr lang="en-US" altLang="zh-CN" sz="2400" dirty="0"/>
          </a:p>
          <a:p>
            <a:pPr lvl="1"/>
            <a:r>
              <a:rPr lang="zh-CN" altLang="en-US" sz="2000" dirty="0"/>
              <a:t>包头</a:t>
            </a:r>
            <a:r>
              <a:rPr lang="en-US" altLang="zh-CN" sz="2000" dirty="0"/>
              <a:t>+</a:t>
            </a:r>
            <a:r>
              <a:rPr lang="zh-CN" altLang="en-US" sz="2000" dirty="0"/>
              <a:t>有效载荷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712F65-C1B1-3D76-080D-93FB8051C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115" y="1978364"/>
            <a:ext cx="7542088" cy="39182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F1DB003-4564-C43B-719A-DB4B543C6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718" y="2558750"/>
            <a:ext cx="7150813" cy="406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09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8A25D-AA84-C431-85BF-83E54A9C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Wireless and Mobile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00F819-E0BD-9402-7675-4FFA08212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wireless: </a:t>
            </a:r>
            <a:r>
              <a:rPr lang="en-US" altLang="zh-CN" dirty="0" err="1"/>
              <a:t>communica</a:t>
            </a:r>
            <a:r>
              <a:rPr lang="en-US" altLang="zh-CN" dirty="0"/>
              <a:t> on over wireless link </a:t>
            </a:r>
          </a:p>
          <a:p>
            <a:r>
              <a:rPr lang="en-US" altLang="zh-CN" dirty="0"/>
              <a:t>mobility: handling the mobile user who changes point of a </a:t>
            </a:r>
            <a:r>
              <a:rPr lang="en-US" altLang="zh-CN" dirty="0" err="1"/>
              <a:t>achment</a:t>
            </a:r>
            <a:r>
              <a:rPr lang="en-US" altLang="zh-CN" dirty="0"/>
              <a:t> to network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6343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00EE1-C7E1-E663-7091-FDD0004A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83F0B2-32D3-CC86-C2DE-E5BA0692B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Wireless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C546DD-979E-4ED6-6052-3191F380E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263638-2B2C-F142-F178-69ACE872D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28" y="1602767"/>
            <a:ext cx="5190094" cy="44435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D8DD69B-7F37-BC86-71FC-BB5BD1B53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536" y="96458"/>
            <a:ext cx="5456514" cy="18405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1228321-0E77-6172-0189-CF169521F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044" y="1866616"/>
            <a:ext cx="4764310" cy="21903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465547D-93E0-C0CA-C02E-BD441E868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6044" y="4056988"/>
            <a:ext cx="4768616" cy="217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87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5D04F-9A6D-D9C9-CA05-0A80A3D84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9D0FA-1A8C-D2A4-A1A4-2A4A2612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Wireless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91643B4-FECC-EC48-F3DA-1EDBFABC1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57" y="1748569"/>
            <a:ext cx="8137326" cy="4351338"/>
          </a:xfrm>
        </p:spPr>
      </p:pic>
    </p:spTree>
    <p:extLst>
      <p:ext uri="{BB962C8B-B14F-4D97-AF65-F5344CB8AC3E}">
        <p14:creationId xmlns:p14="http://schemas.microsoft.com/office/powerpoint/2010/main" val="1522871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29A3-1D83-654F-B9AE-BC7A46AD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6BFD3-462E-E2E8-6D35-BBC2B8427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Mobile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46A25BF-F39D-A39C-897C-2ECB7FDBF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351" y="1830762"/>
            <a:ext cx="80704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94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73613-2A49-EBDF-E0AA-DDD4E02D8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050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thanks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3416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271</Words>
  <Application>Microsoft Office PowerPoint</Application>
  <PresentationFormat>宽屏</PresentationFormat>
  <Paragraphs>67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等线 Light</vt:lpstr>
      <vt:lpstr>Arial</vt:lpstr>
      <vt:lpstr>Office 主题​​</vt:lpstr>
      <vt:lpstr>Computer networking</vt:lpstr>
      <vt:lpstr>network</vt:lpstr>
      <vt:lpstr>protocols</vt:lpstr>
      <vt:lpstr>Internet/internet</vt:lpstr>
      <vt:lpstr>网络组成</vt:lpstr>
      <vt:lpstr>Access networks 接入网（有线）</vt:lpstr>
      <vt:lpstr>Access networks 接入网（无线）</vt:lpstr>
      <vt:lpstr>物理媒介</vt:lpstr>
      <vt:lpstr>Network security</vt:lpstr>
      <vt:lpstr>Network security</vt:lpstr>
      <vt:lpstr>互联网分层协议</vt:lpstr>
      <vt:lpstr>互联网分层协议</vt:lpstr>
      <vt:lpstr>互联网分层协议</vt:lpstr>
      <vt:lpstr>Wireless and Mobile </vt:lpstr>
      <vt:lpstr>Wireless</vt:lpstr>
      <vt:lpstr>Wireless</vt:lpstr>
      <vt:lpstr>Mobile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Xiaoyi Chen</dc:creator>
  <cp:lastModifiedBy>Xiaoyi Chen</cp:lastModifiedBy>
  <cp:revision>27</cp:revision>
  <dcterms:created xsi:type="dcterms:W3CDTF">2025-12-10T07:15:48Z</dcterms:created>
  <dcterms:modified xsi:type="dcterms:W3CDTF">2025-12-10T10:48:22Z</dcterms:modified>
</cp:coreProperties>
</file>