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421" r:id="rId2"/>
    <p:sldId id="2223" r:id="rId3"/>
    <p:sldId id="2225" r:id="rId4"/>
    <p:sldId id="2229" r:id="rId5"/>
    <p:sldId id="2237" r:id="rId6"/>
    <p:sldId id="2234" r:id="rId7"/>
    <p:sldId id="2235" r:id="rId8"/>
    <p:sldId id="2238" r:id="rId9"/>
    <p:sldId id="2239" r:id="rId10"/>
    <p:sldId id="2230" r:id="rId11"/>
    <p:sldId id="2240" r:id="rId12"/>
    <p:sldId id="2241" r:id="rId13"/>
    <p:sldId id="2236" r:id="rId14"/>
    <p:sldId id="2226" r:id="rId15"/>
    <p:sldId id="2242" r:id="rId16"/>
    <p:sldId id="2246" r:id="rId17"/>
    <p:sldId id="2245" r:id="rId18"/>
    <p:sldId id="2244" r:id="rId19"/>
    <p:sldId id="221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F2EF"/>
    <a:srgbClr val="3948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43" autoAdjust="0"/>
    <p:restoredTop sz="94660"/>
  </p:normalViewPr>
  <p:slideViewPr>
    <p:cSldViewPr snapToGrid="0">
      <p:cViewPr>
        <p:scale>
          <a:sx n="83" d="100"/>
          <a:sy n="83" d="100"/>
        </p:scale>
        <p:origin x="604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BC2E7E-B6BA-491A-A083-7D5EF2C23E50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C276DC-69C8-4C8F-B029-FD56DA17391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稻壳儿_刀客儿出品_1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FADC5-32C4-47EC-A33A-D1E902F83B0B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8C86D-767C-4F78-904C-938BEC26E0B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稻壳儿_刀客儿出品_2" userDrawn="1">
  <p:cSld name="Left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D2D5B-3EED-41BA-94D9-90B1F1B196BA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B17AC-5819-47CE-B884-001938CF9DB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92000" cy="6858635"/>
          </a:xfrm>
          <a:prstGeom prst="rect">
            <a:avLst/>
          </a:prstGeom>
          <a:solidFill>
            <a:srgbClr val="F6F2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1FADC5-32C4-47EC-A33A-D1E902F83B0B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38C86D-767C-4F78-904C-938BEC26E0B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9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稻壳儿_刀客儿出品_2"/>
          <p:cNvSpPr txBox="1"/>
          <p:nvPr/>
        </p:nvSpPr>
        <p:spPr>
          <a:xfrm>
            <a:off x="1241201" y="2475865"/>
            <a:ext cx="97095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dirty="0">
                <a:solidFill>
                  <a:srgbClr val="39484D"/>
                </a:solidFill>
                <a:latin typeface="Brock Script" panose="02000507020000020002" charset="0"/>
                <a:ea typeface="+mj-ea"/>
                <a:cs typeface="Brock Script" panose="02000507020000020002" charset="0"/>
              </a:rPr>
              <a:t>Concurrent Programming</a:t>
            </a:r>
            <a:endParaRPr lang="en-US" sz="7200" dirty="0">
              <a:solidFill>
                <a:srgbClr val="39484D"/>
              </a:solidFill>
              <a:latin typeface="Brock Script" panose="02000507020000020002" charset="0"/>
              <a:ea typeface="+mj-ea"/>
              <a:cs typeface="Brock Script" panose="02000507020000020002" charset="0"/>
            </a:endParaRPr>
          </a:p>
        </p:txBody>
      </p:sp>
      <p:sp>
        <p:nvSpPr>
          <p:cNvPr id="13" name="稻壳儿_刀客儿出品_4"/>
          <p:cNvSpPr txBox="1"/>
          <p:nvPr/>
        </p:nvSpPr>
        <p:spPr>
          <a:xfrm>
            <a:off x="3509010" y="4091940"/>
            <a:ext cx="5174615" cy="4311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000" dirty="0">
                <a:solidFill>
                  <a:srgbClr val="39484D"/>
                </a:solidFill>
              </a:rPr>
              <a:t>袁佳逸 </a:t>
            </a:r>
            <a:r>
              <a:rPr lang="en-US" altLang="zh-CN" sz="2000" dirty="0">
                <a:solidFill>
                  <a:srgbClr val="39484D"/>
                </a:solidFill>
              </a:rPr>
              <a:t>20251224</a:t>
            </a:r>
            <a:endParaRPr lang="en-US" sz="2000" dirty="0">
              <a:solidFill>
                <a:srgbClr val="39484D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448B9D6-F893-DD8B-3096-F56A8F83F1B2}"/>
              </a:ext>
            </a:extLst>
          </p:cNvPr>
          <p:cNvSpPr txBox="1"/>
          <p:nvPr/>
        </p:nvSpPr>
        <p:spPr>
          <a:xfrm>
            <a:off x="741218" y="775946"/>
            <a:ext cx="22204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/>
              <a:t>Contents</a:t>
            </a:r>
            <a:endParaRPr lang="zh-CN" altLang="en-US" sz="36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3268068-69EA-4A2E-270B-E553F1A5B9CD}"/>
              </a:ext>
            </a:extLst>
          </p:cNvPr>
          <p:cNvSpPr txBox="1"/>
          <p:nvPr/>
        </p:nvSpPr>
        <p:spPr>
          <a:xfrm>
            <a:off x="741218" y="1678585"/>
            <a:ext cx="8430491" cy="3242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sz="2800" dirty="0"/>
              <a:t>Why Concurrent Programming?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sz="2800" dirty="0"/>
              <a:t>Approach #1: Process-based Servers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sz="2800" dirty="0"/>
              <a:t>Approach #2: Event-based Servers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sz="2800" dirty="0"/>
              <a:t>Approach #3: Thread-based Servers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sz="2800" dirty="0"/>
              <a:t>Summary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474159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E34B527-2B19-EE3E-31B9-70DEF5E8AB89}"/>
              </a:ext>
            </a:extLst>
          </p:cNvPr>
          <p:cNvSpPr txBox="1"/>
          <p:nvPr/>
        </p:nvSpPr>
        <p:spPr>
          <a:xfrm>
            <a:off x="741218" y="775946"/>
            <a:ext cx="47580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/>
              <a:t>Iterative Echo Server</a:t>
            </a:r>
            <a:endParaRPr lang="zh-CN" altLang="en-US" sz="36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DBC9C5B-DA3C-7CD4-1CD6-EE6629DD6E93}"/>
              </a:ext>
            </a:extLst>
          </p:cNvPr>
          <p:cNvSpPr txBox="1"/>
          <p:nvPr/>
        </p:nvSpPr>
        <p:spPr>
          <a:xfrm>
            <a:off x="8585164" y="1902378"/>
            <a:ext cx="3233929" cy="44600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一次只能处理一个请求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问题：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一个客户端不释放使后续客户端被无限期阻塞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解决方案：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使用并发服务器</a:t>
            </a:r>
            <a:endParaRPr lang="en-US" altLang="zh-CN" sz="24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C248439-C463-39C0-A3BC-6A78EE0E8B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907" y="1849492"/>
            <a:ext cx="7895928" cy="456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697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A68D5-A06D-7E84-EB4C-C61CF7662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31F0636-C78D-53DC-9FA4-AE2288E693CF}"/>
              </a:ext>
            </a:extLst>
          </p:cNvPr>
          <p:cNvSpPr txBox="1"/>
          <p:nvPr/>
        </p:nvSpPr>
        <p:spPr>
          <a:xfrm>
            <a:off x="741218" y="775946"/>
            <a:ext cx="97786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/>
              <a:t>Classical Problems of Concurrent Programs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FDFC27D-309E-844C-BF42-645A696AA35A}"/>
              </a:ext>
            </a:extLst>
          </p:cNvPr>
          <p:cNvSpPr txBox="1"/>
          <p:nvPr/>
        </p:nvSpPr>
        <p:spPr>
          <a:xfrm>
            <a:off x="741217" y="1773381"/>
            <a:ext cx="8195313" cy="33520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400" dirty="0"/>
              <a:t>竞争</a:t>
            </a:r>
            <a:r>
              <a:rPr lang="en-US" altLang="zh-CN" sz="2400" dirty="0"/>
              <a:t>Races</a:t>
            </a:r>
          </a:p>
          <a:p>
            <a:pPr lvl="1">
              <a:lnSpc>
                <a:spcPct val="150000"/>
              </a:lnSpc>
            </a:pPr>
            <a:r>
              <a:rPr lang="zh-CN" altLang="en-US" sz="2400" dirty="0"/>
              <a:t>结果取决于不可预测的调度顺序</a:t>
            </a:r>
            <a:endParaRPr lang="en-US" altLang="zh-CN" sz="2400" dirty="0"/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400" dirty="0"/>
              <a:t>死锁</a:t>
            </a:r>
            <a:r>
              <a:rPr lang="en-US" altLang="zh-CN" sz="2400" dirty="0"/>
              <a:t>Deadlock</a:t>
            </a:r>
          </a:p>
          <a:p>
            <a:pPr lvl="1">
              <a:lnSpc>
                <a:spcPct val="150000"/>
              </a:lnSpc>
            </a:pPr>
            <a:r>
              <a:rPr lang="zh-CN" altLang="en-US" sz="2400" dirty="0"/>
              <a:t>多个任务因互相等待资源而停滞</a:t>
            </a:r>
            <a:endParaRPr lang="en-US" altLang="zh-CN" sz="2400" dirty="0"/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400" dirty="0"/>
              <a:t>活锁</a:t>
            </a:r>
            <a:r>
              <a:rPr lang="en-US" altLang="zh-CN" sz="2400" dirty="0" err="1"/>
              <a:t>Livelock</a:t>
            </a:r>
            <a:r>
              <a:rPr lang="en-US" altLang="zh-CN" sz="2400" dirty="0"/>
              <a:t> / </a:t>
            </a:r>
            <a:r>
              <a:rPr lang="zh-CN" altLang="en-US" sz="2400" dirty="0"/>
              <a:t>饥饿</a:t>
            </a:r>
            <a:r>
              <a:rPr lang="en-US" altLang="zh-CN" sz="2400" dirty="0"/>
              <a:t>Starvation</a:t>
            </a:r>
          </a:p>
          <a:p>
            <a:pPr lvl="1">
              <a:lnSpc>
                <a:spcPct val="150000"/>
              </a:lnSpc>
            </a:pPr>
            <a:r>
              <a:rPr lang="zh-CN" altLang="en-US" sz="2400" dirty="0"/>
              <a:t>系统在运行但无进展，或部分任务永远得不到调度</a:t>
            </a:r>
            <a:endParaRPr lang="en-US" altLang="zh-CN" sz="24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FC763E5-72F0-E13C-6364-FE3FAE3B02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7329" y="3203404"/>
            <a:ext cx="3324746" cy="156776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F1C3B80-5017-3A81-D94E-4C31EA4173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462" y="2011585"/>
            <a:ext cx="6121613" cy="1191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254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2A92E-A601-9ED0-4BE8-8C8346C21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E470B83-F734-BB0D-FF3B-76C5B722D04F}"/>
              </a:ext>
            </a:extLst>
          </p:cNvPr>
          <p:cNvSpPr txBox="1"/>
          <p:nvPr/>
        </p:nvSpPr>
        <p:spPr>
          <a:xfrm>
            <a:off x="741218" y="775946"/>
            <a:ext cx="29722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/>
              <a:t>Approaches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03A1844-BBCE-315C-5E45-AA0D20AEBDF5}"/>
              </a:ext>
            </a:extLst>
          </p:cNvPr>
          <p:cNvSpPr txBox="1"/>
          <p:nvPr/>
        </p:nvSpPr>
        <p:spPr>
          <a:xfrm>
            <a:off x="736513" y="1634882"/>
            <a:ext cx="8504251" cy="33461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400" dirty="0"/>
              <a:t>基于进程</a:t>
            </a:r>
            <a:r>
              <a:rPr lang="en-US" altLang="zh-CN" sz="2400" dirty="0"/>
              <a:t>Process-based</a:t>
            </a:r>
          </a:p>
          <a:p>
            <a:pPr lvl="1">
              <a:lnSpc>
                <a:spcPct val="150000"/>
              </a:lnSpc>
            </a:pPr>
            <a:r>
              <a:rPr lang="zh-CN" altLang="en-US" sz="2400" dirty="0"/>
              <a:t>内核调度，每个流有独立的虚拟地址空间 </a:t>
            </a:r>
            <a:endParaRPr lang="en-US" altLang="zh-CN" sz="2400" dirty="0"/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400" dirty="0"/>
              <a:t>基于事件</a:t>
            </a:r>
            <a:r>
              <a:rPr lang="en-US" altLang="zh-CN" sz="2400" dirty="0"/>
              <a:t>Event-based</a:t>
            </a:r>
          </a:p>
          <a:p>
            <a:pPr lvl="1">
              <a:lnSpc>
                <a:spcPct val="150000"/>
              </a:lnSpc>
            </a:pPr>
            <a:r>
              <a:rPr lang="zh-CN" altLang="en-US" sz="2400" dirty="0"/>
              <a:t>程序员手动交替逻辑流，共享地址空间，基于</a:t>
            </a:r>
            <a:r>
              <a:rPr lang="en-US" altLang="zh-CN" sz="2400" dirty="0"/>
              <a:t>I/O</a:t>
            </a:r>
            <a:r>
              <a:rPr lang="zh-CN" altLang="en-US" sz="2400" dirty="0"/>
              <a:t>多路复用</a:t>
            </a:r>
            <a:endParaRPr lang="en-US" altLang="zh-CN" sz="2400" dirty="0"/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400" dirty="0"/>
              <a:t>基于线程</a:t>
            </a:r>
            <a:r>
              <a:rPr lang="en-US" altLang="zh-CN" sz="2400" dirty="0"/>
              <a:t>Thread-based</a:t>
            </a:r>
          </a:p>
          <a:p>
            <a:pPr lvl="1">
              <a:lnSpc>
                <a:spcPct val="150000"/>
              </a:lnSpc>
            </a:pPr>
            <a:r>
              <a:rPr lang="zh-CN" altLang="en-US" sz="2400" dirty="0"/>
              <a:t>混合模式，由内核调度，共享地址空间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597459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9EC25-8A66-38B8-3C12-1B1D82DCC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8683458-DF60-5724-8B15-36E3AA2B1C24}"/>
              </a:ext>
            </a:extLst>
          </p:cNvPr>
          <p:cNvSpPr txBox="1"/>
          <p:nvPr/>
        </p:nvSpPr>
        <p:spPr>
          <a:xfrm>
            <a:off x="741218" y="775946"/>
            <a:ext cx="69541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/>
              <a:t>基于进程</a:t>
            </a:r>
            <a:r>
              <a:rPr lang="en-US" altLang="zh-CN" sz="3600" dirty="0"/>
              <a:t>Process-based Servers</a:t>
            </a:r>
            <a:endParaRPr lang="zh-CN" altLang="en-US" sz="36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B33F11D-DAFB-DFBE-7E3A-DA0B449D790C}"/>
              </a:ext>
            </a:extLst>
          </p:cNvPr>
          <p:cNvSpPr txBox="1"/>
          <p:nvPr/>
        </p:nvSpPr>
        <p:spPr>
          <a:xfrm>
            <a:off x="741218" y="1686790"/>
            <a:ext cx="3692469" cy="44600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在父进程中接受客户端连接请求，创建一个新的子进程来为每个新客户端提供服务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父子进程共享文件描述符，父进程关闭连接描述符，子进程关闭监听描述符</a:t>
            </a:r>
            <a:endParaRPr lang="en-US" altLang="zh-CN" sz="24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B84A6A0-E374-9E5A-B7CF-91DC492F59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6133" y="1525736"/>
            <a:ext cx="7191458" cy="220792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EE5B4DE-D9A7-E890-ADB0-F7D340B8559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6133" y="3733662"/>
            <a:ext cx="7191458" cy="2824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6791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96B30-A5CE-B909-84E7-7FBBE1D3D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3B4D18B-E9FF-E574-DCCB-A173D0DC9473}"/>
              </a:ext>
            </a:extLst>
          </p:cNvPr>
          <p:cNvSpPr txBox="1"/>
          <p:nvPr/>
        </p:nvSpPr>
        <p:spPr>
          <a:xfrm>
            <a:off x="741218" y="775946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/>
              <a:t>编程实现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FCD3A0E-99B8-08F5-36A3-12457781B565}"/>
              </a:ext>
            </a:extLst>
          </p:cNvPr>
          <p:cNvSpPr txBox="1"/>
          <p:nvPr/>
        </p:nvSpPr>
        <p:spPr>
          <a:xfrm>
            <a:off x="3897290" y="151179"/>
            <a:ext cx="8294710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sz="1200" dirty="0">
                <a:latin typeface="Consolas" panose="020B0609020204030204" pitchFamily="49" charset="0"/>
              </a:rPr>
              <a:t>#include "</a:t>
            </a:r>
            <a:r>
              <a:rPr lang="en-GB" altLang="zh-CN" sz="1200" dirty="0" err="1">
                <a:latin typeface="Consolas" panose="020B0609020204030204" pitchFamily="49" charset="0"/>
              </a:rPr>
              <a:t>csapp.h</a:t>
            </a:r>
            <a:r>
              <a:rPr lang="en-GB" altLang="zh-CN" sz="1200" dirty="0">
                <a:latin typeface="Consolas" panose="020B0609020204030204" pitchFamily="49" charset="0"/>
              </a:rPr>
              <a:t>"</a:t>
            </a:r>
          </a:p>
          <a:p>
            <a:r>
              <a:rPr lang="en-GB" altLang="zh-CN" sz="1200" dirty="0">
                <a:latin typeface="Consolas" panose="020B0609020204030204" pitchFamily="49" charset="0"/>
              </a:rPr>
              <a:t>void echo(int </a:t>
            </a:r>
            <a:r>
              <a:rPr lang="en-GB" altLang="zh-CN" sz="1200" dirty="0" err="1">
                <a:latin typeface="Consolas" panose="020B0609020204030204" pitchFamily="49" charset="0"/>
              </a:rPr>
              <a:t>connfd</a:t>
            </a:r>
            <a:r>
              <a:rPr lang="en-GB" altLang="zh-CN" sz="1200" dirty="0">
                <a:latin typeface="Consolas" panose="020B0609020204030204" pitchFamily="49" charset="0"/>
              </a:rPr>
              <a:t>);</a:t>
            </a:r>
          </a:p>
          <a:p>
            <a:endParaRPr lang="en-GB" altLang="zh-CN" sz="1200" dirty="0">
              <a:latin typeface="Consolas" panose="020B0609020204030204" pitchFamily="49" charset="0"/>
            </a:endParaRPr>
          </a:p>
          <a:p>
            <a:r>
              <a:rPr lang="en-GB" altLang="zh-CN" sz="1200" dirty="0">
                <a:latin typeface="Consolas" panose="020B0609020204030204" pitchFamily="49" charset="0"/>
              </a:rPr>
              <a:t>void </a:t>
            </a:r>
            <a:r>
              <a:rPr lang="en-GB" altLang="zh-CN" sz="1200" dirty="0" err="1">
                <a:latin typeface="Consolas" panose="020B0609020204030204" pitchFamily="49" charset="0"/>
              </a:rPr>
              <a:t>sigchld_handler</a:t>
            </a:r>
            <a:r>
              <a:rPr lang="en-GB" altLang="zh-CN" sz="1200" dirty="0">
                <a:latin typeface="Consolas" panose="020B0609020204030204" pitchFamily="49" charset="0"/>
              </a:rPr>
              <a:t>(int sig)</a:t>
            </a:r>
          </a:p>
          <a:p>
            <a:r>
              <a:rPr lang="en-GB" altLang="zh-CN" sz="1200" dirty="0">
                <a:latin typeface="Consolas" panose="020B0609020204030204" pitchFamily="49" charset="0"/>
              </a:rPr>
              <a:t>{</a:t>
            </a:r>
          </a:p>
          <a:p>
            <a:r>
              <a:rPr lang="en-GB" altLang="zh-CN" sz="1200" dirty="0">
                <a:latin typeface="Consolas" panose="020B0609020204030204" pitchFamily="49" charset="0"/>
              </a:rPr>
              <a:t>	</a:t>
            </a:r>
            <a:r>
              <a:rPr lang="en-GB" altLang="zh-CN" sz="1200" dirty="0">
                <a:solidFill>
                  <a:srgbClr val="FF0000"/>
                </a:solidFill>
                <a:latin typeface="Consolas" panose="020B0609020204030204" pitchFamily="49" charset="0"/>
              </a:rPr>
              <a:t>while (</a:t>
            </a:r>
            <a:r>
              <a:rPr lang="en-GB" altLang="zh-CN" sz="1200" dirty="0" err="1">
                <a:solidFill>
                  <a:srgbClr val="FF0000"/>
                </a:solidFill>
                <a:latin typeface="Consolas" panose="020B0609020204030204" pitchFamily="49" charset="0"/>
              </a:rPr>
              <a:t>waitpid</a:t>
            </a:r>
            <a:r>
              <a:rPr lang="en-GB" altLang="zh-CN" sz="1200" dirty="0">
                <a:solidFill>
                  <a:srgbClr val="FF0000"/>
                </a:solidFill>
                <a:latin typeface="Consolas" panose="020B0609020204030204" pitchFamily="49" charset="0"/>
              </a:rPr>
              <a:t>(−1, 0, WNOHANG) &gt; 0)</a:t>
            </a:r>
          </a:p>
          <a:p>
            <a:r>
              <a:rPr lang="en-GB" altLang="zh-CN" sz="1200" dirty="0">
                <a:latin typeface="Consolas" panose="020B0609020204030204" pitchFamily="49" charset="0"/>
              </a:rPr>
              <a:t>		;</a:t>
            </a:r>
          </a:p>
          <a:p>
            <a:r>
              <a:rPr lang="en-GB" altLang="zh-CN" sz="1200" dirty="0">
                <a:latin typeface="Consolas" panose="020B0609020204030204" pitchFamily="49" charset="0"/>
              </a:rPr>
              <a:t>	return;</a:t>
            </a:r>
          </a:p>
          <a:p>
            <a:r>
              <a:rPr lang="en-GB" altLang="zh-CN" sz="1200" dirty="0">
                <a:latin typeface="Consolas" panose="020B0609020204030204" pitchFamily="49" charset="0"/>
              </a:rPr>
              <a:t>}</a:t>
            </a:r>
          </a:p>
          <a:p>
            <a:endParaRPr lang="en-GB" altLang="zh-CN" sz="1200" dirty="0">
              <a:latin typeface="Consolas" panose="020B0609020204030204" pitchFamily="49" charset="0"/>
            </a:endParaRPr>
          </a:p>
          <a:p>
            <a:r>
              <a:rPr lang="en-GB" altLang="zh-CN" sz="1200" dirty="0">
                <a:latin typeface="Consolas" panose="020B0609020204030204" pitchFamily="49" charset="0"/>
              </a:rPr>
              <a:t>int main(int </a:t>
            </a:r>
            <a:r>
              <a:rPr lang="en-GB" altLang="zh-CN" sz="1200" dirty="0" err="1">
                <a:latin typeface="Consolas" panose="020B0609020204030204" pitchFamily="49" charset="0"/>
              </a:rPr>
              <a:t>argc</a:t>
            </a:r>
            <a:r>
              <a:rPr lang="en-GB" altLang="zh-CN" sz="1200" dirty="0">
                <a:latin typeface="Consolas" panose="020B0609020204030204" pitchFamily="49" charset="0"/>
              </a:rPr>
              <a:t>, char **</a:t>
            </a:r>
            <a:r>
              <a:rPr lang="en-GB" altLang="zh-CN" sz="1200" dirty="0" err="1">
                <a:latin typeface="Consolas" panose="020B0609020204030204" pitchFamily="49" charset="0"/>
              </a:rPr>
              <a:t>argv</a:t>
            </a:r>
            <a:r>
              <a:rPr lang="en-GB" altLang="zh-CN" sz="1200" dirty="0">
                <a:latin typeface="Consolas" panose="020B0609020204030204" pitchFamily="49" charset="0"/>
              </a:rPr>
              <a:t>)</a:t>
            </a:r>
          </a:p>
          <a:p>
            <a:r>
              <a:rPr lang="en-GB" altLang="zh-CN" sz="1200" dirty="0">
                <a:latin typeface="Consolas" panose="020B0609020204030204" pitchFamily="49" charset="0"/>
              </a:rPr>
              <a:t>{</a:t>
            </a:r>
          </a:p>
          <a:p>
            <a:r>
              <a:rPr lang="en-GB" altLang="zh-CN" sz="1200" dirty="0">
                <a:latin typeface="Consolas" panose="020B0609020204030204" pitchFamily="49" charset="0"/>
              </a:rPr>
              <a:t>	int </a:t>
            </a:r>
            <a:r>
              <a:rPr lang="en-GB" altLang="zh-CN" sz="1200" dirty="0" err="1">
                <a:latin typeface="Consolas" panose="020B0609020204030204" pitchFamily="49" charset="0"/>
              </a:rPr>
              <a:t>listenfd</a:t>
            </a:r>
            <a:r>
              <a:rPr lang="en-GB" altLang="zh-CN" sz="1200" dirty="0">
                <a:latin typeface="Consolas" panose="020B0609020204030204" pitchFamily="49" charset="0"/>
              </a:rPr>
              <a:t>, </a:t>
            </a:r>
            <a:r>
              <a:rPr lang="en-GB" altLang="zh-CN" sz="1200" dirty="0" err="1">
                <a:latin typeface="Consolas" panose="020B0609020204030204" pitchFamily="49" charset="0"/>
              </a:rPr>
              <a:t>connfd</a:t>
            </a:r>
            <a:r>
              <a:rPr lang="en-GB" altLang="zh-CN" sz="1200" dirty="0">
                <a:latin typeface="Consolas" panose="020B0609020204030204" pitchFamily="49" charset="0"/>
              </a:rPr>
              <a:t>;</a:t>
            </a:r>
          </a:p>
          <a:p>
            <a:r>
              <a:rPr lang="en-GB" altLang="zh-CN" sz="1200" dirty="0">
                <a:latin typeface="Consolas" panose="020B0609020204030204" pitchFamily="49" charset="0"/>
              </a:rPr>
              <a:t>	</a:t>
            </a:r>
            <a:r>
              <a:rPr lang="en-GB" altLang="zh-CN" sz="1200" dirty="0" err="1">
                <a:latin typeface="Consolas" panose="020B0609020204030204" pitchFamily="49" charset="0"/>
              </a:rPr>
              <a:t>socklen_t</a:t>
            </a:r>
            <a:r>
              <a:rPr lang="en-GB" altLang="zh-CN" sz="1200" dirty="0">
                <a:latin typeface="Consolas" panose="020B0609020204030204" pitchFamily="49" charset="0"/>
              </a:rPr>
              <a:t> </a:t>
            </a:r>
            <a:r>
              <a:rPr lang="en-GB" altLang="zh-CN" sz="1200" dirty="0" err="1">
                <a:latin typeface="Consolas" panose="020B0609020204030204" pitchFamily="49" charset="0"/>
              </a:rPr>
              <a:t>clientlen</a:t>
            </a:r>
            <a:r>
              <a:rPr lang="en-GB" altLang="zh-CN" sz="1200" dirty="0">
                <a:latin typeface="Consolas" panose="020B0609020204030204" pitchFamily="49" charset="0"/>
              </a:rPr>
              <a:t>;</a:t>
            </a:r>
          </a:p>
          <a:p>
            <a:r>
              <a:rPr lang="en-GB" altLang="zh-CN" sz="1200" dirty="0">
                <a:latin typeface="Consolas" panose="020B0609020204030204" pitchFamily="49" charset="0"/>
              </a:rPr>
              <a:t>	struct </a:t>
            </a:r>
            <a:r>
              <a:rPr lang="en-GB" altLang="zh-CN" sz="1200" dirty="0" err="1">
                <a:latin typeface="Consolas" panose="020B0609020204030204" pitchFamily="49" charset="0"/>
              </a:rPr>
              <a:t>sockaddr_storage</a:t>
            </a:r>
            <a:r>
              <a:rPr lang="en-GB" altLang="zh-CN" sz="1200" dirty="0">
                <a:latin typeface="Consolas" panose="020B0609020204030204" pitchFamily="49" charset="0"/>
              </a:rPr>
              <a:t> </a:t>
            </a:r>
            <a:r>
              <a:rPr lang="en-GB" altLang="zh-CN" sz="1200" dirty="0" err="1">
                <a:latin typeface="Consolas" panose="020B0609020204030204" pitchFamily="49" charset="0"/>
              </a:rPr>
              <a:t>clientaddr</a:t>
            </a:r>
            <a:r>
              <a:rPr lang="en-GB" altLang="zh-CN" sz="1200" dirty="0">
                <a:latin typeface="Consolas" panose="020B0609020204030204" pitchFamily="49" charset="0"/>
              </a:rPr>
              <a:t>;</a:t>
            </a:r>
          </a:p>
          <a:p>
            <a:endParaRPr lang="en-GB" altLang="zh-CN" sz="1200" dirty="0">
              <a:latin typeface="Consolas" panose="020B0609020204030204" pitchFamily="49" charset="0"/>
            </a:endParaRPr>
          </a:p>
          <a:p>
            <a:r>
              <a:rPr lang="en-GB" altLang="zh-CN" sz="1200" dirty="0">
                <a:latin typeface="Consolas" panose="020B0609020204030204" pitchFamily="49" charset="0"/>
              </a:rPr>
              <a:t>	if (</a:t>
            </a:r>
            <a:r>
              <a:rPr lang="en-GB" altLang="zh-CN" sz="1200" dirty="0" err="1">
                <a:latin typeface="Consolas" panose="020B0609020204030204" pitchFamily="49" charset="0"/>
              </a:rPr>
              <a:t>argc</a:t>
            </a:r>
            <a:r>
              <a:rPr lang="en-GB" altLang="zh-CN" sz="1200" dirty="0">
                <a:latin typeface="Consolas" panose="020B0609020204030204" pitchFamily="49" charset="0"/>
              </a:rPr>
              <a:t> != 2) {</a:t>
            </a:r>
          </a:p>
          <a:p>
            <a:r>
              <a:rPr lang="en-GB" altLang="zh-CN" sz="1200" dirty="0">
                <a:latin typeface="Consolas" panose="020B0609020204030204" pitchFamily="49" charset="0"/>
              </a:rPr>
              <a:t>		</a:t>
            </a:r>
            <a:r>
              <a:rPr lang="en-GB" altLang="zh-CN" sz="1200" dirty="0" err="1">
                <a:latin typeface="Consolas" panose="020B0609020204030204" pitchFamily="49" charset="0"/>
              </a:rPr>
              <a:t>fprintf</a:t>
            </a:r>
            <a:r>
              <a:rPr lang="en-GB" altLang="zh-CN" sz="1200" dirty="0">
                <a:latin typeface="Consolas" panose="020B0609020204030204" pitchFamily="49" charset="0"/>
              </a:rPr>
              <a:t>(stderr, "usage: %s &lt;port&gt;\n", </a:t>
            </a:r>
            <a:r>
              <a:rPr lang="en-GB" altLang="zh-CN" sz="1200" dirty="0" err="1">
                <a:latin typeface="Consolas" panose="020B0609020204030204" pitchFamily="49" charset="0"/>
              </a:rPr>
              <a:t>argv</a:t>
            </a:r>
            <a:r>
              <a:rPr lang="en-GB" altLang="zh-CN" sz="1200" dirty="0">
                <a:latin typeface="Consolas" panose="020B0609020204030204" pitchFamily="49" charset="0"/>
              </a:rPr>
              <a:t>[0]);</a:t>
            </a:r>
          </a:p>
          <a:p>
            <a:r>
              <a:rPr lang="en-GB" altLang="zh-CN" sz="1200" dirty="0">
                <a:latin typeface="Consolas" panose="020B0609020204030204" pitchFamily="49" charset="0"/>
              </a:rPr>
              <a:t>		exit(0);</a:t>
            </a:r>
          </a:p>
          <a:p>
            <a:r>
              <a:rPr lang="en-GB" altLang="zh-CN" sz="1200" dirty="0">
                <a:latin typeface="Consolas" panose="020B0609020204030204" pitchFamily="49" charset="0"/>
              </a:rPr>
              <a:t>	}</a:t>
            </a:r>
          </a:p>
          <a:p>
            <a:endParaRPr lang="en-GB" altLang="zh-CN" sz="1200" dirty="0">
              <a:latin typeface="Consolas" panose="020B0609020204030204" pitchFamily="49" charset="0"/>
            </a:endParaRPr>
          </a:p>
          <a:p>
            <a:r>
              <a:rPr lang="en-GB" altLang="zh-CN" sz="1200" dirty="0">
                <a:latin typeface="Consolas" panose="020B0609020204030204" pitchFamily="49" charset="0"/>
              </a:rPr>
              <a:t>	Signal(SIGCHLD, </a:t>
            </a:r>
            <a:r>
              <a:rPr lang="en-GB" altLang="zh-CN" sz="1200" dirty="0" err="1">
                <a:latin typeface="Consolas" panose="020B0609020204030204" pitchFamily="49" charset="0"/>
              </a:rPr>
              <a:t>sigchld_handler</a:t>
            </a:r>
            <a:r>
              <a:rPr lang="en-GB" altLang="zh-CN" sz="1200" dirty="0">
                <a:latin typeface="Consolas" panose="020B0609020204030204" pitchFamily="49" charset="0"/>
              </a:rPr>
              <a:t>);</a:t>
            </a:r>
          </a:p>
          <a:p>
            <a:r>
              <a:rPr lang="en-GB" altLang="zh-CN" sz="1200" dirty="0">
                <a:latin typeface="Consolas" panose="020B0609020204030204" pitchFamily="49" charset="0"/>
              </a:rPr>
              <a:t>	</a:t>
            </a:r>
            <a:r>
              <a:rPr lang="en-GB" altLang="zh-CN" sz="1200" dirty="0" err="1">
                <a:latin typeface="Consolas" panose="020B0609020204030204" pitchFamily="49" charset="0"/>
              </a:rPr>
              <a:t>listenfd</a:t>
            </a:r>
            <a:r>
              <a:rPr lang="en-GB" altLang="zh-CN" sz="1200" dirty="0">
                <a:latin typeface="Consolas" panose="020B0609020204030204" pitchFamily="49" charset="0"/>
              </a:rPr>
              <a:t> = </a:t>
            </a:r>
            <a:r>
              <a:rPr lang="en-GB" altLang="zh-CN" sz="1200" dirty="0" err="1">
                <a:latin typeface="Consolas" panose="020B0609020204030204" pitchFamily="49" charset="0"/>
              </a:rPr>
              <a:t>Open_listenfd</a:t>
            </a:r>
            <a:r>
              <a:rPr lang="en-GB" altLang="zh-CN" sz="1200" dirty="0">
                <a:latin typeface="Consolas" panose="020B0609020204030204" pitchFamily="49" charset="0"/>
              </a:rPr>
              <a:t>(</a:t>
            </a:r>
            <a:r>
              <a:rPr lang="en-GB" altLang="zh-CN" sz="1200" dirty="0" err="1">
                <a:latin typeface="Consolas" panose="020B0609020204030204" pitchFamily="49" charset="0"/>
              </a:rPr>
              <a:t>argv</a:t>
            </a:r>
            <a:r>
              <a:rPr lang="en-GB" altLang="zh-CN" sz="1200" dirty="0">
                <a:latin typeface="Consolas" panose="020B0609020204030204" pitchFamily="49" charset="0"/>
              </a:rPr>
              <a:t>[1]);</a:t>
            </a:r>
          </a:p>
          <a:p>
            <a:r>
              <a:rPr lang="en-GB" altLang="zh-CN" sz="1200" dirty="0">
                <a:latin typeface="Consolas" panose="020B0609020204030204" pitchFamily="49" charset="0"/>
              </a:rPr>
              <a:t>	while (1) {</a:t>
            </a:r>
          </a:p>
          <a:p>
            <a:r>
              <a:rPr lang="en-GB" altLang="zh-CN" sz="1200" dirty="0">
                <a:latin typeface="Consolas" panose="020B0609020204030204" pitchFamily="49" charset="0"/>
              </a:rPr>
              <a:t>		</a:t>
            </a:r>
            <a:r>
              <a:rPr lang="en-GB" altLang="zh-CN" sz="1200" dirty="0" err="1">
                <a:latin typeface="Consolas" panose="020B0609020204030204" pitchFamily="49" charset="0"/>
              </a:rPr>
              <a:t>clientlen</a:t>
            </a:r>
            <a:r>
              <a:rPr lang="en-GB" altLang="zh-CN" sz="1200" dirty="0">
                <a:latin typeface="Consolas" panose="020B0609020204030204" pitchFamily="49" charset="0"/>
              </a:rPr>
              <a:t> = </a:t>
            </a:r>
            <a:r>
              <a:rPr lang="en-GB" altLang="zh-CN" sz="1200" dirty="0" err="1">
                <a:latin typeface="Consolas" panose="020B0609020204030204" pitchFamily="49" charset="0"/>
              </a:rPr>
              <a:t>sizeof</a:t>
            </a:r>
            <a:r>
              <a:rPr lang="en-GB" altLang="zh-CN" sz="1200" dirty="0">
                <a:latin typeface="Consolas" panose="020B0609020204030204" pitchFamily="49" charset="0"/>
              </a:rPr>
              <a:t>(struct </a:t>
            </a:r>
            <a:r>
              <a:rPr lang="en-GB" altLang="zh-CN" sz="1200" dirty="0" err="1">
                <a:latin typeface="Consolas" panose="020B0609020204030204" pitchFamily="49" charset="0"/>
              </a:rPr>
              <a:t>sockaddr_storage</a:t>
            </a:r>
            <a:r>
              <a:rPr lang="en-GB" altLang="zh-CN" sz="1200" dirty="0">
                <a:latin typeface="Consolas" panose="020B0609020204030204" pitchFamily="49" charset="0"/>
              </a:rPr>
              <a:t>);</a:t>
            </a:r>
          </a:p>
          <a:p>
            <a:r>
              <a:rPr lang="en-GB" altLang="zh-CN" sz="1200" dirty="0">
                <a:latin typeface="Consolas" panose="020B0609020204030204" pitchFamily="49" charset="0"/>
              </a:rPr>
              <a:t>		</a:t>
            </a:r>
            <a:r>
              <a:rPr lang="en-GB" altLang="zh-CN" sz="1200" dirty="0" err="1">
                <a:latin typeface="Consolas" panose="020B0609020204030204" pitchFamily="49" charset="0"/>
              </a:rPr>
              <a:t>connfd</a:t>
            </a:r>
            <a:r>
              <a:rPr lang="en-GB" altLang="zh-CN" sz="1200" dirty="0">
                <a:latin typeface="Consolas" panose="020B0609020204030204" pitchFamily="49" charset="0"/>
              </a:rPr>
              <a:t> = Accept(</a:t>
            </a:r>
            <a:r>
              <a:rPr lang="en-GB" altLang="zh-CN" sz="1200" dirty="0" err="1">
                <a:latin typeface="Consolas" panose="020B0609020204030204" pitchFamily="49" charset="0"/>
              </a:rPr>
              <a:t>listenfd</a:t>
            </a:r>
            <a:r>
              <a:rPr lang="en-GB" altLang="zh-CN" sz="1200" dirty="0">
                <a:latin typeface="Consolas" panose="020B0609020204030204" pitchFamily="49" charset="0"/>
              </a:rPr>
              <a:t>, (SA *) &amp;</a:t>
            </a:r>
            <a:r>
              <a:rPr lang="en-GB" altLang="zh-CN" sz="1200" dirty="0" err="1">
                <a:latin typeface="Consolas" panose="020B0609020204030204" pitchFamily="49" charset="0"/>
              </a:rPr>
              <a:t>clientaddr</a:t>
            </a:r>
            <a:r>
              <a:rPr lang="en-GB" altLang="zh-CN" sz="1200" dirty="0">
                <a:latin typeface="Consolas" panose="020B0609020204030204" pitchFamily="49" charset="0"/>
              </a:rPr>
              <a:t>, &amp;</a:t>
            </a:r>
            <a:r>
              <a:rPr lang="en-GB" altLang="zh-CN" sz="1200" dirty="0" err="1">
                <a:latin typeface="Consolas" panose="020B0609020204030204" pitchFamily="49" charset="0"/>
              </a:rPr>
              <a:t>clientlen</a:t>
            </a:r>
            <a:r>
              <a:rPr lang="en-GB" altLang="zh-CN" sz="1200" dirty="0">
                <a:latin typeface="Consolas" panose="020B0609020204030204" pitchFamily="49" charset="0"/>
              </a:rPr>
              <a:t>);</a:t>
            </a:r>
          </a:p>
          <a:p>
            <a:r>
              <a:rPr lang="en-GB" altLang="zh-CN" sz="1200" dirty="0">
                <a:latin typeface="Consolas" panose="020B0609020204030204" pitchFamily="49" charset="0"/>
              </a:rPr>
              <a:t>		if (Fork() == 0) {</a:t>
            </a:r>
          </a:p>
          <a:p>
            <a:r>
              <a:rPr lang="en-GB" altLang="zh-CN" sz="1200" dirty="0">
                <a:latin typeface="Consolas" panose="020B0609020204030204" pitchFamily="49" charset="0"/>
              </a:rPr>
              <a:t>			</a:t>
            </a:r>
            <a:r>
              <a:rPr lang="en-GB" altLang="zh-CN" sz="1200" dirty="0">
                <a:solidFill>
                  <a:srgbClr val="FF0000"/>
                </a:solidFill>
                <a:latin typeface="Consolas" panose="020B0609020204030204" pitchFamily="49" charset="0"/>
              </a:rPr>
              <a:t>Close(</a:t>
            </a:r>
            <a:r>
              <a:rPr lang="en-GB" altLang="zh-CN" sz="1200" dirty="0" err="1">
                <a:solidFill>
                  <a:srgbClr val="FF0000"/>
                </a:solidFill>
                <a:latin typeface="Consolas" panose="020B0609020204030204" pitchFamily="49" charset="0"/>
              </a:rPr>
              <a:t>listenfd</a:t>
            </a:r>
            <a:r>
              <a:rPr lang="en-GB" altLang="zh-CN" sz="1200" dirty="0">
                <a:solidFill>
                  <a:srgbClr val="FF0000"/>
                </a:solidFill>
                <a:latin typeface="Consolas" panose="020B0609020204030204" pitchFamily="49" charset="0"/>
              </a:rPr>
              <a:t>); </a:t>
            </a:r>
            <a:r>
              <a:rPr lang="en-GB" altLang="zh-CN" sz="1200" dirty="0">
                <a:latin typeface="Consolas" panose="020B0609020204030204" pitchFamily="49" charset="0"/>
              </a:rPr>
              <a:t>/* Child closes its listening socket */</a:t>
            </a:r>
          </a:p>
          <a:p>
            <a:r>
              <a:rPr lang="en-GB" altLang="zh-CN" sz="1200" dirty="0">
                <a:latin typeface="Consolas" panose="020B0609020204030204" pitchFamily="49" charset="0"/>
              </a:rPr>
              <a:t>			echo(</a:t>
            </a:r>
            <a:r>
              <a:rPr lang="en-GB" altLang="zh-CN" sz="1200" dirty="0" err="1">
                <a:latin typeface="Consolas" panose="020B0609020204030204" pitchFamily="49" charset="0"/>
              </a:rPr>
              <a:t>connfd</a:t>
            </a:r>
            <a:r>
              <a:rPr lang="en-GB" altLang="zh-CN" sz="1200" dirty="0">
                <a:latin typeface="Consolas" panose="020B0609020204030204" pitchFamily="49" charset="0"/>
              </a:rPr>
              <a:t>);	 /* Child services client */</a:t>
            </a:r>
          </a:p>
          <a:p>
            <a:r>
              <a:rPr lang="en-GB" altLang="zh-CN" sz="1200" dirty="0">
                <a:latin typeface="Consolas" panose="020B0609020204030204" pitchFamily="49" charset="0"/>
              </a:rPr>
              <a:t>			Close(</a:t>
            </a:r>
            <a:r>
              <a:rPr lang="en-GB" altLang="zh-CN" sz="1200" dirty="0" err="1">
                <a:latin typeface="Consolas" panose="020B0609020204030204" pitchFamily="49" charset="0"/>
              </a:rPr>
              <a:t>connfd</a:t>
            </a:r>
            <a:r>
              <a:rPr lang="en-GB" altLang="zh-CN" sz="1200" dirty="0">
                <a:latin typeface="Consolas" panose="020B0609020204030204" pitchFamily="49" charset="0"/>
              </a:rPr>
              <a:t>);	 /* Child closes connection with client */</a:t>
            </a:r>
          </a:p>
          <a:p>
            <a:r>
              <a:rPr lang="en-GB" altLang="zh-CN" sz="1200" dirty="0">
                <a:latin typeface="Consolas" panose="020B0609020204030204" pitchFamily="49" charset="0"/>
              </a:rPr>
              <a:t>			exit(0);	 /* Child exits */</a:t>
            </a:r>
          </a:p>
          <a:p>
            <a:r>
              <a:rPr lang="en-GB" altLang="zh-CN" sz="1200" dirty="0">
                <a:latin typeface="Consolas" panose="020B0609020204030204" pitchFamily="49" charset="0"/>
              </a:rPr>
              <a:t>		}</a:t>
            </a:r>
          </a:p>
          <a:p>
            <a:r>
              <a:rPr lang="en-GB" altLang="zh-CN" sz="1200" dirty="0">
                <a:latin typeface="Consolas" panose="020B0609020204030204" pitchFamily="49" charset="0"/>
              </a:rPr>
              <a:t>		</a:t>
            </a:r>
            <a:r>
              <a:rPr lang="en-GB" altLang="zh-CN" sz="1200" dirty="0">
                <a:solidFill>
                  <a:srgbClr val="FF0000"/>
                </a:solidFill>
                <a:latin typeface="Consolas" panose="020B0609020204030204" pitchFamily="49" charset="0"/>
              </a:rPr>
              <a:t>Close(</a:t>
            </a:r>
            <a:r>
              <a:rPr lang="en-GB" altLang="zh-CN" sz="1200" dirty="0" err="1">
                <a:solidFill>
                  <a:srgbClr val="FF0000"/>
                </a:solidFill>
                <a:latin typeface="Consolas" panose="020B0609020204030204" pitchFamily="49" charset="0"/>
              </a:rPr>
              <a:t>connfd</a:t>
            </a:r>
            <a:r>
              <a:rPr lang="en-GB" altLang="zh-CN" sz="1200" dirty="0">
                <a:solidFill>
                  <a:srgbClr val="FF0000"/>
                </a:solidFill>
                <a:latin typeface="Consolas" panose="020B0609020204030204" pitchFamily="49" charset="0"/>
              </a:rPr>
              <a:t>); </a:t>
            </a:r>
            <a:r>
              <a:rPr lang="en-GB" altLang="zh-CN" sz="1200" dirty="0">
                <a:latin typeface="Consolas" panose="020B0609020204030204" pitchFamily="49" charset="0"/>
              </a:rPr>
              <a:t>/* Parent closes connected socket (important!) */</a:t>
            </a:r>
          </a:p>
          <a:p>
            <a:r>
              <a:rPr lang="en-GB" altLang="zh-CN" sz="1200" dirty="0">
                <a:latin typeface="Consolas" panose="020B0609020204030204" pitchFamily="49" charset="0"/>
              </a:rPr>
              <a:t>	}</a:t>
            </a:r>
          </a:p>
          <a:p>
            <a:r>
              <a:rPr lang="en-GB" altLang="zh-CN" sz="1200" dirty="0">
                <a:latin typeface="Consolas" panose="020B0609020204030204" pitchFamily="49" charset="0"/>
              </a:rPr>
              <a:t>}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88EEBF5-60AF-7DAC-D423-A180519DD325}"/>
              </a:ext>
            </a:extLst>
          </p:cNvPr>
          <p:cNvSpPr txBox="1"/>
          <p:nvPr/>
        </p:nvSpPr>
        <p:spPr>
          <a:xfrm>
            <a:off x="360099" y="1928693"/>
            <a:ext cx="3624710" cy="37836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SIGCHILD</a:t>
            </a:r>
            <a:r>
              <a:rPr lang="zh-CN" altLang="en-US" dirty="0"/>
              <a:t>处理程序回收僵尸进程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调用</a:t>
            </a:r>
            <a:r>
              <a:rPr lang="en-US" altLang="zh-CN" dirty="0" err="1"/>
              <a:t>waitpid</a:t>
            </a:r>
            <a:r>
              <a:rPr lang="en-US" altLang="zh-CN" dirty="0"/>
              <a:t> </a:t>
            </a:r>
            <a:r>
              <a:rPr lang="zh-CN" altLang="en-US" dirty="0"/>
              <a:t>每次尽可能回收多个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父进程关闭</a:t>
            </a:r>
            <a:r>
              <a:rPr lang="en-US" altLang="zh-CN" dirty="0" err="1"/>
              <a:t>connfd</a:t>
            </a:r>
            <a:r>
              <a:rPr lang="zh-CN" altLang="en-US" dirty="0"/>
              <a:t>副本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避免内存泄露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 err="1"/>
              <a:t>refcnt</a:t>
            </a:r>
            <a:r>
              <a:rPr lang="en-US" altLang="zh-CN" dirty="0"/>
              <a:t>(</a:t>
            </a:r>
            <a:r>
              <a:rPr lang="en-US" altLang="zh-CN" dirty="0" err="1"/>
              <a:t>connfd</a:t>
            </a:r>
            <a:r>
              <a:rPr lang="en-US" altLang="zh-CN" dirty="0"/>
              <a:t>) = 2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直到父子进程的</a:t>
            </a:r>
            <a:r>
              <a:rPr lang="en-US" altLang="zh-CN" dirty="0" err="1"/>
              <a:t>connfd</a:t>
            </a:r>
            <a:r>
              <a:rPr lang="zh-CN" altLang="en-US" dirty="0"/>
              <a:t>都关闭了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到客户端的连接才会终止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525150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F4950-B43B-8BBD-9718-757EF17D5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B613814-66F3-C771-5A14-BE687C7930FE}"/>
              </a:ext>
            </a:extLst>
          </p:cNvPr>
          <p:cNvSpPr txBox="1"/>
          <p:nvPr/>
        </p:nvSpPr>
        <p:spPr>
          <a:xfrm>
            <a:off x="741218" y="775946"/>
            <a:ext cx="69541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/>
              <a:t>基于进程</a:t>
            </a:r>
            <a:r>
              <a:rPr lang="en-US" altLang="zh-CN" sz="3600" dirty="0"/>
              <a:t>Process-based Servers</a:t>
            </a:r>
            <a:endParaRPr lang="zh-CN" altLang="en-US" sz="36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4D69377-6C78-1990-E783-E75F0D56B0E9}"/>
              </a:ext>
            </a:extLst>
          </p:cNvPr>
          <p:cNvSpPr txBox="1"/>
          <p:nvPr/>
        </p:nvSpPr>
        <p:spPr>
          <a:xfrm>
            <a:off x="741218" y="1686790"/>
            <a:ext cx="7380806" cy="3900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/>
              <a:t>Pros:</a:t>
            </a:r>
          </a:p>
          <a:p>
            <a:pPr>
              <a:lnSpc>
                <a:spcPct val="150000"/>
              </a:lnSpc>
            </a:pPr>
            <a:r>
              <a:rPr lang="zh-CN" altLang="en-US" sz="2400" dirty="0"/>
              <a:t>清晰的模型（共享文件表，不共享用户地址空间）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一个进程不会覆盖另一个进程的虚拟内存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Cons:</a:t>
            </a:r>
          </a:p>
          <a:p>
            <a:pPr>
              <a:lnSpc>
                <a:spcPct val="150000"/>
              </a:lnSpc>
            </a:pPr>
            <a:r>
              <a:rPr lang="zh-CN" altLang="en-US" sz="2400" dirty="0"/>
              <a:t>进程共享状态信息困难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必须使用显式</a:t>
            </a:r>
            <a:r>
              <a:rPr lang="en-US" altLang="zh-CN" sz="2400" dirty="0"/>
              <a:t>IPC</a:t>
            </a:r>
            <a:r>
              <a:rPr lang="zh-CN" altLang="en-US" sz="2400" dirty="0"/>
              <a:t>机制，进程控制和</a:t>
            </a:r>
            <a:r>
              <a:rPr lang="en-US" altLang="zh-CN" sz="2400" dirty="0"/>
              <a:t>IPC</a:t>
            </a:r>
            <a:r>
              <a:rPr lang="zh-CN" altLang="en-US" sz="2400" dirty="0"/>
              <a:t>开销高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17236180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1D42C-B7D1-B293-177C-B75C339BE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12E12D6-5729-82FC-B3E4-83CA51ACDE9C}"/>
              </a:ext>
            </a:extLst>
          </p:cNvPr>
          <p:cNvSpPr txBox="1"/>
          <p:nvPr/>
        </p:nvSpPr>
        <p:spPr>
          <a:xfrm>
            <a:off x="741218" y="775946"/>
            <a:ext cx="65245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/>
              <a:t>基于事件</a:t>
            </a:r>
            <a:r>
              <a:rPr lang="en-US" altLang="zh-CN" sz="3600" dirty="0"/>
              <a:t>Event-based Servers</a:t>
            </a:r>
            <a:endParaRPr lang="zh-CN" altLang="en-US" sz="36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8F21830-8FDC-4338-4112-53C0D4546F2D}"/>
              </a:ext>
            </a:extLst>
          </p:cNvPr>
          <p:cNvSpPr txBox="1"/>
          <p:nvPr/>
        </p:nvSpPr>
        <p:spPr>
          <a:xfrm>
            <a:off x="741218" y="1686790"/>
            <a:ext cx="10684940" cy="44600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将请求排成单一序列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重复执行：</a:t>
            </a:r>
            <a:endParaRPr lang="en-US" altLang="zh-CN" sz="2400" dirty="0"/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400" dirty="0"/>
              <a:t>确定哪些描述符（</a:t>
            </a:r>
            <a:r>
              <a:rPr lang="en-US" altLang="zh-CN" sz="2400" dirty="0" err="1"/>
              <a:t>connfd</a:t>
            </a:r>
            <a:r>
              <a:rPr lang="zh-CN" altLang="en-US" sz="2400" dirty="0"/>
              <a:t>或</a:t>
            </a:r>
            <a:r>
              <a:rPr lang="en-US" altLang="zh-CN" sz="2400" dirty="0" err="1"/>
              <a:t>listenfd</a:t>
            </a:r>
            <a:r>
              <a:rPr lang="zh-CN" altLang="en-US" sz="2400" dirty="0"/>
              <a:t>）有待处理的输入</a:t>
            </a:r>
            <a:endParaRPr lang="en-US" altLang="zh-CN" sz="2400" dirty="0"/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400" dirty="0"/>
              <a:t>如果</a:t>
            </a:r>
            <a:r>
              <a:rPr lang="en-US" altLang="zh-CN" sz="2400" dirty="0" err="1"/>
              <a:t>listenfd</a:t>
            </a:r>
            <a:r>
              <a:rPr lang="zh-CN" altLang="en-US" sz="2400" dirty="0"/>
              <a:t>有输入，则</a:t>
            </a:r>
            <a:r>
              <a:rPr lang="en-US" altLang="zh-CN" sz="2400" dirty="0"/>
              <a:t>accept</a:t>
            </a:r>
            <a:r>
              <a:rPr lang="zh-CN" altLang="en-US" sz="2400" dirty="0"/>
              <a:t>连接</a:t>
            </a:r>
            <a:endParaRPr lang="en-US" altLang="zh-CN" sz="2400" dirty="0"/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400" dirty="0"/>
              <a:t>为所有有待处理输入的</a:t>
            </a:r>
            <a:r>
              <a:rPr lang="en-US" altLang="zh-CN" sz="2400" dirty="0" err="1"/>
              <a:t>connfd</a:t>
            </a:r>
            <a:r>
              <a:rPr lang="zh-CN" altLang="en-US" sz="2400" dirty="0"/>
              <a:t>提供服务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主要实现</a:t>
            </a:r>
            <a:r>
              <a:rPr lang="en-US" altLang="zh-CN" sz="2400" dirty="0"/>
              <a:t>select</a:t>
            </a:r>
            <a:r>
              <a:rPr lang="zh-CN" altLang="en-US" sz="2400" dirty="0"/>
              <a:t>函数 对代码编写要求高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2380409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9BE31-EF3C-C765-B944-ABDFCFF25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71D1029-D69F-7489-C7B9-50F094FE0943}"/>
              </a:ext>
            </a:extLst>
          </p:cNvPr>
          <p:cNvSpPr txBox="1"/>
          <p:nvPr/>
        </p:nvSpPr>
        <p:spPr>
          <a:xfrm>
            <a:off x="741218" y="775946"/>
            <a:ext cx="27382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/>
              <a:t>I/O</a:t>
            </a:r>
            <a:r>
              <a:rPr lang="zh-CN" altLang="en-US" sz="3600" dirty="0"/>
              <a:t>多路复用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E252A8A-2F09-842E-119A-49C455A16C1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3058" y="970012"/>
            <a:ext cx="5342755" cy="2708778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EAA3DC90-1C41-67CB-DCBE-78F0554F157F}"/>
              </a:ext>
            </a:extLst>
          </p:cNvPr>
          <p:cNvSpPr txBox="1"/>
          <p:nvPr/>
        </p:nvSpPr>
        <p:spPr>
          <a:xfrm>
            <a:off x="741218" y="1686790"/>
            <a:ext cx="10684940" cy="33520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将逻辑流模型化为状态机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逻辑流：</a:t>
            </a:r>
            <a:endParaRPr lang="en-US" altLang="zh-CN" sz="2400" dirty="0"/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400" dirty="0"/>
              <a:t>等待事件发生</a:t>
            </a:r>
            <a:endParaRPr lang="en-US" altLang="zh-CN" sz="2400" dirty="0"/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400" dirty="0"/>
              <a:t>根据发生的事件（如：新连接到达、旧连接有数据可读）跳转到对应状态</a:t>
            </a:r>
            <a:endParaRPr lang="en-US" altLang="zh-CN" sz="2400" dirty="0"/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400" dirty="0"/>
              <a:t>执行一小段非阻塞操作，更新状态，回到第一步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157797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74EC0-80D3-E03A-0A0D-AEAE0F449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11721BB-3BED-5937-9EF0-9047C0FD25A3}"/>
              </a:ext>
            </a:extLst>
          </p:cNvPr>
          <p:cNvSpPr txBox="1"/>
          <p:nvPr/>
        </p:nvSpPr>
        <p:spPr>
          <a:xfrm>
            <a:off x="741218" y="775946"/>
            <a:ext cx="65245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/>
              <a:t>基于事件</a:t>
            </a:r>
            <a:r>
              <a:rPr lang="en-US" altLang="zh-CN" sz="3600" dirty="0"/>
              <a:t>Event-based Servers</a:t>
            </a:r>
            <a:endParaRPr lang="zh-CN" altLang="en-US" sz="36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E9E8EBB-A55A-FF66-35FE-DBEED27E1D41}"/>
              </a:ext>
            </a:extLst>
          </p:cNvPr>
          <p:cNvSpPr txBox="1"/>
          <p:nvPr/>
        </p:nvSpPr>
        <p:spPr>
          <a:xfrm>
            <a:off x="741218" y="1422277"/>
            <a:ext cx="10976933" cy="50140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/>
              <a:t>Pros:</a:t>
            </a:r>
          </a:p>
          <a:p>
            <a:pPr>
              <a:lnSpc>
                <a:spcPct val="150000"/>
              </a:lnSpc>
            </a:pPr>
            <a:r>
              <a:rPr lang="zh-CN" altLang="en-US" sz="2400" dirty="0"/>
              <a:t>给程序员更多对程序行为的控制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服务器运行在单一进程上下文中，便于在流之间共享数据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比基于进程的设计高效得多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Cons:</a:t>
            </a:r>
          </a:p>
          <a:p>
            <a:pPr>
              <a:lnSpc>
                <a:spcPct val="150000"/>
              </a:lnSpc>
            </a:pPr>
            <a:r>
              <a:rPr lang="zh-CN" altLang="en-US" sz="2400" dirty="0"/>
              <a:t>编码复杂，且随着并发粒度的减小，复杂性会不断上升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面对恶意客户端的攻击更加脆弱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不能充分利用多核处理器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19135252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27343-6B47-9B5B-EBA1-31BCB41F2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1BF9870-2F23-4F27-A75B-B25105366990}"/>
              </a:ext>
            </a:extLst>
          </p:cNvPr>
          <p:cNvSpPr txBox="1"/>
          <p:nvPr/>
        </p:nvSpPr>
        <p:spPr>
          <a:xfrm>
            <a:off x="741218" y="775946"/>
            <a:ext cx="6832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/>
              <a:t>基于线程</a:t>
            </a:r>
            <a:r>
              <a:rPr lang="en-US" altLang="zh-CN" sz="3600" dirty="0"/>
              <a:t>Thread-based Servers</a:t>
            </a:r>
            <a:endParaRPr lang="zh-CN" altLang="en-US" sz="36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BCFFCB8-02F3-57F6-12FC-9DFD6DE2F84F}"/>
              </a:ext>
            </a:extLst>
          </p:cNvPr>
          <p:cNvSpPr txBox="1"/>
          <p:nvPr/>
        </p:nvSpPr>
        <p:spPr>
          <a:xfrm>
            <a:off x="615217" y="1485469"/>
            <a:ext cx="10961565" cy="16900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线程：运行在进程上下文中的逻辑流，有自己的线程上下文（唯一的</a:t>
            </a:r>
            <a:r>
              <a:rPr lang="en-US" altLang="zh-CN" sz="2400" dirty="0"/>
              <a:t>TID</a:t>
            </a:r>
            <a:r>
              <a:rPr lang="zh-CN" altLang="en-US" sz="2400" dirty="0"/>
              <a:t>、栈、栈指针、程序计数器、通用目的寄存器和条件码）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所有线程共享同一进程的虚拟地址空间</a:t>
            </a:r>
            <a:endParaRPr lang="en-US" altLang="zh-CN" sz="24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CBD7069-85DE-F686-3794-29D5F9CE25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38675"/>
            <a:ext cx="6902506" cy="361932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94197EE-E7ED-A39C-AEAA-91ABD77591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2506" y="3720940"/>
            <a:ext cx="5289494" cy="3137059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C4580846-7E77-AB3C-E6B6-3145C10C94CF}"/>
              </a:ext>
            </a:extLst>
          </p:cNvPr>
          <p:cNvSpPr txBox="1"/>
          <p:nvPr/>
        </p:nvSpPr>
        <p:spPr>
          <a:xfrm>
            <a:off x="8039769" y="3137060"/>
            <a:ext cx="3793643" cy="582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/>
              <a:t>Thread vs. Process</a:t>
            </a:r>
          </a:p>
        </p:txBody>
      </p:sp>
    </p:spTree>
    <p:extLst>
      <p:ext uri="{BB962C8B-B14F-4D97-AF65-F5344CB8AC3E}">
        <p14:creationId xmlns:p14="http://schemas.microsoft.com/office/powerpoint/2010/main" val="1362353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24346-2813-DC57-AE61-FFA66E992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501E410-9190-CA65-DE86-34309352B38E}"/>
              </a:ext>
            </a:extLst>
          </p:cNvPr>
          <p:cNvSpPr txBox="1"/>
          <p:nvPr/>
        </p:nvSpPr>
        <p:spPr>
          <a:xfrm>
            <a:off x="741218" y="775946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/>
              <a:t>并发线程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C0C8108-80CF-E83B-7CCC-0F01D971D749}"/>
              </a:ext>
            </a:extLst>
          </p:cNvPr>
          <p:cNvSpPr txBox="1"/>
          <p:nvPr/>
        </p:nvSpPr>
        <p:spPr>
          <a:xfrm>
            <a:off x="741218" y="1440663"/>
            <a:ext cx="4558204" cy="3270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主线程创建对等线程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一个线程可以杀死它的任何对等线程，或者等待它的任何对等线程终止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每个对等线程都能读写相同的共享数据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线程的上下文切换比进程快得多</a:t>
            </a:r>
            <a:endParaRPr lang="en-US" altLang="zh-CN" sz="20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FC00AD5-3A68-38BB-50D5-548E372F4C4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202" y="2842282"/>
            <a:ext cx="4871676" cy="401571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3651F73-FA14-A3DE-60D2-D9FB0FAC69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218" y="4711045"/>
            <a:ext cx="5910594" cy="214695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6D491461-506A-4D5C-1EC6-5C3820046D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2835" y="-1"/>
            <a:ext cx="6769166" cy="2858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5487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15FD5-A1FC-9339-022C-120D54730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2B2B600-4246-5AA5-16C5-E984B5234C6C}"/>
              </a:ext>
            </a:extLst>
          </p:cNvPr>
          <p:cNvSpPr txBox="1"/>
          <p:nvPr/>
        </p:nvSpPr>
        <p:spPr>
          <a:xfrm>
            <a:off x="741218" y="775946"/>
            <a:ext cx="55322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 err="1"/>
              <a:t>Posix</a:t>
            </a:r>
            <a:r>
              <a:rPr lang="en-US" altLang="zh-CN" sz="3600" dirty="0"/>
              <a:t> Threads / </a:t>
            </a:r>
            <a:r>
              <a:rPr lang="en-US" altLang="zh-CN" sz="3600" dirty="0" err="1"/>
              <a:t>Pthreads</a:t>
            </a:r>
            <a:endParaRPr lang="zh-CN" altLang="en-US" sz="36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AC7257A-EBCF-F8E3-36FA-E676A26A2159}"/>
              </a:ext>
            </a:extLst>
          </p:cNvPr>
          <p:cNvSpPr txBox="1"/>
          <p:nvPr/>
        </p:nvSpPr>
        <p:spPr>
          <a:xfrm>
            <a:off x="741218" y="1686790"/>
            <a:ext cx="10700308" cy="29557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pitchFamily="49" charset="0"/>
              </a:rPr>
              <a:t>创建：</a:t>
            </a:r>
            <a:r>
              <a:rPr lang="en-US" altLang="zh-CN" dirty="0">
                <a:latin typeface="Consolas" panose="020B0609020204030204" pitchFamily="49" charset="0"/>
              </a:rPr>
              <a:t>int </a:t>
            </a:r>
            <a:r>
              <a:rPr lang="en-US" altLang="zh-CN" dirty="0" err="1">
                <a:latin typeface="Consolas" panose="020B0609020204030204" pitchFamily="49" charset="0"/>
              </a:rPr>
              <a:t>pthread_create</a:t>
            </a:r>
            <a:r>
              <a:rPr lang="en-US" altLang="zh-CN" dirty="0"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latin typeface="Consolas" panose="020B0609020204030204" pitchFamily="49" charset="0"/>
              </a:rPr>
              <a:t>pthread_t</a:t>
            </a:r>
            <a:r>
              <a:rPr lang="en-US" altLang="zh-CN" dirty="0">
                <a:latin typeface="Consolas" panose="020B0609020204030204" pitchFamily="49" charset="0"/>
              </a:rPr>
              <a:t> *</a:t>
            </a:r>
            <a:r>
              <a:rPr lang="en-US" altLang="zh-CN" dirty="0" err="1">
                <a:latin typeface="Consolas" panose="020B0609020204030204" pitchFamily="49" charset="0"/>
              </a:rPr>
              <a:t>tid</a:t>
            </a:r>
            <a:r>
              <a:rPr lang="en-US" altLang="zh-CN" dirty="0">
                <a:latin typeface="Consolas" panose="020B0609020204030204" pitchFamily="49" charset="0"/>
              </a:rPr>
              <a:t>, </a:t>
            </a:r>
            <a:r>
              <a:rPr lang="en-US" altLang="zh-CN" dirty="0" err="1">
                <a:latin typeface="Consolas" panose="020B0609020204030204" pitchFamily="49" charset="0"/>
              </a:rPr>
              <a:t>pthread_attr_t</a:t>
            </a:r>
            <a:r>
              <a:rPr lang="en-US" altLang="zh-CN" dirty="0">
                <a:latin typeface="Consolas" panose="020B0609020204030204" pitchFamily="49" charset="0"/>
              </a:rPr>
              <a:t> *</a:t>
            </a:r>
            <a:r>
              <a:rPr lang="en-US" altLang="zh-CN" dirty="0" err="1">
                <a:latin typeface="Consolas" panose="020B0609020204030204" pitchFamily="49" charset="0"/>
              </a:rPr>
              <a:t>attr</a:t>
            </a:r>
            <a:r>
              <a:rPr lang="en-US" altLang="zh-CN" dirty="0">
                <a:latin typeface="Consolas" panose="020B0609020204030204" pitchFamily="49" charset="0"/>
              </a:rPr>
              <a:t>, </a:t>
            </a:r>
            <a:r>
              <a:rPr lang="en-US" altLang="zh-CN" dirty="0" err="1">
                <a:latin typeface="Consolas" panose="020B0609020204030204" pitchFamily="49" charset="0"/>
              </a:rPr>
              <a:t>func</a:t>
            </a:r>
            <a:r>
              <a:rPr lang="en-US" altLang="zh-CN" dirty="0">
                <a:latin typeface="Consolas" panose="020B0609020204030204" pitchFamily="49" charset="0"/>
              </a:rPr>
              <a:t> *f, void *</a:t>
            </a:r>
            <a:r>
              <a:rPr lang="en-US" altLang="zh-CN" dirty="0" err="1">
                <a:latin typeface="Consolas" panose="020B0609020204030204" pitchFamily="49" charset="0"/>
              </a:rPr>
              <a:t>arg</a:t>
            </a:r>
            <a:r>
              <a:rPr lang="en-US" altLang="zh-CN" dirty="0"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pitchFamily="49" charset="0"/>
              </a:rPr>
              <a:t>新线程通过</a:t>
            </a:r>
            <a:r>
              <a:rPr lang="en-US" altLang="zh-CN" dirty="0" err="1">
                <a:latin typeface="Consolas" panose="020B0609020204030204" pitchFamily="49" charset="0"/>
              </a:rPr>
              <a:t>pthread_t</a:t>
            </a:r>
            <a:r>
              <a:rPr lang="en-US" altLang="zh-CN" dirty="0">
                <a:latin typeface="Consolas" panose="020B0609020204030204" pitchFamily="49" charset="0"/>
              </a:rPr>
              <a:t> </a:t>
            </a:r>
            <a:r>
              <a:rPr lang="en-US" altLang="zh-CN" dirty="0" err="1">
                <a:latin typeface="Consolas" panose="020B0609020204030204" pitchFamily="49" charset="0"/>
              </a:rPr>
              <a:t>pthread_self</a:t>
            </a:r>
            <a:r>
              <a:rPr lang="en-US" altLang="zh-CN" dirty="0">
                <a:latin typeface="Consolas" panose="020B0609020204030204" pitchFamily="49" charset="0"/>
              </a:rPr>
              <a:t>(void);</a:t>
            </a:r>
            <a:r>
              <a:rPr lang="zh-CN" altLang="en-US" dirty="0">
                <a:latin typeface="Consolas" panose="020B0609020204030204" pitchFamily="49" charset="0"/>
              </a:rPr>
              <a:t>获得自己的线程</a:t>
            </a:r>
            <a:r>
              <a:rPr lang="en-US" altLang="zh-CN" dirty="0">
                <a:latin typeface="Consolas" panose="020B0609020204030204" pitchFamily="49" charset="0"/>
              </a:rPr>
              <a:t>ID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pitchFamily="49" charset="0"/>
              </a:rPr>
              <a:t>终止：</a:t>
            </a:r>
            <a:r>
              <a:rPr lang="en-US" altLang="zh-CN" dirty="0">
                <a:latin typeface="Consolas" panose="020B0609020204030204" pitchFamily="49" charset="0"/>
              </a:rPr>
              <a:t>void </a:t>
            </a:r>
            <a:r>
              <a:rPr lang="en-US" altLang="zh-CN" dirty="0" err="1">
                <a:latin typeface="Consolas" panose="020B0609020204030204" pitchFamily="49" charset="0"/>
              </a:rPr>
              <a:t>pthread_exit</a:t>
            </a:r>
            <a:r>
              <a:rPr lang="en-US" altLang="zh-CN" dirty="0">
                <a:latin typeface="Consolas" panose="020B0609020204030204" pitchFamily="49" charset="0"/>
              </a:rPr>
              <a:t>(void *</a:t>
            </a:r>
            <a:r>
              <a:rPr lang="en-US" altLang="zh-CN" dirty="0" err="1">
                <a:latin typeface="Consolas" panose="020B0609020204030204" pitchFamily="49" charset="0"/>
              </a:rPr>
              <a:t>thread_return</a:t>
            </a:r>
            <a:r>
              <a:rPr lang="en-US" altLang="zh-CN" dirty="0"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pitchFamily="49" charset="0"/>
              </a:rPr>
              <a:t>取消：</a:t>
            </a:r>
            <a:r>
              <a:rPr lang="en-US" altLang="zh-CN" dirty="0">
                <a:latin typeface="Consolas" panose="020B0609020204030204" pitchFamily="49" charset="0"/>
              </a:rPr>
              <a:t>int </a:t>
            </a:r>
            <a:r>
              <a:rPr lang="en-US" altLang="zh-CN" dirty="0" err="1">
                <a:latin typeface="Consolas" panose="020B0609020204030204" pitchFamily="49" charset="0"/>
              </a:rPr>
              <a:t>pthread_cancel</a:t>
            </a:r>
            <a:r>
              <a:rPr lang="en-US" altLang="zh-CN" dirty="0"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latin typeface="Consolas" panose="020B0609020204030204" pitchFamily="49" charset="0"/>
              </a:rPr>
              <a:t>pthread_t</a:t>
            </a:r>
            <a:r>
              <a:rPr lang="en-US" altLang="zh-CN" dirty="0">
                <a:latin typeface="Consolas" panose="020B0609020204030204" pitchFamily="49" charset="0"/>
              </a:rPr>
              <a:t> </a:t>
            </a:r>
            <a:r>
              <a:rPr lang="en-US" altLang="zh-CN" dirty="0" err="1">
                <a:latin typeface="Consolas" panose="020B0609020204030204" pitchFamily="49" charset="0"/>
              </a:rPr>
              <a:t>tid</a:t>
            </a:r>
            <a:r>
              <a:rPr lang="en-US" altLang="zh-CN" dirty="0"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pitchFamily="49" charset="0"/>
              </a:rPr>
              <a:t>等待其他线程终止：</a:t>
            </a:r>
            <a:r>
              <a:rPr lang="en-US" altLang="zh-CN" dirty="0">
                <a:latin typeface="Consolas" panose="020B0609020204030204" pitchFamily="49" charset="0"/>
              </a:rPr>
              <a:t>int </a:t>
            </a:r>
            <a:r>
              <a:rPr lang="en-US" altLang="zh-CN" dirty="0" err="1">
                <a:latin typeface="Consolas" panose="020B0609020204030204" pitchFamily="49" charset="0"/>
              </a:rPr>
              <a:t>pthread_join</a:t>
            </a:r>
            <a:r>
              <a:rPr lang="en-US" altLang="zh-CN" dirty="0"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latin typeface="Consolas" panose="020B0609020204030204" pitchFamily="49" charset="0"/>
              </a:rPr>
              <a:t>pthread_t</a:t>
            </a:r>
            <a:r>
              <a:rPr lang="en-US" altLang="zh-CN" dirty="0">
                <a:latin typeface="Consolas" panose="020B0609020204030204" pitchFamily="49" charset="0"/>
              </a:rPr>
              <a:t> </a:t>
            </a:r>
            <a:r>
              <a:rPr lang="en-US" altLang="zh-CN" dirty="0" err="1">
                <a:latin typeface="Consolas" panose="020B0609020204030204" pitchFamily="49" charset="0"/>
              </a:rPr>
              <a:t>tid</a:t>
            </a:r>
            <a:r>
              <a:rPr lang="en-US" altLang="zh-CN" dirty="0">
                <a:latin typeface="Consolas" panose="020B0609020204030204" pitchFamily="49" charset="0"/>
              </a:rPr>
              <a:t>, void **</a:t>
            </a:r>
            <a:r>
              <a:rPr lang="en-US" altLang="zh-CN" dirty="0" err="1">
                <a:latin typeface="Consolas" panose="020B0609020204030204" pitchFamily="49" charset="0"/>
              </a:rPr>
              <a:t>thread_return</a:t>
            </a:r>
            <a:r>
              <a:rPr lang="en-US" altLang="zh-CN" dirty="0"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pitchFamily="49" charset="0"/>
              </a:rPr>
              <a:t>分离：</a:t>
            </a:r>
            <a:r>
              <a:rPr lang="en-US" altLang="zh-CN" dirty="0">
                <a:latin typeface="Consolas" panose="020B0609020204030204" pitchFamily="49" charset="0"/>
              </a:rPr>
              <a:t>int </a:t>
            </a:r>
            <a:r>
              <a:rPr lang="en-US" altLang="zh-CN" dirty="0" err="1">
                <a:latin typeface="Consolas" panose="020B0609020204030204" pitchFamily="49" charset="0"/>
              </a:rPr>
              <a:t>pthread_detach</a:t>
            </a:r>
            <a:r>
              <a:rPr lang="en-US" altLang="zh-CN" dirty="0"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latin typeface="Consolas" panose="020B0609020204030204" pitchFamily="49" charset="0"/>
              </a:rPr>
              <a:t>pthread_t</a:t>
            </a:r>
            <a:r>
              <a:rPr lang="en-US" altLang="zh-CN" dirty="0">
                <a:latin typeface="Consolas" panose="020B0609020204030204" pitchFamily="49" charset="0"/>
              </a:rPr>
              <a:t> </a:t>
            </a:r>
            <a:r>
              <a:rPr lang="en-US" altLang="zh-CN" dirty="0" err="1">
                <a:latin typeface="Consolas" panose="020B0609020204030204" pitchFamily="49" charset="0"/>
              </a:rPr>
              <a:t>tid</a:t>
            </a:r>
            <a:r>
              <a:rPr lang="en-US" altLang="zh-CN" dirty="0"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pitchFamily="49" charset="0"/>
              </a:rPr>
              <a:t>初始化：</a:t>
            </a:r>
            <a:r>
              <a:rPr lang="en-US" altLang="zh-CN" dirty="0">
                <a:latin typeface="Consolas" panose="020B0609020204030204" pitchFamily="49" charset="0"/>
              </a:rPr>
              <a:t>int </a:t>
            </a:r>
            <a:r>
              <a:rPr lang="en-US" altLang="zh-CN" dirty="0" err="1">
                <a:latin typeface="Consolas" panose="020B0609020204030204" pitchFamily="49" charset="0"/>
              </a:rPr>
              <a:t>pthread_once</a:t>
            </a:r>
            <a:r>
              <a:rPr lang="en-US" altLang="zh-CN" dirty="0"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latin typeface="Consolas" panose="020B0609020204030204" pitchFamily="49" charset="0"/>
              </a:rPr>
              <a:t>pthread_once_t</a:t>
            </a:r>
            <a:r>
              <a:rPr lang="en-US" altLang="zh-CN" dirty="0">
                <a:latin typeface="Consolas" panose="020B0609020204030204" pitchFamily="49" charset="0"/>
              </a:rPr>
              <a:t> *</a:t>
            </a:r>
            <a:r>
              <a:rPr lang="en-US" altLang="zh-CN" dirty="0" err="1">
                <a:latin typeface="Consolas" panose="020B0609020204030204" pitchFamily="49" charset="0"/>
              </a:rPr>
              <a:t>once_control</a:t>
            </a:r>
            <a:r>
              <a:rPr lang="en-US" altLang="zh-CN" dirty="0">
                <a:latin typeface="Consolas" panose="020B0609020204030204" pitchFamily="49" charset="0"/>
              </a:rPr>
              <a:t>, void (*</a:t>
            </a:r>
            <a:r>
              <a:rPr lang="en-US" altLang="zh-CN" dirty="0" err="1">
                <a:latin typeface="Consolas" panose="020B0609020204030204" pitchFamily="49" charset="0"/>
              </a:rPr>
              <a:t>init_routine</a:t>
            </a:r>
            <a:r>
              <a:rPr lang="en-US" altLang="zh-CN" dirty="0">
                <a:latin typeface="Consolas" panose="020B0609020204030204" pitchFamily="49" charset="0"/>
              </a:rPr>
              <a:t>)(void));</a:t>
            </a:r>
          </a:p>
        </p:txBody>
      </p:sp>
    </p:spTree>
    <p:extLst>
      <p:ext uri="{BB962C8B-B14F-4D97-AF65-F5344CB8AC3E}">
        <p14:creationId xmlns:p14="http://schemas.microsoft.com/office/powerpoint/2010/main" val="12540125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DCF8F-7232-13C9-8D15-843F1509B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7FC27DC-E9AB-8961-3186-339D0ACF9268}"/>
              </a:ext>
            </a:extLst>
          </p:cNvPr>
          <p:cNvSpPr txBox="1"/>
          <p:nvPr/>
        </p:nvSpPr>
        <p:spPr>
          <a:xfrm>
            <a:off x="741218" y="775946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/>
              <a:t>编程实现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641E307-0D7F-1FB0-2A4C-37AFE5EE554F}"/>
              </a:ext>
            </a:extLst>
          </p:cNvPr>
          <p:cNvSpPr txBox="1"/>
          <p:nvPr/>
        </p:nvSpPr>
        <p:spPr>
          <a:xfrm>
            <a:off x="5108806" y="58846"/>
            <a:ext cx="7083194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altLang="zh-CN" sz="1200" dirty="0">
              <a:latin typeface="Consolas" panose="020B0609020204030204" pitchFamily="49" charset="0"/>
            </a:endParaRPr>
          </a:p>
          <a:p>
            <a:r>
              <a:rPr lang="en-GB" altLang="zh-CN" sz="1200" dirty="0">
                <a:latin typeface="Consolas" panose="020B0609020204030204" pitchFamily="49" charset="0"/>
              </a:rPr>
              <a:t>#include "</a:t>
            </a:r>
            <a:r>
              <a:rPr lang="en-GB" altLang="zh-CN" sz="1200" dirty="0" err="1">
                <a:latin typeface="Consolas" panose="020B0609020204030204" pitchFamily="49" charset="0"/>
              </a:rPr>
              <a:t>csapp.h</a:t>
            </a:r>
            <a:r>
              <a:rPr lang="en-GB" altLang="zh-CN" sz="1200" dirty="0">
                <a:latin typeface="Consolas" panose="020B0609020204030204" pitchFamily="49" charset="0"/>
              </a:rPr>
              <a:t>"</a:t>
            </a:r>
          </a:p>
          <a:p>
            <a:endParaRPr lang="en-GB" altLang="zh-CN" sz="1200" dirty="0">
              <a:latin typeface="Consolas" panose="020B0609020204030204" pitchFamily="49" charset="0"/>
            </a:endParaRPr>
          </a:p>
          <a:p>
            <a:r>
              <a:rPr lang="en-GB" altLang="zh-CN" sz="1200" dirty="0">
                <a:latin typeface="Consolas" panose="020B0609020204030204" pitchFamily="49" charset="0"/>
              </a:rPr>
              <a:t>void echo(int </a:t>
            </a:r>
            <a:r>
              <a:rPr lang="en-GB" altLang="zh-CN" sz="1200" dirty="0" err="1">
                <a:latin typeface="Consolas" panose="020B0609020204030204" pitchFamily="49" charset="0"/>
              </a:rPr>
              <a:t>connfd</a:t>
            </a:r>
            <a:r>
              <a:rPr lang="en-GB" altLang="zh-CN" sz="1200" dirty="0">
                <a:latin typeface="Consolas" panose="020B0609020204030204" pitchFamily="49" charset="0"/>
              </a:rPr>
              <a:t>);</a:t>
            </a:r>
          </a:p>
          <a:p>
            <a:r>
              <a:rPr lang="en-GB" altLang="zh-CN" sz="1200" dirty="0">
                <a:latin typeface="Consolas" panose="020B0609020204030204" pitchFamily="49" charset="0"/>
              </a:rPr>
              <a:t>void *thread(void *</a:t>
            </a:r>
            <a:r>
              <a:rPr lang="en-GB" altLang="zh-CN" sz="1200" dirty="0" err="1">
                <a:latin typeface="Consolas" panose="020B0609020204030204" pitchFamily="49" charset="0"/>
              </a:rPr>
              <a:t>vargp</a:t>
            </a:r>
            <a:r>
              <a:rPr lang="en-GB" altLang="zh-CN" sz="1200" dirty="0">
                <a:latin typeface="Consolas" panose="020B0609020204030204" pitchFamily="49" charset="0"/>
              </a:rPr>
              <a:t>);</a:t>
            </a:r>
          </a:p>
          <a:p>
            <a:endParaRPr lang="en-GB" altLang="zh-CN" sz="1200" dirty="0">
              <a:latin typeface="Consolas" panose="020B0609020204030204" pitchFamily="49" charset="0"/>
            </a:endParaRPr>
          </a:p>
          <a:p>
            <a:r>
              <a:rPr lang="en-GB" altLang="zh-CN" sz="1200" dirty="0">
                <a:latin typeface="Consolas" panose="020B0609020204030204" pitchFamily="49" charset="0"/>
              </a:rPr>
              <a:t>int main(int </a:t>
            </a:r>
            <a:r>
              <a:rPr lang="en-GB" altLang="zh-CN" sz="1200" dirty="0" err="1">
                <a:latin typeface="Consolas" panose="020B0609020204030204" pitchFamily="49" charset="0"/>
              </a:rPr>
              <a:t>argc</a:t>
            </a:r>
            <a:r>
              <a:rPr lang="en-GB" altLang="zh-CN" sz="1200" dirty="0">
                <a:latin typeface="Consolas" panose="020B0609020204030204" pitchFamily="49" charset="0"/>
              </a:rPr>
              <a:t>, char **</a:t>
            </a:r>
            <a:r>
              <a:rPr lang="en-GB" altLang="zh-CN" sz="1200" dirty="0" err="1">
                <a:latin typeface="Consolas" panose="020B0609020204030204" pitchFamily="49" charset="0"/>
              </a:rPr>
              <a:t>argv</a:t>
            </a:r>
            <a:r>
              <a:rPr lang="en-GB" altLang="zh-CN" sz="1200" dirty="0">
                <a:latin typeface="Consolas" panose="020B0609020204030204" pitchFamily="49" charset="0"/>
              </a:rPr>
              <a:t>)</a:t>
            </a:r>
          </a:p>
          <a:p>
            <a:r>
              <a:rPr lang="en-GB" altLang="zh-CN" sz="1200" dirty="0">
                <a:latin typeface="Consolas" panose="020B0609020204030204" pitchFamily="49" charset="0"/>
              </a:rPr>
              <a:t>{</a:t>
            </a:r>
          </a:p>
          <a:p>
            <a:r>
              <a:rPr lang="en-GB" altLang="zh-CN" sz="1200" dirty="0">
                <a:latin typeface="Consolas" panose="020B0609020204030204" pitchFamily="49" charset="0"/>
              </a:rPr>
              <a:t>	int </a:t>
            </a:r>
            <a:r>
              <a:rPr lang="en-GB" altLang="zh-CN" sz="1200" dirty="0" err="1">
                <a:latin typeface="Consolas" panose="020B0609020204030204" pitchFamily="49" charset="0"/>
              </a:rPr>
              <a:t>listenfd</a:t>
            </a:r>
            <a:r>
              <a:rPr lang="en-GB" altLang="zh-CN" sz="1200" dirty="0">
                <a:latin typeface="Consolas" panose="020B0609020204030204" pitchFamily="49" charset="0"/>
              </a:rPr>
              <a:t>, *</a:t>
            </a:r>
            <a:r>
              <a:rPr lang="en-GB" altLang="zh-CN" sz="1200" dirty="0" err="1">
                <a:latin typeface="Consolas" panose="020B0609020204030204" pitchFamily="49" charset="0"/>
              </a:rPr>
              <a:t>connfdp</a:t>
            </a:r>
            <a:r>
              <a:rPr lang="en-GB" altLang="zh-CN" sz="1200" dirty="0">
                <a:latin typeface="Consolas" panose="020B0609020204030204" pitchFamily="49" charset="0"/>
              </a:rPr>
              <a:t>;</a:t>
            </a:r>
          </a:p>
          <a:p>
            <a:r>
              <a:rPr lang="en-GB" altLang="zh-CN" sz="1200" dirty="0">
                <a:latin typeface="Consolas" panose="020B0609020204030204" pitchFamily="49" charset="0"/>
              </a:rPr>
              <a:t>	</a:t>
            </a:r>
            <a:r>
              <a:rPr lang="en-GB" altLang="zh-CN" sz="1200" dirty="0" err="1">
                <a:latin typeface="Consolas" panose="020B0609020204030204" pitchFamily="49" charset="0"/>
              </a:rPr>
              <a:t>socklen_t</a:t>
            </a:r>
            <a:r>
              <a:rPr lang="en-GB" altLang="zh-CN" sz="1200" dirty="0">
                <a:latin typeface="Consolas" panose="020B0609020204030204" pitchFamily="49" charset="0"/>
              </a:rPr>
              <a:t> </a:t>
            </a:r>
            <a:r>
              <a:rPr lang="en-GB" altLang="zh-CN" sz="1200" dirty="0" err="1">
                <a:latin typeface="Consolas" panose="020B0609020204030204" pitchFamily="49" charset="0"/>
              </a:rPr>
              <a:t>clientlen</a:t>
            </a:r>
            <a:r>
              <a:rPr lang="en-GB" altLang="zh-CN" sz="1200" dirty="0">
                <a:latin typeface="Consolas" panose="020B0609020204030204" pitchFamily="49" charset="0"/>
              </a:rPr>
              <a:t>;</a:t>
            </a:r>
          </a:p>
          <a:p>
            <a:r>
              <a:rPr lang="en-GB" altLang="zh-CN" sz="1200" dirty="0">
                <a:latin typeface="Consolas" panose="020B0609020204030204" pitchFamily="49" charset="0"/>
              </a:rPr>
              <a:t>	struct </a:t>
            </a:r>
            <a:r>
              <a:rPr lang="en-GB" altLang="zh-CN" sz="1200" dirty="0" err="1">
                <a:latin typeface="Consolas" panose="020B0609020204030204" pitchFamily="49" charset="0"/>
              </a:rPr>
              <a:t>sockaddr_storage</a:t>
            </a:r>
            <a:r>
              <a:rPr lang="en-GB" altLang="zh-CN" sz="1200" dirty="0">
                <a:latin typeface="Consolas" panose="020B0609020204030204" pitchFamily="49" charset="0"/>
              </a:rPr>
              <a:t> </a:t>
            </a:r>
            <a:r>
              <a:rPr lang="en-GB" altLang="zh-CN" sz="1200" dirty="0" err="1">
                <a:latin typeface="Consolas" panose="020B0609020204030204" pitchFamily="49" charset="0"/>
              </a:rPr>
              <a:t>clientaddr</a:t>
            </a:r>
            <a:r>
              <a:rPr lang="en-GB" altLang="zh-CN" sz="1200" dirty="0">
                <a:latin typeface="Consolas" panose="020B0609020204030204" pitchFamily="49" charset="0"/>
              </a:rPr>
              <a:t>;</a:t>
            </a:r>
          </a:p>
          <a:p>
            <a:r>
              <a:rPr lang="en-GB" altLang="zh-CN" sz="1200" dirty="0">
                <a:latin typeface="Consolas" panose="020B0609020204030204" pitchFamily="49" charset="0"/>
              </a:rPr>
              <a:t>	</a:t>
            </a:r>
            <a:r>
              <a:rPr lang="en-GB" altLang="zh-CN" sz="1200" dirty="0" err="1">
                <a:latin typeface="Consolas" panose="020B0609020204030204" pitchFamily="49" charset="0"/>
              </a:rPr>
              <a:t>pthread_t</a:t>
            </a:r>
            <a:r>
              <a:rPr lang="en-GB" altLang="zh-CN" sz="1200" dirty="0">
                <a:latin typeface="Consolas" panose="020B0609020204030204" pitchFamily="49" charset="0"/>
              </a:rPr>
              <a:t> </a:t>
            </a:r>
            <a:r>
              <a:rPr lang="en-GB" altLang="zh-CN" sz="1200" dirty="0" err="1">
                <a:latin typeface="Consolas" panose="020B0609020204030204" pitchFamily="49" charset="0"/>
              </a:rPr>
              <a:t>tid</a:t>
            </a:r>
            <a:r>
              <a:rPr lang="en-GB" altLang="zh-CN" sz="1200" dirty="0">
                <a:latin typeface="Consolas" panose="020B0609020204030204" pitchFamily="49" charset="0"/>
              </a:rPr>
              <a:t>;</a:t>
            </a:r>
          </a:p>
          <a:p>
            <a:endParaRPr lang="en-GB" altLang="zh-CN" sz="1200" dirty="0">
              <a:latin typeface="Consolas" panose="020B0609020204030204" pitchFamily="49" charset="0"/>
            </a:endParaRPr>
          </a:p>
          <a:p>
            <a:r>
              <a:rPr lang="en-GB" altLang="zh-CN" sz="1200" dirty="0">
                <a:latin typeface="Consolas" panose="020B0609020204030204" pitchFamily="49" charset="0"/>
              </a:rPr>
              <a:t>	if (</a:t>
            </a:r>
            <a:r>
              <a:rPr lang="en-GB" altLang="zh-CN" sz="1200" dirty="0" err="1">
                <a:latin typeface="Consolas" panose="020B0609020204030204" pitchFamily="49" charset="0"/>
              </a:rPr>
              <a:t>argc</a:t>
            </a:r>
            <a:r>
              <a:rPr lang="en-GB" altLang="zh-CN" sz="1200" dirty="0">
                <a:latin typeface="Consolas" panose="020B0609020204030204" pitchFamily="49" charset="0"/>
              </a:rPr>
              <a:t> != 2) {</a:t>
            </a:r>
          </a:p>
          <a:p>
            <a:r>
              <a:rPr lang="en-GB" altLang="zh-CN" sz="1200" dirty="0">
                <a:latin typeface="Consolas" panose="020B0609020204030204" pitchFamily="49" charset="0"/>
              </a:rPr>
              <a:t>		</a:t>
            </a:r>
            <a:r>
              <a:rPr lang="en-GB" altLang="zh-CN" sz="1200" dirty="0" err="1">
                <a:latin typeface="Consolas" panose="020B0609020204030204" pitchFamily="49" charset="0"/>
              </a:rPr>
              <a:t>fprintf</a:t>
            </a:r>
            <a:r>
              <a:rPr lang="en-GB" altLang="zh-CN" sz="1200" dirty="0">
                <a:latin typeface="Consolas" panose="020B0609020204030204" pitchFamily="49" charset="0"/>
              </a:rPr>
              <a:t>(stderr, "usage: %s &lt;port&gt;\n", </a:t>
            </a:r>
            <a:r>
              <a:rPr lang="en-GB" altLang="zh-CN" sz="1200" dirty="0" err="1">
                <a:latin typeface="Consolas" panose="020B0609020204030204" pitchFamily="49" charset="0"/>
              </a:rPr>
              <a:t>argv</a:t>
            </a:r>
            <a:r>
              <a:rPr lang="en-GB" altLang="zh-CN" sz="1200" dirty="0">
                <a:latin typeface="Consolas" panose="020B0609020204030204" pitchFamily="49" charset="0"/>
              </a:rPr>
              <a:t>[0]);</a:t>
            </a:r>
          </a:p>
          <a:p>
            <a:r>
              <a:rPr lang="en-GB" altLang="zh-CN" sz="1200" dirty="0">
                <a:latin typeface="Consolas" panose="020B0609020204030204" pitchFamily="49" charset="0"/>
              </a:rPr>
              <a:t>		exit(0);</a:t>
            </a:r>
          </a:p>
          <a:p>
            <a:r>
              <a:rPr lang="en-GB" altLang="zh-CN" sz="1200" dirty="0">
                <a:latin typeface="Consolas" panose="020B0609020204030204" pitchFamily="49" charset="0"/>
              </a:rPr>
              <a:t>	}</a:t>
            </a:r>
          </a:p>
          <a:p>
            <a:r>
              <a:rPr lang="en-GB" altLang="zh-CN" sz="1200" dirty="0">
                <a:latin typeface="Consolas" panose="020B0609020204030204" pitchFamily="49" charset="0"/>
              </a:rPr>
              <a:t>	</a:t>
            </a:r>
            <a:r>
              <a:rPr lang="en-GB" altLang="zh-CN" sz="1200" dirty="0" err="1">
                <a:latin typeface="Consolas" panose="020B0609020204030204" pitchFamily="49" charset="0"/>
              </a:rPr>
              <a:t>listenfd</a:t>
            </a:r>
            <a:r>
              <a:rPr lang="en-GB" altLang="zh-CN" sz="1200" dirty="0">
                <a:latin typeface="Consolas" panose="020B0609020204030204" pitchFamily="49" charset="0"/>
              </a:rPr>
              <a:t> = </a:t>
            </a:r>
            <a:r>
              <a:rPr lang="en-GB" altLang="zh-CN" sz="1200" dirty="0" err="1">
                <a:latin typeface="Consolas" panose="020B0609020204030204" pitchFamily="49" charset="0"/>
              </a:rPr>
              <a:t>Open_listenfd</a:t>
            </a:r>
            <a:r>
              <a:rPr lang="en-GB" altLang="zh-CN" sz="1200" dirty="0">
                <a:latin typeface="Consolas" panose="020B0609020204030204" pitchFamily="49" charset="0"/>
              </a:rPr>
              <a:t>(</a:t>
            </a:r>
            <a:r>
              <a:rPr lang="en-GB" altLang="zh-CN" sz="1200" dirty="0" err="1">
                <a:latin typeface="Consolas" panose="020B0609020204030204" pitchFamily="49" charset="0"/>
              </a:rPr>
              <a:t>argv</a:t>
            </a:r>
            <a:r>
              <a:rPr lang="en-GB" altLang="zh-CN" sz="1200" dirty="0">
                <a:latin typeface="Consolas" panose="020B0609020204030204" pitchFamily="49" charset="0"/>
              </a:rPr>
              <a:t>[1]); 18</a:t>
            </a:r>
          </a:p>
          <a:p>
            <a:r>
              <a:rPr lang="en-GB" altLang="zh-CN" sz="1200" dirty="0">
                <a:latin typeface="Consolas" panose="020B0609020204030204" pitchFamily="49" charset="0"/>
              </a:rPr>
              <a:t>	while (1) {</a:t>
            </a:r>
          </a:p>
          <a:p>
            <a:r>
              <a:rPr lang="en-GB" altLang="zh-CN" sz="1200" dirty="0">
                <a:latin typeface="Consolas" panose="020B0609020204030204" pitchFamily="49" charset="0"/>
              </a:rPr>
              <a:t>		</a:t>
            </a:r>
            <a:r>
              <a:rPr lang="en-GB" altLang="zh-CN" sz="1200" dirty="0" err="1">
                <a:latin typeface="Consolas" panose="020B0609020204030204" pitchFamily="49" charset="0"/>
              </a:rPr>
              <a:t>clientlen</a:t>
            </a:r>
            <a:r>
              <a:rPr lang="en-GB" altLang="zh-CN" sz="1200" dirty="0">
                <a:latin typeface="Consolas" panose="020B0609020204030204" pitchFamily="49" charset="0"/>
              </a:rPr>
              <a:t>=</a:t>
            </a:r>
            <a:r>
              <a:rPr lang="en-GB" altLang="zh-CN" sz="1200" dirty="0" err="1">
                <a:latin typeface="Consolas" panose="020B0609020204030204" pitchFamily="49" charset="0"/>
              </a:rPr>
              <a:t>sizeof</a:t>
            </a:r>
            <a:r>
              <a:rPr lang="en-GB" altLang="zh-CN" sz="1200" dirty="0">
                <a:latin typeface="Consolas" panose="020B0609020204030204" pitchFamily="49" charset="0"/>
              </a:rPr>
              <a:t>(struct </a:t>
            </a:r>
            <a:r>
              <a:rPr lang="en-GB" altLang="zh-CN" sz="1200" dirty="0" err="1">
                <a:latin typeface="Consolas" panose="020B0609020204030204" pitchFamily="49" charset="0"/>
              </a:rPr>
              <a:t>sockaddr_storage</a:t>
            </a:r>
            <a:r>
              <a:rPr lang="en-GB" altLang="zh-CN" sz="1200" dirty="0">
                <a:latin typeface="Consolas" panose="020B0609020204030204" pitchFamily="49" charset="0"/>
              </a:rPr>
              <a:t>);</a:t>
            </a:r>
          </a:p>
          <a:p>
            <a:r>
              <a:rPr lang="en-GB" altLang="zh-CN" sz="1200" dirty="0">
                <a:latin typeface="Consolas" panose="020B0609020204030204" pitchFamily="49" charset="0"/>
              </a:rPr>
              <a:t>		</a:t>
            </a:r>
            <a:r>
              <a:rPr lang="en-GB" altLang="zh-CN" sz="1200" dirty="0" err="1">
                <a:solidFill>
                  <a:srgbClr val="FF0000"/>
                </a:solidFill>
                <a:latin typeface="Consolas" panose="020B0609020204030204" pitchFamily="49" charset="0"/>
              </a:rPr>
              <a:t>connfdp</a:t>
            </a:r>
            <a:r>
              <a:rPr lang="en-GB" altLang="zh-CN" sz="1200" dirty="0">
                <a:solidFill>
                  <a:srgbClr val="FF0000"/>
                </a:solidFill>
                <a:latin typeface="Consolas" panose="020B0609020204030204" pitchFamily="49" charset="0"/>
              </a:rPr>
              <a:t> = Malloc(</a:t>
            </a:r>
            <a:r>
              <a:rPr lang="en-GB" altLang="zh-CN" sz="1200" dirty="0" err="1">
                <a:solidFill>
                  <a:srgbClr val="FF0000"/>
                </a:solidFill>
                <a:latin typeface="Consolas" panose="020B0609020204030204" pitchFamily="49" charset="0"/>
              </a:rPr>
              <a:t>sizeof</a:t>
            </a:r>
            <a:r>
              <a:rPr lang="en-GB" altLang="zh-CN" sz="1200" dirty="0">
                <a:solidFill>
                  <a:srgbClr val="FF0000"/>
                </a:solidFill>
                <a:latin typeface="Consolas" panose="020B0609020204030204" pitchFamily="49" charset="0"/>
              </a:rPr>
              <a:t>(int));</a:t>
            </a:r>
          </a:p>
          <a:p>
            <a:r>
              <a:rPr lang="en-GB" altLang="zh-CN" sz="1200" dirty="0">
                <a:latin typeface="Consolas" panose="020B0609020204030204" pitchFamily="49" charset="0"/>
              </a:rPr>
              <a:t>		*</a:t>
            </a:r>
            <a:r>
              <a:rPr lang="en-GB" altLang="zh-CN" sz="1200" dirty="0" err="1">
                <a:latin typeface="Consolas" panose="020B0609020204030204" pitchFamily="49" charset="0"/>
              </a:rPr>
              <a:t>connfdp</a:t>
            </a:r>
            <a:r>
              <a:rPr lang="en-GB" altLang="zh-CN" sz="1200" dirty="0">
                <a:latin typeface="Consolas" panose="020B0609020204030204" pitchFamily="49" charset="0"/>
              </a:rPr>
              <a:t> = Accept(</a:t>
            </a:r>
            <a:r>
              <a:rPr lang="en-GB" altLang="zh-CN" sz="1200" dirty="0" err="1">
                <a:latin typeface="Consolas" panose="020B0609020204030204" pitchFamily="49" charset="0"/>
              </a:rPr>
              <a:t>listenfd</a:t>
            </a:r>
            <a:r>
              <a:rPr lang="en-GB" altLang="zh-CN" sz="1200" dirty="0">
                <a:latin typeface="Consolas" panose="020B0609020204030204" pitchFamily="49" charset="0"/>
              </a:rPr>
              <a:t>, (SA *) &amp;</a:t>
            </a:r>
            <a:r>
              <a:rPr lang="en-GB" altLang="zh-CN" sz="1200" dirty="0" err="1">
                <a:latin typeface="Consolas" panose="020B0609020204030204" pitchFamily="49" charset="0"/>
              </a:rPr>
              <a:t>clientaddr</a:t>
            </a:r>
            <a:r>
              <a:rPr lang="en-GB" altLang="zh-CN" sz="1200" dirty="0">
                <a:latin typeface="Consolas" panose="020B0609020204030204" pitchFamily="49" charset="0"/>
              </a:rPr>
              <a:t>, &amp;</a:t>
            </a:r>
            <a:r>
              <a:rPr lang="en-GB" altLang="zh-CN" sz="1200" dirty="0" err="1">
                <a:latin typeface="Consolas" panose="020B0609020204030204" pitchFamily="49" charset="0"/>
              </a:rPr>
              <a:t>clientlen</a:t>
            </a:r>
            <a:r>
              <a:rPr lang="en-GB" altLang="zh-CN" sz="1200" dirty="0">
                <a:latin typeface="Consolas" panose="020B0609020204030204" pitchFamily="49" charset="0"/>
              </a:rPr>
              <a:t>);</a:t>
            </a:r>
          </a:p>
          <a:p>
            <a:r>
              <a:rPr lang="en-GB" altLang="zh-CN" sz="1200" dirty="0">
                <a:latin typeface="Consolas" panose="020B0609020204030204" pitchFamily="49" charset="0"/>
              </a:rPr>
              <a:t>		</a:t>
            </a:r>
            <a:r>
              <a:rPr lang="en-GB" altLang="zh-CN" sz="1200" dirty="0" err="1">
                <a:latin typeface="Consolas" panose="020B0609020204030204" pitchFamily="49" charset="0"/>
              </a:rPr>
              <a:t>Pthread_create</a:t>
            </a:r>
            <a:r>
              <a:rPr lang="en-GB" altLang="zh-CN" sz="1200" dirty="0">
                <a:latin typeface="Consolas" panose="020B0609020204030204" pitchFamily="49" charset="0"/>
              </a:rPr>
              <a:t>(&amp;</a:t>
            </a:r>
            <a:r>
              <a:rPr lang="en-GB" altLang="zh-CN" sz="1200" dirty="0" err="1">
                <a:latin typeface="Consolas" panose="020B0609020204030204" pitchFamily="49" charset="0"/>
              </a:rPr>
              <a:t>tid</a:t>
            </a:r>
            <a:r>
              <a:rPr lang="en-GB" altLang="zh-CN" sz="1200" dirty="0">
                <a:latin typeface="Consolas" panose="020B0609020204030204" pitchFamily="49" charset="0"/>
              </a:rPr>
              <a:t>, NULL, thread, </a:t>
            </a:r>
            <a:r>
              <a:rPr lang="en-GB" altLang="zh-CN" sz="1200" dirty="0" err="1">
                <a:latin typeface="Consolas" panose="020B0609020204030204" pitchFamily="49" charset="0"/>
              </a:rPr>
              <a:t>connfdp</a:t>
            </a:r>
            <a:r>
              <a:rPr lang="en-GB" altLang="zh-CN" sz="1200" dirty="0">
                <a:latin typeface="Consolas" panose="020B0609020204030204" pitchFamily="49" charset="0"/>
              </a:rPr>
              <a:t>);</a:t>
            </a:r>
          </a:p>
          <a:p>
            <a:r>
              <a:rPr lang="en-GB" altLang="zh-CN" sz="1200" dirty="0">
                <a:latin typeface="Consolas" panose="020B0609020204030204" pitchFamily="49" charset="0"/>
              </a:rPr>
              <a:t>	}</a:t>
            </a:r>
          </a:p>
          <a:p>
            <a:r>
              <a:rPr lang="en-GB" altLang="zh-CN" sz="1200" dirty="0">
                <a:latin typeface="Consolas" panose="020B0609020204030204" pitchFamily="49" charset="0"/>
              </a:rPr>
              <a:t>}</a:t>
            </a:r>
          </a:p>
          <a:p>
            <a:endParaRPr lang="en-GB" altLang="zh-CN" sz="1200" dirty="0">
              <a:latin typeface="Consolas" panose="020B0609020204030204" pitchFamily="49" charset="0"/>
            </a:endParaRPr>
          </a:p>
          <a:p>
            <a:r>
              <a:rPr lang="en-GB" altLang="zh-CN" sz="1200" dirty="0">
                <a:latin typeface="Consolas" panose="020B0609020204030204" pitchFamily="49" charset="0"/>
              </a:rPr>
              <a:t>/* Thread routine */</a:t>
            </a:r>
          </a:p>
          <a:p>
            <a:r>
              <a:rPr lang="en-GB" altLang="zh-CN" sz="1200" dirty="0">
                <a:latin typeface="Consolas" panose="020B0609020204030204" pitchFamily="49" charset="0"/>
              </a:rPr>
              <a:t>void *thread(void *</a:t>
            </a:r>
            <a:r>
              <a:rPr lang="en-GB" altLang="zh-CN" sz="1200" dirty="0" err="1">
                <a:latin typeface="Consolas" panose="020B0609020204030204" pitchFamily="49" charset="0"/>
              </a:rPr>
              <a:t>vargp</a:t>
            </a:r>
            <a:r>
              <a:rPr lang="en-GB" altLang="zh-CN" sz="1200" dirty="0">
                <a:latin typeface="Consolas" panose="020B0609020204030204" pitchFamily="49" charset="0"/>
              </a:rPr>
              <a:t>)</a:t>
            </a:r>
          </a:p>
          <a:p>
            <a:r>
              <a:rPr lang="en-GB" altLang="zh-CN" sz="1200" dirty="0">
                <a:latin typeface="Consolas" panose="020B0609020204030204" pitchFamily="49" charset="0"/>
              </a:rPr>
              <a:t>{</a:t>
            </a:r>
          </a:p>
          <a:p>
            <a:r>
              <a:rPr lang="en-GB" altLang="zh-CN" sz="1200" dirty="0">
                <a:latin typeface="Consolas" panose="020B0609020204030204" pitchFamily="49" charset="0"/>
              </a:rPr>
              <a:t>	int </a:t>
            </a:r>
            <a:r>
              <a:rPr lang="en-GB" altLang="zh-CN" sz="1200" dirty="0" err="1">
                <a:latin typeface="Consolas" panose="020B0609020204030204" pitchFamily="49" charset="0"/>
              </a:rPr>
              <a:t>connfd</a:t>
            </a:r>
            <a:r>
              <a:rPr lang="en-GB" altLang="zh-CN" sz="1200" dirty="0">
                <a:latin typeface="Consolas" panose="020B0609020204030204" pitchFamily="49" charset="0"/>
              </a:rPr>
              <a:t> = *((int *)</a:t>
            </a:r>
            <a:r>
              <a:rPr lang="en-GB" altLang="zh-CN" sz="1200" dirty="0" err="1">
                <a:latin typeface="Consolas" panose="020B0609020204030204" pitchFamily="49" charset="0"/>
              </a:rPr>
              <a:t>vargp</a:t>
            </a:r>
            <a:r>
              <a:rPr lang="en-GB" altLang="zh-CN" sz="1200" dirty="0">
                <a:latin typeface="Consolas" panose="020B0609020204030204" pitchFamily="49" charset="0"/>
              </a:rPr>
              <a:t>);</a:t>
            </a:r>
          </a:p>
          <a:p>
            <a:r>
              <a:rPr lang="en-GB" altLang="zh-CN" sz="1200" dirty="0">
                <a:latin typeface="Consolas" panose="020B0609020204030204" pitchFamily="49" charset="0"/>
              </a:rPr>
              <a:t>	</a:t>
            </a:r>
            <a:r>
              <a:rPr lang="en-GB" altLang="zh-CN" sz="1200" dirty="0" err="1">
                <a:solidFill>
                  <a:srgbClr val="FF0000"/>
                </a:solidFill>
                <a:latin typeface="Consolas" panose="020B0609020204030204" pitchFamily="49" charset="0"/>
              </a:rPr>
              <a:t>Pthread_detach</a:t>
            </a:r>
            <a:r>
              <a:rPr lang="en-GB" altLang="zh-CN" sz="1200" dirty="0">
                <a:solidFill>
                  <a:srgbClr val="FF0000"/>
                </a:solidFill>
                <a:latin typeface="Consolas" panose="020B0609020204030204" pitchFamily="49" charset="0"/>
              </a:rPr>
              <a:t>(</a:t>
            </a:r>
            <a:r>
              <a:rPr lang="en-GB" altLang="zh-CN" sz="1200" dirty="0" err="1">
                <a:solidFill>
                  <a:srgbClr val="FF0000"/>
                </a:solidFill>
                <a:latin typeface="Consolas" panose="020B0609020204030204" pitchFamily="49" charset="0"/>
              </a:rPr>
              <a:t>pthread_self</a:t>
            </a:r>
            <a:r>
              <a:rPr lang="en-GB" altLang="zh-CN" sz="1200" dirty="0">
                <a:solidFill>
                  <a:srgbClr val="FF0000"/>
                </a:solidFill>
                <a:latin typeface="Consolas" panose="020B0609020204030204" pitchFamily="49" charset="0"/>
              </a:rPr>
              <a:t>());</a:t>
            </a:r>
          </a:p>
          <a:p>
            <a:r>
              <a:rPr lang="en-GB" altLang="zh-CN" sz="1200" dirty="0">
                <a:latin typeface="Consolas" panose="020B0609020204030204" pitchFamily="49" charset="0"/>
              </a:rPr>
              <a:t>	</a:t>
            </a:r>
            <a:r>
              <a:rPr lang="en-GB" altLang="zh-CN" sz="1200" dirty="0">
                <a:solidFill>
                  <a:srgbClr val="FF0000"/>
                </a:solidFill>
                <a:latin typeface="Consolas" panose="020B0609020204030204" pitchFamily="49" charset="0"/>
              </a:rPr>
              <a:t>Free(</a:t>
            </a:r>
            <a:r>
              <a:rPr lang="en-GB" altLang="zh-CN" sz="1200" dirty="0" err="1">
                <a:solidFill>
                  <a:srgbClr val="FF0000"/>
                </a:solidFill>
                <a:latin typeface="Consolas" panose="020B0609020204030204" pitchFamily="49" charset="0"/>
              </a:rPr>
              <a:t>vargp</a:t>
            </a:r>
            <a:r>
              <a:rPr lang="en-GB" altLang="zh-CN" sz="1200" dirty="0">
                <a:solidFill>
                  <a:srgbClr val="FF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GB" altLang="zh-CN" sz="1200" dirty="0">
                <a:latin typeface="Consolas" panose="020B0609020204030204" pitchFamily="49" charset="0"/>
              </a:rPr>
              <a:t>	echo(</a:t>
            </a:r>
            <a:r>
              <a:rPr lang="en-GB" altLang="zh-CN" sz="1200" dirty="0" err="1">
                <a:latin typeface="Consolas" panose="020B0609020204030204" pitchFamily="49" charset="0"/>
              </a:rPr>
              <a:t>connfd</a:t>
            </a:r>
            <a:r>
              <a:rPr lang="en-GB" altLang="zh-CN" sz="1200" dirty="0">
                <a:latin typeface="Consolas" panose="020B0609020204030204" pitchFamily="49" charset="0"/>
              </a:rPr>
              <a:t>);</a:t>
            </a:r>
          </a:p>
          <a:p>
            <a:r>
              <a:rPr lang="en-GB" altLang="zh-CN" sz="1200" dirty="0">
                <a:latin typeface="Consolas" panose="020B0609020204030204" pitchFamily="49" charset="0"/>
              </a:rPr>
              <a:t>	</a:t>
            </a:r>
            <a:r>
              <a:rPr lang="en-GB" altLang="zh-CN" sz="1200" dirty="0">
                <a:solidFill>
                  <a:srgbClr val="FF0000"/>
                </a:solidFill>
                <a:latin typeface="Consolas" panose="020B0609020204030204" pitchFamily="49" charset="0"/>
              </a:rPr>
              <a:t>Close(</a:t>
            </a:r>
            <a:r>
              <a:rPr lang="en-GB" altLang="zh-CN" sz="1200" dirty="0" err="1">
                <a:solidFill>
                  <a:srgbClr val="FF0000"/>
                </a:solidFill>
                <a:latin typeface="Consolas" panose="020B0609020204030204" pitchFamily="49" charset="0"/>
              </a:rPr>
              <a:t>connfd</a:t>
            </a:r>
            <a:r>
              <a:rPr lang="en-GB" altLang="zh-CN" sz="1200" dirty="0">
                <a:solidFill>
                  <a:srgbClr val="FF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GB" altLang="zh-CN" sz="1200" dirty="0">
                <a:latin typeface="Consolas" panose="020B0609020204030204" pitchFamily="49" charset="0"/>
              </a:rPr>
              <a:t>	return NULL;</a:t>
            </a:r>
          </a:p>
          <a:p>
            <a:r>
              <a:rPr lang="en-GB" altLang="zh-CN" sz="1200" dirty="0">
                <a:latin typeface="Consolas" panose="020B0609020204030204" pitchFamily="49" charset="0"/>
              </a:rPr>
              <a:t>}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2961F6F-72C1-D49E-EF2E-59F69C4E9764}"/>
              </a:ext>
            </a:extLst>
          </p:cNvPr>
          <p:cNvSpPr txBox="1"/>
          <p:nvPr/>
        </p:nvSpPr>
        <p:spPr>
          <a:xfrm>
            <a:off x="741218" y="1744277"/>
            <a:ext cx="4092039" cy="4614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使用</a:t>
            </a:r>
            <a:r>
              <a:rPr lang="en-US" altLang="zh-CN" dirty="0"/>
              <a:t>malloc()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在</a:t>
            </a:r>
            <a:r>
              <a:rPr lang="en-US" altLang="zh-CN" dirty="0"/>
              <a:t>thread()</a:t>
            </a:r>
            <a:r>
              <a:rPr lang="zh-CN" altLang="en-US" dirty="0"/>
              <a:t>中</a:t>
            </a:r>
            <a:r>
              <a:rPr lang="en-US" altLang="zh-CN" dirty="0"/>
              <a:t>free()</a:t>
            </a:r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在</a:t>
            </a:r>
            <a:r>
              <a:rPr lang="en-US" altLang="zh-CN" dirty="0"/>
              <a:t>detached</a:t>
            </a:r>
            <a:r>
              <a:rPr lang="zh-CN" altLang="en-US" dirty="0"/>
              <a:t>模式下运行线程以防止内存泄露（线程</a:t>
            </a:r>
            <a:r>
              <a:rPr lang="en-US" altLang="zh-CN" dirty="0"/>
              <a:t>joinable</a:t>
            </a:r>
            <a:r>
              <a:rPr lang="zh-CN" altLang="en-US" dirty="0"/>
              <a:t>或</a:t>
            </a:r>
            <a:r>
              <a:rPr lang="en-US" altLang="zh-CN" dirty="0"/>
              <a:t>detached</a:t>
            </a:r>
            <a:r>
              <a:rPr lang="zh-CN" altLang="en-US" dirty="0"/>
              <a:t>）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关闭</a:t>
            </a:r>
            <a:r>
              <a:rPr lang="en-US" altLang="zh-CN" dirty="0" err="1"/>
              <a:t>connfd</a:t>
            </a:r>
            <a:r>
              <a:rPr lang="zh-CN" altLang="en-US" dirty="0"/>
              <a:t>每个进程关闭自己用完的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避免</a:t>
            </a:r>
            <a:r>
              <a:rPr lang="en-US" altLang="zh-CN" dirty="0"/>
              <a:t>unintended sharing</a:t>
            </a:r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线程调用的所有函数都要是线程安全的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516209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DBE9B-DF5E-EEE3-DDC1-2AF123110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9A839FA-72FD-BE62-9AD3-5D38890F1AF0}"/>
              </a:ext>
            </a:extLst>
          </p:cNvPr>
          <p:cNvSpPr txBox="1"/>
          <p:nvPr/>
        </p:nvSpPr>
        <p:spPr>
          <a:xfrm>
            <a:off x="741218" y="775946"/>
            <a:ext cx="45961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/>
              <a:t>Unintended Sharing</a:t>
            </a:r>
            <a:endParaRPr lang="zh-CN" altLang="en-US" sz="36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8258AA7-7A27-A864-888D-4FCD2CA639A9}"/>
              </a:ext>
            </a:extLst>
          </p:cNvPr>
          <p:cNvSpPr txBox="1"/>
          <p:nvPr/>
        </p:nvSpPr>
        <p:spPr>
          <a:xfrm>
            <a:off x="9569404" y="2042771"/>
            <a:ext cx="1926171" cy="576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/>
              <a:t>Race test </a:t>
            </a:r>
            <a:r>
              <a:rPr lang="zh-CN" altLang="en-US" sz="2400" dirty="0"/>
              <a:t>↑</a:t>
            </a:r>
            <a:endParaRPr lang="en-US" altLang="zh-CN" sz="24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1208537-142F-4485-AC61-04D87E5ADF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866" y="1884426"/>
            <a:ext cx="8036114" cy="103550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10C6812-E5DC-9E98-D8A6-C6E63C7C4C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8757" y="2919933"/>
            <a:ext cx="7293243" cy="393806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F3C664D-7B41-0B52-79F7-CE45A5979C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3960" y="0"/>
            <a:ext cx="6638040" cy="1884426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D052CBE9-A2A0-87D2-3F84-E2E8BA7BF36F}"/>
              </a:ext>
            </a:extLst>
          </p:cNvPr>
          <p:cNvSpPr txBox="1"/>
          <p:nvPr/>
        </p:nvSpPr>
        <p:spPr>
          <a:xfrm>
            <a:off x="741218" y="3135087"/>
            <a:ext cx="4092039" cy="3363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 err="1"/>
              <a:t>connfd</a:t>
            </a:r>
            <a:r>
              <a:rPr lang="zh-CN" altLang="en-US" dirty="0"/>
              <a:t>是主线程栈上的一个局部变量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主线程把</a:t>
            </a:r>
            <a:r>
              <a:rPr lang="en-US" altLang="zh-CN" dirty="0"/>
              <a:t>&amp;</a:t>
            </a:r>
            <a:r>
              <a:rPr lang="en-US" altLang="zh-CN" dirty="0" err="1"/>
              <a:t>connfd</a:t>
            </a:r>
            <a:r>
              <a:rPr lang="zh-CN" altLang="en-US" dirty="0"/>
              <a:t>传给了对等线程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Race: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理想情况：对等线程立即读取*</a:t>
            </a:r>
            <a:r>
              <a:rPr lang="en-US" altLang="zh-CN" dirty="0" err="1"/>
              <a:t>vargp</a:t>
            </a:r>
            <a:r>
              <a:rPr lang="zh-CN" altLang="en-US" dirty="0"/>
              <a:t>拿到文件描述符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现实情况：主线程在对等线程读之前执行</a:t>
            </a:r>
            <a:r>
              <a:rPr lang="en-US" altLang="zh-CN" dirty="0" err="1"/>
              <a:t>connfd</a:t>
            </a:r>
            <a:r>
              <a:rPr lang="en-US" altLang="zh-CN" dirty="0"/>
              <a:t>=Accept(…)</a:t>
            </a:r>
            <a:r>
              <a:rPr lang="zh-CN" altLang="en-US" dirty="0"/>
              <a:t>修改地址的值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对等线程读到新连接的描述符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773040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E45EB-0F6E-A7FD-C84C-728C022E6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3A69476-80CA-0981-9E53-9B205AA26D15}"/>
              </a:ext>
            </a:extLst>
          </p:cNvPr>
          <p:cNvSpPr txBox="1"/>
          <p:nvPr/>
        </p:nvSpPr>
        <p:spPr>
          <a:xfrm>
            <a:off x="741218" y="775946"/>
            <a:ext cx="6832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/>
              <a:t>基于线程</a:t>
            </a:r>
            <a:r>
              <a:rPr lang="en-US" altLang="zh-CN" sz="3600" dirty="0"/>
              <a:t>Thread-based Servers</a:t>
            </a:r>
            <a:endParaRPr lang="zh-CN" altLang="en-US" sz="36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10D647D-E4A2-2EB9-51AF-EC883513BD73}"/>
              </a:ext>
            </a:extLst>
          </p:cNvPr>
          <p:cNvSpPr txBox="1"/>
          <p:nvPr/>
        </p:nvSpPr>
        <p:spPr>
          <a:xfrm>
            <a:off x="741218" y="1686790"/>
            <a:ext cx="7380806" cy="33461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/>
              <a:t>Pros:</a:t>
            </a:r>
          </a:p>
          <a:p>
            <a:pPr>
              <a:lnSpc>
                <a:spcPct val="150000"/>
              </a:lnSpc>
            </a:pPr>
            <a:r>
              <a:rPr lang="zh-CN" altLang="en-US" sz="2400" dirty="0"/>
              <a:t>线程之间便于共享数据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更高效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Cons: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Unintentional sharing</a:t>
            </a:r>
          </a:p>
        </p:txBody>
      </p:sp>
    </p:spTree>
    <p:extLst>
      <p:ext uri="{BB962C8B-B14F-4D97-AF65-F5344CB8AC3E}">
        <p14:creationId xmlns:p14="http://schemas.microsoft.com/office/powerpoint/2010/main" val="30197113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A6FCC-8EE3-8CEF-D798-4DE37B728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8FFFD16-81A9-7263-A07B-3E62D9F18AC0}"/>
              </a:ext>
            </a:extLst>
          </p:cNvPr>
          <p:cNvSpPr txBox="1"/>
          <p:nvPr/>
        </p:nvSpPr>
        <p:spPr>
          <a:xfrm>
            <a:off x="741218" y="775946"/>
            <a:ext cx="22621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/>
              <a:t>Summary</a:t>
            </a:r>
            <a:endParaRPr lang="zh-CN" altLang="en-US" sz="3600" dirty="0"/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FED1780E-747D-7FDF-A20C-52408F7A18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1845226"/>
              </p:ext>
            </p:extLst>
          </p:nvPr>
        </p:nvGraphicFramePr>
        <p:xfrm>
          <a:off x="838200" y="1767328"/>
          <a:ext cx="10515600" cy="4187792"/>
        </p:xfrm>
        <a:graphic>
          <a:graphicData uri="http://schemas.openxmlformats.org/drawingml/2006/table">
            <a:tbl>
              <a:tblPr/>
              <a:tblGrid>
                <a:gridCol w="1935736">
                  <a:extLst>
                    <a:ext uri="{9D8B030D-6E8A-4147-A177-3AD203B41FA5}">
                      <a16:colId xmlns:a16="http://schemas.microsoft.com/office/drawing/2014/main" val="344739837"/>
                    </a:ext>
                  </a:extLst>
                </a:gridCol>
                <a:gridCol w="2704780">
                  <a:extLst>
                    <a:ext uri="{9D8B030D-6E8A-4147-A177-3AD203B41FA5}">
                      <a16:colId xmlns:a16="http://schemas.microsoft.com/office/drawing/2014/main" val="3651559445"/>
                    </a:ext>
                  </a:extLst>
                </a:gridCol>
                <a:gridCol w="3135086">
                  <a:extLst>
                    <a:ext uri="{9D8B030D-6E8A-4147-A177-3AD203B41FA5}">
                      <a16:colId xmlns:a16="http://schemas.microsoft.com/office/drawing/2014/main" val="3865143140"/>
                    </a:ext>
                  </a:extLst>
                </a:gridCol>
                <a:gridCol w="2739998">
                  <a:extLst>
                    <a:ext uri="{9D8B030D-6E8A-4147-A177-3AD203B41FA5}">
                      <a16:colId xmlns:a16="http://schemas.microsoft.com/office/drawing/2014/main" val="1719527841"/>
                    </a:ext>
                  </a:extLst>
                </a:gridCol>
              </a:tblGrid>
              <a:tr h="59825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维度</a:t>
                      </a:r>
                      <a:endParaRPr lang="zh-CN" alt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基于进程 </a:t>
                      </a:r>
                      <a:r>
                        <a:rPr lang="en-US" altLang="zh-C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en-GB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Process-based)</a:t>
                      </a:r>
                      <a:endParaRPr lang="en-GB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基于事件 </a:t>
                      </a:r>
                      <a:r>
                        <a:rPr lang="en-US" altLang="zh-C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en-GB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Event-based)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基于线程 </a:t>
                      </a:r>
                      <a:r>
                        <a:rPr lang="en-US" altLang="zh-C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en-GB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Thread-based)</a:t>
                      </a:r>
                      <a:endParaRPr lang="en-GB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1559671"/>
                  </a:ext>
                </a:extLst>
              </a:tr>
              <a:tr h="59825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共享资源</a:t>
                      </a:r>
                      <a:endParaRPr lang="zh-CN" alt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困难（需显式 </a:t>
                      </a:r>
                      <a:r>
                        <a:rPr lang="en-US" altLang="zh-C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IPC</a:t>
                      </a:r>
                      <a:r>
                        <a:rPr lang="zh-CN" alt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）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非常容易（共享地址空间）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非常容易（共享地址空间）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6840029"/>
                  </a:ext>
                </a:extLst>
              </a:tr>
              <a:tr h="59825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意外共享隐患</a:t>
                      </a:r>
                      <a:endParaRPr lang="zh-CN" alt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极低</a:t>
                      </a:r>
                      <a:r>
                        <a:rPr lang="zh-CN" alt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（地址空间独立）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无（单线程顺序执行）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极高</a:t>
                      </a:r>
                      <a:r>
                        <a:rPr lang="zh-CN" alt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（容易产生竞争）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9616142"/>
                  </a:ext>
                </a:extLst>
              </a:tr>
              <a:tr h="59825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上下文切换开销</a:t>
                      </a:r>
                      <a:endParaRPr lang="zh-CN" alt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高（内核级切换）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极低</a:t>
                      </a:r>
                      <a:r>
                        <a:rPr lang="zh-CN" alt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（无切换，仅函数调用）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中（内核级线程切换）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5714496"/>
                  </a:ext>
                </a:extLst>
              </a:tr>
              <a:tr h="59825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编程复杂度</a:t>
                      </a:r>
                      <a:endParaRPr lang="zh-CN" alt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较低（逻辑直观）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极高</a:t>
                      </a:r>
                      <a:r>
                        <a:rPr lang="zh-CN" alt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（需维护状态机）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中（逻辑直观但调试难）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7189435"/>
                  </a:ext>
                </a:extLst>
              </a:tr>
              <a:tr h="59825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多核并行支持</a:t>
                      </a:r>
                      <a:endParaRPr lang="zh-CN" alt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支持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不支持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支持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8099868"/>
                  </a:ext>
                </a:extLst>
              </a:tr>
              <a:tr h="59825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调度控制</a:t>
                      </a:r>
                      <a:endParaRPr lang="zh-CN" alt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由内核调度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由程序员完全控制</a:t>
                      </a:r>
                      <a:endParaRPr lang="zh-CN" alt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由内核调度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50297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75691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稻壳儿_刀客儿出品_2"/>
          <p:cNvSpPr txBox="1"/>
          <p:nvPr/>
        </p:nvSpPr>
        <p:spPr>
          <a:xfrm>
            <a:off x="3000375" y="2383155"/>
            <a:ext cx="6191250" cy="1446530"/>
          </a:xfrm>
          <a:prstGeom prst="rect">
            <a:avLst/>
          </a:prstGeom>
          <a:noFill/>
        </p:spPr>
        <p:txBody>
          <a:bodyPr wrap="square" lIns="90000" tIns="46800" rIns="90000" bIns="46800" rtlCol="0">
            <a:spAutoFit/>
          </a:bodyPr>
          <a:lstStyle/>
          <a:p>
            <a:pPr algn="ctr"/>
            <a:r>
              <a:rPr lang="en-US" sz="8800" dirty="0">
                <a:solidFill>
                  <a:srgbClr val="39484D"/>
                </a:solidFill>
                <a:latin typeface="Brock Script" panose="02000507020000020002" charset="0"/>
                <a:ea typeface="+mj-ea"/>
                <a:cs typeface="Brock Script" panose="02000507020000020002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57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0D4639"/>
      </a:accent1>
      <a:accent2>
        <a:srgbClr val="A6924C"/>
      </a:accent2>
      <a:accent3>
        <a:srgbClr val="1D5D4E"/>
      </a:accent3>
      <a:accent4>
        <a:srgbClr val="927635"/>
      </a:accent4>
      <a:accent5>
        <a:srgbClr val="6C9B8B"/>
      </a:accent5>
      <a:accent6>
        <a:srgbClr val="716734"/>
      </a:accent6>
      <a:hlink>
        <a:srgbClr val="5F5F5F"/>
      </a:hlink>
      <a:folHlink>
        <a:srgbClr val="919191"/>
      </a:folHlink>
    </a:clrScheme>
    <a:fontScheme name="Custom 1226">
      <a:majorFont>
        <a:latin typeface="Century Gothic"/>
        <a:ea typeface="方正清刻本悦宋简体"/>
        <a:cs typeface=""/>
      </a:majorFont>
      <a:minorFont>
        <a:latin typeface="Century Gothic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1414</TotalTime>
  <Words>1411</Words>
  <Application>Microsoft Office PowerPoint</Application>
  <PresentationFormat>宽屏</PresentationFormat>
  <Paragraphs>224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6" baseType="lpstr">
      <vt:lpstr>Brock Script</vt:lpstr>
      <vt:lpstr>Google Sans Text</vt:lpstr>
      <vt:lpstr>Arial</vt:lpstr>
      <vt:lpstr>Calibri</vt:lpstr>
      <vt:lpstr>Century Gothic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佳逸 袁</dc:creator>
  <cp:lastModifiedBy>佳逸 袁</cp:lastModifiedBy>
  <cp:revision>63</cp:revision>
  <dcterms:created xsi:type="dcterms:W3CDTF">2019-01-14T05:30:00Z</dcterms:created>
  <dcterms:modified xsi:type="dcterms:W3CDTF">2025-12-24T10:42:56Z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2052-12.1.0.18608</vt:lpwstr>
  </property>
  <property fmtid="{D5CDD505-2E9C-101B-9397-08002B2CF9AE}" pid="3" name="ICV">
    <vt:lpwstr>E564DF8FDDDD4B96A18418E17742B569_13</vt:lpwstr>
  </property>
</Properties>
</file>