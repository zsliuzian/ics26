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并发与同步基础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回课总结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Introduction to Computer Systems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课程目标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理解线程模型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掌握竞态与临界区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熟悉信号量与互斥锁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理解生产者-消费者模型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进程 vs 线程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8545"/>
            <a:ext cx="8229600" cy="5067935"/>
          </a:xfrm>
        </p:spPr>
        <p:txBody>
          <a:bodyPr wrap="square">
            <a:normAutofit fontScale="90000" lnSpcReduction="10000"/>
          </a:bodyPr>
          <a:lstStyle/>
          <a:p>
            <a:pPr marL="0" indent="0">
              <a:buNone/>
            </a:pPr>
            <a:r>
              <a:rPr sz="1800">
                <a:solidFill>
                  <a:srgbClr val="404040"/>
                </a:solidFill>
              </a:rPr>
              <a:t>进程：资源分配</a:t>
            </a:r>
            <a:r>
              <a:rPr lang="zh-CN" sz="1800">
                <a:solidFill>
                  <a:srgbClr val="404040"/>
                </a:solidFill>
              </a:rPr>
              <a:t>的基本</a:t>
            </a:r>
            <a:r>
              <a:rPr sz="1800">
                <a:solidFill>
                  <a:srgbClr val="404040"/>
                </a:solidFill>
              </a:rPr>
              <a:t>单位</a:t>
            </a:r>
            <a:r>
              <a:rPr lang="en-US" sz="1800">
                <a:solidFill>
                  <a:srgbClr val="404040"/>
                </a:solidFill>
              </a:rPr>
              <a:t>					</a:t>
            </a:r>
            <a:r>
              <a:rPr sz="1800">
                <a:solidFill>
                  <a:srgbClr val="404040"/>
                </a:solidFill>
              </a:rPr>
              <a:t>线程：调度执行</a:t>
            </a:r>
            <a:r>
              <a:rPr lang="zh-CN" sz="1800">
                <a:solidFill>
                  <a:srgbClr val="404040"/>
                </a:solidFill>
              </a:rPr>
              <a:t>的基本</a:t>
            </a:r>
            <a:r>
              <a:rPr sz="1800">
                <a:solidFill>
                  <a:srgbClr val="404040"/>
                </a:solidFill>
              </a:rPr>
              <a:t>单位</a:t>
            </a:r>
            <a:r>
              <a:rPr lang="en-US" altLang="zh-CN" sz="1600">
                <a:solidFill>
                  <a:srgbClr val="404040"/>
                </a:solidFill>
              </a:rPr>
              <a:t>process(n.)</a:t>
            </a:r>
            <a:endParaRPr lang="en-US" altLang="zh-CN" sz="1600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altLang="zh-CN" sz="1555">
                <a:solidFill>
                  <a:srgbClr val="404040"/>
                </a:solidFill>
              </a:rPr>
              <a:t>14</a:t>
            </a:r>
            <a:r>
              <a:rPr lang="zh-CN" altLang="en-US" sz="1555">
                <a:solidFill>
                  <a:srgbClr val="404040"/>
                </a:solidFill>
              </a:rPr>
              <a:t>世纪初，</a:t>
            </a:r>
            <a:r>
              <a:rPr lang="en-US" altLang="zh-CN" sz="1555">
                <a:solidFill>
                  <a:srgbClr val="404040"/>
                </a:solidFill>
              </a:rPr>
              <a:t>proces</a:t>
            </a:r>
            <a:r>
              <a:rPr lang="zh-CN" altLang="en-US" sz="1555">
                <a:solidFill>
                  <a:srgbClr val="404040"/>
                </a:solidFill>
              </a:rPr>
              <a:t>，意为</a:t>
            </a:r>
            <a:r>
              <a:rPr lang="en-US" altLang="zh-CN" sz="1555">
                <a:solidFill>
                  <a:srgbClr val="404040"/>
                </a:solidFill>
              </a:rPr>
              <a:t>“</a:t>
            </a:r>
            <a:r>
              <a:rPr lang="zh-CN" altLang="en-US" sz="1555">
                <a:solidFill>
                  <a:srgbClr val="404040"/>
                </a:solidFill>
              </a:rPr>
              <a:t>正在进行的状态</a:t>
            </a:r>
            <a:r>
              <a:rPr lang="en-US" altLang="zh-CN" sz="1555">
                <a:solidFill>
                  <a:srgbClr val="404040"/>
                </a:solidFill>
              </a:rPr>
              <a:t>”</a:t>
            </a:r>
            <a:r>
              <a:rPr lang="zh-CN" altLang="en-US" sz="1555">
                <a:solidFill>
                  <a:srgbClr val="404040"/>
                </a:solidFill>
              </a:rPr>
              <a:t>（如</a:t>
            </a:r>
            <a:r>
              <a:rPr lang="en-US" altLang="zh-CN" sz="1555">
                <a:solidFill>
                  <a:srgbClr val="404040"/>
                </a:solidFill>
              </a:rPr>
              <a:t>in process</a:t>
            </a:r>
            <a:r>
              <a:rPr lang="zh-CN" altLang="en-US" sz="1555">
                <a:solidFill>
                  <a:srgbClr val="404040"/>
                </a:solidFill>
              </a:rPr>
              <a:t>），源自古法语</a:t>
            </a:r>
            <a:r>
              <a:rPr lang="en-US" altLang="zh-CN" sz="1555">
                <a:solidFill>
                  <a:srgbClr val="404040"/>
                </a:solidFill>
              </a:rPr>
              <a:t>proces</a:t>
            </a:r>
            <a:r>
              <a:rPr lang="zh-CN" altLang="en-US" sz="1555">
                <a:solidFill>
                  <a:srgbClr val="404040"/>
                </a:solidFill>
              </a:rPr>
              <a:t>，意为</a:t>
            </a:r>
            <a:r>
              <a:rPr lang="en-US" altLang="zh-CN" sz="1555">
                <a:solidFill>
                  <a:srgbClr val="404040"/>
                </a:solidFill>
              </a:rPr>
              <a:t>“</a:t>
            </a:r>
            <a:r>
              <a:rPr lang="zh-CN" altLang="en-US" sz="1555">
                <a:solidFill>
                  <a:srgbClr val="404040"/>
                </a:solidFill>
              </a:rPr>
              <a:t>旅程；持续发展；法律审判</a:t>
            </a:r>
            <a:r>
              <a:rPr lang="en-US" altLang="zh-CN" sz="1555">
                <a:solidFill>
                  <a:srgbClr val="404040"/>
                </a:solidFill>
              </a:rPr>
              <a:t>”</a:t>
            </a:r>
            <a:r>
              <a:rPr lang="zh-CN" altLang="en-US" sz="1555">
                <a:solidFill>
                  <a:srgbClr val="404040"/>
                </a:solidFill>
              </a:rPr>
              <a:t>（</a:t>
            </a:r>
            <a:r>
              <a:rPr lang="en-US" altLang="zh-CN" sz="1555">
                <a:solidFill>
                  <a:srgbClr val="404040"/>
                </a:solidFill>
              </a:rPr>
              <a:t>13</a:t>
            </a:r>
            <a:r>
              <a:rPr lang="zh-CN" altLang="en-US" sz="1555">
                <a:solidFill>
                  <a:srgbClr val="404040"/>
                </a:solidFill>
              </a:rPr>
              <a:t>世纪），直接来源于拉丁语</a:t>
            </a:r>
            <a:r>
              <a:rPr lang="en-US" altLang="zh-CN" sz="1555">
                <a:solidFill>
                  <a:srgbClr val="404040"/>
                </a:solidFill>
              </a:rPr>
              <a:t>processus</a:t>
            </a:r>
            <a:r>
              <a:rPr lang="zh-CN" altLang="en-US" sz="1555">
                <a:solidFill>
                  <a:srgbClr val="404040"/>
                </a:solidFill>
              </a:rPr>
              <a:t>，意为</a:t>
            </a:r>
            <a:r>
              <a:rPr lang="en-US" altLang="zh-CN" sz="1555">
                <a:solidFill>
                  <a:srgbClr val="404040"/>
                </a:solidFill>
              </a:rPr>
              <a:t>“</a:t>
            </a:r>
            <a:r>
              <a:rPr lang="zh-CN" altLang="en-US" sz="1555">
                <a:solidFill>
                  <a:srgbClr val="404040"/>
                </a:solidFill>
              </a:rPr>
              <a:t>向前推进，进展</a:t>
            </a:r>
            <a:r>
              <a:rPr lang="en-US" altLang="zh-CN" sz="1555">
                <a:solidFill>
                  <a:srgbClr val="404040"/>
                </a:solidFill>
              </a:rPr>
              <a:t>”</a:t>
            </a:r>
            <a:r>
              <a:rPr lang="zh-CN" altLang="en-US" sz="1555">
                <a:solidFill>
                  <a:srgbClr val="404040"/>
                </a:solidFill>
              </a:rPr>
              <a:t>，来自</a:t>
            </a:r>
            <a:r>
              <a:rPr lang="en-US" altLang="zh-CN" sz="1555">
                <a:solidFill>
                  <a:srgbClr val="404040"/>
                </a:solidFill>
              </a:rPr>
              <a:t>procedere</a:t>
            </a:r>
            <a:r>
              <a:rPr lang="zh-CN" altLang="en-US" sz="1555">
                <a:solidFill>
                  <a:srgbClr val="404040"/>
                </a:solidFill>
              </a:rPr>
              <a:t>的过去分词形式</a:t>
            </a:r>
            <a:r>
              <a:rPr lang="en-US" altLang="zh-CN" sz="1555">
                <a:solidFill>
                  <a:srgbClr val="404040"/>
                </a:solidFill>
              </a:rPr>
              <a:t>“</a:t>
            </a:r>
            <a:r>
              <a:rPr lang="zh-CN" altLang="en-US" sz="1555">
                <a:solidFill>
                  <a:srgbClr val="404040"/>
                </a:solidFill>
              </a:rPr>
              <a:t>向前走</a:t>
            </a:r>
            <a:r>
              <a:rPr lang="en-US" altLang="zh-CN" sz="1555">
                <a:solidFill>
                  <a:srgbClr val="404040"/>
                </a:solidFill>
              </a:rPr>
              <a:t>”</a:t>
            </a:r>
            <a:r>
              <a:rPr lang="zh-CN" altLang="en-US" sz="1555">
                <a:solidFill>
                  <a:srgbClr val="404040"/>
                </a:solidFill>
              </a:rPr>
              <a:t>（参见</a:t>
            </a:r>
            <a:r>
              <a:rPr lang="en-US" altLang="zh-CN" sz="1555">
                <a:solidFill>
                  <a:srgbClr val="404040"/>
                </a:solidFill>
              </a:rPr>
              <a:t>proceed</a:t>
            </a:r>
            <a:r>
              <a:rPr lang="zh-CN" altLang="en-US" sz="1555">
                <a:solidFill>
                  <a:srgbClr val="404040"/>
                </a:solidFill>
              </a:rPr>
              <a:t>）。</a:t>
            </a:r>
            <a:endParaRPr lang="zh-CN" altLang="en-US" sz="1555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altLang="zh-CN" sz="1555">
                <a:solidFill>
                  <a:srgbClr val="404040"/>
                </a:solidFill>
              </a:rPr>
              <a:t>proceed(v.)</a:t>
            </a:r>
            <a:endParaRPr lang="zh-CN" altLang="en-US" sz="1555">
              <a:solidFill>
                <a:srgbClr val="404040"/>
              </a:solidFill>
            </a:endParaRPr>
          </a:p>
          <a:p>
            <a:pPr marL="0" lvl="0" indent="0">
              <a:buNone/>
            </a:pPr>
            <a:r>
              <a:rPr lang="en-US" altLang="zh-CN" sz="1555"/>
              <a:t>14</a:t>
            </a:r>
            <a:r>
              <a:rPr lang="zh-CN" altLang="en-US" sz="1555"/>
              <a:t>世纪末，</a:t>
            </a:r>
            <a:r>
              <a:rPr lang="en-US" altLang="zh-CN" sz="1555"/>
              <a:t>proceden</a:t>
            </a:r>
            <a:r>
              <a:rPr lang="zh-CN" altLang="en-US" sz="1555"/>
              <a:t>，意为</a:t>
            </a:r>
            <a:r>
              <a:rPr lang="en-US" altLang="zh-CN" sz="1555"/>
              <a:t>“</a:t>
            </a:r>
            <a:r>
              <a:rPr lang="zh-CN" altLang="en-US" sz="1555"/>
              <a:t>前进，继续，朝某个方向移动，处理自己的事务</a:t>
            </a:r>
            <a:r>
              <a:rPr lang="en-US" altLang="zh-CN" sz="1555"/>
              <a:t>”</a:t>
            </a:r>
            <a:r>
              <a:rPr lang="zh-CN" altLang="en-US" sz="1555"/>
              <a:t>，还有</a:t>
            </a:r>
            <a:r>
              <a:rPr lang="en-US" altLang="zh-CN" sz="1555"/>
              <a:t>“</a:t>
            </a:r>
            <a:r>
              <a:rPr lang="zh-CN" altLang="en-US" sz="1555"/>
              <a:t>源自，结果于；从某个起点或过程发出或来</a:t>
            </a:r>
            <a:r>
              <a:rPr lang="en-US" altLang="zh-CN" sz="1555"/>
              <a:t>”</a:t>
            </a:r>
            <a:r>
              <a:rPr lang="zh-CN" altLang="en-US" sz="1555"/>
              <a:t>的意思。这个词源于古法语的</a:t>
            </a:r>
            <a:r>
              <a:rPr lang="en-US" altLang="zh-CN" sz="1555"/>
              <a:t>proceder</a:t>
            </a:r>
            <a:r>
              <a:rPr lang="zh-CN" altLang="en-US" sz="1555"/>
              <a:t>（</a:t>
            </a:r>
            <a:r>
              <a:rPr lang="en-US" altLang="zh-CN" sz="1555"/>
              <a:t>13</a:t>
            </a:r>
            <a:r>
              <a:rPr lang="zh-CN" altLang="en-US" sz="1555"/>
              <a:t>世纪，现代法语为</a:t>
            </a:r>
            <a:r>
              <a:rPr lang="en-US" altLang="zh-CN" sz="1555"/>
              <a:t>proc</a:t>
            </a:r>
            <a:r>
              <a:rPr lang="en-US" altLang="en-US" sz="1555"/>
              <a:t>é</a:t>
            </a:r>
            <a:r>
              <a:rPr lang="en-US" altLang="zh-CN" sz="1555"/>
              <a:t>der</a:t>
            </a:r>
            <a:r>
              <a:rPr lang="zh-CN" altLang="en-US" sz="1555"/>
              <a:t>），直接来自拉丁语的</a:t>
            </a:r>
            <a:r>
              <a:rPr lang="en-US" altLang="zh-CN" sz="1555"/>
              <a:t>procedere</a:t>
            </a:r>
            <a:r>
              <a:rPr lang="zh-CN" altLang="en-US" sz="1555"/>
              <a:t>（过去分词</a:t>
            </a:r>
            <a:r>
              <a:rPr lang="en-US" altLang="zh-CN" sz="1555"/>
              <a:t>processus</a:t>
            </a:r>
            <a:r>
              <a:rPr lang="zh-CN" altLang="en-US" sz="1555"/>
              <a:t>），意为</a:t>
            </a:r>
            <a:r>
              <a:rPr lang="en-US" altLang="zh-CN" sz="1555"/>
              <a:t>“</a:t>
            </a:r>
            <a:r>
              <a:rPr lang="zh-CN" altLang="en-US" sz="1555"/>
              <a:t>走在前面，向前推进，取得进展；走上前</a:t>
            </a:r>
            <a:r>
              <a:rPr lang="en-US" altLang="zh-CN" sz="1555"/>
              <a:t>”</a:t>
            </a:r>
            <a:r>
              <a:rPr lang="zh-CN" altLang="en-US" sz="1555"/>
              <a:t>。它由</a:t>
            </a:r>
            <a:r>
              <a:rPr lang="en-US" altLang="zh-CN" sz="1555"/>
              <a:t>pro</a:t>
            </a:r>
            <a:r>
              <a:rPr lang="zh-CN" altLang="en-US" sz="1555"/>
              <a:t>（意为</a:t>
            </a:r>
            <a:r>
              <a:rPr lang="en-US" altLang="zh-CN" sz="1555"/>
              <a:t>“</a:t>
            </a:r>
            <a:r>
              <a:rPr lang="zh-CN" altLang="en-US" sz="1555"/>
              <a:t>向前</a:t>
            </a:r>
            <a:r>
              <a:rPr lang="en-US" altLang="zh-CN" sz="1555"/>
              <a:t>”</a:t>
            </a:r>
            <a:r>
              <a:rPr lang="zh-CN" altLang="en-US" sz="1555"/>
              <a:t>，源自原始印欧语根</a:t>
            </a:r>
            <a:r>
              <a:rPr lang="en-US" altLang="zh-CN" sz="1555"/>
              <a:t>*per- (1)</a:t>
            </a:r>
            <a:r>
              <a:rPr lang="zh-CN" altLang="en-US" sz="1555"/>
              <a:t>，</a:t>
            </a:r>
            <a:r>
              <a:rPr lang="en-US" altLang="zh-CN" sz="1555"/>
              <a:t>“</a:t>
            </a:r>
            <a:r>
              <a:rPr lang="zh-CN" altLang="en-US" sz="1555"/>
              <a:t>向前</a:t>
            </a:r>
            <a:r>
              <a:rPr lang="en-US" altLang="zh-CN" sz="1555"/>
              <a:t>”</a:t>
            </a:r>
            <a:r>
              <a:rPr lang="zh-CN" altLang="en-US" sz="1555"/>
              <a:t>）和</a:t>
            </a:r>
            <a:r>
              <a:rPr lang="en-US" altLang="zh-CN" sz="1555"/>
              <a:t>cedere</a:t>
            </a:r>
            <a:r>
              <a:rPr lang="zh-CN" altLang="en-US" sz="1555"/>
              <a:t>（意为</a:t>
            </a:r>
            <a:r>
              <a:rPr lang="en-US" altLang="zh-CN" sz="1555"/>
              <a:t>“</a:t>
            </a:r>
            <a:r>
              <a:rPr lang="zh-CN" altLang="en-US" sz="1555"/>
              <a:t>去，走</a:t>
            </a:r>
            <a:r>
              <a:rPr lang="en-US" altLang="zh-CN" sz="1555"/>
              <a:t>”</a:t>
            </a:r>
            <a:r>
              <a:rPr lang="zh-CN" altLang="en-US" sz="1555"/>
              <a:t>，源自原始印欧语根</a:t>
            </a:r>
            <a:r>
              <a:rPr lang="en-US" altLang="zh-CN" sz="1555"/>
              <a:t>*ked-</a:t>
            </a:r>
            <a:r>
              <a:rPr lang="zh-CN" altLang="en-US" sz="1555"/>
              <a:t>，</a:t>
            </a:r>
            <a:r>
              <a:rPr lang="en-US" altLang="zh-CN" sz="1555"/>
              <a:t>“</a:t>
            </a:r>
            <a:r>
              <a:rPr lang="zh-CN" altLang="en-US" sz="1555"/>
              <a:t>去，前进，屈服</a:t>
            </a:r>
            <a:r>
              <a:rPr lang="en-US" altLang="zh-CN" sz="1555"/>
              <a:t>”</a:t>
            </a:r>
            <a:r>
              <a:rPr lang="zh-CN" altLang="en-US" sz="1555"/>
              <a:t>）构成。相关词汇包括</a:t>
            </a:r>
            <a:r>
              <a:rPr lang="en-US" altLang="zh-CN" sz="1555"/>
              <a:t>Proceeded</a:t>
            </a:r>
            <a:r>
              <a:rPr lang="zh-CN" altLang="en-US" sz="1555"/>
              <a:t>（已进行），</a:t>
            </a:r>
            <a:r>
              <a:rPr lang="en-US" altLang="zh-CN" sz="1555"/>
              <a:t>proceeding</a:t>
            </a:r>
            <a:r>
              <a:rPr lang="zh-CN" altLang="en-US" sz="1555"/>
              <a:t>（进行中）。</a:t>
            </a:r>
            <a:endParaRPr lang="zh-CN" altLang="en-US" sz="1555"/>
          </a:p>
          <a:p>
            <a:pPr marL="0" lvl="0" indent="0">
              <a:buNone/>
            </a:pPr>
            <a:r>
              <a:rPr lang="en-US" altLang="zh-CN" sz="1555"/>
              <a:t>thread(n.)</a:t>
            </a:r>
            <a:endParaRPr lang="en-US" altLang="zh-CN" sz="1555"/>
          </a:p>
          <a:p>
            <a:pPr marL="0" lvl="0" indent="0">
              <a:buNone/>
            </a:pPr>
            <a:r>
              <a:rPr lang="en-US" altLang="zh-CN" sz="1555"/>
              <a:t>“</a:t>
            </a:r>
            <a:r>
              <a:rPr lang="zh-CN" altLang="en-US" sz="1555"/>
              <a:t>细长的棉花、亚麻等纤维，经过纺纱制作而成的较长丝线；</a:t>
            </a:r>
            <a:r>
              <a:rPr lang="en-US" altLang="zh-CN" sz="1555"/>
              <a:t>” </a:t>
            </a:r>
            <a:r>
              <a:rPr lang="zh-CN" altLang="en-US" sz="1555"/>
              <a:t>古英语</a:t>
            </a:r>
            <a:r>
              <a:rPr lang="en-US" altLang="zh-CN" sz="1555"/>
              <a:t> </a:t>
            </a:r>
            <a:r>
              <a:rPr lang="" altLang="en-US" sz="1555"/>
              <a:t>þ</a:t>
            </a:r>
            <a:r>
              <a:rPr lang="en-US" altLang="zh-CN" sz="1555"/>
              <a:t>r</a:t>
            </a:r>
            <a:r>
              <a:rPr lang="" altLang="en-US" sz="1555"/>
              <a:t>æ</a:t>
            </a:r>
            <a:r>
              <a:rPr lang="en-US" altLang="zh-CN" sz="1555"/>
              <a:t>d “</a:t>
            </a:r>
            <a:r>
              <a:rPr lang="zh-CN" altLang="en-US" sz="1555"/>
              <a:t>细绳，特别是扭绣的</a:t>
            </a:r>
            <a:r>
              <a:rPr lang="en-US" altLang="zh-CN" sz="1555"/>
              <a:t>”</a:t>
            </a:r>
            <a:r>
              <a:rPr lang="zh-CN" altLang="en-US" sz="1555"/>
              <a:t>，来自原始日耳曼语</a:t>
            </a:r>
            <a:r>
              <a:rPr lang="en-US" altLang="zh-CN" sz="1555"/>
              <a:t> *thredu- “</a:t>
            </a:r>
            <a:r>
              <a:rPr lang="zh-CN" altLang="en-US" sz="1555"/>
              <a:t>扭绳</a:t>
            </a:r>
            <a:r>
              <a:rPr lang="en-US" altLang="zh-CN" sz="1555"/>
              <a:t>”</a:t>
            </a:r>
            <a:r>
              <a:rPr lang="zh-CN" altLang="en-US" sz="1555"/>
              <a:t>（还源自古撒克逊语</a:t>
            </a:r>
            <a:r>
              <a:rPr lang="en-US" altLang="zh-CN" sz="1555"/>
              <a:t> thrad</a:t>
            </a:r>
            <a:r>
              <a:rPr lang="zh-CN" altLang="en-US" sz="1555"/>
              <a:t>，古弗里西亚语</a:t>
            </a:r>
            <a:r>
              <a:rPr lang="en-US" altLang="zh-CN" sz="1555"/>
              <a:t> thred</a:t>
            </a:r>
            <a:r>
              <a:rPr lang="zh-CN" altLang="en-US" sz="1555"/>
              <a:t>，中世纪荷兰语</a:t>
            </a:r>
            <a:r>
              <a:rPr lang="en-US" altLang="zh-CN" sz="1555"/>
              <a:t> draet</a:t>
            </a:r>
            <a:r>
              <a:rPr lang="zh-CN" altLang="en-US" sz="1555"/>
              <a:t>，荷兰语</a:t>
            </a:r>
            <a:r>
              <a:rPr lang="en-US" altLang="zh-CN" sz="1555"/>
              <a:t> draad</a:t>
            </a:r>
            <a:r>
              <a:rPr lang="zh-CN" altLang="en-US" sz="1555"/>
              <a:t>，古高地德语</a:t>
            </a:r>
            <a:r>
              <a:rPr lang="en-US" altLang="zh-CN" sz="1555"/>
              <a:t> drat</a:t>
            </a:r>
            <a:r>
              <a:rPr lang="zh-CN" altLang="en-US" sz="1555"/>
              <a:t>，德语</a:t>
            </a:r>
            <a:r>
              <a:rPr lang="en-US" altLang="zh-CN" sz="1555"/>
              <a:t> Draht</a:t>
            </a:r>
            <a:r>
              <a:rPr lang="zh-CN" altLang="en-US" sz="1555"/>
              <a:t>，古北欧语</a:t>
            </a:r>
            <a:r>
              <a:rPr lang="en-US" altLang="zh-CN" sz="1555"/>
              <a:t> </a:t>
            </a:r>
            <a:r>
              <a:rPr lang="" altLang="en-US" sz="1555"/>
              <a:t>þ</a:t>
            </a:r>
            <a:r>
              <a:rPr lang="en-US" altLang="zh-CN" sz="1555"/>
              <a:t>ra</a:t>
            </a:r>
            <a:r>
              <a:rPr lang="" altLang="en-US" sz="1555"/>
              <a:t>ð</a:t>
            </a:r>
            <a:r>
              <a:rPr lang="en-US" altLang="zh-CN" sz="1555"/>
              <a:t>r</a:t>
            </a:r>
            <a:r>
              <a:rPr lang="zh-CN" altLang="en-US" sz="1555"/>
              <a:t>）。</a:t>
            </a:r>
            <a:endParaRPr lang="zh-CN" altLang="en-US" sz="1555"/>
          </a:p>
          <a:p>
            <a:pPr marL="0" lvl="0" indent="0">
              <a:buNone/>
            </a:pPr>
            <a:endParaRPr lang="en-US" altLang="zh-CN" sz="1555"/>
          </a:p>
          <a:p>
            <a:pPr marL="0" lvl="0" indent="0">
              <a:buNone/>
            </a:pPr>
            <a:r>
              <a:rPr lang="zh-CN" altLang="en-US" sz="1555"/>
              <a:t>这被认为最初的意思是</a:t>
            </a:r>
            <a:r>
              <a:rPr lang="en-US" altLang="zh-CN" sz="1555"/>
              <a:t>“</a:t>
            </a:r>
            <a:r>
              <a:rPr lang="zh-CN" altLang="en-US" sz="1555"/>
              <a:t>扭曲的</a:t>
            </a:r>
            <a:r>
              <a:rPr lang="en-US" altLang="zh-CN" sz="1555"/>
              <a:t>”</a:t>
            </a:r>
            <a:r>
              <a:rPr lang="zh-CN" altLang="en-US" sz="1555"/>
              <a:t>，源自原始印欧词根</a:t>
            </a:r>
            <a:r>
              <a:rPr lang="en-US" altLang="zh-CN" sz="1555"/>
              <a:t> *tere- (1) “</a:t>
            </a:r>
            <a:r>
              <a:rPr lang="zh-CN" altLang="en-US" sz="1555"/>
              <a:t>摩擦，旋转</a:t>
            </a:r>
            <a:r>
              <a:rPr lang="en-US" altLang="zh-CN" sz="1555"/>
              <a:t>”</a:t>
            </a:r>
            <a:r>
              <a:rPr lang="zh-CN" altLang="en-US" sz="1555"/>
              <a:t>的后缀形式。因此，古英语名词与</a:t>
            </a:r>
            <a:r>
              <a:rPr lang="en-US" altLang="zh-CN" sz="1555"/>
              <a:t> </a:t>
            </a:r>
            <a:r>
              <a:rPr lang="" altLang="en-US" sz="1555"/>
              <a:t>þ</a:t>
            </a:r>
            <a:r>
              <a:rPr lang="en-US" altLang="zh-CN" sz="1555"/>
              <a:t>rawan “</a:t>
            </a:r>
            <a:r>
              <a:rPr lang="zh-CN" altLang="en-US" sz="1555"/>
              <a:t>扭曲</a:t>
            </a:r>
            <a:r>
              <a:rPr lang="en-US" altLang="zh-CN" sz="1555"/>
              <a:t>”</a:t>
            </a:r>
            <a:r>
              <a:rPr lang="zh-CN" altLang="en-US" sz="1555"/>
              <a:t>相关，源自</a:t>
            </a:r>
            <a:r>
              <a:rPr lang="en-US" altLang="zh-CN" sz="1555"/>
              <a:t> throw (v.)</a:t>
            </a:r>
            <a:r>
              <a:rPr lang="zh-CN" altLang="en-US" sz="1555"/>
              <a:t>。</a:t>
            </a:r>
            <a:endParaRPr lang="zh-CN" altLang="en-US" sz="1555"/>
          </a:p>
          <a:p>
            <a:pPr marL="0" lvl="0" indent="0">
              <a:buNone/>
            </a:pPr>
            <a:endParaRPr lang="en-US" altLang="zh-CN" sz="1555"/>
          </a:p>
          <a:p>
            <a:pPr marL="0" lvl="0" indent="0">
              <a:buNone/>
            </a:pPr>
            <a:r>
              <a:rPr lang="en-US" altLang="zh-CN" sz="1555"/>
              <a:t>1640</a:t>
            </a:r>
            <a:r>
              <a:rPr lang="zh-CN" altLang="en-US" sz="1555"/>
              <a:t>年代扩展为</a:t>
            </a:r>
            <a:r>
              <a:rPr lang="en-US" altLang="zh-CN" sz="1555"/>
              <a:t>“</a:t>
            </a:r>
            <a:r>
              <a:rPr lang="zh-CN" altLang="en-US" sz="1555"/>
              <a:t>贯穿整个事物过程的东西</a:t>
            </a:r>
            <a:r>
              <a:rPr lang="en-US" altLang="zh-CN" sz="1555"/>
              <a:t>”</a:t>
            </a:r>
            <a:r>
              <a:rPr lang="zh-CN" altLang="en-US" sz="1555"/>
              <a:t>。比喻义上，</a:t>
            </a:r>
            <a:r>
              <a:rPr lang="en-US" altLang="zh-CN" sz="1555"/>
              <a:t>“</a:t>
            </a:r>
            <a:r>
              <a:rPr lang="zh-CN" altLang="en-US" sz="1555"/>
              <a:t>复合材料（抽象或实物）中的单一元素</a:t>
            </a:r>
            <a:r>
              <a:rPr lang="en-US" altLang="zh-CN" sz="1555"/>
              <a:t>”</a:t>
            </a:r>
            <a:r>
              <a:rPr lang="zh-CN" altLang="en-US" sz="1555"/>
              <a:t>证实于</a:t>
            </a:r>
            <a:r>
              <a:rPr lang="en-US" altLang="zh-CN" sz="1555"/>
              <a:t>1836</a:t>
            </a:r>
            <a:r>
              <a:rPr lang="zh-CN" altLang="en-US" sz="1555"/>
              <a:t>年。</a:t>
            </a:r>
            <a:r>
              <a:rPr lang="en-US" altLang="zh-CN" sz="1555"/>
              <a:t>“</a:t>
            </a:r>
            <a:r>
              <a:rPr lang="zh-CN" altLang="en-US" sz="1555"/>
              <a:t>螺丝的突出螺旋脊</a:t>
            </a:r>
            <a:r>
              <a:rPr lang="en-US" altLang="zh-CN" sz="1555"/>
              <a:t>”</a:t>
            </a:r>
            <a:r>
              <a:rPr lang="zh-CN" altLang="en-US" sz="1555"/>
              <a:t>的意义自</a:t>
            </a:r>
            <a:r>
              <a:rPr lang="en-US" altLang="zh-CN" sz="1555"/>
              <a:t>1670</a:t>
            </a:r>
            <a:r>
              <a:rPr lang="zh-CN" altLang="en-US" sz="1555"/>
              <a:t>年代起证实。</a:t>
            </a:r>
            <a:endParaRPr lang="zh-CN" altLang="en-US" sz="1555"/>
          </a:p>
          <a:p>
            <a:pPr lvl="1"/>
            <a:r>
              <a:rPr sz="1800">
                <a:solidFill>
                  <a:srgbClr val="404040"/>
                </a:solidFill>
              </a:rPr>
              <a:t>线程共享代码、数据、堆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线程拥有独立栈和寄存器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38150"/>
            <a:ext cx="4313555" cy="527431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800"/>
              <a:t>进程是操作系统进行资源分配和保护的基本单位。</a:t>
            </a:r>
            <a:endParaRPr lang="zh-CN" altLang="en-US" sz="1800"/>
          </a:p>
          <a:p>
            <a:r>
              <a:rPr lang="zh-CN" altLang="en-US" sz="1800"/>
              <a:t>进程是一个正在执行的程序实例</a:t>
            </a:r>
            <a:endParaRPr lang="en-US" altLang="zh-CN" sz="1800"/>
          </a:p>
          <a:p>
            <a:r>
              <a:rPr lang="zh-CN" altLang="en-US" sz="1800"/>
              <a:t>操作系统为每个进程分配独立的资源，包括：</a:t>
            </a:r>
            <a:endParaRPr lang="en-US" altLang="zh-CN" sz="1800"/>
          </a:p>
          <a:p>
            <a:r>
              <a:rPr lang="zh-CN" altLang="en-US" sz="1800"/>
              <a:t>虚拟地址空间（代码段、数据段、堆、栈）</a:t>
            </a:r>
            <a:endParaRPr lang="en-US" altLang="zh-CN" sz="1800"/>
          </a:p>
          <a:p>
            <a:r>
              <a:rPr lang="zh-CN" altLang="en-US" sz="1800"/>
              <a:t>打开的文件</a:t>
            </a:r>
            <a:endParaRPr lang="en-US" altLang="zh-CN" sz="1800"/>
          </a:p>
          <a:p>
            <a:r>
              <a:rPr lang="zh-CN" altLang="en-US" sz="1800"/>
              <a:t>各种内核数据结构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不同进程之间：</a:t>
            </a:r>
            <a:endParaRPr lang="en-US" altLang="zh-CN" sz="1800"/>
          </a:p>
          <a:p>
            <a:r>
              <a:rPr lang="zh-CN" altLang="en-US" sz="1800"/>
              <a:t>地址空间相互隔离</a:t>
            </a:r>
            <a:endParaRPr lang="zh-CN" altLang="en-US" sz="1800"/>
          </a:p>
          <a:p>
            <a:r>
              <a:rPr lang="zh-CN" altLang="en-US" sz="1800"/>
              <a:t>默认不能直接访问彼此的数据</a:t>
            </a:r>
            <a:endParaRPr lang="zh-CN" altLang="en-US" sz="1800"/>
          </a:p>
          <a:p>
            <a:endParaRPr lang="en-US" altLang="zh-CN" sz="1800"/>
          </a:p>
          <a:p>
            <a:r>
              <a:rPr lang="zh-CN" altLang="en-US" sz="1800"/>
              <a:t>关键点总结：</a:t>
            </a:r>
            <a:endParaRPr lang="en-US" altLang="zh-CN" sz="1800"/>
          </a:p>
          <a:p>
            <a:r>
              <a:rPr lang="zh-CN" altLang="en-US" sz="1800"/>
              <a:t>进程</a:t>
            </a:r>
            <a:r>
              <a:rPr lang="en-US" altLang="zh-CN" sz="1800"/>
              <a:t> = </a:t>
            </a:r>
            <a:r>
              <a:rPr lang="zh-CN" altLang="en-US" sz="1800"/>
              <a:t>程序</a:t>
            </a:r>
            <a:r>
              <a:rPr lang="en-US" altLang="zh-CN" sz="1800"/>
              <a:t> + </a:t>
            </a:r>
            <a:r>
              <a:rPr lang="zh-CN" altLang="en-US" sz="1800"/>
              <a:t>运行所需资源</a:t>
            </a:r>
            <a:endParaRPr lang="en-US" altLang="zh-CN" sz="1800"/>
          </a:p>
          <a:p>
            <a:r>
              <a:rPr lang="zh-CN" altLang="en-US" sz="1800"/>
              <a:t>隔离性强，安全</a:t>
            </a:r>
            <a:endParaRPr lang="en-US" altLang="zh-CN" sz="1800"/>
          </a:p>
          <a:p>
            <a:r>
              <a:rPr lang="zh-CN" altLang="en-US" sz="1800"/>
              <a:t>创建、切换成本高</a:t>
            </a:r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4985385" y="330835"/>
            <a:ext cx="3803015" cy="676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线程是操作系统进行调度和执行的最小单位</a:t>
            </a:r>
            <a:endParaRPr lang="zh-CN" altLang="en-US"/>
          </a:p>
          <a:p>
            <a:r>
              <a:rPr lang="zh-CN" altLang="en-US"/>
              <a:t>线程存在于进程内部</a:t>
            </a:r>
            <a:endParaRPr lang="zh-CN" altLang="en-US"/>
          </a:p>
          <a:p>
            <a:r>
              <a:rPr lang="zh-CN" altLang="en-US"/>
              <a:t>一个进程可以包含多个线程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·</a:t>
            </a:r>
            <a:r>
              <a:rPr lang="zh-CN" altLang="en-US"/>
              <a:t>每个线程有自己的逻辑控制</a:t>
            </a:r>
            <a:r>
              <a:rPr lang="zh-CN" altLang="en-US"/>
              <a:t>流</a:t>
            </a:r>
            <a:endParaRPr lang="zh-CN" altLang="en-US"/>
          </a:p>
          <a:p>
            <a:r>
              <a:rPr lang="en-US" altLang="zh-CN"/>
              <a:t>·</a:t>
            </a:r>
            <a:r>
              <a:rPr lang="zh-CN" altLang="en-US"/>
              <a:t>所有线程共享同一个地址</a:t>
            </a:r>
            <a:r>
              <a:rPr lang="zh-CN" altLang="en-US"/>
              <a:t>空间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zh-CN" altLang="en-US"/>
              <a:t>每个线程拥有：</a:t>
            </a:r>
            <a:endParaRPr lang="en-US" altLang="zh-CN"/>
          </a:p>
          <a:p>
            <a:r>
              <a:rPr lang="zh-CN" altLang="en-US"/>
              <a:t>独立的程序计数器（</a:t>
            </a:r>
            <a:r>
              <a:rPr lang="en-US" altLang="zh-CN"/>
              <a:t>PC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独立的寄存器集合</a:t>
            </a:r>
            <a:endParaRPr lang="en-US" altLang="zh-CN"/>
          </a:p>
          <a:p>
            <a:r>
              <a:rPr lang="zh-CN" altLang="en-US"/>
              <a:t>独立的栈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同一进程内的线程共享：</a:t>
            </a:r>
            <a:endParaRPr lang="en-US" altLang="zh-CN"/>
          </a:p>
          <a:p>
            <a:r>
              <a:rPr lang="zh-CN" altLang="en-US"/>
              <a:t>代码段</a:t>
            </a:r>
            <a:r>
              <a:rPr lang="en-US" altLang="zh-CN"/>
              <a:t> </a:t>
            </a:r>
            <a:r>
              <a:rPr lang="zh-CN" altLang="en-US"/>
              <a:t>全局变量</a:t>
            </a:r>
            <a:r>
              <a:rPr lang="en-US" altLang="zh-CN"/>
              <a:t> </a:t>
            </a:r>
            <a:r>
              <a:rPr lang="zh-CN" altLang="en-US"/>
              <a:t>堆</a:t>
            </a:r>
            <a:r>
              <a:rPr lang="en-US" altLang="zh-CN"/>
              <a:t> </a:t>
            </a:r>
            <a:r>
              <a:rPr lang="zh-CN" altLang="en-US"/>
              <a:t>打开的文件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关键点总结：</a:t>
            </a:r>
            <a:endParaRPr lang="en-US" altLang="zh-CN"/>
          </a:p>
          <a:p>
            <a:r>
              <a:rPr lang="zh-CN" altLang="en-US"/>
              <a:t>线程</a:t>
            </a:r>
            <a:r>
              <a:rPr lang="en-US" altLang="zh-CN"/>
              <a:t> = </a:t>
            </a:r>
            <a:r>
              <a:rPr lang="zh-CN" altLang="en-US"/>
              <a:t>执行流</a:t>
            </a:r>
            <a:endParaRPr lang="en-US" altLang="zh-CN"/>
          </a:p>
          <a:p>
            <a:r>
              <a:rPr lang="zh-CN" altLang="en-US"/>
              <a:t>轻量、切换快</a:t>
            </a:r>
            <a:endParaRPr lang="zh-CN" altLang="en-US"/>
          </a:p>
          <a:p>
            <a:r>
              <a:rPr lang="zh-CN" altLang="en-US"/>
              <a:t>共享内存，易通信但易出错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线程的优缺点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sz="1800">
                <a:solidFill>
                  <a:srgbClr val="404040"/>
                </a:solidFill>
              </a:rPr>
              <a:t>优点：高效、易共享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缺点：竞态条件、难调试</a:t>
            </a:r>
            <a:endParaRPr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为什么不只用进程？</a:t>
            </a: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altLang="zh-CN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进程切换代价大</a:t>
            </a: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altLang="zh-CN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地址空间切换昂贵</a:t>
            </a: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en-US" altLang="zh-CN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进程间通信复杂</a:t>
            </a: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👉</a:t>
            </a:r>
            <a:r>
              <a:rPr lang="en-US" altLang="zh-CN" sz="1800">
                <a:solidFill>
                  <a:srgbClr val="404040"/>
                </a:solidFill>
              </a:rPr>
              <a:t> </a:t>
            </a:r>
            <a:r>
              <a:rPr lang="zh-CN" altLang="en-US" sz="1800">
                <a:solidFill>
                  <a:srgbClr val="404040"/>
                </a:solidFill>
              </a:rPr>
              <a:t>线程：更轻量的并发单位</a:t>
            </a: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endParaRPr lang="zh-CN" altLang="en-US" sz="1800">
              <a:solidFill>
                <a:srgbClr val="404040"/>
              </a:solidFill>
            </a:endParaRPr>
          </a:p>
          <a:p>
            <a:pPr marL="457200" lvl="1" indent="0">
              <a:buNone/>
            </a:pPr>
            <a:r>
              <a:rPr lang="zh-CN" altLang="en-US" sz="1800">
                <a:solidFill>
                  <a:srgbClr val="404040"/>
                </a:solidFill>
              </a:rPr>
              <a:t>线程间上下文切换要</a:t>
            </a:r>
            <a:r>
              <a:rPr lang="zh-CN" altLang="en-US" sz="1800">
                <a:solidFill>
                  <a:srgbClr val="404040"/>
                </a:solidFill>
              </a:rPr>
              <a:t>快得多</a:t>
            </a:r>
            <a:endParaRPr lang="zh-CN" altLang="en-US"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共享变量的定义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20000"/>
          </a:bodyPr>
          <a:lstStyle/>
          <a:p>
            <a:r>
              <a:rPr lang="zh-CN" altLang="en-US" sz="1800">
                <a:solidFill>
                  <a:srgbClr val="404040"/>
                </a:solidFill>
              </a:rPr>
              <a:t>如果多个线程访问某变量的同一个实例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zh-CN" altLang="en-US" sz="1800">
                <a:solidFill>
                  <a:srgbClr val="404040"/>
                </a:solidFill>
              </a:rPr>
              <a:t>那么该变量就是共享变量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zh-CN" altLang="en-US" sz="1800">
                <a:solidFill>
                  <a:srgbClr val="404040"/>
                </a:solidFill>
              </a:rPr>
              <a:t>注意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zh-CN" altLang="en-US" sz="1800">
                <a:solidFill>
                  <a:srgbClr val="404040"/>
                </a:solidFill>
              </a:rPr>
              <a:t>不是简单看</a:t>
            </a:r>
            <a:r>
              <a:rPr lang="en-US" altLang="zh-CN" sz="1800">
                <a:solidFill>
                  <a:srgbClr val="404040"/>
                </a:solidFill>
              </a:rPr>
              <a:t>“</a:t>
            </a:r>
            <a:r>
              <a:rPr lang="zh-CN" altLang="en-US" sz="1800">
                <a:solidFill>
                  <a:srgbClr val="404040"/>
                </a:solidFill>
              </a:rPr>
              <a:t>全局</a:t>
            </a:r>
            <a:r>
              <a:rPr lang="en-US" altLang="zh-CN" sz="1800">
                <a:solidFill>
                  <a:srgbClr val="404040"/>
                </a:solidFill>
              </a:rPr>
              <a:t> or </a:t>
            </a:r>
            <a:r>
              <a:rPr lang="zh-CN" altLang="en-US" sz="1800">
                <a:solidFill>
                  <a:srgbClr val="404040"/>
                </a:solidFill>
              </a:rPr>
              <a:t>局部</a:t>
            </a:r>
            <a:r>
              <a:rPr lang="en-US" altLang="zh-CN" sz="1800">
                <a:solidFill>
                  <a:srgbClr val="404040"/>
                </a:solidFill>
              </a:rPr>
              <a:t>”</a:t>
            </a:r>
            <a:endParaRPr lang="en-US" altLang="zh-CN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en-US" altLang="zh-CN" sz="1800">
                <a:solidFill>
                  <a:srgbClr val="404040"/>
                </a:solidFill>
              </a:rPr>
              <a:t>static </a:t>
            </a:r>
            <a:r>
              <a:rPr lang="zh-CN" altLang="en-US" sz="1800">
                <a:solidFill>
                  <a:srgbClr val="404040"/>
                </a:solidFill>
              </a:rPr>
              <a:t>局部变量是共享的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zh-CN" altLang="en-US" sz="1800">
                <a:solidFill>
                  <a:srgbClr val="404040"/>
                </a:solidFill>
              </a:rPr>
              <a:t>栈不是绝对私有的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r>
              <a:rPr lang="zh-CN" altLang="en-US" sz="1800">
                <a:solidFill>
                  <a:srgbClr val="404040"/>
                </a:solidFill>
              </a:rPr>
              <a:t>判断是否共享的唯一标准：</a:t>
            </a:r>
            <a:endParaRPr lang="zh-CN" altLang="en-US" sz="1800">
              <a:solidFill>
                <a:srgbClr val="404040"/>
              </a:solidFill>
            </a:endParaRPr>
          </a:p>
          <a:p>
            <a:endParaRPr lang="en-US" altLang="zh-CN" sz="1800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US" altLang="zh-CN" sz="1800">
                <a:solidFill>
                  <a:srgbClr val="404040"/>
                </a:solidFill>
              </a:rPr>
              <a:t> </a:t>
            </a:r>
            <a:r>
              <a:rPr lang="zh-CN" altLang="en-US" sz="1800">
                <a:solidFill>
                  <a:srgbClr val="404040"/>
                </a:solidFill>
              </a:rPr>
              <a:t>是否引用同一实例</a:t>
            </a:r>
            <a:endParaRPr lang="zh-CN" altLang="en-US"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变量实例映射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全局变量：1 份（共享）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static 局部变量：1 份（共享）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普通局部变量：每线程 1 份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竞争条件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并发访问共享变量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至少一个写操作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结果依赖调度顺序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基于进程的并发</a:t>
            </a:r>
            <a:r>
              <a:rPr lang="zh-CN" altLang="en-US"/>
              <a:t>编程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7955" y="1600200"/>
            <a:ext cx="63068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为什么 cnt++ 不安全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cnt++ = Load + Update + Store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线程交错 → 更新丢失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临界区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对共享变量的关键操作序列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必须互斥执行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信号量 Semaphore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非负整数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P：等待并减 1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V：加 1 并唤醒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互斥锁 Mutex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二元信号量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pthread_mutex_lock / unlock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推荐优先使用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生产者-消费者问题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一方生产，一方消费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共享有限缓冲区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单缓冲区模型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empty：是否有空位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full：是否有数据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n 元循环缓冲区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slots：空槽数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items：已有元素数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mutex：互斥访问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课程总结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线程共享需同步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临界区要互斥</a:t>
            </a:r>
            <a:endParaRPr sz="1800">
              <a:solidFill>
                <a:srgbClr val="404040"/>
              </a:solidFill>
            </a:endParaRPr>
          </a:p>
          <a:p>
            <a:pPr lvl="1"/>
            <a:r>
              <a:rPr sz="1800">
                <a:solidFill>
                  <a:srgbClr val="404040"/>
                </a:solidFill>
              </a:rPr>
              <a:t>Mutex / Semaphore 是基础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204080"/>
                </a:solidFill>
              </a:rPr>
              <a:t>谢谢</a:t>
            </a:r>
            <a:endParaRPr sz="3600" b="1">
              <a:solidFill>
                <a:srgbClr val="20408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404040"/>
                </a:solidFill>
              </a:rPr>
              <a:t>Q &amp; A</a:t>
            </a:r>
            <a:endParaRPr sz="180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</Words>
  <Application>WPS 演示</Application>
  <PresentationFormat>On-screen Show (4:3)</PresentationFormat>
  <Paragraphs>161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并发与同步基础</vt:lpstr>
      <vt:lpstr>课程目标</vt:lpstr>
      <vt:lpstr>进程 vs 线程</vt:lpstr>
      <vt:lpstr>PowerPoint 演示文稿</vt:lpstr>
      <vt:lpstr>线程的优缺点</vt:lpstr>
      <vt:lpstr>共享变量的定义</vt:lpstr>
      <vt:lpstr>变量实例映射</vt:lpstr>
      <vt:lpstr>竞争条件</vt:lpstr>
      <vt:lpstr>PowerPoint 演示文稿</vt:lpstr>
      <vt:lpstr>为什么 cnt++ 不安全</vt:lpstr>
      <vt:lpstr>临界区</vt:lpstr>
      <vt:lpstr>信号量 Semaphore</vt:lpstr>
      <vt:lpstr>互斥锁 Mutex</vt:lpstr>
      <vt:lpstr>生产者-消费者问题</vt:lpstr>
      <vt:lpstr>单缓冲区模型</vt:lpstr>
      <vt:lpstr>n 元循环缓冲区</vt:lpstr>
      <vt:lpstr>课程总结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大徐小号</cp:lastModifiedBy>
  <cp:revision>8</cp:revision>
  <dcterms:created xsi:type="dcterms:W3CDTF">2013-01-27T09:14:00Z</dcterms:created>
  <dcterms:modified xsi:type="dcterms:W3CDTF">2025-12-24T11:09:47Z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27F2F49D105D4AC78726D17216D5D47D_13</vt:lpwstr>
  </property>
</Properties>
</file>