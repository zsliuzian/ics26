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67" r:id="rId5"/>
    <p:sldId id="268" r:id="rId6"/>
    <p:sldId id="269" r:id="rId7"/>
    <p:sldId id="270" r:id="rId8"/>
    <p:sldId id="271" r:id="rId9"/>
    <p:sldId id="258" r:id="rId10"/>
    <p:sldId id="266" r:id="rId11"/>
    <p:sldId id="259" r:id="rId12"/>
    <p:sldId id="260" r:id="rId13"/>
    <p:sldId id="261" r:id="rId14"/>
    <p:sldId id="262" r:id="rId15"/>
    <p:sldId id="263" r:id="rId16"/>
    <p:sldId id="265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2.png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7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10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3" Type="http://schemas.openxmlformats.org/officeDocument/2006/relationships/image" Target="../media/image11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image" Target="../media/image12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2.xml"/><Relationship Id="rId3" Type="http://schemas.openxmlformats.org/officeDocument/2006/relationships/image" Target="../media/image13.png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582930"/>
            <a:ext cx="9799200" cy="2570400"/>
          </a:xfrm>
        </p:spPr>
        <p:txBody>
          <a:bodyPr/>
          <a:p>
            <a:r>
              <a:rPr lang="en-US" altLang="zh-CN" sz="6600" b="1">
                <a:latin typeface="Helvetica Neue" panose="02000503000000020004" charset="0"/>
                <a:cs typeface="Helvetica Neue" panose="02000503000000020004" charset="0"/>
              </a:rPr>
              <a:t>Machine Prog: Basics</a:t>
            </a:r>
            <a:endParaRPr lang="en-US" altLang="zh-CN" sz="6600" b="1">
              <a:latin typeface="Helvetica Neue" panose="02000503000000020004" charset="0"/>
              <a:cs typeface="Helvetica Neue" panose="0200050300000002000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陈高远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主要内容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32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1.Intel </a:t>
            </a:r>
            <a:r>
              <a:rPr lang="zh-CN" altLang="en-US" sz="32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处理器与架构历史；</a:t>
            </a:r>
            <a:endParaRPr lang="zh-CN" altLang="en-US" sz="320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>
              <a:buNone/>
            </a:pPr>
            <a:r>
              <a:rPr lang="en-US" altLang="zh-CN" sz="32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2.C、</a:t>
            </a:r>
            <a:r>
              <a:rPr lang="zh-CN" altLang="en-US" sz="32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汇编、机器码；</a:t>
            </a:r>
            <a:endParaRPr lang="zh-CN" altLang="en-US" sz="320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>
              <a:buNone/>
            </a:pPr>
            <a:r>
              <a:rPr lang="en-US" altLang="zh-CN" sz="32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</a:t>
            </a:r>
            <a:r>
              <a:rPr lang="zh-CN" altLang="en-US" sz="32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汇编基础：寄存器、操作数、</a:t>
            </a:r>
            <a:r>
              <a:rPr lang="en-US" altLang="zh-CN" sz="32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move；</a:t>
            </a:r>
            <a:endParaRPr lang="en-US" altLang="zh-CN" sz="320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>
              <a:buNone/>
            </a:pPr>
            <a:r>
              <a:rPr lang="en-US" altLang="zh-CN" sz="32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</a:t>
            </a:r>
            <a:r>
              <a:rPr lang="zh-CN" altLang="en-US" sz="32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算术与逻辑操作。</a:t>
            </a:r>
            <a:endParaRPr lang="zh-CN" altLang="en-US" sz="320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Intel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处理器与架构历史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000"/>
              <a:t>x86 </a:t>
            </a:r>
            <a:r>
              <a:rPr lang="zh-CN" altLang="en-US" sz="2000"/>
              <a:t>是 </a:t>
            </a:r>
            <a:r>
              <a:rPr lang="en-US" altLang="zh-CN" sz="2000"/>
              <a:t>PC、</a:t>
            </a:r>
            <a:r>
              <a:rPr lang="zh-CN" altLang="en-US" sz="2000"/>
              <a:t>桌面和服务器市场的主导指令集。它的核心设计哲学是“演化式设计、向后兼容”：新处理器不断加入特性，但仍能运行早期代码。</a:t>
            </a:r>
            <a:r>
              <a:rPr lang="en-US" altLang="zh-CN" sz="2000"/>
              <a:t>x86 </a:t>
            </a:r>
            <a:r>
              <a:rPr lang="zh-CN" altLang="en-US" sz="2000"/>
              <a:t>属于 </a:t>
            </a:r>
            <a:r>
              <a:rPr lang="en-US" altLang="zh-CN" sz="2000"/>
              <a:t>CISC，</a:t>
            </a:r>
            <a:r>
              <a:rPr lang="zh-CN" altLang="en-US" sz="2000"/>
              <a:t>指令数量多、格式复杂，但 </a:t>
            </a:r>
            <a:r>
              <a:rPr lang="en-US" altLang="zh-CN" sz="2000"/>
              <a:t>Linux </a:t>
            </a:r>
            <a:r>
              <a:rPr lang="zh-CN" altLang="en-US" sz="2000"/>
              <a:t>程序实际用到的只是一个小子集；这给性能实现带来挑战，但 </a:t>
            </a:r>
            <a:r>
              <a:rPr lang="en-US" altLang="zh-CN" sz="2000"/>
              <a:t>Intel </a:t>
            </a:r>
            <a:r>
              <a:rPr lang="zh-CN" altLang="en-US" sz="2000"/>
              <a:t>通过实现优化保持了速度优势，低功耗方面则相对不突出。机器演化上，</a:t>
            </a:r>
            <a:r>
              <a:rPr lang="en-US" altLang="zh-CN" sz="2000"/>
              <a:t>x86 </a:t>
            </a:r>
            <a:r>
              <a:rPr lang="zh-CN" altLang="en-US" sz="2000"/>
              <a:t>从 16 位发展到 32 位，再到 64 位；从单核发展到多核；晶体管数量持续增长，制造工艺不断缩小。新增特性包括多媒体指令、更高效的条件操作、64 位支持和更多核心。</a:t>
            </a:r>
            <a:r>
              <a:rPr lang="en-US" altLang="zh-CN" sz="2000"/>
              <a:t>AMD </a:t>
            </a:r>
            <a:r>
              <a:rPr lang="zh-CN" altLang="en-US" sz="2000"/>
              <a:t>长期作为竞争者：早期追随 </a:t>
            </a:r>
            <a:r>
              <a:rPr lang="en-US" altLang="zh-CN" sz="2000"/>
              <a:t>Intel，</a:t>
            </a:r>
            <a:r>
              <a:rPr lang="zh-CN" altLang="en-US" sz="2000"/>
              <a:t>后来推出 </a:t>
            </a:r>
            <a:r>
              <a:rPr lang="en-US" altLang="zh-CN" sz="2000"/>
              <a:t>Opteron，</a:t>
            </a:r>
            <a:r>
              <a:rPr lang="zh-CN" altLang="en-US" sz="2000"/>
              <a:t>并定义 </a:t>
            </a:r>
            <a:r>
              <a:rPr lang="en-US" altLang="zh-CN" sz="2000"/>
              <a:t>x86-64。Intel </a:t>
            </a:r>
            <a:r>
              <a:rPr lang="zh-CN" altLang="en-US" sz="2000"/>
              <a:t>曾尝试用</a:t>
            </a:r>
            <a:r>
              <a:rPr lang="en-US" altLang="zh-CN" sz="2000"/>
              <a:t>IA64/Itanium </a:t>
            </a:r>
            <a:r>
              <a:rPr lang="zh-CN" altLang="en-US" sz="2000"/>
              <a:t>彻底替换 </a:t>
            </a:r>
            <a:r>
              <a:rPr lang="en-US" altLang="zh-CN" sz="2000"/>
              <a:t>IA32，</a:t>
            </a:r>
            <a:r>
              <a:rPr lang="zh-CN" altLang="en-US" sz="2000"/>
              <a:t>但性能不理想；最终 </a:t>
            </a:r>
            <a:r>
              <a:rPr lang="en-US" altLang="zh-CN" sz="2000"/>
              <a:t>Intel </a:t>
            </a:r>
            <a:r>
              <a:rPr lang="zh-CN" altLang="en-US" sz="2000"/>
              <a:t>推出 </a:t>
            </a:r>
            <a:r>
              <a:rPr lang="en-US" altLang="zh-CN" sz="2000"/>
              <a:t>EM64T，</a:t>
            </a:r>
            <a:r>
              <a:rPr lang="zh-CN" altLang="en-US" sz="2000"/>
              <a:t>与 </a:t>
            </a:r>
            <a:r>
              <a:rPr lang="en-US" altLang="zh-CN" sz="2000"/>
              <a:t>x86-64 </a:t>
            </a:r>
            <a:r>
              <a:rPr lang="zh-CN" altLang="en-US" sz="2000"/>
              <a:t>几乎一致。如今 </a:t>
            </a:r>
            <a:r>
              <a:rPr lang="en-US" altLang="zh-CN" sz="2000"/>
              <a:t>x86-64 </a:t>
            </a:r>
            <a:r>
              <a:rPr lang="zh-CN" altLang="en-US" sz="2000"/>
              <a:t>是标准，但仍有大量代码运行在 32 位模式。本课程聚焦 </a:t>
            </a:r>
            <a:r>
              <a:rPr lang="en-US" altLang="zh-CN" sz="2000"/>
              <a:t>x86-64，IA32 </a:t>
            </a:r>
            <a:r>
              <a:rPr lang="zh-CN" altLang="en-US" sz="2000"/>
              <a:t>仅作了解。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QQ_17899850184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550" y="223520"/>
            <a:ext cx="7369810" cy="59137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574040"/>
            <a:ext cx="10968990" cy="904240"/>
          </a:xfrm>
        </p:spPr>
        <p:txBody>
          <a:bodyPr/>
          <a:p>
            <a:pPr marL="0" indent="0">
              <a:buNone/>
            </a:pPr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指令集体系结构或指令集架构（</a:t>
            </a: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Instruction Set Architecture, ISA)：</a:t>
            </a:r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定义机器级程序的格式和行为，它定义了处理器状态、指令的格式，以及每条指令对状态的影响。</a:t>
            </a:r>
            <a:endParaRPr lang="zh-CN" altLang="en-US" sz="20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pic>
        <p:nvPicPr>
          <p:cNvPr id="6" name="图片 5" descr="QQ_17899888969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70" y="1478280"/>
            <a:ext cx="6279515" cy="49053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zh-CN" altLang="en-US"/>
              <a:t>从</a:t>
            </a:r>
            <a:r>
              <a:rPr lang="en-US" altLang="zh-CN"/>
              <a:t>C</a:t>
            </a:r>
            <a:r>
              <a:rPr lang="zh-CN" altLang="en-US"/>
              <a:t>程序到可执行</a:t>
            </a:r>
            <a:r>
              <a:rPr lang="zh-CN" altLang="en-US"/>
              <a:t>程序</a:t>
            </a:r>
            <a:endParaRPr lang="zh-CN" altLang="en-US"/>
          </a:p>
        </p:txBody>
      </p:sp>
      <p:pic>
        <p:nvPicPr>
          <p:cNvPr id="6" name="内容占位符 5" descr="QQ_1789987932188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6269355" cy="30206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34060" y="4706620"/>
            <a:ext cx="6143625" cy="166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/>
              <a:t>使用命令</a:t>
            </a:r>
            <a:r>
              <a:rPr lang="en-US" altLang="zh-CN" sz="2000"/>
              <a:t>gcc –Og –S sum.c，</a:t>
            </a:r>
            <a:r>
              <a:rPr lang="zh-CN" altLang="en-US" sz="2000"/>
              <a:t>产生汇编程序</a:t>
            </a:r>
            <a:r>
              <a:rPr lang="en-US" altLang="zh-CN" sz="2000"/>
              <a:t>sum.</a:t>
            </a:r>
            <a:r>
              <a:rPr lang="en-US" altLang="zh-CN" sz="2000"/>
              <a:t>s</a:t>
            </a:r>
            <a:endParaRPr lang="en-US" altLang="zh-CN" sz="2000"/>
          </a:p>
          <a:p>
            <a:pPr indent="0" fontAlgn="auto">
              <a:lnSpc>
                <a:spcPct val="150000"/>
              </a:lnSpc>
            </a:pPr>
            <a:r>
              <a:rPr lang="zh-CN" altLang="en-US" sz="2000"/>
              <a:t>反汇编</a:t>
            </a:r>
            <a:r>
              <a:rPr lang="en-US" altLang="zh-CN" sz="2000"/>
              <a:t>：objdump –d sum  </a:t>
            </a:r>
            <a:r>
              <a:rPr lang="zh-CN" altLang="en-US" sz="2000"/>
              <a:t>将机器码转换为</a:t>
            </a:r>
            <a:r>
              <a:rPr lang="zh-CN" altLang="en-US" sz="2000"/>
              <a:t>汇编</a:t>
            </a:r>
            <a:endParaRPr lang="zh-CN" altLang="en-US" sz="2000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QQ_17899894249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422910"/>
            <a:ext cx="4239895" cy="2616835"/>
          </a:xfrm>
          <a:prstGeom prst="rect">
            <a:avLst/>
          </a:prstGeom>
        </p:spPr>
      </p:pic>
      <p:pic>
        <p:nvPicPr>
          <p:cNvPr id="6" name="图片 5" descr="QQ_17899894331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3152140"/>
            <a:ext cx="5362575" cy="3168650"/>
          </a:xfrm>
          <a:prstGeom prst="rect">
            <a:avLst/>
          </a:prstGeom>
        </p:spPr>
      </p:pic>
      <p:pic>
        <p:nvPicPr>
          <p:cNvPr id="7" name="图片 6" descr="QQ_17899894436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140" y="502285"/>
            <a:ext cx="4861560" cy="60591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6690995" cy="561975"/>
          </a:xfrm>
        </p:spPr>
        <p:txBody>
          <a:bodyPr>
            <a:noAutofit/>
          </a:bodyPr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x86-64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整数寄存器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769610" cy="4759325"/>
          </a:xfrm>
        </p:spPr>
        <p:txBody>
          <a:bodyPr/>
          <a:p>
            <a:pPr marL="0" indent="0">
              <a:buNone/>
            </a:pPr>
            <a:r>
              <a:rPr lang="zh-CN" altLang="en-US" sz="2000"/>
              <a:t>指令集历史演化</a:t>
            </a:r>
            <a:r>
              <a:rPr lang="en-US" altLang="zh-CN" sz="2000"/>
              <a:t>:16</a:t>
            </a:r>
            <a:r>
              <a:rPr lang="zh-CN" altLang="en-US" sz="2000"/>
              <a:t>位</a:t>
            </a:r>
            <a:r>
              <a:rPr lang="en-US" altLang="zh-CN" sz="2000"/>
              <a:t>-&gt;32</a:t>
            </a:r>
            <a:r>
              <a:rPr lang="zh-CN" altLang="en-US" sz="2000"/>
              <a:t>位</a:t>
            </a:r>
            <a:r>
              <a:rPr lang="en-US" altLang="zh-CN" sz="2000"/>
              <a:t>-&gt;64</a:t>
            </a:r>
            <a:r>
              <a:rPr lang="zh-CN" altLang="en-US" sz="2000"/>
              <a:t>位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字节级操作可以访问最低的字节</a:t>
            </a:r>
            <a:r>
              <a:rPr lang="en-US" altLang="zh-CN" sz="2000">
                <a:solidFill>
                  <a:srgbClr val="FF0000"/>
                </a:solidFill>
              </a:rPr>
              <a:t>（</a:t>
            </a:r>
            <a:r>
              <a:rPr lang="zh-CN" altLang="en-US" sz="2000">
                <a:solidFill>
                  <a:srgbClr val="FF0000"/>
                </a:solidFill>
              </a:rPr>
              <a:t>汇编代码后缀为</a:t>
            </a:r>
            <a:r>
              <a:rPr lang="en-US" altLang="zh-CN" sz="2000">
                <a:solidFill>
                  <a:srgbClr val="FF0000"/>
                </a:solidFill>
              </a:rPr>
              <a:t>b）</a:t>
            </a:r>
            <a:r>
              <a:rPr lang="zh-CN" altLang="en-US" sz="2000"/>
              <a:t>，16 位操作可以访问最低的 2 个字节</a:t>
            </a:r>
            <a:r>
              <a:rPr lang="en-US" altLang="zh-CN" sz="2000">
                <a:solidFill>
                  <a:srgbClr val="FF0000"/>
                </a:solidFill>
              </a:rPr>
              <a:t>（</a:t>
            </a:r>
            <a:r>
              <a:rPr lang="zh-CN" altLang="en-US" sz="2000">
                <a:solidFill>
                  <a:srgbClr val="FF0000"/>
                </a:solidFill>
              </a:rPr>
              <a:t>字</a:t>
            </a:r>
            <a:r>
              <a:rPr lang="en-US" altLang="zh-CN" sz="2000">
                <a:solidFill>
                  <a:srgbClr val="FF0000"/>
                </a:solidFill>
              </a:rPr>
              <a:t>，w）</a:t>
            </a:r>
            <a:r>
              <a:rPr lang="zh-CN" altLang="en-US" sz="2000"/>
              <a:t>，32 位操作可以访问最低的 4 个字节</a:t>
            </a:r>
            <a:r>
              <a:rPr lang="en-US" altLang="zh-CN" sz="2000">
                <a:solidFill>
                  <a:srgbClr val="FF0000"/>
                </a:solidFill>
              </a:rPr>
              <a:t>（</a:t>
            </a:r>
            <a:r>
              <a:rPr lang="zh-CN" altLang="en-US" sz="2000">
                <a:solidFill>
                  <a:srgbClr val="FF0000"/>
                </a:solidFill>
              </a:rPr>
              <a:t>双字</a:t>
            </a:r>
            <a:r>
              <a:rPr lang="en-US" altLang="zh-CN" sz="2000">
                <a:solidFill>
                  <a:srgbClr val="FF0000"/>
                </a:solidFill>
              </a:rPr>
              <a:t>，l)</a:t>
            </a:r>
            <a:r>
              <a:rPr lang="zh-CN" altLang="en-US" sz="2000"/>
              <a:t>，而 64 位操作可以访问整个寄存器</a:t>
            </a:r>
            <a:r>
              <a:rPr lang="en-US" altLang="zh-CN" sz="2000">
                <a:solidFill>
                  <a:srgbClr val="FF0000"/>
                </a:solidFill>
              </a:rPr>
              <a:t>（</a:t>
            </a:r>
            <a:r>
              <a:rPr lang="zh-CN" altLang="en-US" sz="2000">
                <a:solidFill>
                  <a:srgbClr val="FF0000"/>
                </a:solidFill>
              </a:rPr>
              <a:t>四字</a:t>
            </a:r>
            <a:r>
              <a:rPr lang="en-US" altLang="zh-CN" sz="2000">
                <a:solidFill>
                  <a:srgbClr val="FF0000"/>
                </a:solidFill>
              </a:rPr>
              <a:t>，q）</a:t>
            </a:r>
            <a:r>
              <a:rPr lang="zh-CN" altLang="en-US" sz="2000"/>
              <a:t>。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生成 1 字节和 2 字节数字的指令会保持剩下的字节不变；生成 4 字节数字的指令会把髙位 4 个字节置为 0。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</p:txBody>
      </p:sp>
      <p:pic>
        <p:nvPicPr>
          <p:cNvPr id="4" name="图片 3" descr="QQ_17899731081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0"/>
            <a:ext cx="554164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操作数指示符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操作数的三种类型</a:t>
            </a:r>
            <a:r>
              <a:rPr lang="en-US" altLang="zh-CN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</a:t>
            </a:r>
            <a:endParaRPr lang="en-US" altLang="zh-CN" sz="240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>
              <a:buNone/>
            </a:pPr>
            <a:r>
              <a:rPr lang="zh-CN" alt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第一种类型是立即数</a:t>
            </a:r>
            <a:r>
              <a:rPr 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书写方式是</a:t>
            </a:r>
            <a:r>
              <a:rPr lang="en-US" altLang="zh-CN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lang="zh-CN" alt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$</a:t>
            </a:r>
            <a:r>
              <a:rPr lang="en-US" altLang="zh-CN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lang="zh-CN" alt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后面跟一个用标准</a:t>
            </a:r>
            <a:r>
              <a:rPr lang="en-US" altLang="zh-CN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</a:t>
            </a:r>
            <a:r>
              <a:rPr lang="zh-CN" alt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表示法表示的整数，比如，$-577或$0</a:t>
            </a:r>
            <a:r>
              <a:rPr lang="en-US" altLang="zh-CN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x1F。</a:t>
            </a:r>
            <a:r>
              <a:rPr lang="en-US" altLang="zh-CN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不加</a:t>
            </a:r>
            <a:r>
              <a:rPr lang="en-US" altLang="zh-CN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$</a:t>
            </a:r>
            <a:r>
              <a:rPr lang="en-US" altLang="zh-CN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表示绝对寻址</a:t>
            </a:r>
            <a:r>
              <a:rPr lang="en-US" altLang="zh-CN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）</a:t>
            </a:r>
            <a:endParaRPr lang="en-US" altLang="zh-CN" sz="240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>
              <a:buNone/>
            </a:pPr>
            <a:r>
              <a:rPr lang="zh-CN" alt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第二种类型是寄存器</a:t>
            </a:r>
            <a:r>
              <a:rPr 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 个寄存器的低位 1 字节、2 字节、4 字节或 8 字节中的一个作为操作数，这些字节数分别对应于 8 位、16 位、32 位或 64 位。</a:t>
            </a:r>
            <a:endParaRPr lang="zh-CN" altLang="en-US" sz="240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>
              <a:buNone/>
            </a:pPr>
            <a:r>
              <a:rPr lang="zh-CN" altLang="en-US" sz="24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第三类操作数是内存引用，根据计算出来的地址（通常称为有效地址）访问某个内存位置。</a:t>
            </a:r>
            <a:endParaRPr lang="zh-CN" altLang="en-US" sz="240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操作数指示符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4599305"/>
            <a:ext cx="10968990" cy="1650365"/>
          </a:xfrm>
        </p:spPr>
        <p:txBody>
          <a:bodyPr/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 descr="QQ_17899731627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135" y="455295"/>
            <a:ext cx="8571865" cy="4144010"/>
          </a:xfrm>
          <a:prstGeom prst="rect">
            <a:avLst/>
          </a:prstGeom>
        </p:spPr>
      </p:pic>
      <p:pic>
        <p:nvPicPr>
          <p:cNvPr id="5" name="图片 4" descr="QQ_17899824461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95" y="4599305"/>
            <a:ext cx="11490325" cy="1768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数据传送指令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——MOV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类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57250" y="5626735"/>
            <a:ext cx="10968990" cy="97790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/>
              <a:t>movabsq </a:t>
            </a:r>
            <a:r>
              <a:rPr lang="zh-CN" altLang="en-US"/>
              <a:t>指令</a:t>
            </a:r>
            <a:r>
              <a:rPr lang="en-US" altLang="zh-CN"/>
              <a:t>：</a:t>
            </a:r>
            <a:r>
              <a:rPr lang="zh-CN" altLang="en-US"/>
              <a:t>处理 64 位立即数数据</a:t>
            </a:r>
            <a:r>
              <a:rPr lang="en-US" altLang="zh-CN"/>
              <a:t>，</a:t>
            </a:r>
            <a:r>
              <a:rPr lang="zh-CN" altLang="en-US"/>
              <a:t>能够以任意 64 位立即数值作为源操作数，并且只能以寄存器作为目的。</a:t>
            </a:r>
            <a:r>
              <a:rPr lang="en-US" altLang="zh-CN"/>
              <a:t>（</a:t>
            </a:r>
            <a:r>
              <a:rPr lang="zh-CN" altLang="en-US">
                <a:sym typeface="+mn-ea"/>
              </a:rPr>
              <a:t>常规的 </a:t>
            </a:r>
            <a:r>
              <a:rPr lang="en-US" altLang="zh-CN">
                <a:sym typeface="+mn-ea"/>
              </a:rPr>
              <a:t>movq </a:t>
            </a:r>
            <a:r>
              <a:rPr lang="zh-CN" altLang="en-US">
                <a:sym typeface="+mn-ea"/>
              </a:rPr>
              <a:t>指令只能以表示为 32 位补码数字的立即数作为源操作数</a:t>
            </a:r>
            <a:endParaRPr lang="en-US" altLang="zh-CN"/>
          </a:p>
        </p:txBody>
      </p:sp>
      <p:pic>
        <p:nvPicPr>
          <p:cNvPr id="4" name="图片 3" descr="QQ_17899732052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270" y="1348105"/>
            <a:ext cx="7663815" cy="32327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7250" y="1641475"/>
            <a:ext cx="3081020" cy="1147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</a:t>
            </a:r>
            <a:r>
              <a:rPr lang="zh-CN" altLang="en-US" sz="28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：源操作数</a:t>
            </a:r>
            <a:endParaRPr lang="zh-CN" altLang="en-US" sz="280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r>
              <a:rPr lang="en-US" altLang="zh-CN" sz="28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</a:t>
            </a:r>
            <a:r>
              <a:rPr lang="zh-CN" altLang="en-US" sz="28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：目的操作数</a:t>
            </a:r>
            <a:endParaRPr lang="zh-CN" altLang="en-US" sz="280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lang="zh-CN" altLang="en-US" sz="2800">
              <a:latin typeface="宋体" charset="0"/>
              <a:ea typeface="宋体" charset="0"/>
              <a:cs typeface="PingFang SC" panose="020B04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57250" y="4684395"/>
            <a:ext cx="10622280" cy="977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注</a:t>
            </a:r>
            <a:r>
              <a:rPr lang="en-US" altLang="zh-CN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：1. </a:t>
            </a:r>
            <a:r>
              <a:rPr lang="zh-CN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传送指令的两个操作数不能都指向内存位置</a:t>
            </a:r>
            <a:r>
              <a:rPr lang="en-US" altLang="zh-CN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；</a:t>
            </a:r>
            <a:endParaRPr lang="zh-CN" altLang="en-US" sz="24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r>
              <a:rPr lang="en-US" altLang="zh-CN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2. movl </a:t>
            </a:r>
            <a:r>
              <a:rPr lang="zh-CN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指令以寄存器作为目的时，它会把该寄存器的高位 4 字节设置为 0。</a:t>
            </a:r>
            <a:endParaRPr lang="zh-CN" altLang="en-US" sz="24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3" grpId="0" build="p"/>
      <p:bldP spid="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MOVZ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类与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MOVS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类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13180"/>
            <a:ext cx="3912235" cy="4936490"/>
          </a:xfrm>
        </p:spPr>
        <p:txBody>
          <a:bodyPr/>
          <a:p>
            <a:pPr marL="0" indent="0">
              <a:buNone/>
            </a:pPr>
            <a:r>
              <a:rPr lang="zh-CN" altLang="en-US"/>
              <a:t>在将较小的源值</a:t>
            </a:r>
            <a:r>
              <a:rPr lang="en-US" altLang="zh-CN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（</a:t>
            </a:r>
            <a:r>
              <a:rPr lang="zh-CN" altLang="en-US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寄存器或内存</a:t>
            </a:r>
            <a:r>
              <a:rPr lang="en-US" altLang="zh-CN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）</a:t>
            </a:r>
            <a:r>
              <a:rPr lang="zh-CN" altLang="en-US"/>
              <a:t>复制到较大的目的</a:t>
            </a:r>
            <a:r>
              <a:rPr lang="en-US" altLang="zh-CN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（</a:t>
            </a:r>
            <a:r>
              <a:rPr lang="zh-CN" altLang="en-US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寄存器</a:t>
            </a:r>
            <a:r>
              <a:rPr lang="en-US" altLang="zh-CN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）</a:t>
            </a:r>
            <a:r>
              <a:rPr lang="zh-CN" altLang="en-US"/>
              <a:t>时使用</a:t>
            </a:r>
            <a:r>
              <a:rPr lang="en-US" altLang="zh-CN"/>
              <a:t>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MOVZ </a:t>
            </a:r>
            <a:r>
              <a:rPr lang="zh-CN" altLang="en-US"/>
              <a:t>类中的指令把目的中剩余的字节填充为 0,而</a:t>
            </a:r>
            <a:r>
              <a:rPr lang="en-US" altLang="zh-CN"/>
              <a:t> MOVS</a:t>
            </a:r>
            <a:r>
              <a:rPr lang="zh-CN" altLang="en-US"/>
              <a:t>类中的指令通过符号扩展来填充，把源操作的最高位进行复制。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最后两个字符都是大小指示符：第一个字符指定源的大小，而第二个指明目的的大小。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把 4 字节源值零扩展到 8 字节目的</a:t>
            </a:r>
            <a:r>
              <a:rPr lang="en-US" altLang="zh-CN"/>
              <a:t>：</a:t>
            </a:r>
            <a:r>
              <a:rPr lang="zh-CN" altLang="en-US"/>
              <a:t>通过</a:t>
            </a:r>
            <a:r>
              <a:rPr lang="en-US" altLang="zh-CN"/>
              <a:t> movl </a:t>
            </a:r>
            <a:r>
              <a:rPr lang="zh-CN" altLang="en-US"/>
              <a:t>实现</a:t>
            </a:r>
            <a:r>
              <a:rPr lang="en-US" altLang="zh-CN"/>
              <a:t>。</a:t>
            </a:r>
            <a:endParaRPr lang="en-US" altLang="zh-CN"/>
          </a:p>
        </p:txBody>
      </p:sp>
      <p:pic>
        <p:nvPicPr>
          <p:cNvPr id="4" name="图片 3" descr="QQ_17899732376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00" y="1186180"/>
            <a:ext cx="7578725" cy="53682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加载有效地址指令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leaq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000"/>
              <a:t>movq</a:t>
            </a:r>
            <a:r>
              <a:rPr lang="zh-CN" altLang="en-US" sz="2000"/>
              <a:t>指令的变形</a:t>
            </a:r>
            <a:r>
              <a:rPr lang="en-US" altLang="zh-CN" sz="2000"/>
              <a:t>，</a:t>
            </a:r>
            <a:r>
              <a:rPr lang="zh-CN" altLang="en-US" sz="2000"/>
              <a:t>它的第一个操作数看上去是一个内存引用，但该指令并不是从指定的位置读人数据，而是将有效地址写人到目的操作数。</a:t>
            </a:r>
            <a:r>
              <a:rPr lang="en-US" altLang="zh-CN" sz="20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（</a:t>
            </a:r>
            <a:r>
              <a:rPr lang="zh-CN" altLang="en-US" sz="20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不从算出的内存里读数据</a:t>
            </a:r>
            <a:r>
              <a:rPr lang="en-US" altLang="zh-CN" sz="20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，</a:t>
            </a:r>
            <a:r>
              <a:rPr lang="zh-CN" altLang="en-US" sz="20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而是直接传送算出的地址</a:t>
            </a:r>
            <a:r>
              <a:rPr lang="en-US" altLang="zh-CN" sz="20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）</a:t>
            </a:r>
            <a:endParaRPr lang="en-US" altLang="zh-CN" sz="20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可以简洁地描述普通的算术操作</a:t>
            </a:r>
            <a:r>
              <a:rPr lang="en-US" altLang="zh-CN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与有效地址计算无关。</a:t>
            </a:r>
            <a:endParaRPr lang="zh-CN" altLang="en-US" sz="200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例</a:t>
            </a:r>
            <a:r>
              <a:rPr lang="en-US" altLang="zh-CN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如果寄存器％</a:t>
            </a:r>
            <a:r>
              <a:rPr lang="en-US" altLang="zh-CN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rdx</a:t>
            </a:r>
            <a:r>
              <a:rPr lang="zh-CN" altLang="en-US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的值为</a:t>
            </a:r>
            <a:r>
              <a:rPr lang="en-US" altLang="zh-CN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 x，</a:t>
            </a:r>
            <a:endParaRPr lang="en-US" altLang="zh-CN" sz="200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那么指令 </a:t>
            </a:r>
            <a:r>
              <a:rPr lang="en-US" altLang="zh-CN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leaq 7(%rdx,%rdx,4) ,%rax </a:t>
            </a:r>
            <a:r>
              <a:rPr lang="zh-CN" altLang="en-US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将设置寄存器％</a:t>
            </a:r>
            <a:r>
              <a:rPr lang="en-US" altLang="zh-CN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rax </a:t>
            </a:r>
            <a:r>
              <a:rPr lang="zh-CN" altLang="en-US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的值为 5</a:t>
            </a:r>
            <a:r>
              <a:rPr lang="en-US" altLang="zh-CN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x</a:t>
            </a:r>
            <a:r>
              <a:rPr lang="zh-CN" altLang="en-US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+</a:t>
            </a:r>
            <a:r>
              <a:rPr lang="en-US" altLang="zh-CN" sz="20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7。</a:t>
            </a:r>
            <a:endParaRPr lang="en-US" altLang="zh-CN" sz="200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marL="0" indent="0">
              <a:buNone/>
            </a:pPr>
            <a:r>
              <a:rPr lang="en-US" altLang="zh-CN" sz="20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（s</a:t>
            </a:r>
            <a:r>
              <a:rPr lang="zh-CN" altLang="en-US" sz="20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必须是</a:t>
            </a:r>
            <a:r>
              <a:rPr lang="en-US" altLang="zh-CN" sz="20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1，2，4，8）</a:t>
            </a:r>
            <a:endParaRPr lang="en-US" altLang="zh-CN" sz="200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目的操作数必须是一个寄存器。</a:t>
            </a:r>
            <a:endParaRPr lang="zh-CN" altLang="en-US" sz="20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0" indent="0">
              <a:buNone/>
            </a:pPr>
            <a:endParaRPr lang="zh-CN" altLang="en-US" sz="20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一元和二元操作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、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移位操作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QQ_17899787783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435735"/>
            <a:ext cx="7065645" cy="48139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特殊的算术操作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4846955"/>
            <a:ext cx="10968990" cy="1673225"/>
          </a:xfrm>
        </p:spPr>
        <p:txBody>
          <a:bodyPr>
            <a:normAutofit lnSpcReduction="10000"/>
          </a:bodyPr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en-US"/>
              <a:t>两条不同的“单操作数”乘法指令，以计算两个 64 位值的全 128 位乘积</a:t>
            </a:r>
            <a:r>
              <a:rPr lang="en-US" altLang="zh-CN"/>
              <a:t>：</a:t>
            </a:r>
            <a:r>
              <a:rPr lang="zh-CN" altLang="en-US"/>
              <a:t>无符号数乘法（</a:t>
            </a:r>
            <a:r>
              <a:rPr lang="en-US" altLang="zh-CN"/>
              <a:t>mulq)，</a:t>
            </a:r>
            <a:r>
              <a:rPr lang="zh-CN" altLang="en-US"/>
              <a:t>补码乘法（</a:t>
            </a:r>
            <a:r>
              <a:rPr lang="en-US" altLang="zh-CN"/>
              <a:t>imulq)。</a:t>
            </a:r>
            <a:r>
              <a:rPr lang="zh-CN" altLang="en-US"/>
              <a:t>要求一个参数必须在寄存器</a:t>
            </a:r>
            <a:r>
              <a:rPr lang="en-US" altLang="zh-CN"/>
              <a:t>%rax </a:t>
            </a:r>
            <a:r>
              <a:rPr lang="zh-CN" altLang="en-US"/>
              <a:t>中，而另一个作为指令的源操作数给出。然后乘积存放在寄存器％</a:t>
            </a:r>
            <a:r>
              <a:rPr lang="en-US" altLang="zh-CN"/>
              <a:t>rdx(</a:t>
            </a:r>
            <a:r>
              <a:rPr lang="zh-CN" altLang="en-US"/>
              <a:t>高64位</a:t>
            </a:r>
            <a:r>
              <a:rPr lang="en-US" altLang="zh-CN"/>
              <a:t>）</a:t>
            </a:r>
            <a:r>
              <a:rPr lang="zh-CN" altLang="en-US"/>
              <a:t>和</a:t>
            </a:r>
            <a:r>
              <a:rPr lang="en-US" altLang="zh-CN">
                <a:sym typeface="+mn-ea"/>
              </a:rPr>
              <a:t>%rax</a:t>
            </a:r>
            <a:r>
              <a:rPr lang="zh-CN" altLang="en-US"/>
              <a:t>(低64位）中。</a:t>
            </a:r>
            <a:endParaRPr lang="zh-CN" altLang="en-US"/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en-US"/>
              <a:t> </a:t>
            </a:r>
            <a:r>
              <a:rPr lang="en-US" altLang="zh-CN"/>
              <a:t>imulq </a:t>
            </a:r>
            <a:r>
              <a:rPr lang="zh-CN" altLang="en-US"/>
              <a:t>可以用于两个不同的乘法操作，汇编器通过计算操作数的数目，分辨出想用哪条指令。</a:t>
            </a:r>
            <a:endParaRPr lang="zh-CN" altLang="en-US"/>
          </a:p>
        </p:txBody>
      </p:sp>
      <p:pic>
        <p:nvPicPr>
          <p:cNvPr id="4" name="图片 3" descr="QQ_17899788272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0" y="1402080"/>
            <a:ext cx="8074025" cy="34245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8330" y="1538605"/>
            <a:ext cx="3203575" cy="1329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对 128 位（16 字节）数的操作提供有限的支持</a:t>
            </a:r>
            <a:r>
              <a:rPr lang="en-US" altLang="zh-CN" sz="24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</a:t>
            </a:r>
            <a:r>
              <a:rPr lang="zh-CN" altLang="en-US" sz="24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八字</a:t>
            </a:r>
            <a:r>
              <a:rPr lang="en-US" altLang="zh-CN" sz="24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</a:t>
            </a:r>
            <a:endParaRPr lang="en-US" altLang="zh-CN" sz="24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3" grpId="0" build="p"/>
      <p:bldP spid="3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 sz="8000"/>
              <a:t>谢谢</a:t>
            </a:r>
            <a:r>
              <a:rPr lang="en-US" altLang="zh-CN" sz="8000"/>
              <a:t>！</a:t>
            </a:r>
            <a:endParaRPr lang="en-US" altLang="zh-CN" sz="8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1889</Words>
  <Application>WPS 演示</Application>
  <PresentationFormat>宽屏</PresentationFormat>
  <Paragraphs>77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Helvetica Neue</vt:lpstr>
      <vt:lpstr>PingFang SC Semibold</vt:lpstr>
      <vt:lpstr>PingFang SC</vt:lpstr>
      <vt:lpstr>宋体</vt:lpstr>
      <vt:lpstr>PingFang SC Regular</vt:lpstr>
      <vt:lpstr>苹方-简</vt:lpstr>
      <vt:lpstr>微软雅黑</vt:lpstr>
      <vt:lpstr>方正雅意黑 GB18030L2</vt:lpstr>
      <vt:lpstr>汉仪书宋二KW</vt:lpstr>
      <vt:lpstr>Arial Unicode MS</vt:lpstr>
      <vt:lpstr>WPS</vt:lpstr>
      <vt:lpstr>Machine Prog: Basics</vt:lpstr>
      <vt:lpstr>主要内容：</vt:lpstr>
      <vt:lpstr>Intel 处理器与架构历史</vt:lpstr>
      <vt:lpstr>PowerPoint 演示文稿</vt:lpstr>
      <vt:lpstr>PowerPoint 演示文稿</vt:lpstr>
      <vt:lpstr>从C程序到可执行程序</vt:lpstr>
      <vt:lpstr>PowerPoint 演示文稿</vt:lpstr>
      <vt:lpstr>x86-64 整数寄存器</vt:lpstr>
      <vt:lpstr>操作数指示符</vt:lpstr>
      <vt:lpstr>操作数指示符</vt:lpstr>
      <vt:lpstr>数据传送指令——MOV类</vt:lpstr>
      <vt:lpstr>MOVZ类与MOVS类</vt:lpstr>
      <vt:lpstr>加载有效地址指令leaq</vt:lpstr>
      <vt:lpstr>一元和二元操作、移位操作</vt:lpstr>
      <vt:lpstr>特殊的算术操作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Prog: Basics</dc:title>
  <dc:creator/>
  <cp:lastModifiedBy>陈高远</cp:lastModifiedBy>
  <cp:revision>16</cp:revision>
  <dcterms:created xsi:type="dcterms:W3CDTF">2026-09-21T13:35:14Z</dcterms:created>
  <dcterms:modified xsi:type="dcterms:W3CDTF">2026-09-21T13:35:14Z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71F24BB917BF7F301C838868DDA6523B_41</vt:lpwstr>
  </property>
</Properties>
</file>