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4" r:id="rId4"/>
    <p:sldId id="261" r:id="rId5"/>
    <p:sldId id="263" r:id="rId6"/>
    <p:sldId id="271" r:id="rId7"/>
    <p:sldId id="266" r:id="rId8"/>
    <p:sldId id="268" r:id="rId9"/>
    <p:sldId id="272" r:id="rId10"/>
    <p:sldId id="269" r:id="rId11"/>
    <p:sldId id="27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5" y="5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9ADAE6-3DDC-B514-2F3B-41A6F97D31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F0B22A2-2F21-2B18-6503-FE66A38AC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BE1E14-A93C-CD0C-0484-60FC0D050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7FD466-1521-8A86-D9DA-A567B561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C2FAF7-4B38-5935-1256-C14DBFE70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3666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1CA0B2-9E27-1032-9F79-B3C94EAA0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6B738E-B067-119E-4C07-2DD15BDF4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7A001F-AAC5-D056-AE00-38429A3F8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E98C9D-CDC1-5BD5-8454-AF48B372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1AACDB-EDC8-B7EA-9E45-83C5DBEFF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992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0E3A4B-778A-1B5D-33D7-58E51C8C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DAF5D6-00B7-6DA0-7C7D-EA22C343B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BB3640-D86D-5751-A4F8-FC14FDB2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11E7B5-2F1A-61CE-C5DE-DE7FC93BA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20446F-9AF8-1BCE-C5EB-20FD36FFC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27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A2A651-B9A8-3991-7F45-16053E2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51E6C3-7E69-4BA2-25B9-E799B2B9B4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60199A0-CAB1-5993-43D8-482BA0BA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00DBC4-73BE-2784-7760-1B94202A1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AB1E6D-D628-6C26-1039-D9E087B4C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16BB4BA-64D9-0B20-39C4-67DFE630A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7074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7E3E11-F8F0-A608-FB9D-BEB3BC77D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3F35BE3-1A13-5513-E057-0E6FC3478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EA01F26-6591-531A-7642-E02CF18CAE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436E56A-BB30-9088-3876-35E09EEEA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A796C6-EA25-07D5-D98E-B8BDEDCAC2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EF343EE-71F5-8DDC-1B67-A704C4905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735E713-0198-60DE-4E08-FA1F2ED1A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553EAC-66B1-5D7E-8919-BD58BA4ED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620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94726-4886-A29C-2738-FB0947F7C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CA81DC-34CE-8548-2E7A-C63199EE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BF737DF-7D90-7F5C-2932-8F66BB41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E2F9DD9-B650-096A-F949-D00D77D35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8417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7241D1E-EF12-FF7F-2D9E-3A3FA6AC1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8C91D8D-8E58-C7BC-AF68-E9CE6BD6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421762-5377-6D11-23A9-33F87C339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189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9FB9FC-49A4-F18D-8D46-7C6EF3D8D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DCF5AB-AD09-BC60-AAE6-9783C076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B43B45-D1E9-B5D6-56FF-967A38672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88FCC1-4F18-C2FC-062E-E75BD56CF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124A00-CDE6-D088-3E23-211DE2BB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46DD7C9-9C66-9686-B218-136E64672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4298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2103C-D6F5-2253-9935-E7D7CA97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395B98E-241F-777F-1AF0-B2BD6E732F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C29A26-69D8-0DE1-A164-E1B70DA04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450177-0AF7-ADB7-7AC4-D6438518F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5B3651-00A3-9E12-ACBD-8512B584D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88DB6-57CD-B7C6-47C9-69C3F6196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4543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6A947A-375B-B76B-EBF8-F378C5C1E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656451-EA70-E433-5BC7-309BC6AC6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2E3AC1-C030-E5D7-96F9-1992F194B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5D4389-8A0A-6763-C610-47B656632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28961B-AD7A-CE71-9EA2-F6C6EAE2D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7253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A116A0D-2013-48F4-DF5E-EBB150447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873439-3F50-0CF1-B647-6296F62C3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276BF-F0BA-946C-0C19-77BC65A5E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796397-27FD-C441-684F-6043E5328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46B881-5118-94BC-D9FF-BC79A984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6227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3795815-CE8F-3CF0-2B1B-7A379646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E60D05-7680-F646-C2BA-0B9FB7FB4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CD5729-9BE7-4EA5-F952-0033C1B004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08BF1D-B316-48E2-8918-13D5C5B67929}" type="datetimeFigureOut">
              <a:rPr lang="zh-CN" altLang="en-US" smtClean="0"/>
              <a:t>2025/9/24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4F1092-766C-B49C-9B7F-B4FC37788E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D63542-AD78-2CB9-974E-6485F32D2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570E90-81FE-4AA5-A6BD-9E23EA569C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012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566994-E461-D428-91DF-3B31234E5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39" y="1629696"/>
            <a:ext cx="10876935" cy="106910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Machine-Level Programming I: Basics </a:t>
            </a:r>
            <a:endParaRPr lang="zh-CN" altLang="en-US" sz="4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3EF4EA4-AB9B-39E6-3FC1-011531A53C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谌小祎</a:t>
            </a:r>
          </a:p>
        </p:txBody>
      </p:sp>
    </p:spTree>
    <p:extLst>
      <p:ext uri="{BB962C8B-B14F-4D97-AF65-F5344CB8AC3E}">
        <p14:creationId xmlns:p14="http://schemas.microsoft.com/office/powerpoint/2010/main" val="2563596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9F8A-3EDF-CC6A-E627-E86D4A69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C915C-8003-2E09-04EE-69AE86B6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发展历程</a:t>
            </a:r>
            <a:endParaRPr lang="zh-CN" altLang="en-US" sz="4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B69F39-5C32-D46A-F0E3-EE60A51C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42619" cy="495863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“我们的表述基于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x86-64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，它是现在笔记本电脑和台式机中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最常见处理器的机器语言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，也是驱动大型数据中心和超级计算机的最常见处理器的机器语言。这种语言的历史悠久，开始于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Intel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1978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年的第一个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位处理器，然后扩展为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位，最近又扩展到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位。”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0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超线程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00000"/>
              </a:lnSpc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0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多核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0F08621-96BF-AA05-1B2D-7DCC192C2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1051" y="1180659"/>
            <a:ext cx="7335917" cy="5312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961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2C7-EE46-9544-7420-250BB8BD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036DB8-20FF-6353-B092-04F3D3B32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发展历程</a:t>
            </a:r>
            <a:endParaRPr lang="zh-CN" altLang="en-US" sz="4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F0EF49-338F-8547-DD1D-0A5C138E2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3329"/>
            <a:ext cx="4522839" cy="480797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“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一路以来，逐渐增加了很多特性，以更好地利用已有的半导体技术，以及满足市场需求。这些进步中很多是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Intel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自己驱动的，但它的对手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也作出了重要的贡献。演化的结果是得到一个相当奇特的设计，有些特性只有从历史的观点来看才有意义，它还具有提供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后向兼容性的特性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，而现代编译器和操作系统早已不再使用这些特性。我们将关注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GCC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Linux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使用的那些特性，这样可以避免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x86-64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的大量复杂性和许多隐秘特性。”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65E00C8-2C30-A827-C700-574688C71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617" y="645242"/>
            <a:ext cx="7440086" cy="556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028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6D65F-1CF2-418A-A8FC-4677AA80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AF04E6-09DB-FE68-AC9E-C38C58203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摩尔定律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D8240F71-7D17-95EE-A4B3-9CAECDBB6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360" y="1454714"/>
            <a:ext cx="7872542" cy="4570002"/>
          </a:xfr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F919EF-32F1-DD54-0EF7-1C5112EE23E0}"/>
              </a:ext>
            </a:extLst>
          </p:cNvPr>
          <p:cNvSpPr txBox="1">
            <a:spLocks/>
          </p:cNvSpPr>
          <p:nvPr/>
        </p:nvSpPr>
        <p:spPr>
          <a:xfrm>
            <a:off x="838200" y="1563329"/>
            <a:ext cx="4522839" cy="48079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1928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B8091-1624-BABB-CA35-386699192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5A1ABB-089F-708A-BFB1-86C0B577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174" y="365125"/>
            <a:ext cx="10660626" cy="1325563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指令集体系结构</a:t>
            </a:r>
            <a:r>
              <a:rPr lang="en-US" altLang="zh-CN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(Instruction Set Architecture)</a:t>
            </a:r>
            <a:endParaRPr lang="zh-CN" altLang="en-US" sz="4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BF9ABB-C2DD-9152-0BA1-39AC4CC6A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3329"/>
            <a:ext cx="4522839" cy="480797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定义机器级程序的格式和行为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处理器状态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指令格式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每条指令对状态的影响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抽象模型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顺序执行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--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并发执行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虚拟内存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368DB64-31E4-0742-A3E0-EA0AC4EA0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2890" y="1563328"/>
            <a:ext cx="6628704" cy="499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111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93F51-208D-BD22-8CF7-2DC0A81B4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37EF7C-2DAF-A4CB-0A69-96587A670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63329"/>
            <a:ext cx="1978742" cy="480797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编译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汇编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10000"/>
              </a:lnSpc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链接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5B15BE7-AB54-5834-7593-799379073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719" y="0"/>
            <a:ext cx="91951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790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08C00-EAAA-4D84-9B1A-65B3D8BCB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3858B4-328A-9A59-0BD8-E6E79F243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寄存器</a:t>
            </a:r>
          </a:p>
        </p:txBody>
      </p:sp>
      <p:sp>
        <p:nvSpPr>
          <p:cNvPr id="8" name="内容占位符 3">
            <a:extLst>
              <a:ext uri="{FF2B5EF4-FFF2-40B4-BE49-F238E27FC236}">
                <a16:creationId xmlns:a16="http://schemas.microsoft.com/office/drawing/2014/main" id="{BB912F35-7464-2C9C-776E-A3490D705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程序计数器（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%rip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整数寄存器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条件码寄存器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向量寄存器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18A999D-29F8-89C3-B932-D03CFC71B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583" y="0"/>
            <a:ext cx="54311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250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4A8A7-FC80-4419-395B-D042BFE56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A66DEE-FAC5-B6C3-E32E-19A4FAD39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操作数指示符</a:t>
            </a:r>
          </a:p>
        </p:txBody>
      </p:sp>
      <p:sp>
        <p:nvSpPr>
          <p:cNvPr id="8" name="内容占位符 3">
            <a:extLst>
              <a:ext uri="{FF2B5EF4-FFF2-40B4-BE49-F238E27FC236}">
                <a16:creationId xmlns:a16="http://schemas.microsoft.com/office/drawing/2014/main" id="{7D88F76B-9DD6-4938-0CC6-61CCBAFBF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立即数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寄存器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s=1,2,4,8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D7E3FC-ABD3-D1B8-2944-2E08595C2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850" y="1930400"/>
            <a:ext cx="8771766" cy="339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80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4049D-B2EB-78D2-185C-984249E3A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3">
            <a:extLst>
              <a:ext uri="{FF2B5EF4-FFF2-40B4-BE49-F238E27FC236}">
                <a16:creationId xmlns:a16="http://schemas.microsoft.com/office/drawing/2014/main" id="{E423FC57-2E1C-E36A-363C-DEF9F31BC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2A4F031-0268-C66E-9BA5-706ECE63B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57" y="342038"/>
            <a:ext cx="4546224" cy="391250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DF0485C-1655-8426-6FF3-B6AABC951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804"/>
          <a:stretch>
            <a:fillRect/>
          </a:stretch>
        </p:blipFill>
        <p:spPr>
          <a:xfrm>
            <a:off x="5634764" y="265471"/>
            <a:ext cx="5565238" cy="63270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EF603BC-7F42-DC6F-CE93-6DDCC2800F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1"/>
          <a:stretch>
            <a:fillRect/>
          </a:stretch>
        </p:blipFill>
        <p:spPr>
          <a:xfrm>
            <a:off x="4913822" y="3429000"/>
            <a:ext cx="7151621" cy="3324456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DA0DAE3-225F-C284-40EB-1BE74711ABDE}"/>
              </a:ext>
            </a:extLst>
          </p:cNvPr>
          <p:cNvSpPr txBox="1"/>
          <p:nvPr/>
        </p:nvSpPr>
        <p:spPr>
          <a:xfrm>
            <a:off x="368710" y="4827415"/>
            <a:ext cx="4682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虽然</a:t>
            </a:r>
            <a:r>
              <a:rPr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imulq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可以用于两种乘法操作，但汇编器可以通过操作数个数分辨想用哪条指令</a:t>
            </a:r>
          </a:p>
        </p:txBody>
      </p:sp>
    </p:spTree>
    <p:extLst>
      <p:ext uri="{BB962C8B-B14F-4D97-AF65-F5344CB8AC3E}">
        <p14:creationId xmlns:p14="http://schemas.microsoft.com/office/powerpoint/2010/main" val="1132225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9B5-35D6-A5A7-F199-786CDDE88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CD4525-5BD9-C88D-BA10-57623788B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207" y="121777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加载有效地址</a:t>
            </a:r>
            <a:r>
              <a:rPr lang="en-US" altLang="zh-CN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4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leaq</a:t>
            </a:r>
            <a:r>
              <a:rPr lang="en-US" altLang="zh-CN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4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内容占位符 3">
            <a:extLst>
              <a:ext uri="{FF2B5EF4-FFF2-40B4-BE49-F238E27FC236}">
                <a16:creationId xmlns:a16="http://schemas.microsoft.com/office/drawing/2014/main" id="{6523AA83-5621-DA0A-4638-60D122A0A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646D5F0-3597-5D35-6504-F0869CA763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58"/>
          <a:stretch>
            <a:fillRect/>
          </a:stretch>
        </p:blipFill>
        <p:spPr>
          <a:xfrm>
            <a:off x="1578077" y="1117089"/>
            <a:ext cx="8350759" cy="561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615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5CCBE8-ACBE-F7A2-ADBB-D2E5ECDEF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7164"/>
            <a:ext cx="10515600" cy="1325563"/>
          </a:xfrm>
        </p:spPr>
        <p:txBody>
          <a:bodyPr/>
          <a:lstStyle/>
          <a:p>
            <a:pPr algn="ctr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Thanks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3524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294</Words>
  <Application>Microsoft Office PowerPoint</Application>
  <PresentationFormat>宽屏</PresentationFormat>
  <Paragraphs>49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等线 Light</vt:lpstr>
      <vt:lpstr>微软雅黑</vt:lpstr>
      <vt:lpstr>Arial</vt:lpstr>
      <vt:lpstr>Office 主题​​</vt:lpstr>
      <vt:lpstr>Machine-Level Programming I: Basics </vt:lpstr>
      <vt:lpstr>X86发展历程</vt:lpstr>
      <vt:lpstr>X86发展历程</vt:lpstr>
      <vt:lpstr>摩尔定律</vt:lpstr>
      <vt:lpstr>指令集体系结构(Instruction Set Architecture)</vt:lpstr>
      <vt:lpstr>PowerPoint 演示文稿</vt:lpstr>
      <vt:lpstr>寄存器</vt:lpstr>
      <vt:lpstr>操作数指示符</vt:lpstr>
      <vt:lpstr>PowerPoint 演示文稿</vt:lpstr>
      <vt:lpstr>加载有效地址(leaq)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Xiaoyi Chen</dc:creator>
  <cp:lastModifiedBy>Xiaoyi Chen</cp:lastModifiedBy>
  <cp:revision>20</cp:revision>
  <dcterms:created xsi:type="dcterms:W3CDTF">2025-09-23T16:02:08Z</dcterms:created>
  <dcterms:modified xsi:type="dcterms:W3CDTF">2025-09-24T10:25:50Z</dcterms:modified>
</cp:coreProperties>
</file>