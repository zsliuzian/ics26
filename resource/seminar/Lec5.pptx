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5846"/>
  </p:normalViewPr>
  <p:slideViewPr>
    <p:cSldViewPr snapToGrid="0" snapToObjects="1">
      <p:cViewPr varScale="1">
        <p:scale>
          <a:sx n="107" d="100"/>
          <a:sy n="107" d="100"/>
        </p:scale>
        <p:origin x="73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3E1F49-62AD-D74D-9B51-5B7A959D36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A21FA6-791D-374C-B687-A5D73B96F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BE6915-0BB3-7649-970B-5F66017CF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FA19E0-68B1-B943-AD7B-0B6C090EF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BA3F3-8CE6-B849-B9EA-1374853BB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11067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1C53-DBAA-C14E-A42B-A5ECBC347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AE7378-1301-4A41-966B-5973C8C08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7D9EEE-653F-FE4F-9EBF-132132D6A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D7C628-4049-5740-B911-263046ED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E6F5CB-2BE3-2345-9757-CC9FCA69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19022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1A6B86-A3B2-094F-B8AF-D1ABDF471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BB5B5D-B8A2-3A47-AE7D-0C47BE31F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865EA0-FD33-1D42-A872-4A613DE5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0A0788-6A99-7C47-B2FE-CF6FA2106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31BF1F-BA66-1249-AAAB-C618A5D12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46772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A78CA8-FCB6-E642-A17E-258C5C467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F26528-4FC1-4041-83B2-AF19B78297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F5F5B62-8480-374E-9165-59473F4E2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8ABF3F-7C19-B14D-997D-3A9CB5E99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663F1B-3991-D545-A450-B30919C21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F88375-FCB3-A040-BB85-6454787A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07228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1F8186-EBB6-524D-A738-C5A9A778F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03E57-F6CE-A94E-9389-786996562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877FFA-E214-F04D-9DE4-63B6E1813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93B3D06-54B1-7A4D-A5E4-25A081E79F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9A85C61-0FE4-1548-8F9E-52BD8D98A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A21A216-E109-974F-A207-D08AF9AB9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142F532-E6B8-9144-8E05-592B5140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A83A557-D8CF-9B4C-AD70-F8E693AE6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32241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27DD68-ADC8-BD48-919D-42F732A3C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AAEF45-B0BA-914C-8405-718511DC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F6E34D0-10D1-584D-8316-EEC058170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E08064-A540-6944-A24C-F6F9DEAAC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0615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A69C30E-B476-5D49-8F6D-D6A441C2F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60B4D7-3822-F949-B341-293F99630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5123E6-7E7D-8044-8758-932E23A54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6667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FF087C-6706-7D4B-A6F3-49AB25665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69245E-462F-C247-B1FA-D35610D88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20F63C1-3BD5-1046-A311-0EAAD62F6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D9A27E-839C-AC4E-8543-0ABAE652E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3BB229-958A-BF44-AC71-D4EF25212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195925E-7DF9-CF43-A33E-23BBF9B4D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39985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F29F94-B3FA-1242-9810-57FFF1FAE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27944B9-1D25-4043-92CB-4A19391947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989201-94F9-8A4C-86B0-6FA59582D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DB5DFFA-370C-2E46-8A69-72D19099A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1196BF-6391-014A-819F-BBC862261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CBCC9BE-30A0-954A-8E7A-FB5726A1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157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4976B9-5AFD-394C-8977-2F4AFC12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82241-ABAF-AE48-98AF-97C2EFC1A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24C3B-A971-B745-80B8-52A70CE91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35FC1E1-1C31-7C4E-8970-0C51073C1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A12CC9-2582-7746-B2E9-C7F8AC930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88558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A0A93AB-EF3D-D94C-8507-17E633C33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10CE5A-0E31-3348-B071-4BACEB62F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30BB03-321B-8948-8847-8AB79FC9E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8ECCD2-7033-6645-981D-5920764F0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042C76-D87C-944F-A9AD-C8E701A4B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4439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EE8514-4B20-3B47-8552-EE9BD18CB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89E644-8010-3B49-AC3E-6B536B13C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D19973-249B-E54D-A305-D894AF305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279EDB-C120-0845-BCF7-0A7E2E2B6F0B}" type="datetimeFigureOut">
              <a:rPr kumimoji="1" lang="zh-CN" altLang="en-US" smtClean="0"/>
              <a:t>2025/9/24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296985-88EC-A442-8EB3-6DE2804E1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FD793B-2432-D544-854C-23F2C03CA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135412-AF14-EF44-9ECA-A469B9ACB14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38799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CC9307-AD39-A642-A995-5526B5A57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kumimoji="1" lang="en" altLang="zh-CN" dirty="0"/>
              <a:t>Machine-Level Programming II: Control</a:t>
            </a:r>
            <a:br>
              <a:rPr kumimoji="1" lang="en" altLang="zh-CN" dirty="0"/>
            </a:b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51313E8-B238-F34C-B691-B10455D77A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zh-CN" altLang="en-US" dirty="0"/>
              <a:t>季文喆</a:t>
            </a:r>
          </a:p>
        </p:txBody>
      </p:sp>
    </p:spTree>
    <p:extLst>
      <p:ext uri="{BB962C8B-B14F-4D97-AF65-F5344CB8AC3E}">
        <p14:creationId xmlns:p14="http://schemas.microsoft.com/office/powerpoint/2010/main" val="2378794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3D0F2C-9139-7244-8E4F-5683417A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condition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codes</a:t>
            </a:r>
            <a:r>
              <a:rPr kumimoji="1" lang="zh-CN" altLang="en-US" dirty="0"/>
              <a:t>：条件码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A33C84-2E10-4B4E-98A1-8621309F7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/>
              <a:t>四个状态标志位：</a:t>
            </a:r>
          </a:p>
          <a:p>
            <a:r>
              <a:rPr kumimoji="1" lang="en-US" altLang="zh-CN" dirty="0"/>
              <a:t>ZF - </a:t>
            </a:r>
            <a:r>
              <a:rPr kumimoji="1" lang="zh-CN" altLang="en-US" dirty="0"/>
              <a:t>零标志（结果</a:t>
            </a:r>
            <a:r>
              <a:rPr kumimoji="1" lang="en-US" altLang="zh-CN" dirty="0"/>
              <a:t>=0</a:t>
            </a:r>
            <a:r>
              <a:rPr kumimoji="1" lang="zh-CN" altLang="en-US" dirty="0"/>
              <a:t>）</a:t>
            </a:r>
          </a:p>
          <a:p>
            <a:r>
              <a:rPr kumimoji="1" lang="en-US" altLang="zh-CN" dirty="0"/>
              <a:t>SF - </a:t>
            </a:r>
            <a:r>
              <a:rPr kumimoji="1" lang="zh-CN" altLang="en-US" dirty="0"/>
              <a:t>符号标志（结果</a:t>
            </a:r>
            <a:r>
              <a:rPr kumimoji="1" lang="en-US" altLang="zh-CN" dirty="0"/>
              <a:t>&lt;0</a:t>
            </a:r>
            <a:r>
              <a:rPr kumimoji="1" lang="zh-CN" altLang="en-US" dirty="0"/>
              <a:t>）  </a:t>
            </a:r>
          </a:p>
          <a:p>
            <a:r>
              <a:rPr kumimoji="1" lang="en-US" altLang="zh-CN" dirty="0"/>
              <a:t>CF - </a:t>
            </a:r>
            <a:r>
              <a:rPr kumimoji="1" lang="zh-CN" altLang="en-US" dirty="0"/>
              <a:t>进位标志（无符号溢出）</a:t>
            </a:r>
          </a:p>
          <a:p>
            <a:r>
              <a:rPr kumimoji="1" lang="en-US" altLang="zh-CN" dirty="0"/>
              <a:t>OF - </a:t>
            </a:r>
            <a:r>
              <a:rPr kumimoji="1" lang="zh-CN" altLang="en-US" dirty="0"/>
              <a:t>溢出标志（有符号溢出）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设置方式：</a:t>
            </a:r>
          </a:p>
          <a:p>
            <a:r>
              <a:rPr kumimoji="1" lang="en-US" altLang="zh-CN" dirty="0"/>
              <a:t>• </a:t>
            </a:r>
            <a:r>
              <a:rPr kumimoji="1" lang="zh-CN" altLang="en-US" dirty="0"/>
              <a:t>隐式：算术运算自动设置</a:t>
            </a:r>
          </a:p>
          <a:p>
            <a:r>
              <a:rPr kumimoji="1" lang="en-US" altLang="zh-CN" dirty="0"/>
              <a:t>• </a:t>
            </a:r>
            <a:r>
              <a:rPr kumimoji="1" lang="zh-CN" altLang="en-US" dirty="0"/>
              <a:t>显式：</a:t>
            </a:r>
            <a:r>
              <a:rPr kumimoji="1" lang="en-US" altLang="zh-CN" dirty="0" err="1"/>
              <a:t>cmp</a:t>
            </a:r>
            <a:r>
              <a:rPr kumimoji="1" lang="en-US" altLang="zh-CN" dirty="0"/>
              <a:t>, test</a:t>
            </a:r>
            <a:r>
              <a:rPr kumimoji="1" lang="zh-CN" altLang="en-US" dirty="0"/>
              <a:t>指令</a:t>
            </a:r>
          </a:p>
        </p:txBody>
      </p:sp>
    </p:spTree>
    <p:extLst>
      <p:ext uri="{BB962C8B-B14F-4D97-AF65-F5344CB8AC3E}">
        <p14:creationId xmlns:p14="http://schemas.microsoft.com/office/powerpoint/2010/main" val="229429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ABBD89-72D5-5442-97C1-784F71858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条件码示例：</a:t>
            </a:r>
            <a:r>
              <a:rPr kumimoji="1" lang="en-US" altLang="zh-CN" dirty="0" err="1"/>
              <a:t>cmp</a:t>
            </a:r>
            <a:r>
              <a:rPr kumimoji="1" lang="zh-CN" altLang="en-US" dirty="0"/>
              <a:t>指令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7073AA-C31E-8D45-A113-73A540DD2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CN" dirty="0"/>
              <a:t>C</a:t>
            </a:r>
            <a:r>
              <a:rPr kumimoji="1" lang="zh-CN" altLang="en-US" dirty="0"/>
              <a:t>代码：</a:t>
            </a:r>
            <a:r>
              <a:rPr kumimoji="1" lang="en" altLang="zh-CN" dirty="0"/>
              <a:t>if (x &gt; y)</a:t>
            </a:r>
          </a:p>
          <a:p>
            <a:r>
              <a:rPr kumimoji="1" lang="zh-CN" altLang="en-US" dirty="0"/>
              <a:t>汇编：</a:t>
            </a:r>
          </a:p>
          <a:p>
            <a:r>
              <a:rPr kumimoji="1" lang="en" altLang="zh-CN" dirty="0" err="1"/>
              <a:t>cmpq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    # </a:t>
            </a:r>
            <a:r>
              <a:rPr kumimoji="1" lang="zh-CN" altLang="en-US" dirty="0"/>
              <a:t>计算</a:t>
            </a:r>
            <a:r>
              <a:rPr kumimoji="1" lang="en" altLang="zh-CN" dirty="0"/>
              <a:t>x-y</a:t>
            </a:r>
            <a:r>
              <a:rPr kumimoji="1" lang="zh-CN" altLang="en" dirty="0"/>
              <a:t>，</a:t>
            </a:r>
            <a:r>
              <a:rPr kumimoji="1" lang="zh-CN" altLang="en-US" dirty="0"/>
              <a:t>设置条件码</a:t>
            </a:r>
          </a:p>
          <a:p>
            <a:r>
              <a:rPr kumimoji="1" lang="en" altLang="zh-CN" dirty="0" err="1"/>
              <a:t>jg</a:t>
            </a:r>
            <a:r>
              <a:rPr kumimoji="1" lang="en" altLang="zh-CN" dirty="0"/>
              <a:t>   .L2           #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x&gt;y</a:t>
            </a:r>
            <a:r>
              <a:rPr kumimoji="1" lang="zh-CN" altLang="en-US" dirty="0"/>
              <a:t>则跳转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条件码变化：</a:t>
            </a:r>
          </a:p>
          <a:p>
            <a:r>
              <a:rPr kumimoji="1" lang="en" altLang="zh-CN" dirty="0"/>
              <a:t>x=5, y=3: x-y=2 → ZF=0, SF=0, OF=0</a:t>
            </a:r>
          </a:p>
          <a:p>
            <a:r>
              <a:rPr kumimoji="1" lang="en" altLang="zh-CN" dirty="0"/>
              <a:t>x=3, y=5: x-y=-2 → ZF=0, SF=1, OF=0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28451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AA1AC8-D050-1F4A-9A05-1F9A2C32A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条件码示例：</a:t>
            </a:r>
            <a:r>
              <a:rPr kumimoji="1" lang="en-US" altLang="zh-CN" dirty="0"/>
              <a:t>test</a:t>
            </a:r>
            <a:r>
              <a:rPr kumimoji="1" lang="zh-CN" altLang="en-US" dirty="0"/>
              <a:t>指令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55557-D1AE-DB4B-97FE-60BFE4646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kumimoji="1" lang="zh-CN" altLang="en-US" dirty="0"/>
              <a:t>常用模式：</a:t>
            </a:r>
            <a:r>
              <a:rPr kumimoji="1" lang="en" altLang="zh-CN" dirty="0" err="1"/>
              <a:t>testq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endParaRPr kumimoji="1" lang="en" altLang="zh-CN" dirty="0"/>
          </a:p>
          <a:p>
            <a:r>
              <a:rPr kumimoji="1" lang="zh-CN" altLang="en-US" dirty="0"/>
              <a:t>效果：检查</a:t>
            </a:r>
            <a:r>
              <a:rPr kumimoji="1" lang="en-US" altLang="zh-CN" dirty="0"/>
              <a:t>%</a:t>
            </a:r>
            <a:r>
              <a:rPr kumimoji="1" lang="en" altLang="zh-CN" dirty="0" err="1"/>
              <a:t>rax</a:t>
            </a:r>
            <a:r>
              <a:rPr kumimoji="1" lang="zh-CN" altLang="en-US" dirty="0"/>
              <a:t>是否为</a:t>
            </a:r>
            <a:r>
              <a:rPr kumimoji="1" lang="en-US" altLang="zh-CN" dirty="0"/>
              <a:t>0</a:t>
            </a:r>
          </a:p>
          <a:p>
            <a:endParaRPr kumimoji="1" lang="en-US" altLang="zh-CN" dirty="0"/>
          </a:p>
          <a:p>
            <a:r>
              <a:rPr kumimoji="1" lang="zh-CN" altLang="en-US" dirty="0"/>
              <a:t>原理：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&amp; 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= </a:t>
            </a:r>
            <a:r>
              <a:rPr kumimoji="1" lang="en" altLang="zh-CN" dirty="0" err="1"/>
              <a:t>rax</a:t>
            </a:r>
            <a:endParaRPr kumimoji="1" lang="en" altLang="zh-CN" dirty="0"/>
          </a:p>
          <a:p>
            <a:pPr marL="0" indent="0">
              <a:buNone/>
            </a:pPr>
            <a:r>
              <a:rPr kumimoji="1" lang="zh-CN" altLang="en-US" dirty="0"/>
              <a:t>  如果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=0 → ZF=1</a:t>
            </a:r>
          </a:p>
          <a:p>
            <a:pPr marL="0" indent="0">
              <a:buNone/>
            </a:pPr>
            <a:r>
              <a:rPr kumimoji="1" lang="zh-CN" altLang="en-US" dirty="0"/>
              <a:t> </a:t>
            </a:r>
            <a:r>
              <a:rPr kumimoji="1" lang="en" altLang="zh-CN" dirty="0"/>
              <a:t>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rax≠0 → ZF=0</a:t>
            </a:r>
          </a:p>
          <a:p>
            <a:endParaRPr kumimoji="1" lang="en" altLang="zh-CN" dirty="0"/>
          </a:p>
          <a:p>
            <a:r>
              <a:rPr kumimoji="1" lang="zh-CN" altLang="en-US" dirty="0"/>
              <a:t>应用：循环条件判断</a:t>
            </a:r>
            <a:endParaRPr kumimoji="1" lang="en-US" altLang="zh-CN" dirty="0"/>
          </a:p>
          <a:p>
            <a:r>
              <a:rPr kumimoji="1" lang="zh-CN" altLang="en-US" dirty="0"/>
              <a:t>注意：</a:t>
            </a:r>
            <a:r>
              <a:rPr kumimoji="1" lang="en-US" altLang="zh-CN" dirty="0"/>
              <a:t>test</a:t>
            </a:r>
            <a:r>
              <a:rPr kumimoji="1" lang="zh-CN" altLang="en-US" dirty="0"/>
              <a:t>只对</a:t>
            </a:r>
            <a:r>
              <a:rPr kumimoji="1" lang="en-US" altLang="zh-CN" dirty="0"/>
              <a:t>ZF</a:t>
            </a:r>
            <a:r>
              <a:rPr kumimoji="1" lang="zh-CN" altLang="en-US" dirty="0"/>
              <a:t>和</a:t>
            </a:r>
            <a:r>
              <a:rPr kumimoji="1" lang="en-US" altLang="zh-CN" dirty="0"/>
              <a:t>SF</a:t>
            </a:r>
            <a:r>
              <a:rPr kumimoji="1" lang="zh-CN" altLang="en-US" dirty="0"/>
              <a:t>进行设置，对于另外两个直接清零</a:t>
            </a:r>
          </a:p>
        </p:txBody>
      </p:sp>
    </p:spTree>
    <p:extLst>
      <p:ext uri="{BB962C8B-B14F-4D97-AF65-F5344CB8AC3E}">
        <p14:creationId xmlns:p14="http://schemas.microsoft.com/office/powerpoint/2010/main" val="2348404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F1DA09-A4E6-3244-AE33-3EAF05BA1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条件分支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EF594B-19B9-5F46-982D-DACC9999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kumimoji="1" lang="en" altLang="zh-CN" dirty="0"/>
              <a:t>C</a:t>
            </a:r>
            <a:r>
              <a:rPr kumimoji="1" lang="zh-CN" altLang="en-US" dirty="0"/>
              <a:t>代码：</a:t>
            </a:r>
          </a:p>
          <a:p>
            <a:r>
              <a:rPr kumimoji="1" lang="en" altLang="zh-CN" dirty="0"/>
              <a:t>long </a:t>
            </a:r>
            <a:r>
              <a:rPr kumimoji="1" lang="en" altLang="zh-CN" dirty="0" err="1"/>
              <a:t>absdiff</a:t>
            </a:r>
            <a:r>
              <a:rPr kumimoji="1" lang="en" altLang="zh-CN" dirty="0"/>
              <a:t>(long x, long y) {</a:t>
            </a:r>
          </a:p>
          <a:p>
            <a:r>
              <a:rPr kumimoji="1" lang="en" altLang="zh-CN" dirty="0"/>
              <a:t>    return x &gt; y ? x-y : y-x;</a:t>
            </a:r>
          </a:p>
          <a:p>
            <a:r>
              <a:rPr kumimoji="1" lang="en" altLang="zh-CN" dirty="0"/>
              <a:t>}</a:t>
            </a:r>
          </a:p>
          <a:p>
            <a:endParaRPr kumimoji="1" lang="en" altLang="zh-CN" dirty="0"/>
          </a:p>
          <a:p>
            <a:r>
              <a:rPr kumimoji="1" lang="zh-CN" altLang="en-US" dirty="0"/>
              <a:t>汇编（分支版本）：</a:t>
            </a:r>
          </a:p>
          <a:p>
            <a:r>
              <a:rPr kumimoji="1" lang="en" altLang="zh-CN" dirty="0" err="1"/>
              <a:t>cmpq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    # </a:t>
            </a:r>
            <a:r>
              <a:rPr kumimoji="1" lang="zh-CN" altLang="en-US" dirty="0"/>
              <a:t>比较</a:t>
            </a:r>
            <a:r>
              <a:rPr kumimoji="1" lang="en" altLang="zh-CN" dirty="0" err="1"/>
              <a:t>x:y</a:t>
            </a:r>
            <a:endParaRPr kumimoji="1" lang="en" altLang="zh-CN" dirty="0"/>
          </a:p>
          <a:p>
            <a:r>
              <a:rPr kumimoji="1" lang="en" altLang="zh-CN" dirty="0" err="1"/>
              <a:t>jle</a:t>
            </a:r>
            <a:r>
              <a:rPr kumimoji="1" lang="en" altLang="zh-CN" dirty="0"/>
              <a:t>  .L4           #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x&lt;=y</a:t>
            </a:r>
            <a:r>
              <a:rPr kumimoji="1" lang="zh-CN" altLang="en-US" dirty="0"/>
              <a:t>跳转到</a:t>
            </a:r>
            <a:r>
              <a:rPr kumimoji="1" lang="en" altLang="zh-CN" dirty="0"/>
              <a:t>L4</a:t>
            </a:r>
          </a:p>
          <a:p>
            <a:r>
              <a:rPr kumimoji="1" lang="en" altLang="zh-CN" dirty="0" err="1"/>
              <a:t>movq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endParaRPr kumimoji="1" lang="en" altLang="zh-CN" dirty="0"/>
          </a:p>
          <a:p>
            <a:r>
              <a:rPr kumimoji="1" lang="en" altLang="zh-CN" dirty="0" err="1"/>
              <a:t>subq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   # result = x-y</a:t>
            </a:r>
          </a:p>
          <a:p>
            <a:r>
              <a:rPr kumimoji="1" lang="en" altLang="zh-CN" dirty="0"/>
              <a:t>ret</a:t>
            </a:r>
          </a:p>
          <a:p>
            <a:r>
              <a:rPr kumimoji="1" lang="en" altLang="zh-CN" dirty="0"/>
              <a:t>.L4:</a:t>
            </a:r>
          </a:p>
          <a:p>
            <a:r>
              <a:rPr kumimoji="1" lang="en" altLang="zh-CN" dirty="0" err="1"/>
              <a:t>movq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endParaRPr kumimoji="1" lang="en" altLang="zh-CN" dirty="0"/>
          </a:p>
          <a:p>
            <a:r>
              <a:rPr kumimoji="1" lang="en" altLang="zh-CN" dirty="0" err="1"/>
              <a:t>subq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   # result = y-x</a:t>
            </a:r>
          </a:p>
          <a:p>
            <a:r>
              <a:rPr kumimoji="1" lang="en" altLang="zh-CN" dirty="0"/>
              <a:t>ret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3172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0F773D-6414-9943-BCE2-2BE7245CB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条件跳转 </a:t>
            </a:r>
            <a:r>
              <a:rPr kumimoji="1" lang="en-US" altLang="zh-CN" dirty="0" err="1"/>
              <a:t>cmove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D04494-17DA-4346-B1A9-8E41BDF7F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/>
              <a:t>汇编（条件传送版本）：</a:t>
            </a:r>
          </a:p>
          <a:p>
            <a:r>
              <a:rPr kumimoji="1" lang="en" altLang="zh-CN" dirty="0" err="1"/>
              <a:t>movq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   # </a:t>
            </a:r>
            <a:r>
              <a:rPr kumimoji="1" lang="zh-CN" altLang="en-US" dirty="0"/>
              <a:t>计算</a:t>
            </a:r>
            <a:r>
              <a:rPr kumimoji="1" lang="en" altLang="zh-CN" dirty="0"/>
              <a:t>x-y</a:t>
            </a:r>
          </a:p>
          <a:p>
            <a:r>
              <a:rPr kumimoji="1" lang="en" altLang="zh-CN" dirty="0" err="1"/>
              <a:t>subq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endParaRPr kumimoji="1" lang="en" altLang="zh-CN" dirty="0"/>
          </a:p>
          <a:p>
            <a:r>
              <a:rPr kumimoji="1" lang="en" altLang="zh-CN" dirty="0" err="1"/>
              <a:t>movq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rdx</a:t>
            </a:r>
            <a:r>
              <a:rPr kumimoji="1" lang="en" altLang="zh-CN" dirty="0"/>
              <a:t>    # </a:t>
            </a:r>
            <a:r>
              <a:rPr kumimoji="1" lang="zh-CN" altLang="en-US" dirty="0"/>
              <a:t>计算</a:t>
            </a:r>
            <a:r>
              <a:rPr kumimoji="1" lang="en" altLang="zh-CN" dirty="0"/>
              <a:t>y-x  </a:t>
            </a:r>
          </a:p>
          <a:p>
            <a:r>
              <a:rPr kumimoji="1" lang="en" altLang="zh-CN" dirty="0" err="1"/>
              <a:t>subq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rdx</a:t>
            </a:r>
            <a:endParaRPr kumimoji="1" lang="en" altLang="zh-CN" dirty="0"/>
          </a:p>
          <a:p>
            <a:r>
              <a:rPr kumimoji="1" lang="en" altLang="zh-CN" dirty="0" err="1"/>
              <a:t>cmpq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rsi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    # </a:t>
            </a:r>
            <a:r>
              <a:rPr kumimoji="1" lang="zh-CN" altLang="en-US" dirty="0"/>
              <a:t>比较</a:t>
            </a:r>
            <a:r>
              <a:rPr kumimoji="1" lang="en" altLang="zh-CN" dirty="0" err="1"/>
              <a:t>x:y</a:t>
            </a:r>
            <a:endParaRPr kumimoji="1" lang="en" altLang="zh-CN" dirty="0"/>
          </a:p>
          <a:p>
            <a:r>
              <a:rPr kumimoji="1" lang="en" altLang="zh-CN" dirty="0" err="1"/>
              <a:t>cmovle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rdx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 #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x&lt;=y</a:t>
            </a:r>
            <a:r>
              <a:rPr kumimoji="1" lang="zh-CN" altLang="en" dirty="0"/>
              <a:t>，</a:t>
            </a:r>
            <a:r>
              <a:rPr kumimoji="1" lang="zh-CN" altLang="en-US" dirty="0"/>
              <a:t>选择</a:t>
            </a:r>
            <a:r>
              <a:rPr kumimoji="1" lang="en" altLang="zh-CN" dirty="0"/>
              <a:t>y-x</a:t>
            </a:r>
          </a:p>
          <a:p>
            <a:endParaRPr kumimoji="1" lang="en" altLang="zh-CN" dirty="0"/>
          </a:p>
          <a:p>
            <a:r>
              <a:rPr kumimoji="1" lang="zh-CN" altLang="en-US" dirty="0"/>
              <a:t>优势：避免分支预测错误</a:t>
            </a:r>
          </a:p>
        </p:txBody>
      </p:sp>
    </p:spTree>
    <p:extLst>
      <p:ext uri="{BB962C8B-B14F-4D97-AF65-F5344CB8AC3E}">
        <p14:creationId xmlns:p14="http://schemas.microsoft.com/office/powerpoint/2010/main" val="2105839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E2DDC7-1913-704F-BC23-30C857963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循环 </a:t>
            </a:r>
            <a:r>
              <a:rPr kumimoji="1" lang="en-US" altLang="zh-CN" dirty="0" err="1"/>
              <a:t>popcount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ACD748-657B-1F46-A9D1-EBB26FB849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kumimoji="1" lang="en" altLang="zh-CN" dirty="0"/>
              <a:t>C</a:t>
            </a:r>
            <a:r>
              <a:rPr kumimoji="1" lang="zh-CN" altLang="en-US" dirty="0"/>
              <a:t>代码：统计</a:t>
            </a:r>
            <a:r>
              <a:rPr kumimoji="1" lang="en-US" altLang="zh-CN" dirty="0"/>
              <a:t>1</a:t>
            </a:r>
            <a:r>
              <a:rPr kumimoji="1" lang="zh-CN" altLang="en-US" dirty="0"/>
              <a:t>的个数</a:t>
            </a:r>
          </a:p>
          <a:p>
            <a:r>
              <a:rPr kumimoji="1" lang="en" altLang="zh-CN" dirty="0"/>
              <a:t>do {</a:t>
            </a:r>
          </a:p>
          <a:p>
            <a:r>
              <a:rPr kumimoji="1" lang="en" altLang="zh-CN" dirty="0"/>
              <a:t>    result += x &amp; 0x1;</a:t>
            </a:r>
          </a:p>
          <a:p>
            <a:r>
              <a:rPr kumimoji="1" lang="en" altLang="zh-CN" dirty="0"/>
              <a:t>    x &gt;&gt;= 1;</a:t>
            </a:r>
          </a:p>
          <a:p>
            <a:r>
              <a:rPr kumimoji="1" lang="en" altLang="zh-CN" dirty="0"/>
              <a:t>} while (x);</a:t>
            </a:r>
          </a:p>
          <a:p>
            <a:endParaRPr kumimoji="1" lang="en" altLang="zh-CN" dirty="0"/>
          </a:p>
          <a:p>
            <a:r>
              <a:rPr kumimoji="1" lang="zh-CN" altLang="en-US" dirty="0"/>
              <a:t>汇编核心：</a:t>
            </a:r>
          </a:p>
          <a:p>
            <a:r>
              <a:rPr kumimoji="1" lang="en-US" altLang="zh-CN" dirty="0"/>
              <a:t>.</a:t>
            </a:r>
            <a:r>
              <a:rPr kumimoji="1" lang="en" altLang="zh-CN" dirty="0"/>
              <a:t>L2:</a:t>
            </a:r>
          </a:p>
          <a:p>
            <a:r>
              <a:rPr kumimoji="1" lang="en" altLang="zh-CN" dirty="0" err="1"/>
              <a:t>andl</a:t>
            </a:r>
            <a:r>
              <a:rPr kumimoji="1" lang="en" altLang="zh-CN" dirty="0"/>
              <a:t> $1, %</a:t>
            </a:r>
            <a:r>
              <a:rPr kumimoji="1" lang="en" altLang="zh-CN" dirty="0" err="1"/>
              <a:t>edx</a:t>
            </a:r>
            <a:r>
              <a:rPr kumimoji="1" lang="en" altLang="zh-CN" dirty="0"/>
              <a:t>      # x &amp; 1</a:t>
            </a:r>
          </a:p>
          <a:p>
            <a:r>
              <a:rPr kumimoji="1" lang="en" altLang="zh-CN" dirty="0" err="1"/>
              <a:t>addq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rdx</a:t>
            </a:r>
            <a:r>
              <a:rPr kumimoji="1" lang="en" altLang="zh-CN" dirty="0"/>
              <a:t>, %</a:t>
            </a:r>
            <a:r>
              <a:rPr kumimoji="1" lang="en" altLang="zh-CN" dirty="0" err="1"/>
              <a:t>rax</a:t>
            </a:r>
            <a:r>
              <a:rPr kumimoji="1" lang="en" altLang="zh-CN" dirty="0"/>
              <a:t>    # result += (x &amp; 1)</a:t>
            </a:r>
          </a:p>
          <a:p>
            <a:r>
              <a:rPr kumimoji="1" lang="en" altLang="zh-CN" dirty="0" err="1"/>
              <a:t>shrq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rdi</a:t>
            </a:r>
            <a:r>
              <a:rPr kumimoji="1" lang="en" altLang="zh-CN" dirty="0"/>
              <a:t>          # x &gt;&gt;= 1</a:t>
            </a:r>
          </a:p>
          <a:p>
            <a:r>
              <a:rPr kumimoji="1" lang="en" altLang="zh-CN" dirty="0" err="1"/>
              <a:t>jne</a:t>
            </a:r>
            <a:r>
              <a:rPr kumimoji="1" lang="en" altLang="zh-CN" dirty="0"/>
              <a:t>  .L2           #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x≠0</a:t>
            </a:r>
            <a:r>
              <a:rPr kumimoji="1" lang="zh-CN" altLang="en-US" dirty="0"/>
              <a:t>继续循环</a:t>
            </a:r>
          </a:p>
        </p:txBody>
      </p:sp>
    </p:spTree>
    <p:extLst>
      <p:ext uri="{BB962C8B-B14F-4D97-AF65-F5344CB8AC3E}">
        <p14:creationId xmlns:p14="http://schemas.microsoft.com/office/powerpoint/2010/main" val="3360343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DC9152-05C4-D34F-BE2F-BBC76FFD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跳转表 </a:t>
            </a:r>
            <a:r>
              <a:rPr kumimoji="1" lang="en-US" altLang="zh-CN" dirty="0" err="1"/>
              <a:t>jumptable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8FBC9C-AAD8-4D4F-8205-80A11607B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zh-CN" altLang="en-US" dirty="0"/>
              <a:t>跳转表示例：</a:t>
            </a:r>
          </a:p>
          <a:p>
            <a:r>
              <a:rPr kumimoji="1" lang="en-US" altLang="zh-CN" dirty="0"/>
              <a:t>.</a:t>
            </a:r>
            <a:r>
              <a:rPr kumimoji="1" lang="en" altLang="zh-CN" dirty="0"/>
              <a:t>L4:</a:t>
            </a:r>
          </a:p>
          <a:p>
            <a:r>
              <a:rPr kumimoji="1" lang="en" altLang="zh-CN" dirty="0"/>
              <a:t>.quad .L8   # x=0: default</a:t>
            </a:r>
          </a:p>
          <a:p>
            <a:r>
              <a:rPr kumimoji="1" lang="en" altLang="zh-CN" dirty="0"/>
              <a:t>.quad .L3   # x=1: case 1</a:t>
            </a:r>
          </a:p>
          <a:p>
            <a:r>
              <a:rPr kumimoji="1" lang="en" altLang="zh-CN" dirty="0"/>
              <a:t>.quad .L5   # x=2: case 2</a:t>
            </a:r>
          </a:p>
          <a:p>
            <a:endParaRPr kumimoji="1" lang="en" altLang="zh-CN" dirty="0"/>
          </a:p>
          <a:p>
            <a:r>
              <a:rPr kumimoji="1" lang="zh-CN" altLang="en-US" dirty="0"/>
              <a:t>间接跳转：</a:t>
            </a:r>
          </a:p>
          <a:p>
            <a:r>
              <a:rPr kumimoji="1" lang="en" altLang="zh-CN" dirty="0" err="1"/>
              <a:t>cmpq</a:t>
            </a:r>
            <a:r>
              <a:rPr kumimoji="1" lang="en" altLang="zh-CN" dirty="0"/>
              <a:t> $6, %</a:t>
            </a:r>
            <a:r>
              <a:rPr kumimoji="1" lang="en" altLang="zh-CN" dirty="0" err="1"/>
              <a:t>rdi</a:t>
            </a:r>
            <a:endParaRPr kumimoji="1" lang="en" altLang="zh-CN" dirty="0"/>
          </a:p>
          <a:p>
            <a:r>
              <a:rPr kumimoji="1" lang="en" altLang="zh-CN" dirty="0"/>
              <a:t>ja   .L8           # </a:t>
            </a:r>
            <a:r>
              <a:rPr kumimoji="1" lang="zh-CN" altLang="en-US" dirty="0"/>
              <a:t>如果</a:t>
            </a:r>
            <a:r>
              <a:rPr kumimoji="1" lang="en" altLang="zh-CN" dirty="0"/>
              <a:t>x&gt;6</a:t>
            </a:r>
            <a:r>
              <a:rPr kumimoji="1" lang="zh-CN" altLang="en-US" dirty="0"/>
              <a:t>跳转到</a:t>
            </a:r>
            <a:r>
              <a:rPr kumimoji="1" lang="en" altLang="zh-CN" dirty="0"/>
              <a:t>default</a:t>
            </a:r>
          </a:p>
          <a:p>
            <a:r>
              <a:rPr kumimoji="1" lang="en" altLang="zh-CN" dirty="0" err="1"/>
              <a:t>jmp</a:t>
            </a:r>
            <a:r>
              <a:rPr kumimoji="1" lang="en" altLang="zh-CN" dirty="0"/>
              <a:t>  *.L4(,%rdi,8) # </a:t>
            </a:r>
            <a:r>
              <a:rPr kumimoji="1" lang="zh-CN" altLang="en-US" dirty="0"/>
              <a:t>跳转到</a:t>
            </a:r>
            <a:r>
              <a:rPr kumimoji="1" lang="en" altLang="zh-CN" dirty="0" err="1"/>
              <a:t>JTab</a:t>
            </a:r>
            <a:r>
              <a:rPr kumimoji="1" lang="en" altLang="zh-CN" dirty="0"/>
              <a:t>[x]</a:t>
            </a:r>
            <a:r>
              <a:rPr kumimoji="1" lang="zh-CN" altLang="en-US" dirty="0"/>
              <a:t>地址</a:t>
            </a:r>
          </a:p>
        </p:txBody>
      </p:sp>
    </p:spTree>
    <p:extLst>
      <p:ext uri="{BB962C8B-B14F-4D97-AF65-F5344CB8AC3E}">
        <p14:creationId xmlns:p14="http://schemas.microsoft.com/office/powerpoint/2010/main" val="1005030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561</Words>
  <Application>Microsoft Macintosh PowerPoint</Application>
  <PresentationFormat>宽屏</PresentationFormat>
  <Paragraphs>81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等线 Light</vt:lpstr>
      <vt:lpstr>Arial</vt:lpstr>
      <vt:lpstr>Office 主题​​</vt:lpstr>
      <vt:lpstr>Machine-Level Programming II: Control </vt:lpstr>
      <vt:lpstr>condition codes：条件码</vt:lpstr>
      <vt:lpstr>条件码示例：cmp指令</vt:lpstr>
      <vt:lpstr>条件码示例：test指令</vt:lpstr>
      <vt:lpstr>条件分支</vt:lpstr>
      <vt:lpstr>条件跳转 cmove</vt:lpstr>
      <vt:lpstr>循环 popcount</vt:lpstr>
      <vt:lpstr>跳转表 jumptable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Machine-Level Programming II: Control </dc:title>
  <dc:creator>Microsoft Office User</dc:creator>
  <cp:lastModifiedBy>Microsoft Office User</cp:lastModifiedBy>
  <cp:revision>3</cp:revision>
  <dcterms:created xsi:type="dcterms:W3CDTF">2025-09-24T09:31:33Z</dcterms:created>
  <dcterms:modified xsi:type="dcterms:W3CDTF">2025-09-24T10:16:37Z</dcterms:modified>
</cp:coreProperties>
</file>