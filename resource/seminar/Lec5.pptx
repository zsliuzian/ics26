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12192000" cy="6858000"/>
  <p:embeddedFontLst>
    <p:embeddedFont>
      <p:font typeface="MiSans" charset="-122"/>
      <p:regular r:id="rId16"/>
    </p:embeddedFont>
    <p:embeddedFont>
      <p:font typeface="JetBrains Mono" panose="0200000900000000000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font" Target="fonts/font2.fntdata"/><Relationship Id="rId16" Type="http://schemas.openxmlformats.org/officeDocument/2006/relationships/font" Target="fonts/font1.fntdata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1219200"/>
            <a:ext cx="6096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CS:APP · 深入理解计算机系统 · 机器级编程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1549400"/>
            <a:ext cx="6350000" cy="2006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22000"/>
              </a:lnSpc>
            </a:pPr>
            <a:r>
              <a:rPr lang="en-US" sz="38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Machine-Level</a:t>
            </a:r>
            <a:endParaRPr lang="en-US" sz="3800" noProof="1"/>
          </a:p>
          <a:p>
            <a:pPr>
              <a:lnSpc>
                <a:spcPct val="122000"/>
              </a:lnSpc>
            </a:pPr>
            <a:r>
              <a:rPr lang="en-US" sz="38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Programming II</a:t>
            </a:r>
            <a:endParaRPr lang="en-US" sz="3800" noProof="1"/>
          </a:p>
          <a:p>
            <a:pPr>
              <a:lnSpc>
                <a:spcPct val="122000"/>
              </a:lnSpc>
            </a:pPr>
            <a:r>
              <a:rPr lang="en-US" sz="38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Control</a:t>
            </a:r>
            <a:endParaRPr lang="en-US" sz="3800" noProof="1"/>
          </a:p>
        </p:txBody>
      </p:sp>
      <p:sp>
        <p:nvSpPr>
          <p:cNvPr id="4" name="subtitle"/>
          <p:cNvSpPr txBox="1"/>
          <p:nvPr/>
        </p:nvSpPr>
        <p:spPr>
          <a:xfrm>
            <a:off x="812800" y="3759200"/>
            <a:ext cx="635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机器级编程：条件码、分支、循环与 switch 的实现</a:t>
            </a:r>
            <a:endParaRPr lang="en-US" sz="1500" noProof="1"/>
          </a:p>
        </p:txBody>
      </p:sp>
      <p:sp>
        <p:nvSpPr>
          <p:cNvPr id="5" name="bar"/>
          <p:cNvSpPr/>
          <p:nvPr/>
        </p:nvSpPr>
        <p:spPr>
          <a:xfrm>
            <a:off x="812800" y="4292600"/>
            <a:ext cx="711200" cy="38100"/>
          </a:xfrm>
          <a:prstGeom prst="rect">
            <a:avLst/>
          </a:prstGeom>
          <a:solidFill>
            <a:srgbClr val="17513B"/>
          </a:solidFill>
          <a:ln>
            <a:noFill/>
          </a:ln>
        </p:spPr>
      </p:sp>
      <p:sp>
        <p:nvSpPr>
          <p:cNvPr id="6" name="meta"/>
          <p:cNvSpPr txBox="1"/>
          <p:nvPr/>
        </p:nvSpPr>
        <p:spPr>
          <a:xfrm>
            <a:off x="812800" y="4495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主讲：</a:t>
            </a:r>
            <a:r>
              <a:rPr lang="zh-CN" altLang="en-US" sz="130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曹宸睿</a:t>
            </a:r>
            <a:endParaRPr lang="zh-CN" altLang="en-US" sz="1300" noProof="1">
              <a:solidFill>
                <a:srgbClr val="1E1C18"/>
              </a:solidFill>
              <a:latin typeface="MiSans" charset="-122"/>
              <a:ea typeface="MiSans" charset="-122"/>
            </a:endParaRPr>
          </a:p>
        </p:txBody>
      </p:sp>
      <p:sp>
        <p:nvSpPr>
          <p:cNvPr id="7" name="tags"/>
          <p:cNvSpPr txBox="1"/>
          <p:nvPr/>
        </p:nvSpPr>
        <p:spPr>
          <a:xfrm>
            <a:off x="812800" y="60706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CONDITION CODES / SETX / JUMPS / CMOV / LOOPS / JUMP TABLE</a:t>
            </a:r>
            <a:endParaRPr lang="en-US" sz="1050" noProof="1"/>
          </a:p>
        </p:txBody>
      </p:sp>
      <p:sp>
        <p:nvSpPr>
          <p:cNvPr id="8" name="cf-diamond"/>
          <p:cNvSpPr/>
          <p:nvPr/>
        </p:nvSpPr>
        <p:spPr>
          <a:xfrm>
            <a:off x="8128000" y="1524000"/>
            <a:ext cx="1905000" cy="1066800"/>
          </a:xfrm>
          <a:prstGeom prst="diamond">
            <a:avLst/>
          </a:prstGeom>
          <a:solidFill>
            <a:srgbClr val="FFFFFF"/>
          </a:solidFill>
          <a:ln w="19050">
            <a:solidFill>
              <a:srgbClr val="17513B"/>
            </a:solidFill>
          </a:ln>
        </p:spPr>
      </p:sp>
      <p:sp>
        <p:nvSpPr>
          <p:cNvPr id="9" name="cf-diamond-text"/>
          <p:cNvSpPr txBox="1"/>
          <p:nvPr/>
        </p:nvSpPr>
        <p:spPr>
          <a:xfrm>
            <a:off x="8128000" y="1524000"/>
            <a:ext cx="1905000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b="1" noProof="1">
                <a:solidFill>
                  <a:srgbClr val="17513B"/>
                </a:solidFill>
                <a:latin typeface="JetBrains Mono" panose="02000009000000000000"/>
                <a:ea typeface="MiSans" charset="-122"/>
              </a:rPr>
              <a:t>x &gt; y ?</a:t>
            </a:r>
            <a:endParaRPr lang="en-US" sz="1300" noProof="1"/>
          </a:p>
        </p:txBody>
      </p:sp>
      <p:sp>
        <p:nvSpPr>
          <p:cNvPr id="10" name="cf-line-a"/>
          <p:cNvSpPr/>
          <p:nvPr/>
        </p:nvSpPr>
        <p:spPr>
          <a:xfrm>
            <a:off x="8382000" y="2362200"/>
            <a:ext cx="444500" cy="1397000"/>
          </a:xfrm>
          <a:custGeom>
            <a:avLst/>
            <a:gdLst/>
            <a:ahLst/>
            <a:cxnLst/>
            <a:rect l="l" t="t" r="r" b="b"/>
            <a:pathLst>
              <a:path w="35" h="110">
                <a:moveTo>
                  <a:pt x="35" y="0"/>
                </a:moveTo>
                <a:lnTo>
                  <a:pt x="0" y="110"/>
                </a:lnTo>
              </a:path>
            </a:pathLst>
          </a:custGeom>
          <a:noFill/>
          <a:ln w="19050">
            <a:solidFill>
              <a:srgbClr val="6E6A5E"/>
            </a:solidFill>
            <a:tailEnd type="arrow"/>
          </a:ln>
        </p:spPr>
      </p:sp>
      <p:sp>
        <p:nvSpPr>
          <p:cNvPr id="11" name="cf-line-b"/>
          <p:cNvSpPr/>
          <p:nvPr/>
        </p:nvSpPr>
        <p:spPr>
          <a:xfrm>
            <a:off x="9334500" y="2362200"/>
            <a:ext cx="1079500" cy="1397000"/>
          </a:xfrm>
          <a:custGeom>
            <a:avLst/>
            <a:gdLst/>
            <a:ahLst/>
            <a:cxnLst/>
            <a:rect l="l" t="t" r="r" b="b"/>
            <a:pathLst>
              <a:path w="85" h="110">
                <a:moveTo>
                  <a:pt x="0" y="0"/>
                </a:moveTo>
                <a:lnTo>
                  <a:pt x="85" y="110"/>
                </a:lnTo>
              </a:path>
            </a:pathLst>
          </a:custGeom>
          <a:noFill/>
          <a:ln w="19050">
            <a:solidFill>
              <a:srgbClr val="6E6A5E"/>
            </a:solidFill>
            <a:tailEnd type="arrow"/>
          </a:ln>
        </p:spPr>
      </p:sp>
      <p:sp>
        <p:nvSpPr>
          <p:cNvPr id="12" name="cf-label-a"/>
          <p:cNvSpPr txBox="1"/>
          <p:nvPr/>
        </p:nvSpPr>
        <p:spPr>
          <a:xfrm>
            <a:off x="8128000" y="2946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是</a:t>
            </a:r>
            <a:endParaRPr lang="en-US" sz="1000" noProof="1"/>
          </a:p>
        </p:txBody>
      </p:sp>
      <p:sp>
        <p:nvSpPr>
          <p:cNvPr id="13" name="cf-label-b"/>
          <p:cNvSpPr txBox="1"/>
          <p:nvPr/>
        </p:nvSpPr>
        <p:spPr>
          <a:xfrm>
            <a:off x="10236200" y="2946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否</a:t>
            </a:r>
            <a:endParaRPr lang="en-US" sz="1000" noProof="1"/>
          </a:p>
        </p:txBody>
      </p:sp>
      <p:sp>
        <p:nvSpPr>
          <p:cNvPr id="14" name="cf-box-a"/>
          <p:cNvSpPr/>
          <p:nvPr/>
        </p:nvSpPr>
        <p:spPr>
          <a:xfrm>
            <a:off x="7594600" y="3759200"/>
            <a:ext cx="14732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1C18"/>
            </a:solidFill>
          </a:ln>
        </p:spPr>
      </p:sp>
      <p:sp>
        <p:nvSpPr>
          <p:cNvPr id="15" name="cf-box-a-text"/>
          <p:cNvSpPr txBox="1"/>
          <p:nvPr/>
        </p:nvSpPr>
        <p:spPr>
          <a:xfrm>
            <a:off x="7594600" y="3759200"/>
            <a:ext cx="14732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1E1C18"/>
                </a:solidFill>
                <a:latin typeface="JetBrains Mono" panose="02000009000000000000"/>
                <a:ea typeface="MiSans" charset="-122"/>
              </a:rPr>
              <a:t>x - y</a:t>
            </a:r>
            <a:endParaRPr lang="en-US" sz="1400" noProof="1"/>
          </a:p>
        </p:txBody>
      </p:sp>
      <p:sp>
        <p:nvSpPr>
          <p:cNvPr id="16" name="cf-box-b"/>
          <p:cNvSpPr/>
          <p:nvPr/>
        </p:nvSpPr>
        <p:spPr>
          <a:xfrm>
            <a:off x="9728200" y="3759200"/>
            <a:ext cx="1473200" cy="55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1E1C18"/>
            </a:solidFill>
          </a:ln>
        </p:spPr>
      </p:sp>
      <p:sp>
        <p:nvSpPr>
          <p:cNvPr id="17" name="cf-box-b-text"/>
          <p:cNvSpPr txBox="1"/>
          <p:nvPr/>
        </p:nvSpPr>
        <p:spPr>
          <a:xfrm>
            <a:off x="9728200" y="3759200"/>
            <a:ext cx="1473200" cy="558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noProof="1">
                <a:solidFill>
                  <a:srgbClr val="1E1C18"/>
                </a:solidFill>
                <a:latin typeface="JetBrains Mono" panose="02000009000000000000"/>
                <a:ea typeface="MiSans" charset="-122"/>
              </a:rPr>
              <a:t>y - x</a:t>
            </a:r>
            <a:endParaRPr lang="en-US" sz="1400" noProof="1"/>
          </a:p>
        </p:txBody>
      </p:sp>
      <p:sp>
        <p:nvSpPr>
          <p:cNvPr id="18" name="cf-line-c"/>
          <p:cNvSpPr/>
          <p:nvPr/>
        </p:nvSpPr>
        <p:spPr>
          <a:xfrm>
            <a:off x="8534400" y="4318000"/>
            <a:ext cx="508000" cy="609600"/>
          </a:xfrm>
          <a:custGeom>
            <a:avLst/>
            <a:gdLst/>
            <a:ahLst/>
            <a:cxnLst/>
            <a:rect l="l" t="t" r="r" b="b"/>
            <a:pathLst>
              <a:path w="40" h="48">
                <a:moveTo>
                  <a:pt x="0" y="0"/>
                </a:moveTo>
                <a:lnTo>
                  <a:pt x="40" y="48"/>
                </a:lnTo>
              </a:path>
            </a:pathLst>
          </a:custGeom>
          <a:noFill/>
          <a:ln w="19050">
            <a:solidFill>
              <a:srgbClr val="6E6A5E"/>
            </a:solidFill>
            <a:tailEnd type="arrow"/>
          </a:ln>
        </p:spPr>
      </p:sp>
      <p:sp>
        <p:nvSpPr>
          <p:cNvPr id="19" name="cf-line-d"/>
          <p:cNvSpPr/>
          <p:nvPr/>
        </p:nvSpPr>
        <p:spPr>
          <a:xfrm>
            <a:off x="9753600" y="4318000"/>
            <a:ext cx="508000" cy="609600"/>
          </a:xfrm>
          <a:custGeom>
            <a:avLst/>
            <a:gdLst/>
            <a:ahLst/>
            <a:cxnLst/>
            <a:rect l="l" t="t" r="r" b="b"/>
            <a:pathLst>
              <a:path w="40" h="48">
                <a:moveTo>
                  <a:pt x="40" y="0"/>
                </a:moveTo>
                <a:lnTo>
                  <a:pt x="0" y="48"/>
                </a:lnTo>
              </a:path>
            </a:pathLst>
          </a:custGeom>
          <a:noFill/>
          <a:ln w="19050">
            <a:solidFill>
              <a:srgbClr val="6E6A5E"/>
            </a:solidFill>
            <a:tailEnd type="arrow"/>
          </a:ln>
        </p:spPr>
      </p:sp>
      <p:sp>
        <p:nvSpPr>
          <p:cNvPr id="20" name="cf-ret"/>
          <p:cNvSpPr/>
          <p:nvPr/>
        </p:nvSpPr>
        <p:spPr>
          <a:xfrm>
            <a:off x="8890000" y="4927600"/>
            <a:ext cx="1016000" cy="457200"/>
          </a:xfrm>
          <a:prstGeom prst="rect">
            <a:avLst/>
          </a:prstGeom>
          <a:solidFill>
            <a:srgbClr val="17513B"/>
          </a:solidFill>
          <a:ln>
            <a:noFill/>
          </a:ln>
        </p:spPr>
      </p:sp>
      <p:sp>
        <p:nvSpPr>
          <p:cNvPr id="21" name="cf-ret-text"/>
          <p:cNvSpPr txBox="1"/>
          <p:nvPr/>
        </p:nvSpPr>
        <p:spPr>
          <a:xfrm>
            <a:off x="8890000" y="4927600"/>
            <a:ext cx="1016000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300" noProof="1">
                <a:solidFill>
                  <a:srgbClr val="F7F4EE"/>
                </a:solidFill>
                <a:latin typeface="JetBrains Mono" panose="02000009000000000000"/>
                <a:ea typeface="MiSans" charset="-122"/>
              </a:rPr>
              <a:t>ret</a:t>
            </a:r>
            <a:endParaRPr lang="en-US" sz="13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MACHINE-LEVEL PROGRAMMING II · CONTROL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588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本讲路径：从条件码到跳转表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s1-num"/>
          <p:cNvSpPr txBox="1"/>
          <p:nvPr/>
        </p:nvSpPr>
        <p:spPr>
          <a:xfrm>
            <a:off x="812800" y="15748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513B"/>
                </a:solidFill>
                <a:latin typeface="JetBrains Mono" panose="02000009000000000000"/>
                <a:ea typeface="MiSans" charset="-122"/>
              </a:rPr>
              <a:t>01</a:t>
            </a:r>
            <a:endParaRPr lang="en-US" sz="1800" noProof="1"/>
          </a:p>
        </p:txBody>
      </p:sp>
      <p:sp>
        <p:nvSpPr>
          <p:cNvPr id="6" name="s1-title"/>
          <p:cNvSpPr txBox="1"/>
          <p:nvPr/>
        </p:nvSpPr>
        <p:spPr>
          <a:xfrm>
            <a:off x="1473200" y="1574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条件码 Condition Codes</a:t>
            </a:r>
            <a:endParaRPr lang="en-US" sz="1550" noProof="1"/>
          </a:p>
        </p:txBody>
      </p:sp>
      <p:sp>
        <p:nvSpPr>
          <p:cNvPr id="7" name="s1-desc"/>
          <p:cNvSpPr txBox="1"/>
          <p:nvPr/>
        </p:nvSpPr>
        <p:spPr>
          <a:xfrm>
            <a:off x="1473200" y="19050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add / sub / and 等指令顺带设置；cmp / test 专门设置。共 ZF、SF、CF、OF 四个标志位。</a:t>
            </a:r>
            <a:endParaRPr lang="en-US" sz="1150" noProof="1"/>
          </a:p>
        </p:txBody>
      </p:sp>
      <p:sp>
        <p:nvSpPr>
          <p:cNvPr id="8" name="s1-conn"/>
          <p:cNvSpPr/>
          <p:nvPr/>
        </p:nvSpPr>
        <p:spPr>
          <a:xfrm>
            <a:off x="1079500" y="2032000"/>
            <a:ext cx="19050" cy="6096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9" name="s2-num"/>
          <p:cNvSpPr txBox="1"/>
          <p:nvPr/>
        </p:nvSpPr>
        <p:spPr>
          <a:xfrm>
            <a:off x="812800" y="27178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513B"/>
                </a:solidFill>
                <a:latin typeface="JetBrains Mono" panose="02000009000000000000"/>
                <a:ea typeface="MiSans" charset="-122"/>
              </a:rPr>
              <a:t>02</a:t>
            </a:r>
            <a:endParaRPr lang="en-US" sz="1800" noProof="1"/>
          </a:p>
        </p:txBody>
      </p:sp>
      <p:sp>
        <p:nvSpPr>
          <p:cNvPr id="10" name="s2-title"/>
          <p:cNvSpPr txBox="1"/>
          <p:nvPr/>
        </p:nvSpPr>
        <p:spPr>
          <a:xfrm>
            <a:off x="1473200" y="2717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读取条件码的三种方式</a:t>
            </a:r>
            <a:endParaRPr lang="en-US" sz="1550" noProof="1"/>
          </a:p>
        </p:txBody>
      </p:sp>
      <p:sp>
        <p:nvSpPr>
          <p:cNvPr id="11" name="s2-desc"/>
          <p:cNvSpPr txBox="1"/>
          <p:nvPr/>
        </p:nvSpPr>
        <p:spPr>
          <a:xfrm>
            <a:off x="1473200" y="30480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setX 把条件写进字节；jX 按条件跳转；cmovX 按条件传送数据。</a:t>
            </a:r>
            <a:endParaRPr lang="en-US" sz="1150" noProof="1"/>
          </a:p>
        </p:txBody>
      </p:sp>
      <p:sp>
        <p:nvSpPr>
          <p:cNvPr id="12" name="s2-conn"/>
          <p:cNvSpPr/>
          <p:nvPr/>
        </p:nvSpPr>
        <p:spPr>
          <a:xfrm>
            <a:off x="1079500" y="3175000"/>
            <a:ext cx="19050" cy="6096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3" name="s3-num"/>
          <p:cNvSpPr txBox="1"/>
          <p:nvPr/>
        </p:nvSpPr>
        <p:spPr>
          <a:xfrm>
            <a:off x="812800" y="38608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513B"/>
                </a:solidFill>
                <a:latin typeface="JetBrains Mono" panose="02000009000000000000"/>
                <a:ea typeface="MiSans" charset="-122"/>
              </a:rPr>
              <a:t>03</a:t>
            </a:r>
            <a:endParaRPr lang="en-US" sz="1800" noProof="1"/>
          </a:p>
        </p:txBody>
      </p:sp>
      <p:sp>
        <p:nvSpPr>
          <p:cNvPr id="14" name="s3-title"/>
          <p:cNvSpPr txBox="1"/>
          <p:nvPr/>
        </p:nvSpPr>
        <p:spPr>
          <a:xfrm>
            <a:off x="1473200" y="3860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翻译分支与循环</a:t>
            </a:r>
            <a:endParaRPr lang="en-US" sz="1550" noProof="1"/>
          </a:p>
        </p:txBody>
      </p:sp>
      <p:sp>
        <p:nvSpPr>
          <p:cNvPr id="15" name="s3-desc"/>
          <p:cNvSpPr txBox="1"/>
          <p:nvPr/>
        </p:nvSpPr>
        <p:spPr>
          <a:xfrm>
            <a:off x="1473200" y="41910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if-else 的两种机器实现（条件跳转 / 条件传送）；while、for 先归一化成 do-while。</a:t>
            </a:r>
            <a:endParaRPr lang="en-US" sz="1150" noProof="1"/>
          </a:p>
        </p:txBody>
      </p:sp>
      <p:sp>
        <p:nvSpPr>
          <p:cNvPr id="16" name="s3-conn"/>
          <p:cNvSpPr/>
          <p:nvPr/>
        </p:nvSpPr>
        <p:spPr>
          <a:xfrm>
            <a:off x="1079500" y="4318000"/>
            <a:ext cx="19050" cy="6096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7" name="s4-num"/>
          <p:cNvSpPr txBox="1"/>
          <p:nvPr/>
        </p:nvSpPr>
        <p:spPr>
          <a:xfrm>
            <a:off x="812800" y="5003800"/>
            <a:ext cx="558800" cy="330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800" b="1" noProof="1">
                <a:solidFill>
                  <a:srgbClr val="17513B"/>
                </a:solidFill>
                <a:latin typeface="JetBrains Mono" panose="02000009000000000000"/>
                <a:ea typeface="MiSans" charset="-122"/>
              </a:rPr>
              <a:t>04</a:t>
            </a:r>
            <a:endParaRPr lang="en-US" sz="1800" noProof="1"/>
          </a:p>
        </p:txBody>
      </p:sp>
      <p:sp>
        <p:nvSpPr>
          <p:cNvPr id="18" name="s4-title"/>
          <p:cNvSpPr txBox="1"/>
          <p:nvPr/>
        </p:nvSpPr>
        <p:spPr>
          <a:xfrm>
            <a:off x="1473200" y="5003800"/>
            <a:ext cx="5080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5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switch 与跳转表</a:t>
            </a:r>
            <a:endParaRPr lang="en-US" sz="1550" noProof="1"/>
          </a:p>
        </p:txBody>
      </p:sp>
      <p:sp>
        <p:nvSpPr>
          <p:cNvPr id="19" name="s4-desc"/>
          <p:cNvSpPr txBox="1"/>
          <p:nvPr/>
        </p:nvSpPr>
        <p:spPr>
          <a:xfrm>
            <a:off x="1473200" y="53340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多路分支编译成一张地址表加一次间接跳转，开销与 case 个数无关。</a:t>
            </a:r>
            <a:endParaRPr lang="en-US" sz="1150" noProof="1"/>
          </a:p>
        </p:txBody>
      </p:sp>
      <p:sp>
        <p:nvSpPr>
          <p:cNvPr id="20" name="side-rule"/>
          <p:cNvSpPr/>
          <p:nvPr/>
        </p:nvSpPr>
        <p:spPr>
          <a:xfrm>
            <a:off x="7061200" y="1524000"/>
            <a:ext cx="12700" cy="43180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21" name="goal-head"/>
          <p:cNvSpPr txBox="1"/>
          <p:nvPr/>
        </p:nvSpPr>
        <p:spPr>
          <a:xfrm>
            <a:off x="7416800" y="1524000"/>
            <a:ext cx="3962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学完这一讲，你应该能</a:t>
            </a:r>
            <a:endParaRPr lang="en-US" sz="1400" noProof="1"/>
          </a:p>
        </p:txBody>
      </p:sp>
      <p:sp>
        <p:nvSpPr>
          <p:cNvPr id="22" name="goal-body"/>
          <p:cNvSpPr txBox="1"/>
          <p:nvPr/>
        </p:nvSpPr>
        <p:spPr>
          <a:xfrm>
            <a:off x="7416800" y="1905000"/>
            <a:ext cx="3962400" cy="1397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9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· 手工把 if / while / switch 翻译成汇编</a:t>
            </a:r>
            <a:endParaRPr lang="en-US" sz="1250" noProof="1"/>
          </a:p>
          <a:p>
            <a:pPr>
              <a:lnSpc>
                <a:spcPct val="19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· 说清 cmov 为什么常比条件跳转快</a:t>
            </a:r>
            <a:endParaRPr lang="en-US" sz="1250" noProof="1"/>
          </a:p>
          <a:p>
            <a:pPr>
              <a:lnSpc>
                <a:spcPct val="19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· 看懂跳转表与间接跳转指令</a:t>
            </a:r>
            <a:endParaRPr lang="en-US" sz="1250" noProof="1"/>
          </a:p>
        </p:txBody>
      </p:sp>
      <p:sp>
        <p:nvSpPr>
          <p:cNvPr id="23" name="pre-head"/>
          <p:cNvSpPr txBox="1"/>
          <p:nvPr/>
        </p:nvSpPr>
        <p:spPr>
          <a:xfrm>
            <a:off x="7416800" y="3708400"/>
            <a:ext cx="3962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先修</a:t>
            </a:r>
            <a:endParaRPr lang="en-US" sz="1400" noProof="1"/>
          </a:p>
        </p:txBody>
      </p:sp>
      <p:sp>
        <p:nvSpPr>
          <p:cNvPr id="24" name="pre-body"/>
          <p:cNvSpPr txBox="1"/>
          <p:nvPr/>
        </p:nvSpPr>
        <p:spPr>
          <a:xfrm>
            <a:off x="7416800" y="4064000"/>
            <a:ext cx="39624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数据传送 mov、算术与逻辑指令、寄存器与内存寻址（本系列前几讲）。</a:t>
            </a:r>
            <a:endParaRPr lang="en-US" sz="1150" noProof="1"/>
          </a:p>
        </p:txBody>
      </p:sp>
      <p:sp>
        <p:nvSpPr>
          <p:cNvPr id="25" name="src"/>
          <p:cNvSpPr txBox="1"/>
          <p:nvPr/>
        </p:nvSpPr>
        <p:spPr>
          <a:xfrm>
            <a:off x="7416800" y="5283200"/>
            <a:ext cx="39624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0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内容依据：Bryant &amp; O'Hallaron《深入理解计算机系统（原书第 3 版）》§3.6 控制。</a:t>
            </a:r>
            <a:endParaRPr lang="en-US" sz="1050" noProof="1"/>
          </a:p>
        </p:txBody>
      </p:sp>
      <p:sp>
        <p:nvSpPr>
          <p:cNvPr id="26" name="footer-left"/>
          <p:cNvSpPr txBox="1"/>
          <p:nvPr/>
        </p:nvSpPr>
        <p:spPr>
          <a:xfrm>
            <a:off x="8128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CS:APP · 机器级编程 II：控制</a:t>
            </a:r>
            <a:endParaRPr lang="en-US" sz="1000" noProof="1"/>
          </a:p>
        </p:txBody>
      </p:sp>
      <p:sp>
        <p:nvSpPr>
          <p:cNvPr id="27" name="footer-page"/>
          <p:cNvSpPr txBox="1"/>
          <p:nvPr/>
        </p:nvSpPr>
        <p:spPr>
          <a:xfrm>
            <a:off x="10820400" y="64770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02 / 10</a:t>
            </a:r>
            <a:endParaRPr lang="en-US" sz="105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MACHINE-LEVEL PROGRAMMING II · CONTROL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588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条件码：最近一次运算留下的 4 个标志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graphicFrame>
        <p:nvGraphicFramePr>
          <p:cNvPr id="5" name="flags-table"/>
          <p:cNvGraphicFramePr>
            <a:graphicFrameLocks noGrp="1"/>
          </p:cNvGraphicFramePr>
          <p:nvPr/>
        </p:nvGraphicFramePr>
        <p:xfrm>
          <a:off x="812800" y="1498600"/>
          <a:ext cx="7213600" cy="2984500"/>
        </p:xfrm>
        <a:graphic>
          <a:graphicData uri="http://schemas.openxmlformats.org/drawingml/2006/table">
            <a:tbl>
              <a:tblPr/>
              <a:tblGrid>
                <a:gridCol w="1082040"/>
                <a:gridCol w="2380488"/>
                <a:gridCol w="3751072"/>
              </a:tblGrid>
              <a:tr h="5969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标志位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名称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什么时候置 1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</a:tr>
              <a:tr h="5969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ZF</a:t>
                      </a:r>
                      <a:endParaRPr lang="en-US" sz="1250" b="1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零标志 Zero</a:t>
                      </a:r>
                      <a:endParaRPr lang="en-US" sz="12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运算结果等于 0</a:t>
                      </a:r>
                      <a:endParaRPr lang="en-US" sz="12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969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SF</a:t>
                      </a:r>
                      <a:endParaRPr lang="en-US" sz="1250" b="1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符号标志 Sign</a:t>
                      </a:r>
                      <a:endParaRPr lang="en-US" sz="12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运算结果为负（最高位为 1）</a:t>
                      </a:r>
                      <a:endParaRPr lang="en-US" sz="12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</a:tr>
              <a:tr h="5969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CF</a:t>
                      </a:r>
                      <a:endParaRPr lang="en-US" sz="1250" b="1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进位标志 Carry</a:t>
                      </a:r>
                      <a:endParaRPr lang="en-US" sz="12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无符号运算发生进位 / 借位</a:t>
                      </a:r>
                      <a:endParaRPr lang="en-US" sz="12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969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OF</a:t>
                      </a:r>
                      <a:endParaRPr lang="en-US" sz="1250" b="1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溢出标志 Overflow</a:t>
                      </a:r>
                      <a:endParaRPr lang="en-US" sz="12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有符号补码运算溢出</a:t>
                      </a:r>
                      <a:endParaRPr lang="en-US" sz="12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</a:tr>
            </a:tbl>
          </a:graphicData>
        </a:graphic>
      </p:graphicFrame>
      <p:sp>
        <p:nvSpPr>
          <p:cNvPr id="6" name="set-head"/>
          <p:cNvSpPr txBox="1"/>
          <p:nvPr/>
        </p:nvSpPr>
        <p:spPr>
          <a:xfrm>
            <a:off x="8737600" y="1498600"/>
            <a:ext cx="26416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两种设置方式</a:t>
            </a:r>
            <a:endParaRPr lang="en-US" sz="1400" noProof="1"/>
          </a:p>
        </p:txBody>
      </p:sp>
      <p:sp>
        <p:nvSpPr>
          <p:cNvPr id="7" name="set-implicit"/>
          <p:cNvSpPr txBox="1"/>
          <p:nvPr/>
        </p:nvSpPr>
        <p:spPr>
          <a:xfrm>
            <a:off x="8737600" y="1905000"/>
            <a:ext cx="2641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隐式 · 顺带设置</a:t>
            </a:r>
            <a:endParaRPr lang="en-US" sz="1300" noProof="1"/>
          </a:p>
        </p:txBody>
      </p:sp>
      <p:sp>
        <p:nvSpPr>
          <p:cNvPr id="8" name="set-implicit-body"/>
          <p:cNvSpPr txBox="1"/>
          <p:nvPr/>
        </p:nvSpPr>
        <p:spPr>
          <a:xfrm>
            <a:off x="8737600" y="2184400"/>
            <a:ext cx="2641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add、sub、and 等算术逻辑指令自动设置；lea 是例外，不设标志。</a:t>
            </a:r>
            <a:endParaRPr lang="en-US" sz="1150" noProof="1"/>
          </a:p>
        </p:txBody>
      </p:sp>
      <p:sp>
        <p:nvSpPr>
          <p:cNvPr id="9" name="set-rule"/>
          <p:cNvSpPr/>
          <p:nvPr/>
        </p:nvSpPr>
        <p:spPr>
          <a:xfrm>
            <a:off x="8737600" y="3098800"/>
            <a:ext cx="26416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0" name="set-explicit"/>
          <p:cNvSpPr txBox="1"/>
          <p:nvPr/>
        </p:nvSpPr>
        <p:spPr>
          <a:xfrm>
            <a:off x="8737600" y="3302000"/>
            <a:ext cx="26416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显式 · 专门设置</a:t>
            </a:r>
            <a:endParaRPr lang="en-US" sz="1300" noProof="1"/>
          </a:p>
        </p:txBody>
      </p:sp>
      <p:sp>
        <p:nvSpPr>
          <p:cNvPr id="11" name="set-explicit-body"/>
          <p:cNvSpPr txBox="1"/>
          <p:nvPr/>
        </p:nvSpPr>
        <p:spPr>
          <a:xfrm>
            <a:off x="8737600" y="3581400"/>
            <a:ext cx="2641600" cy="787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cmp、test 只设置条件码、不写回结果，专为分支判断服务。</a:t>
            </a:r>
            <a:endParaRPr lang="en-US" sz="1150" noProof="1"/>
          </a:p>
        </p:txBody>
      </p:sp>
      <p:sp>
        <p:nvSpPr>
          <p:cNvPr id="12" name="bottom-rule"/>
          <p:cNvSpPr/>
          <p:nvPr/>
        </p:nvSpPr>
        <p:spPr>
          <a:xfrm>
            <a:off x="812800" y="5334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3" name="bottom-note"/>
          <p:cNvSpPr txBox="1"/>
          <p:nvPr/>
        </p:nvSpPr>
        <p:spPr>
          <a:xfrm>
            <a:off x="812800" y="55372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B45309"/>
                </a:solidFill>
                <a:latin typeface="MiSans" charset="-122"/>
                <a:ea typeface="MiSans" charset="-122"/>
              </a:rPr>
              <a:t>记住：</a:t>
            </a:r>
            <a:r>
              <a:rPr lang="en-US" sz="130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条件码只是记录，本身不改变任何流向。它后面三页的共同主题是——谁来读这些标志：jX 用来跳转，cmovX 用来选数据，setX 用来写字节。</a:t>
            </a:r>
            <a:endParaRPr lang="en-US" sz="1300" noProof="1"/>
          </a:p>
        </p:txBody>
      </p:sp>
      <p:sp>
        <p:nvSpPr>
          <p:cNvPr id="14" name="footer-left"/>
          <p:cNvSpPr txBox="1"/>
          <p:nvPr/>
        </p:nvSpPr>
        <p:spPr>
          <a:xfrm>
            <a:off x="8128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CS:APP · 机器级编程 II：控制</a:t>
            </a:r>
            <a:endParaRPr lang="en-US" sz="100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820400" y="64770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03 / 10</a:t>
            </a:r>
            <a:endParaRPr lang="en-US" sz="105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MACHINE-LEVEL PROGRAMMING II · CONTROL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588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cmp 与 test：只设标志，不改数据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cmp-label"/>
          <p:cNvSpPr txBox="1"/>
          <p:nvPr/>
        </p:nvSpPr>
        <p:spPr>
          <a:xfrm>
            <a:off x="812800" y="14224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比较 x 与 y（x→%rdi，y→%rsi）</a:t>
            </a:r>
            <a:endParaRPr lang="en-US" sz="1150" noProof="1"/>
          </a:p>
        </p:txBody>
      </p:sp>
      <p:sp>
        <p:nvSpPr>
          <p:cNvPr id="6" name="cmp-block"/>
          <p:cNvSpPr/>
          <p:nvPr/>
        </p:nvSpPr>
        <p:spPr>
          <a:xfrm>
            <a:off x="812800" y="1727200"/>
            <a:ext cx="5334000" cy="14986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7" name="cmp-code"/>
          <p:cNvSpPr txBox="1"/>
          <p:nvPr/>
        </p:nvSpPr>
        <p:spPr>
          <a:xfrm>
            <a:off x="1041400" y="1854200"/>
            <a:ext cx="4876800" cy="1244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C：if (x &gt; y)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cmpq %rsi, %rdi   </a:t>
            </a:r>
            <a:r>
              <a:rPr lang="en-US" sz="12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算 x−y，丢弃结果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jg   .L2</a:t>
            </a:r>
            <a:r>
              <a:rPr lang="en-US" sz="12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      </a:t>
            </a:r>
            <a:r>
              <a:rPr lang="en-US" sz="12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x&gt;y 则跳 .L2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不满足：顺序执行下一条</a:t>
            </a:r>
            <a:endParaRPr lang="en-US" sz="1200" noProof="1"/>
          </a:p>
        </p:txBody>
      </p:sp>
      <p:sp>
        <p:nvSpPr>
          <p:cNvPr id="8" name="cmp-note"/>
          <p:cNvSpPr txBox="1"/>
          <p:nvPr/>
        </p:nvSpPr>
        <p:spPr>
          <a:xfrm>
            <a:off x="812800" y="3403600"/>
            <a:ext cx="53340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注意 AT&amp;T 顺序：cmp S, D 计算的是 D − S。要比较 x 与 y，y（%rsi）写在前面。</a:t>
            </a:r>
            <a:endParaRPr lang="en-US" sz="1150" noProof="1"/>
          </a:p>
        </p:txBody>
      </p:sp>
      <p:sp>
        <p:nvSpPr>
          <p:cNvPr id="9" name="ex-label"/>
          <p:cNvSpPr txBox="1"/>
          <p:nvPr/>
        </p:nvSpPr>
        <p:spPr>
          <a:xfrm>
            <a:off x="6604000" y="1422400"/>
            <a:ext cx="4775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三个算例：cmpq %rsi, %rdi 之后的标志</a:t>
            </a:r>
            <a:endParaRPr lang="en-US" sz="1150" noProof="1"/>
          </a:p>
        </p:txBody>
      </p:sp>
      <p:graphicFrame>
        <p:nvGraphicFramePr>
          <p:cNvPr id="10" name="ex-table"/>
          <p:cNvGraphicFramePr>
            <a:graphicFrameLocks noGrp="1"/>
          </p:cNvGraphicFramePr>
          <p:nvPr/>
        </p:nvGraphicFramePr>
        <p:xfrm>
          <a:off x="6604000" y="1727200"/>
          <a:ext cx="4775200" cy="2235200"/>
        </p:xfrm>
        <a:graphic>
          <a:graphicData uri="http://schemas.openxmlformats.org/drawingml/2006/table">
            <a:tbl>
              <a:tblPr/>
              <a:tblGrid>
                <a:gridCol w="1146048"/>
                <a:gridCol w="1241552"/>
                <a:gridCol w="1241552"/>
                <a:gridCol w="1146048"/>
              </a:tblGrid>
              <a:tr h="5588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输入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x−y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ZF SF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结论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</a:tr>
              <a:tr h="5588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x=5, y=3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2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0  0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x&gt;y，跳转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5588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x=3, y=5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−2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0  1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x&lt;y，不跳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</a:tr>
              <a:tr h="558800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x=5, y=5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0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1  0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x=y，不跳</a:t>
                      </a:r>
                      <a:endParaRPr lang="en-US" sz="110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st-label"/>
          <p:cNvSpPr txBox="1"/>
          <p:nvPr/>
        </p:nvSpPr>
        <p:spPr>
          <a:xfrm>
            <a:off x="812800" y="4419600"/>
            <a:ext cx="6350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test 的惯用法：一个数和自己相与，用来判零</a:t>
            </a:r>
            <a:endParaRPr lang="en-US" sz="1150" noProof="1"/>
          </a:p>
        </p:txBody>
      </p:sp>
      <p:sp>
        <p:nvSpPr>
          <p:cNvPr id="12" name="test-block"/>
          <p:cNvSpPr/>
          <p:nvPr/>
        </p:nvSpPr>
        <p:spPr>
          <a:xfrm>
            <a:off x="812800" y="4724400"/>
            <a:ext cx="5334000" cy="10668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13" name="test-code"/>
          <p:cNvSpPr txBox="1"/>
          <p:nvPr/>
        </p:nvSpPr>
        <p:spPr>
          <a:xfrm>
            <a:off x="1041400" y="4851400"/>
            <a:ext cx="48768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testq %rax, %rax  </a:t>
            </a:r>
            <a:r>
              <a:rPr lang="en-US" sz="12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rax 与 rax，结果仍是 rax</a:t>
            </a:r>
            <a:endParaRPr lang="en-US" sz="1200" noProof="1"/>
          </a:p>
          <a:p>
            <a:pPr>
              <a:lnSpc>
                <a:spcPct val="160000"/>
              </a:lnSpc>
            </a:pPr>
            <a:r>
              <a:rPr lang="en-US" sz="12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ZF=1 ⇔ rax==0；SF 等于符号位</a:t>
            </a:r>
            <a:endParaRPr lang="en-US" sz="1200" noProof="1"/>
          </a:p>
        </p:txBody>
      </p:sp>
      <p:sp>
        <p:nvSpPr>
          <p:cNvPr id="14" name="test-note"/>
          <p:cNvSpPr txBox="1"/>
          <p:nvPr/>
        </p:nvSpPr>
        <p:spPr>
          <a:xfrm>
            <a:off x="6604000" y="4724400"/>
            <a:ext cx="47752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test 与 cmp 一样不写回结果，只做按位与并设标志；CF、OF 恒被清零。循环条件、判空指针里大量出现这一模式。</a:t>
            </a:r>
            <a:endParaRPr lang="en-US" sz="1150" noProof="1"/>
          </a:p>
        </p:txBody>
      </p:sp>
      <p:sp>
        <p:nvSpPr>
          <p:cNvPr id="15" name="footer-left"/>
          <p:cNvSpPr txBox="1"/>
          <p:nvPr/>
        </p:nvSpPr>
        <p:spPr>
          <a:xfrm>
            <a:off x="8128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CS:APP · 机器级编程 II：控制</a:t>
            </a:r>
            <a:endParaRPr lang="en-US" sz="100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0820400" y="64770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04 / 10</a:t>
            </a:r>
            <a:endParaRPr lang="en-US" sz="105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MACHINE-LEVEL PROGRAMMING II · CONTROL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588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setX：把条件码组合写进一个字节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graphicFrame>
        <p:nvGraphicFramePr>
          <p:cNvPr id="5" name="setx-table"/>
          <p:cNvGraphicFramePr>
            <a:graphicFrameLocks noGrp="1"/>
          </p:cNvGraphicFramePr>
          <p:nvPr/>
        </p:nvGraphicFramePr>
        <p:xfrm>
          <a:off x="812800" y="1473200"/>
          <a:ext cx="7112000" cy="4470400"/>
        </p:xfrm>
        <a:graphic>
          <a:graphicData uri="http://schemas.openxmlformats.org/drawingml/2006/table">
            <a:tbl>
              <a:tblPr/>
              <a:tblGrid>
                <a:gridCol w="2133600"/>
                <a:gridCol w="2133600"/>
                <a:gridCol w="2844800"/>
              </a:tblGrid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指令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含义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250" b="1" noProof="1">
                          <a:solidFill>
                            <a:srgbClr val="F7F4EE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条件码组合</a:t>
                      </a:r>
                      <a:endParaRPr lang="en-US" sz="1250" b="1" noProof="1">
                        <a:solidFill>
                          <a:srgbClr val="F7F4EE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17513B"/>
                      </a:solidFill>
                    </a:lnB>
                    <a:solidFill>
                      <a:srgbClr val="17513B"/>
                    </a:solidFill>
                  </a:tcPr>
                </a:tc>
              </a:tr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sete / setz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相等 / 为零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ZF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setne / setnz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不等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~ZF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</a:tr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sets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为负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SF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setns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非负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~SF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</a:tr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setg / setnle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有符号 &gt;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~(SF^OF) 且 ~ZF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setge / setnl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有符号 ≥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~(SF^OF)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</a:tr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setl / setnge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有符号 &lt;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SF^OF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setle / setng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有符号 ≤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(SF^OF) 或 ZF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</a:tr>
              <a:tr h="40680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seta / setnbe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无符号 &gt;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~CF 且 ~ZF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402336"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7513B"/>
                          </a:solidFill>
                          <a:latin typeface="JetBrains Mono" panose="02000009000000000000"/>
                          <a:ea typeface="MiSans" charset="-122"/>
                        </a:rPr>
                        <a:t>setb / setnae</a:t>
                      </a:r>
                      <a:endParaRPr lang="en-US" sz="1150" noProof="1">
                        <a:solidFill>
                          <a:srgbClr val="17513B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无符号 &lt;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  <a:tc>
                  <a:txBody>
                    <a:bodyPr wrap="square" rtlCol="0"/>
                    <a:lstStyle/>
                    <a:p>
                      <a:pPr algn="l"/>
                      <a:r>
                        <a:rPr lang="en-US" sz="1150" noProof="1">
                          <a:solidFill>
                            <a:srgbClr val="1E1C18"/>
                          </a:solidFill>
                          <a:latin typeface="JetBrains Mono" panose="02000009000000000000"/>
                          <a:ea typeface="MiSans" charset="-122"/>
                        </a:rPr>
                        <a:t>CF</a:t>
                      </a:r>
                      <a:endParaRPr lang="en-US" sz="1150" noProof="1">
                        <a:solidFill>
                          <a:srgbClr val="1E1C18"/>
                        </a:solidFill>
                        <a:latin typeface="JetBrains Mono" panose="02000009000000000000"/>
                        <a:ea typeface="MiSans" charset="-122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D9D3C6"/>
                      </a:solidFill>
                    </a:lnB>
                    <a:solidFill>
                      <a:srgbClr val="F0EBDF"/>
                    </a:solidFill>
                  </a:tcPr>
                </a:tc>
              </a:tr>
            </a:tbl>
          </a:graphicData>
        </a:graphic>
      </p:graphicFrame>
      <p:sp>
        <p:nvSpPr>
          <p:cNvPr id="6" name="ex-label"/>
          <p:cNvSpPr txBox="1"/>
          <p:nvPr/>
        </p:nvSpPr>
        <p:spPr>
          <a:xfrm>
            <a:off x="8382000" y="1473200"/>
            <a:ext cx="2997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示例：return x &gt; y</a:t>
            </a:r>
            <a:endParaRPr lang="en-US" sz="1150" noProof="1"/>
          </a:p>
        </p:txBody>
      </p:sp>
      <p:sp>
        <p:nvSpPr>
          <p:cNvPr id="7" name="ex-block"/>
          <p:cNvSpPr/>
          <p:nvPr/>
        </p:nvSpPr>
        <p:spPr>
          <a:xfrm>
            <a:off x="8382000" y="1778000"/>
            <a:ext cx="2997200" cy="13208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8" name="ex-code"/>
          <p:cNvSpPr txBox="1"/>
          <p:nvPr/>
        </p:nvSpPr>
        <p:spPr>
          <a:xfrm>
            <a:off x="8585200" y="1905000"/>
            <a:ext cx="2590800" cy="1066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cmpq %rsi, %rdi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x:y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setg %al</a:t>
            </a: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al = x&gt;y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movzbl %al, %eax</a:t>
            </a:r>
            <a:endParaRPr lang="en-US" sz="1150" noProof="1"/>
          </a:p>
        </p:txBody>
      </p:sp>
      <p:sp>
        <p:nvSpPr>
          <p:cNvPr id="9" name="ex-note"/>
          <p:cNvSpPr txBox="1"/>
          <p:nvPr/>
        </p:nvSpPr>
        <p:spPr>
          <a:xfrm>
            <a:off x="8382000" y="3327400"/>
            <a:ext cx="2997200" cy="165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setX 只写单字节寄存器，需配合 movzbl 做零扩展，得到 0 / 1 的 int。同族的 jX、cmovX 用的是同一套条件码组合。</a:t>
            </a:r>
            <a:endParaRPr lang="en-US" sz="1150" noProof="1"/>
          </a:p>
        </p:txBody>
      </p:sp>
      <p:sp>
        <p:nvSpPr>
          <p:cNvPr id="10" name="ex-rule"/>
          <p:cNvSpPr/>
          <p:nvPr/>
        </p:nvSpPr>
        <p:spPr>
          <a:xfrm>
            <a:off x="8382000" y="5080000"/>
            <a:ext cx="29972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1" name="ex-tips"/>
          <p:cNvSpPr txBox="1"/>
          <p:nvPr/>
        </p:nvSpPr>
        <p:spPr>
          <a:xfrm>
            <a:off x="8382000" y="5257800"/>
            <a:ext cx="29972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记忆线索：e=等于，s=符号，g/l=有符号大小，a/b=无符号高低。</a:t>
            </a:r>
            <a:endParaRPr lang="en-US" sz="1150" noProof="1"/>
          </a:p>
        </p:txBody>
      </p:sp>
      <p:sp>
        <p:nvSpPr>
          <p:cNvPr id="12" name="footer-left"/>
          <p:cNvSpPr txBox="1"/>
          <p:nvPr/>
        </p:nvSpPr>
        <p:spPr>
          <a:xfrm>
            <a:off x="8128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CS:APP · 机器级编程 II：控制</a:t>
            </a:r>
            <a:endParaRPr lang="en-US" sz="1000" noProof="1"/>
          </a:p>
        </p:txBody>
      </p:sp>
      <p:sp>
        <p:nvSpPr>
          <p:cNvPr id="13" name="footer-page"/>
          <p:cNvSpPr txBox="1"/>
          <p:nvPr/>
        </p:nvSpPr>
        <p:spPr>
          <a:xfrm>
            <a:off x="10820400" y="64770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05 / 10</a:t>
            </a:r>
            <a:endParaRPr lang="en-US" sz="105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MACHINE-LEVEL PROGRAMMING II · CONTROL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588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if-else：先改写成 goto，再逐句翻译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c-label"/>
          <p:cNvSpPr txBox="1"/>
          <p:nvPr/>
        </p:nvSpPr>
        <p:spPr>
          <a:xfrm>
            <a:off x="812800" y="1422400"/>
            <a:ext cx="3251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 代码</a:t>
            </a:r>
            <a:endParaRPr lang="en-US" sz="1150" noProof="1"/>
          </a:p>
        </p:txBody>
      </p:sp>
      <p:sp>
        <p:nvSpPr>
          <p:cNvPr id="6" name="c-block"/>
          <p:cNvSpPr/>
          <p:nvPr/>
        </p:nvSpPr>
        <p:spPr>
          <a:xfrm>
            <a:off x="812800" y="1727200"/>
            <a:ext cx="3251200" cy="34036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7" name="c-code"/>
          <p:cNvSpPr txBox="1"/>
          <p:nvPr/>
        </p:nvSpPr>
        <p:spPr>
          <a:xfrm>
            <a:off x="1016000" y="1879600"/>
            <a:ext cx="2844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long absdiff(long x,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         long y)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{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if (x &gt; y)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return x - y;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else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return y - x;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}</a:t>
            </a:r>
            <a:endParaRPr lang="en-US" sz="1100" noProof="1"/>
          </a:p>
        </p:txBody>
      </p:sp>
      <p:sp>
        <p:nvSpPr>
          <p:cNvPr id="8" name="goto-label"/>
          <p:cNvSpPr txBox="1"/>
          <p:nvPr/>
        </p:nvSpPr>
        <p:spPr>
          <a:xfrm>
            <a:off x="4368800" y="1422400"/>
            <a:ext cx="3251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第一步：改写成 goto 版本</a:t>
            </a:r>
            <a:endParaRPr lang="en-US" sz="1150" noProof="1"/>
          </a:p>
        </p:txBody>
      </p:sp>
      <p:sp>
        <p:nvSpPr>
          <p:cNvPr id="9" name="goto-block"/>
          <p:cNvSpPr/>
          <p:nvPr/>
        </p:nvSpPr>
        <p:spPr>
          <a:xfrm>
            <a:off x="4368800" y="1727200"/>
            <a:ext cx="3251200" cy="34036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10" name="goto-code"/>
          <p:cNvSpPr txBox="1"/>
          <p:nvPr/>
        </p:nvSpPr>
        <p:spPr>
          <a:xfrm>
            <a:off x="4572000" y="1879600"/>
            <a:ext cx="2844800" cy="309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long absdiff_goto(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long x, long y)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{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long result;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if (!(x &gt; y))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</a:t>
            </a:r>
            <a:r>
              <a:rPr lang="en-US" sz="110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goto Else;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result = x - y;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</a:t>
            </a:r>
            <a:r>
              <a:rPr lang="en-US" sz="110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goto Done;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Else: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result = y - x;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Done: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return result;</a:t>
            </a:r>
            <a:endParaRPr lang="en-US" sz="1100" noProof="1"/>
          </a:p>
          <a:p>
            <a:pPr>
              <a:lnSpc>
                <a:spcPct val="145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}</a:t>
            </a:r>
            <a:endParaRPr lang="en-US" sz="1100" noProof="1"/>
          </a:p>
        </p:txBody>
      </p:sp>
      <p:sp>
        <p:nvSpPr>
          <p:cNvPr id="11" name="asm-label"/>
          <p:cNvSpPr txBox="1"/>
          <p:nvPr/>
        </p:nvSpPr>
        <p:spPr>
          <a:xfrm>
            <a:off x="7924800" y="1422400"/>
            <a:ext cx="34544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第二步：逐句对应成汇编</a:t>
            </a:r>
            <a:endParaRPr lang="en-US" sz="1150" noProof="1"/>
          </a:p>
        </p:txBody>
      </p:sp>
      <p:sp>
        <p:nvSpPr>
          <p:cNvPr id="12" name="asm-block"/>
          <p:cNvSpPr/>
          <p:nvPr/>
        </p:nvSpPr>
        <p:spPr>
          <a:xfrm>
            <a:off x="7924800" y="1727200"/>
            <a:ext cx="3454400" cy="34036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13" name="asm-code"/>
          <p:cNvSpPr txBox="1"/>
          <p:nvPr/>
        </p:nvSpPr>
        <p:spPr>
          <a:xfrm>
            <a:off x="8128000" y="1879600"/>
            <a:ext cx="3048000" cy="223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cmpq %rsi, %rdi </a:t>
            </a:r>
            <a:r>
              <a:rPr lang="en-US" sz="11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x:y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jle  .L4</a:t>
            </a: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</a:t>
            </a:r>
            <a:r>
              <a:rPr lang="en-US" sz="11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x≤y → Else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movq %rdi, %rax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subq %rsi, %rax </a:t>
            </a:r>
            <a:r>
              <a:rPr lang="en-US" sz="11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x−y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ret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.L4:</a:t>
            </a: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</a:t>
            </a:r>
            <a:r>
              <a:rPr lang="en-US" sz="11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Else: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movq %rsi, %rax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subq %rdi, %rax </a:t>
            </a:r>
            <a:r>
              <a:rPr lang="en-US" sz="11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y−x</a:t>
            </a:r>
            <a:endParaRPr lang="en-US" sz="1100" noProof="1"/>
          </a:p>
          <a:p>
            <a:pPr>
              <a:lnSpc>
                <a:spcPct val="160000"/>
              </a:lnSpc>
            </a:pPr>
            <a:r>
              <a:rPr lang="en-US" sz="110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ret </a:t>
            </a:r>
            <a:r>
              <a:rPr lang="en-US" sz="110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Done:</a:t>
            </a:r>
            <a:endParaRPr lang="en-US" sz="1100" noProof="1"/>
          </a:p>
        </p:txBody>
      </p:sp>
      <p:sp>
        <p:nvSpPr>
          <p:cNvPr id="14" name="bottom-rule"/>
          <p:cNvSpPr/>
          <p:nvPr/>
        </p:nvSpPr>
        <p:spPr>
          <a:xfrm>
            <a:off x="812800" y="5334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5" name="bottom-note"/>
          <p:cNvSpPr txBox="1"/>
          <p:nvPr/>
        </p:nvSpPr>
        <p:spPr>
          <a:xfrm>
            <a:off x="812800" y="5537200"/>
            <a:ext cx="10566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300" b="1" noProof="1">
                <a:solidFill>
                  <a:srgbClr val="B45309"/>
                </a:solidFill>
                <a:latin typeface="MiSans" charset="-122"/>
                <a:ea typeface="MiSans" charset="-122"/>
              </a:rPr>
              <a:t>翻译要点：</a:t>
            </a:r>
            <a:r>
              <a:rPr lang="en-US" sz="130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汇编里没有 if——只有 cmp / test 测条件，加 jX 跳标签。条件不满足就顺序执行下一条；条件满足就跳到对应标签。jX 的条件组合与上一页 setX 完全相同。</a:t>
            </a:r>
            <a:endParaRPr lang="en-US" sz="1300" noProof="1"/>
          </a:p>
        </p:txBody>
      </p:sp>
      <p:sp>
        <p:nvSpPr>
          <p:cNvPr id="16" name="footer-left"/>
          <p:cNvSpPr txBox="1"/>
          <p:nvPr/>
        </p:nvSpPr>
        <p:spPr>
          <a:xfrm>
            <a:off x="8128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CS:APP · 机器级编程 II：控制</a:t>
            </a:r>
            <a:endParaRPr lang="en-US" sz="10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820400" y="64770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06 / 10</a:t>
            </a:r>
            <a:endParaRPr lang="en-US" sz="105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MACHINE-LEVEL PROGRAMMING II · CONTROL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588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cmov：两条都算，用传送代替跳转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cmov-label"/>
          <p:cNvSpPr txBox="1"/>
          <p:nvPr/>
        </p:nvSpPr>
        <p:spPr>
          <a:xfrm>
            <a:off x="812800" y="1422400"/>
            <a:ext cx="5461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同一个 absdiff，无分支版本</a:t>
            </a:r>
            <a:endParaRPr lang="en-US" sz="1150" noProof="1"/>
          </a:p>
        </p:txBody>
      </p:sp>
      <p:sp>
        <p:nvSpPr>
          <p:cNvPr id="6" name="cmov-block"/>
          <p:cNvSpPr/>
          <p:nvPr/>
        </p:nvSpPr>
        <p:spPr>
          <a:xfrm>
            <a:off x="812800" y="1727200"/>
            <a:ext cx="5461000" cy="21336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7" name="cmov-code"/>
          <p:cNvSpPr txBox="1"/>
          <p:nvPr/>
        </p:nvSpPr>
        <p:spPr>
          <a:xfrm>
            <a:off x="1041400" y="1879600"/>
            <a:ext cx="5003800" cy="182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movq %rdi, %rax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rax = x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subq %rsi, %rax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rax = x−y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movq %rsi, %rdx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subq %rdi, %rdx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rdx = y−x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cmpq %rsi, %rdi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x:y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cmovle %rdx, %rax</a:t>
            </a: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x≤y 才传送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ret</a:t>
            </a:r>
            <a:endParaRPr lang="en-US" sz="1150" noProof="1"/>
          </a:p>
        </p:txBody>
      </p:sp>
      <p:sp>
        <p:nvSpPr>
          <p:cNvPr id="8" name="cmov-note"/>
          <p:cNvSpPr txBox="1"/>
          <p:nvPr/>
        </p:nvSpPr>
        <p:spPr>
          <a:xfrm>
            <a:off x="812800" y="4064000"/>
            <a:ext cx="5461000" cy="762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两个结果都先算出来，最后按条件码挑一个——控制流问题被改写成了数据流问题。</a:t>
            </a:r>
            <a:endParaRPr lang="en-US" sz="1150" noProof="1"/>
          </a:p>
        </p:txBody>
      </p:sp>
      <p:sp>
        <p:nvSpPr>
          <p:cNvPr id="9" name="why-head"/>
          <p:cNvSpPr txBox="1"/>
          <p:nvPr/>
        </p:nvSpPr>
        <p:spPr>
          <a:xfrm>
            <a:off x="6908800" y="14224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为什么常常更快</a:t>
            </a:r>
            <a:endParaRPr lang="en-US" sz="1400" noProof="1"/>
          </a:p>
        </p:txBody>
      </p:sp>
      <p:sp>
        <p:nvSpPr>
          <p:cNvPr id="10" name="why-body"/>
          <p:cNvSpPr txBox="1"/>
          <p:nvPr/>
        </p:nvSpPr>
        <p:spPr>
          <a:xfrm>
            <a:off x="6908800" y="1778000"/>
            <a:ext cx="4470400" cy="152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5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现代 CPU 按流水线执行。条件跳转一旦预测错误，已经取指、译码的指令全部作废，流水线清空重来；cmov 没有跳转，流水线不断流。</a:t>
            </a:r>
            <a:endParaRPr lang="en-US" sz="1250" noProof="1"/>
          </a:p>
        </p:txBody>
      </p:sp>
      <p:sp>
        <p:nvSpPr>
          <p:cNvPr id="11" name="why-rule"/>
          <p:cNvSpPr/>
          <p:nvPr/>
        </p:nvSpPr>
        <p:spPr>
          <a:xfrm>
            <a:off x="6908800" y="3454400"/>
            <a:ext cx="4470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2" name="cost-head"/>
          <p:cNvSpPr txBox="1"/>
          <p:nvPr/>
        </p:nvSpPr>
        <p:spPr>
          <a:xfrm>
            <a:off x="6908800" y="3683000"/>
            <a:ext cx="44704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代价与限制</a:t>
            </a:r>
            <a:endParaRPr lang="en-US" sz="1400" noProof="1"/>
          </a:p>
        </p:txBody>
      </p:sp>
      <p:sp>
        <p:nvSpPr>
          <p:cNvPr id="13" name="cost-body"/>
          <p:cNvSpPr txBox="1"/>
          <p:nvPr/>
        </p:nvSpPr>
        <p:spPr>
          <a:xfrm>
            <a:off x="6908800" y="4038600"/>
            <a:ext cx="4470400" cy="1905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· 两条路径都要算，计算量翻倍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· 有副作用（写内存）或可能出错（解引用空指针）的分支不能用</a:t>
            </a:r>
            <a:endParaRPr lang="en-US" sz="1250" noProof="1"/>
          </a:p>
          <a:p>
            <a:pPr>
              <a:lnSpc>
                <a:spcPct val="17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· 两边代价悬殊时，编译器会退回条件跳转</a:t>
            </a:r>
            <a:endParaRPr lang="en-US" sz="1250" noProof="1"/>
          </a:p>
        </p:txBody>
      </p:sp>
      <p:sp>
        <p:nvSpPr>
          <p:cNvPr id="14" name="footer-left"/>
          <p:cNvSpPr txBox="1"/>
          <p:nvPr/>
        </p:nvSpPr>
        <p:spPr>
          <a:xfrm>
            <a:off x="8128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CS:APP · 机器级编程 II：控制</a:t>
            </a:r>
            <a:endParaRPr lang="en-US" sz="1000" noProof="1"/>
          </a:p>
        </p:txBody>
      </p:sp>
      <p:sp>
        <p:nvSpPr>
          <p:cNvPr id="15" name="footer-page"/>
          <p:cNvSpPr txBox="1"/>
          <p:nvPr/>
        </p:nvSpPr>
        <p:spPr>
          <a:xfrm>
            <a:off x="10820400" y="64770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07 / 10</a:t>
            </a:r>
            <a:endParaRPr lang="en-US" sz="105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MACHINE-LEVEL PROGRAMMING II · CONTROL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588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循环：汇编里只有 do-while 的形状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c-label"/>
          <p:cNvSpPr txBox="1"/>
          <p:nvPr/>
        </p:nvSpPr>
        <p:spPr>
          <a:xfrm>
            <a:off x="812800" y="1422400"/>
            <a:ext cx="5207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C：统计 x 中 1 的个数（popcount）</a:t>
            </a:r>
            <a:endParaRPr lang="en-US" sz="1150" noProof="1"/>
          </a:p>
        </p:txBody>
      </p:sp>
      <p:sp>
        <p:nvSpPr>
          <p:cNvPr id="6" name="c-block"/>
          <p:cNvSpPr/>
          <p:nvPr/>
        </p:nvSpPr>
        <p:spPr>
          <a:xfrm>
            <a:off x="812800" y="1727200"/>
            <a:ext cx="5207000" cy="24130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7" name="c-code"/>
          <p:cNvSpPr txBox="1"/>
          <p:nvPr/>
        </p:nvSpPr>
        <p:spPr>
          <a:xfrm>
            <a:off x="1041400" y="1879600"/>
            <a:ext cx="4749800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long pcount(unsigned long x)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{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long result = 0;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do {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result += x &amp; 0x1;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x &gt;&gt;= 1;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} while (x);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return result;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}</a:t>
            </a:r>
            <a:endParaRPr lang="en-US" sz="1150" noProof="1"/>
          </a:p>
        </p:txBody>
      </p:sp>
      <p:sp>
        <p:nvSpPr>
          <p:cNvPr id="8" name="asm-label"/>
          <p:cNvSpPr txBox="1"/>
          <p:nvPr/>
        </p:nvSpPr>
        <p:spPr>
          <a:xfrm>
            <a:off x="6477000" y="1422400"/>
            <a:ext cx="49022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汇编：先执行、末尾用条件跳回</a:t>
            </a:r>
            <a:endParaRPr lang="en-US" sz="1150" noProof="1"/>
          </a:p>
        </p:txBody>
      </p:sp>
      <p:sp>
        <p:nvSpPr>
          <p:cNvPr id="9" name="asm-block"/>
          <p:cNvSpPr/>
          <p:nvPr/>
        </p:nvSpPr>
        <p:spPr>
          <a:xfrm>
            <a:off x="6477000" y="1727200"/>
            <a:ext cx="4902200" cy="24130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10" name="asm-code"/>
          <p:cNvSpPr txBox="1"/>
          <p:nvPr/>
        </p:nvSpPr>
        <p:spPr>
          <a:xfrm>
            <a:off x="6705600" y="1879600"/>
            <a:ext cx="4445000" cy="2108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movl $0, %eax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result = 0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.L2:</a:t>
            </a: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     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loop: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movq %rdi, %rdx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andl $1, %edx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t = x 与 1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addq %rdx, %rax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result += t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shrq %rdi    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 &gt;&gt;= 1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jne  .L2</a:t>
            </a: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 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x≠0 → 回跳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ret</a:t>
            </a:r>
            <a:endParaRPr lang="en-US" sz="1150" noProof="1"/>
          </a:p>
        </p:txBody>
      </p:sp>
      <p:sp>
        <p:nvSpPr>
          <p:cNvPr id="11" name="loop-note"/>
          <p:cNvSpPr txBox="1"/>
          <p:nvPr/>
        </p:nvSpPr>
        <p:spPr>
          <a:xfrm>
            <a:off x="6477000" y="4292600"/>
            <a:ext cx="49022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进入循环体之前不判断——先执行一轮，末尾用 jne 回跳，这正是 do-while 的结构。</a:t>
            </a:r>
            <a:endParaRPr lang="en-US" sz="1150" noProof="1"/>
          </a:p>
        </p:txBody>
      </p:sp>
      <p:sp>
        <p:nvSpPr>
          <p:cNvPr id="12" name="bottom-rule"/>
          <p:cNvSpPr/>
          <p:nvPr/>
        </p:nvSpPr>
        <p:spPr>
          <a:xfrm>
            <a:off x="812800" y="50292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3" name="norm-head"/>
          <p:cNvSpPr txBox="1"/>
          <p:nvPr/>
        </p:nvSpPr>
        <p:spPr>
          <a:xfrm>
            <a:off x="812800" y="5232400"/>
            <a:ext cx="10566400" cy="254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3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while / for 先归一化成 do-while</a:t>
            </a:r>
            <a:endParaRPr lang="en-US" sz="1300" noProof="1"/>
          </a:p>
        </p:txBody>
      </p:sp>
      <p:sp>
        <p:nvSpPr>
          <p:cNvPr id="14" name="norm-body"/>
          <p:cNvSpPr txBox="1"/>
          <p:nvPr/>
        </p:nvSpPr>
        <p:spPr>
          <a:xfrm>
            <a:off x="812800" y="5562600"/>
            <a:ext cx="10566400" cy="711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1E1C18"/>
                </a:solidFill>
                <a:latin typeface="JetBrains Mono" panose="02000009000000000000"/>
                <a:ea typeface="MiSans" charset="-122"/>
              </a:rPr>
              <a:t>for (init; test; update) body</a:t>
            </a:r>
            <a:endParaRPr lang="en-US" sz="1150" noProof="1"/>
          </a:p>
          <a:p>
            <a:pPr>
              <a:lnSpc>
                <a:spcPct val="170000"/>
              </a:lnSpc>
            </a:pPr>
            <a:r>
              <a:rPr lang="en-US" sz="1150" noProof="1">
                <a:solidFill>
                  <a:srgbClr val="1E1C18"/>
                </a:solidFill>
                <a:latin typeface="JetBrains Mono" panose="02000009000000000000"/>
                <a:ea typeface="MiSans" charset="-122"/>
              </a:rPr>
              <a:t>→ init;  if (!test) goto done;  loop: body; update;  if (test) goto loop;  done:</a:t>
            </a:r>
            <a:endParaRPr lang="en-US" sz="1150" noProof="1"/>
          </a:p>
        </p:txBody>
      </p:sp>
      <p:sp>
        <p:nvSpPr>
          <p:cNvPr id="15" name="footer-left"/>
          <p:cNvSpPr txBox="1"/>
          <p:nvPr/>
        </p:nvSpPr>
        <p:spPr>
          <a:xfrm>
            <a:off x="8128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CS:APP · 机器级编程 II：控制</a:t>
            </a:r>
            <a:endParaRPr lang="en-US" sz="1000" noProof="1"/>
          </a:p>
        </p:txBody>
      </p:sp>
      <p:sp>
        <p:nvSpPr>
          <p:cNvPr id="16" name="footer-page"/>
          <p:cNvSpPr txBox="1"/>
          <p:nvPr/>
        </p:nvSpPr>
        <p:spPr>
          <a:xfrm>
            <a:off x="10820400" y="64770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08 / 10</a:t>
            </a:r>
            <a:endParaRPr lang="en-US" sz="105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MACHINE-LEVEL PROGRAMMING II · CONTROL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588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switch：跳转表加一次间接跳转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c-label"/>
          <p:cNvSpPr txBox="1"/>
          <p:nvPr/>
        </p:nvSpPr>
        <p:spPr>
          <a:xfrm>
            <a:off x="812800" y="1422400"/>
            <a:ext cx="4445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 代码（case 取值 0–6，连续密集）</a:t>
            </a:r>
            <a:endParaRPr lang="en-US" sz="1150" noProof="1"/>
          </a:p>
        </p:txBody>
      </p:sp>
      <p:sp>
        <p:nvSpPr>
          <p:cNvPr id="6" name="c-block"/>
          <p:cNvSpPr/>
          <p:nvPr/>
        </p:nvSpPr>
        <p:spPr>
          <a:xfrm>
            <a:off x="812800" y="1727200"/>
            <a:ext cx="4445000" cy="21590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7" name="c-code"/>
          <p:cNvSpPr txBox="1"/>
          <p:nvPr/>
        </p:nvSpPr>
        <p:spPr>
          <a:xfrm>
            <a:off x="1041400" y="1879600"/>
            <a:ext cx="3987800" cy="1854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switch (x) {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case 1:  /* … */ break;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case 2:  /* … */ break;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/* case 3 … case 6 */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default: /* … */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}</a:t>
            </a:r>
            <a:endParaRPr lang="en-US" sz="1150" noProof="1"/>
          </a:p>
        </p:txBody>
      </p:sp>
      <p:sp>
        <p:nvSpPr>
          <p:cNvPr id="8" name="c-note"/>
          <p:cNvSpPr txBox="1"/>
          <p:nvPr/>
        </p:nvSpPr>
        <p:spPr>
          <a:xfrm>
            <a:off x="812800" y="4089400"/>
            <a:ext cx="4445000" cy="812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case 值密集时，一串 if-else 比较要判断 O(n) 次；跳转表只需一次查表。</a:t>
            </a:r>
            <a:endParaRPr lang="en-US" sz="1150" noProof="1"/>
          </a:p>
        </p:txBody>
      </p:sp>
      <p:sp>
        <p:nvSpPr>
          <p:cNvPr id="9" name="asm-label"/>
          <p:cNvSpPr txBox="1"/>
          <p:nvPr/>
        </p:nvSpPr>
        <p:spPr>
          <a:xfrm>
            <a:off x="5791200" y="14224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汇编：边界检查 + 间接跳转</a:t>
            </a:r>
            <a:endParaRPr lang="en-US" sz="1150" noProof="1"/>
          </a:p>
        </p:txBody>
      </p:sp>
      <p:sp>
        <p:nvSpPr>
          <p:cNvPr id="10" name="asm-block"/>
          <p:cNvSpPr/>
          <p:nvPr/>
        </p:nvSpPr>
        <p:spPr>
          <a:xfrm>
            <a:off x="5791200" y="1727200"/>
            <a:ext cx="5588000" cy="12700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11" name="asm-code"/>
          <p:cNvSpPr txBox="1"/>
          <p:nvPr/>
        </p:nvSpPr>
        <p:spPr>
          <a:xfrm>
            <a:off x="6019800" y="1879600"/>
            <a:ext cx="5130800" cy="965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cmpq $6, %rdi    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 : 6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ja   .L8         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越界 → default</a:t>
            </a:r>
            <a:endParaRPr lang="en-US" sz="1150" noProof="1"/>
          </a:p>
          <a:p>
            <a:pPr>
              <a:lnSpc>
                <a:spcPct val="160000"/>
              </a:lnSpc>
            </a:pPr>
            <a:r>
              <a:rPr lang="en-US" sz="115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jmp  *.L4(,%rdi,8)</a:t>
            </a: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goto JTab[x]</a:t>
            </a:r>
            <a:endParaRPr lang="en-US" sz="1150" noProof="1"/>
          </a:p>
        </p:txBody>
      </p:sp>
      <p:sp>
        <p:nvSpPr>
          <p:cNvPr id="12" name="tab-label"/>
          <p:cNvSpPr txBox="1"/>
          <p:nvPr/>
        </p:nvSpPr>
        <p:spPr>
          <a:xfrm>
            <a:off x="5791200" y="3200400"/>
            <a:ext cx="5588000" cy="2286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跳转表（存放在只读数据段）</a:t>
            </a:r>
            <a:endParaRPr lang="en-US" sz="1150" noProof="1"/>
          </a:p>
        </p:txBody>
      </p:sp>
      <p:sp>
        <p:nvSpPr>
          <p:cNvPr id="13" name="tab-block"/>
          <p:cNvSpPr/>
          <p:nvPr/>
        </p:nvSpPr>
        <p:spPr>
          <a:xfrm>
            <a:off x="5791200" y="3505200"/>
            <a:ext cx="5588000" cy="1905000"/>
          </a:xfrm>
          <a:prstGeom prst="rect">
            <a:avLst/>
          </a:prstGeom>
          <a:solidFill>
            <a:srgbClr val="211F1B"/>
          </a:solidFill>
          <a:ln>
            <a:noFill/>
          </a:ln>
        </p:spPr>
      </p:sp>
      <p:sp>
        <p:nvSpPr>
          <p:cNvPr id="14" name="tab-code"/>
          <p:cNvSpPr txBox="1"/>
          <p:nvPr/>
        </p:nvSpPr>
        <p:spPr>
          <a:xfrm>
            <a:off x="6019800" y="3632200"/>
            <a:ext cx="5130800" cy="1676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.section .rodata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E3B06E"/>
                </a:solidFill>
                <a:latin typeface="JetBrains Mono" panose="02000009000000000000"/>
                <a:ea typeface="MiSans" charset="-122"/>
              </a:rPr>
              <a:t>.L4:</a:t>
            </a: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        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跳转表 JTab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.quad .L8   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x=0 → default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.quad .L3   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x=1 → case 1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.quad .L5     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x=2 → case 2</a:t>
            </a:r>
            <a:endParaRPr lang="en-US" sz="115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EDE8DC"/>
                </a:solidFill>
                <a:latin typeface="JetBrains Mono" panose="02000009000000000000"/>
                <a:ea typeface="MiSans" charset="-122"/>
              </a:rPr>
              <a:t>  </a:t>
            </a:r>
            <a:r>
              <a:rPr lang="en-US" sz="1150" noProof="1">
                <a:solidFill>
                  <a:srgbClr val="8C8578"/>
                </a:solidFill>
                <a:latin typeface="JetBrains Mono" panose="02000009000000000000"/>
                <a:ea typeface="MiSans" charset="-122"/>
              </a:rPr>
              <a:t># … x=3 … 6 依此类推</a:t>
            </a:r>
            <a:endParaRPr lang="en-US" sz="1150" noProof="1"/>
          </a:p>
        </p:txBody>
      </p:sp>
      <p:sp>
        <p:nvSpPr>
          <p:cNvPr id="15" name="bottom-rule"/>
          <p:cNvSpPr/>
          <p:nvPr/>
        </p:nvSpPr>
        <p:spPr>
          <a:xfrm>
            <a:off x="812800" y="5588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6" name="bottom-note"/>
          <p:cNvSpPr txBox="1"/>
          <p:nvPr/>
        </p:nvSpPr>
        <p:spPr>
          <a:xfrm>
            <a:off x="812800" y="57658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b="1" noProof="1">
                <a:solidFill>
                  <a:srgbClr val="B45309"/>
                </a:solidFill>
                <a:latin typeface="MiSans" charset="-122"/>
                <a:ea typeface="MiSans" charset="-122"/>
              </a:rPr>
              <a:t>要点：</a:t>
            </a: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表项是代码地址，jmp * 按索引取址直飞，开销与 case 个数无关；case 稀疏时编译器退回成一串比较。</a:t>
            </a:r>
            <a:endParaRPr lang="en-US" sz="1250" noProof="1"/>
          </a:p>
        </p:txBody>
      </p:sp>
      <p:sp>
        <p:nvSpPr>
          <p:cNvPr id="17" name="footer-left"/>
          <p:cNvSpPr txBox="1"/>
          <p:nvPr/>
        </p:nvSpPr>
        <p:spPr>
          <a:xfrm>
            <a:off x="812800" y="6477000"/>
            <a:ext cx="635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CS:APP · 机器级编程 II：控制</a:t>
            </a:r>
            <a:endParaRPr lang="en-US" sz="1000" noProof="1"/>
          </a:p>
        </p:txBody>
      </p:sp>
      <p:sp>
        <p:nvSpPr>
          <p:cNvPr id="18" name="footer-page"/>
          <p:cNvSpPr txBox="1"/>
          <p:nvPr/>
        </p:nvSpPr>
        <p:spPr>
          <a:xfrm>
            <a:off x="10820400" y="64770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09 / 10</a:t>
            </a:r>
            <a:endParaRPr lang="en-US" sz="105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330200"/>
            <a:ext cx="7874000" cy="203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50" kern="0" spc="220" noProof="1">
                <a:solidFill>
                  <a:srgbClr val="17513B"/>
                </a:solidFill>
                <a:latin typeface="MiSans" charset="-122"/>
                <a:ea typeface="MiSans" charset="-122"/>
              </a:rPr>
              <a:t>MACHINE-LEVEL PROGRAMMING II · CONTROL</a:t>
            </a:r>
            <a:endParaRPr lang="en-US" sz="105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558800"/>
            <a:ext cx="10566400" cy="431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2400" b="1" noProof="1">
                <a:solidFill>
                  <a:srgbClr val="1E1C18"/>
                </a:solidFill>
                <a:latin typeface="MiSans" charset="-122"/>
                <a:ea typeface="MiSans" charset="-122"/>
              </a:rPr>
              <a:t>小结：设标志 → 读标志 → 改流向</a:t>
            </a:r>
            <a:endParaRPr lang="en-US" sz="2400" noProof="1"/>
          </a:p>
        </p:txBody>
      </p:sp>
      <p:sp>
        <p:nvSpPr>
          <p:cNvPr id="4" name="rule"/>
          <p:cNvSpPr/>
          <p:nvPr/>
        </p:nvSpPr>
        <p:spPr>
          <a:xfrm>
            <a:off x="812800" y="11430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5" name="s1-head"/>
          <p:cNvSpPr txBox="1"/>
          <p:nvPr/>
        </p:nvSpPr>
        <p:spPr>
          <a:xfrm>
            <a:off x="812800" y="15748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513B"/>
                </a:solidFill>
                <a:latin typeface="JetBrains Mono" panose="02000009000000000000"/>
                <a:ea typeface="JetBrains Mono" panose="02000009000000000000"/>
              </a:rPr>
              <a:t>1</a:t>
            </a:r>
            <a:r>
              <a:rPr lang="en-US" sz="15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 · 设标志</a:t>
            </a:r>
            <a:endParaRPr lang="en-US" sz="1500" noProof="1"/>
          </a:p>
        </p:txBody>
      </p:sp>
      <p:sp>
        <p:nvSpPr>
          <p:cNvPr id="6" name="s1-body"/>
          <p:cNvSpPr txBox="1"/>
          <p:nvPr/>
        </p:nvSpPr>
        <p:spPr>
          <a:xfrm>
            <a:off x="3429000" y="1574800"/>
            <a:ext cx="7950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算术逻辑指令顺带设置条件码；cmp / test 专门设置，不写回结果。</a:t>
            </a:r>
            <a:endParaRPr lang="en-US" sz="1250" noProof="1"/>
          </a:p>
        </p:txBody>
      </p:sp>
      <p:sp>
        <p:nvSpPr>
          <p:cNvPr id="7" name="s1-rule"/>
          <p:cNvSpPr/>
          <p:nvPr/>
        </p:nvSpPr>
        <p:spPr>
          <a:xfrm>
            <a:off x="812800" y="23368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8" name="s2-head"/>
          <p:cNvSpPr txBox="1"/>
          <p:nvPr/>
        </p:nvSpPr>
        <p:spPr>
          <a:xfrm>
            <a:off x="812800" y="25908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513B"/>
                </a:solidFill>
                <a:latin typeface="JetBrains Mono" panose="02000009000000000000"/>
                <a:ea typeface="JetBrains Mono" panose="02000009000000000000"/>
              </a:rPr>
              <a:t>2</a:t>
            </a:r>
            <a:r>
              <a:rPr lang="en-US" sz="15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 · 读标志</a:t>
            </a:r>
            <a:endParaRPr lang="en-US" sz="1500" noProof="1"/>
          </a:p>
        </p:txBody>
      </p:sp>
      <p:sp>
        <p:nvSpPr>
          <p:cNvPr id="9" name="s2-body"/>
          <p:cNvSpPr txBox="1"/>
          <p:nvPr/>
        </p:nvSpPr>
        <p:spPr>
          <a:xfrm>
            <a:off x="3429000" y="2590800"/>
            <a:ext cx="7950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jX 按条件改 PC；setX 按条件写字节；cmovX 按条件选数据。三者共用同一套条件码组合。</a:t>
            </a:r>
            <a:endParaRPr lang="en-US" sz="1250" noProof="1"/>
          </a:p>
        </p:txBody>
      </p:sp>
      <p:sp>
        <p:nvSpPr>
          <p:cNvPr id="10" name="s2-rule"/>
          <p:cNvSpPr/>
          <p:nvPr/>
        </p:nvSpPr>
        <p:spPr>
          <a:xfrm>
            <a:off x="812800" y="33528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1" name="s3-head"/>
          <p:cNvSpPr txBox="1"/>
          <p:nvPr/>
        </p:nvSpPr>
        <p:spPr>
          <a:xfrm>
            <a:off x="812800" y="3606800"/>
            <a:ext cx="241300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500" b="1" noProof="1">
                <a:solidFill>
                  <a:srgbClr val="17513B"/>
                </a:solidFill>
                <a:latin typeface="JetBrains Mono" panose="02000009000000000000"/>
                <a:ea typeface="JetBrains Mono" panose="02000009000000000000"/>
              </a:rPr>
              <a:t>3</a:t>
            </a:r>
            <a:r>
              <a:rPr lang="en-US" sz="15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 · 改结构</a:t>
            </a:r>
            <a:endParaRPr lang="en-US" sz="1500" noProof="1"/>
          </a:p>
        </p:txBody>
      </p:sp>
      <p:sp>
        <p:nvSpPr>
          <p:cNvPr id="12" name="s3-body"/>
          <p:cNvSpPr txBox="1"/>
          <p:nvPr/>
        </p:nvSpPr>
        <p:spPr>
          <a:xfrm>
            <a:off x="3429000" y="3606800"/>
            <a:ext cx="7950200" cy="558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6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if-else → 条件跳转或 cmov；while / for → do-while 形状；switch → 跳转表加间接跳转。</a:t>
            </a:r>
            <a:endParaRPr lang="en-US" sz="1250" noProof="1"/>
          </a:p>
        </p:txBody>
      </p:sp>
      <p:sp>
        <p:nvSpPr>
          <p:cNvPr id="13" name="s3-rule"/>
          <p:cNvSpPr/>
          <p:nvPr/>
        </p:nvSpPr>
        <p:spPr>
          <a:xfrm>
            <a:off x="812800" y="4368800"/>
            <a:ext cx="10566400" cy="12700"/>
          </a:xfrm>
          <a:prstGeom prst="rect">
            <a:avLst/>
          </a:prstGeom>
          <a:solidFill>
            <a:srgbClr val="D9D3C6"/>
          </a:solidFill>
          <a:ln>
            <a:noFill/>
          </a:ln>
        </p:spPr>
      </p:sp>
      <p:sp>
        <p:nvSpPr>
          <p:cNvPr id="14" name="tips-head"/>
          <p:cNvSpPr txBox="1"/>
          <p:nvPr/>
        </p:nvSpPr>
        <p:spPr>
          <a:xfrm>
            <a:off x="812800" y="4648200"/>
            <a:ext cx="3810000" cy="279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400" b="1" noProof="1">
                <a:solidFill>
                  <a:srgbClr val="17513B"/>
                </a:solidFill>
                <a:latin typeface="MiSans" charset="-122"/>
                <a:ea typeface="MiSans" charset="-122"/>
              </a:rPr>
              <a:t>选用经验</a:t>
            </a:r>
            <a:endParaRPr lang="en-US" sz="1400" noProof="1"/>
          </a:p>
        </p:txBody>
      </p:sp>
      <p:sp>
        <p:nvSpPr>
          <p:cNvPr id="15" name="tips-body"/>
          <p:cNvSpPr txBox="1"/>
          <p:nvPr/>
        </p:nvSpPr>
        <p:spPr>
          <a:xfrm>
            <a:off x="812800" y="5003800"/>
            <a:ext cx="10566400" cy="1143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/>
          <a:lstStyle/>
          <a:p>
            <a:pPr>
              <a:lnSpc>
                <a:spcPct val="18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· 两条路径都便宜、无副作用 → 编译器倾向 cmov；否则保留条件跳转</a:t>
            </a:r>
            <a:endParaRPr lang="en-US" sz="1250" noProof="1"/>
          </a:p>
          <a:p>
            <a:pPr>
              <a:lnSpc>
                <a:spcPct val="18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· case 密集 → 跳转表；case 稀疏 → 一串比较</a:t>
            </a:r>
            <a:endParaRPr lang="en-US" sz="1250" noProof="1"/>
          </a:p>
          <a:p>
            <a:pPr>
              <a:lnSpc>
                <a:spcPct val="180000"/>
              </a:lnSpc>
            </a:pPr>
            <a:r>
              <a:rPr lang="en-US" sz="1250" noProof="1">
                <a:solidFill>
                  <a:srgbClr val="1E1C18"/>
                </a:solidFill>
                <a:latin typeface="MiSans" charset="-122"/>
                <a:ea typeface="MiSans" charset="-122"/>
              </a:rPr>
              <a:t>· 读汇编先找 cmp / test，再看紧跟其后的 jX / setX / cmovX</a:t>
            </a:r>
            <a:endParaRPr lang="en-US" sz="1250" noProof="1"/>
          </a:p>
        </p:txBody>
      </p:sp>
      <p:sp>
        <p:nvSpPr>
          <p:cNvPr id="16" name="src"/>
          <p:cNvSpPr txBox="1"/>
          <p:nvPr/>
        </p:nvSpPr>
        <p:spPr>
          <a:xfrm>
            <a:off x="812800" y="6172200"/>
            <a:ext cx="88900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5E"/>
                </a:solidFill>
                <a:latin typeface="MiSans" charset="-122"/>
                <a:ea typeface="MiSans" charset="-122"/>
              </a:rPr>
              <a:t>内容依据：Bryant &amp; O'Hallaron《深入理解计算机系统（原书第 3 版）》§3.6 控制</a:t>
            </a:r>
            <a:endParaRPr lang="en-US" sz="1000" noProof="1"/>
          </a:p>
        </p:txBody>
      </p:sp>
      <p:sp>
        <p:nvSpPr>
          <p:cNvPr id="17" name="footer-page"/>
          <p:cNvSpPr txBox="1"/>
          <p:nvPr/>
        </p:nvSpPr>
        <p:spPr>
          <a:xfrm>
            <a:off x="10820400" y="6477000"/>
            <a:ext cx="55880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/>
          <a:lstStyle/>
          <a:p>
            <a:pPr algn="r">
              <a:lnSpc>
                <a:spcPct val="120000"/>
              </a:lnSpc>
            </a:pPr>
            <a:r>
              <a:rPr lang="en-US" sz="1050" noProof="1">
                <a:solidFill>
                  <a:srgbClr val="6E6A5E"/>
                </a:solidFill>
                <a:latin typeface="JetBrains Mono" panose="02000009000000000000"/>
                <a:ea typeface="MiSans" charset="-122"/>
              </a:rPr>
              <a:t>10 / 10</a:t>
            </a:r>
            <a:endParaRPr lang="en-US" sz="105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4605</Words>
  <Application>WPS 演示</Application>
  <PresentationFormat/>
  <Paragraphs>439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MiSans</vt:lpstr>
      <vt:lpstr>JetBrains Mono</vt:lpstr>
      <vt:lpstr>Times New Roman</vt:lpstr>
      <vt:lpstr>微软雅黑</vt:lpstr>
      <vt:lpstr>Arial Unicode MS</vt:lpstr>
      <vt:lpstr>Calibri</vt:lpstr>
      <vt:lpstr>PPTD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Machine-Level Programming II: Control</dc:title>
  <dc:creator/>
  <cp:lastModifiedBy>我又双叒改名了</cp:lastModifiedBy>
  <cp:revision>1</cp:revision>
  <dcterms:created xsi:type="dcterms:W3CDTF">2026-09-23T12:34:50Z</dcterms:created>
  <dcterms:modified xsi:type="dcterms:W3CDTF">2026-09-23T12:34:50Z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/>
  </property>
  <property fmtid="{D5CDD505-2E9C-101B-9397-08002B2CF9AE}" pid="3" name="KSOProductBuildVer">
    <vt:lpwstr>2052-12.1.0.28505</vt:lpwstr>
  </property>
  <property fmtid="{D5CDD505-2E9C-101B-9397-08002B2CF9AE}" pid="4" name="ICV">
    <vt:lpwstr>1BE06B2C827E4419ABE3072C90E73F43_12</vt:lpwstr>
  </property>
</Properties>
</file>