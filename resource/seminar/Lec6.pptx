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70" r:id="rId4"/>
    <p:sldId id="265" r:id="rId5"/>
    <p:sldId id="258" r:id="rId6"/>
    <p:sldId id="263" r:id="rId7"/>
    <p:sldId id="260" r:id="rId8"/>
    <p:sldId id="268" r:id="rId9"/>
    <p:sldId id="257" r:id="rId11"/>
    <p:sldId id="266" r:id="rId12"/>
    <p:sldId id="269" r:id="rId13"/>
    <p:sldId id="259" r:id="rId14"/>
    <p:sldId id="264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8575" y="493395"/>
            <a:ext cx="9594850" cy="2387600"/>
          </a:xfrm>
        </p:spPr>
        <p:txBody>
          <a:bodyPr/>
          <a:p>
            <a:r>
              <a:rPr lang="en-US" altLang="zh-CN" sz="5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Lec6 </a:t>
            </a:r>
            <a:r>
              <a:rPr lang="zh-CN" altLang="en-US" sz="5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回顾: 过程 (</a:t>
            </a:r>
            <a:r>
              <a:rPr lang="en-US" altLang="zh-CN" sz="5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Procedures)</a:t>
            </a:r>
            <a:endParaRPr lang="zh-CN" altLang="en-US" sz="5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信息科学技术学院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张睿超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过程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过程中的机制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转移控制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转移至过程的开头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返回点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参数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返回值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内存管理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在过程执行时分配内存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返回时释放</a:t>
            </a:r>
            <a:endParaRPr lang="zh-CN" altLang="en-US" sz="2000"/>
          </a:p>
          <a:p>
            <a:pPr marL="0" indent="45720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实现办法：栈</a:t>
            </a:r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栈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先进后出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地址由高向低增长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栈指针指向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栈顶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755" y="650240"/>
            <a:ext cx="4385310" cy="5081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285" y="3918585"/>
            <a:ext cx="1982470" cy="6648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755" y="1554480"/>
            <a:ext cx="151765" cy="2545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1967230"/>
            <a:ext cx="1029335" cy="6642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320" y="3127375"/>
            <a:ext cx="70167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栈操作：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Popq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Pushq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pushq val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（入栈）：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1.%rsp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减少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2.%rsp &lt;- val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45720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popq dest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（出栈）：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1.dest &lt;- %rsp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2.%rsp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增加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注：原来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%rsp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的值不必清空，但会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无效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转移控制：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call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call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：直接将程序计数器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%rip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指向被调用者的指令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地址（？）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：？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不同的调用者都可能调用同一个被调用者，被调用者不知道应该返回哪里！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call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从栈顶弹出一个地址（来自对应的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call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执行时的存入）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将程序计数器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%rip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指向弹出的地址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将下一条指令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地址（返回位置）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存入栈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将程序计数器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%rip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指向被调用者的指令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地址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数据传送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传送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前六个参数用寄存器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传递：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%rdi %rsi %rdx %rcx %r8 %r9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第七个及以后的参数通过栈传送，编号小的参数靠近栈顶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返回值传送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直接放进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%rax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即可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栈上的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局部存储：栈帧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87995" y="853440"/>
            <a:ext cx="3349625" cy="5422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530" y="3529330"/>
            <a:ext cx="3073400" cy="74231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保存一次函数调用的所有信息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七个及以后的参数（属于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的返回地址（属于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的帧指针（属于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，可选择是否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需要保存的寄存器（属于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的局部变量（属于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放不下，取地址等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下一个过程的参数（属于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帧指针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%rbp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指向帧底，方便查找帧中的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内容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可选择不使用，此时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%rbp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可以作为一个普通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寄存器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71165"/>
            <a:ext cx="5772785" cy="21812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791210"/>
            <a:ext cx="3449320" cy="4941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Caller-Saved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Callee-Saved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8473440" cy="4351655"/>
          </a:xfrm>
        </p:spPr>
        <p:txBody>
          <a:bodyPr/>
          <a:p>
            <a:pPr fontAlgn="auto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我们需要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Register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来提高效率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auto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参数寄存器（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%rdi %rsi %rdx %rcx %r8 %r9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）和返回值寄存器（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%rax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）显然不应该被用来存储被调用者的信息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auto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我们称这样的寄存器为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Caller-Saved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（调用者保存的）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Register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auto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含义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 fontAlgn="auto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寄存器由调用者负责保存，被调用者可以随意使用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 fontAlgn="auto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如果调用者希望在被调用者返回后，其值保持不变，必须在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call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指令之前自己保存好这个寄存器的值（例如压入栈）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228600" lvl="0" indent="-228600" fontAlgn="auto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包括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参数寄存器（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%rdi %rsi %rdx %rcx %r8 %r9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）返回值寄存器（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%rax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）以及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%r10 %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r11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Caller-Saved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Callee-Saved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7215"/>
          </a:xfrm>
        </p:spPr>
        <p:txBody>
          <a:bodyPr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我们为什么需要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Callee-Saved Register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457200"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855" y="2792730"/>
            <a:ext cx="2959100" cy="2076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70" y="1857375"/>
            <a:ext cx="4914900" cy="31432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965200" y="5377180"/>
            <a:ext cx="10515600" cy="577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调用者需要用寄存器存储某些值，他们不能被被调用者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修改！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Caller-Saved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Callee-Saved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Callee-Saved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（被调用者保存的）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Register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含义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寄存器由 被调用者 负责保存，调用者可以用它储存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信息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如果被调用者想要使用这类寄存器，必须先保存其原始值，并在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ret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之前恢复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包括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%rbx, %r12, %r13, %r14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包括栈指针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%rsp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与可用作帧指针的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%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rbp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Callee-Saved Register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也能减少开销，毕竟不是每个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callee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都要用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它们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Caller-Saved Register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也是不该被取代的，不然调用寄存器都要保存一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遍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递归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7415" y="3021965"/>
            <a:ext cx="4147820" cy="2806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425" y="3021965"/>
            <a:ext cx="5197475" cy="28067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栈帧机制使函数可以重入、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递归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每次调用产生新的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栈帧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1060" y="2494280"/>
            <a:ext cx="10515600" cy="934720"/>
          </a:xfrm>
        </p:spPr>
        <p:txBody>
          <a:bodyPr/>
          <a:p>
            <a:pPr marL="0" indent="0" algn="ctr">
              <a:buNone/>
            </a:pPr>
            <a:r>
              <a:rPr lang="zh-CN" altLang="en-US" sz="5400" b="1">
                <a:latin typeface="宋体" panose="02010600030101010101" pitchFamily="2" charset="-122"/>
                <a:ea typeface="宋体" panose="02010600030101010101" pitchFamily="2" charset="-122"/>
              </a:rPr>
              <a:t>感谢观看！</a:t>
            </a:r>
            <a:endParaRPr lang="zh-CN" altLang="en-US" sz="5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WPS 演示</Application>
  <PresentationFormat>宽屏</PresentationFormat>
  <Paragraphs>110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Lec6 回顾: 过程 (Procedures)</vt:lpstr>
      <vt:lpstr>PowerPoint 演示文稿</vt:lpstr>
      <vt:lpstr>栈</vt:lpstr>
      <vt:lpstr>栈操作：Popq 与 Pushq</vt:lpstr>
      <vt:lpstr>转移控制：call和ret</vt:lpstr>
      <vt:lpstr>数据传送</vt:lpstr>
      <vt:lpstr>栈帧</vt:lpstr>
      <vt:lpstr>栈帧</vt:lpstr>
      <vt:lpstr>Caller-Saved 与 Callee-Saved</vt:lpstr>
      <vt:lpstr>Caller-Saved 与 Callee-Saved</vt:lpstr>
      <vt:lpstr>Caller-Saved 与 Callee-Saved</vt:lpstr>
      <vt:lpstr>递归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</dc:creator>
  <cp:lastModifiedBy>靓堂</cp:lastModifiedBy>
  <cp:revision>9</cp:revision>
  <dcterms:created xsi:type="dcterms:W3CDTF">2023-08-09T12:44:00Z</dcterms:created>
  <dcterms:modified xsi:type="dcterms:W3CDTF">2026-09-30T09:20:36Z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D2D1B527D0A248CF85FD194D6641CAFD_12</vt:lpwstr>
  </property>
</Properties>
</file>