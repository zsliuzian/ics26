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9" r:id="rId7"/>
    <p:sldId id="268" r:id="rId8"/>
    <p:sldId id="270" r:id="rId9"/>
    <p:sldId id="271" r:id="rId10"/>
    <p:sldId id="263" r:id="rId11"/>
    <p:sldId id="260" r:id="rId12"/>
    <p:sldId id="266" r:id="rId13"/>
    <p:sldId id="264" r:id="rId14"/>
    <p:sldId id="276" r:id="rId15"/>
    <p:sldId id="265" r:id="rId16"/>
    <p:sldId id="267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88" autoAdjust="0"/>
    <p:restoredTop sz="94693"/>
  </p:normalViewPr>
  <p:slideViewPr>
    <p:cSldViewPr snapToGrid="0">
      <p:cViewPr varScale="1">
        <p:scale>
          <a:sx n="86" d="100"/>
          <a:sy n="86" d="100"/>
        </p:scale>
        <p:origin x="151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A738A4-6B52-E916-8A54-BC7CD8C565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5CF2EC7-FF93-4421-F06F-EFF8EEF4A3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D343DB-CF45-E8BC-1055-111141697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BA6EC-02D5-449E-8AB1-38B5F1B3ED61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F5A602-A9BE-BA11-DBF0-D5E50937E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AEBC3E-D082-9490-471D-B81FEAC9A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EB2EC-BEAA-46B7-9051-9CC8619CB9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8199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9D7651-6FA5-C1C4-EE3C-FCE2D4FB0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8BBEF2-F7EF-A59F-DB93-D94E9DBD1C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964CFC7-B143-64DD-BDB5-57E1F5B48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BA6EC-02D5-449E-8AB1-38B5F1B3ED61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ADF25C-C8DA-53C4-7435-791CA48EC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0187C3-B503-6DE7-29EF-364219A68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EB2EC-BEAA-46B7-9051-9CC8619CB9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8487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822053-13C8-07B8-EBBE-5E87E3C2C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D10CB8B-E0BA-F85A-FB73-D17CFC6FCF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5DBB9E-D46D-CA1B-6F9D-1181FA4D7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BA6EC-02D5-449E-8AB1-38B5F1B3ED61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7A3D91-898F-E00A-5CBE-D07F7D0D4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BD56B6-24C1-441E-D2FD-81A1F2259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EB2EC-BEAA-46B7-9051-9CC8619CB9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8637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5CCA06-82F5-5D41-B0BB-3F5FB1BF1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FA8BF3-01C5-C9E7-FDEE-88D4349991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3C156E1-0681-65F4-ECCF-F47B2A2841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99A1D16-4C28-D87D-37F1-87829C6EE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BA6EC-02D5-449E-8AB1-38B5F1B3ED61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E5974B1-10A9-12B2-5C16-7EBBD0B89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81E4A45-E6AA-F82A-D3D7-B474C879C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EB2EC-BEAA-46B7-9051-9CC8619CB9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3843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12DC3F-6188-0FA8-688E-4134CEC4F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3135BCC-9EFA-3EC7-86C5-0A3B7800DA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E095CE1-885D-910E-E819-90FC037237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86D2995-1E51-585D-A507-0E964BD673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5EB6E04-B2DE-59DE-9D82-2C90B4F5C8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AC5EE47-B28A-8002-488D-E6FDB7ACC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BA6EC-02D5-449E-8AB1-38B5F1B3ED61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8C74759-71FD-DD1C-31AB-F760D72DC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32E4A1E-F316-73BE-0D02-A739E6320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EB2EC-BEAA-46B7-9051-9CC8619CB9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6300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DEC3CD-83E6-F16D-3C3A-5C85FDDDA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B1387F2-E2D0-B257-82DA-48F7E5DF5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BA6EC-02D5-449E-8AB1-38B5F1B3ED61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77AF5C9-41BC-B014-C1D5-AA3D6E37A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9586487-342F-0953-B5B2-5C33B6C54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EB2EC-BEAA-46B7-9051-9CC8619CB9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7944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B946B9D-B240-3909-826D-A9D73579C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BA6EC-02D5-449E-8AB1-38B5F1B3ED61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03E519C-D03C-DA5D-A47F-D0EF7D1CC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7042035-65F1-1CB0-F86C-030A62CB4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EB2EC-BEAA-46B7-9051-9CC8619CB9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2683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0773B4-5B79-6DE2-BF4C-61C3C622F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9AA0961-F6D5-9954-45EA-4E89811218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7369A14-9F3C-D78F-90A0-22D17F5356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216E8AC-3F11-B0CD-C3E7-A1BED52AA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BA6EC-02D5-449E-8AB1-38B5F1B3ED61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AB1F50C-2D65-CDC6-D88B-63D2A54F3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8F91596-5C4E-70B2-ABFF-CF4C373ED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EB2EC-BEAA-46B7-9051-9CC8619CB9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1142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A5A1AD-960B-7B0D-C8C0-42F066F4E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CE9BB5D-1555-DC48-C0A0-EB1C8802E4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1C02E5D-A234-55A8-0257-2B22AEB838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2F305C2-E24B-15A9-2444-1C071A747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BA6EC-02D5-449E-8AB1-38B5F1B3ED61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E1C30AF-1DFE-2420-145A-65E396824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4A53844-EDFA-2F65-65CA-8C5A7E4DC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EB2EC-BEAA-46B7-9051-9CC8619CB9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2979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658ECC-E9B9-C3BD-7CB3-64404429E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BCD6D21-6D35-0318-4AAA-6C1F8415A9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19F376-8728-E991-83A5-FAAF63CCB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BA6EC-02D5-449E-8AB1-38B5F1B3ED61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50140D-33E3-91E4-88F6-A1036F9BB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01564A-0F42-D524-0FCB-2ED61E3FF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EB2EC-BEAA-46B7-9051-9CC8619CB9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669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F8008FA-49DA-8D53-3FC8-C6737007E3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81ADADC-B40E-3AD4-7896-A3D4CD7674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F34CC5-56BD-C8A0-DB7B-DE72920DE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BA6EC-02D5-449E-8AB1-38B5F1B3ED61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4712A6-E755-0323-F922-DD3C979BD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BFEB2D-300B-99A0-D42C-F8C1EC857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EB2EC-BEAA-46B7-9051-9CC8619CB9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6980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4389A08-441C-1AF9-AACE-7C5D3F2AB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30C8F2D-4454-832F-40A0-ACF1E00D38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E4D744-B8E3-3DB3-9976-7B9DBB30E5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8BA6EC-02D5-449E-8AB1-38B5F1B3ED61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37066A-694F-7E8C-1FDF-A2CE242BB8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EA35B0-B163-F079-F95B-BE61AB5BEE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0EB2EC-BEAA-46B7-9051-9CC8619CB9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0469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CAB1E0-4BF8-899A-7FEB-924D7D4200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Machine-Level Programming IV: Data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AC00E21-FF42-55E3-87BD-95DB95BC32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86992"/>
            <a:ext cx="9144000" cy="970808"/>
          </a:xfrm>
        </p:spPr>
        <p:txBody>
          <a:bodyPr/>
          <a:lstStyle/>
          <a:p>
            <a:r>
              <a:rPr lang="zh-CN" altLang="en-US" dirty="0"/>
              <a:t>王佳祺 </a:t>
            </a:r>
            <a:r>
              <a:rPr lang="en-US" altLang="zh-CN"/>
              <a:t>2500017767</a:t>
            </a:r>
            <a:endParaRPr lang="en-US" altLang="zh-CN" dirty="0"/>
          </a:p>
          <a:p>
            <a:r>
              <a:rPr lang="en-US" altLang="zh-CN" dirty="0"/>
              <a:t>2026.9.30</a:t>
            </a:r>
          </a:p>
        </p:txBody>
      </p:sp>
    </p:spTree>
    <p:extLst>
      <p:ext uri="{BB962C8B-B14F-4D97-AF65-F5344CB8AC3E}">
        <p14:creationId xmlns:p14="http://schemas.microsoft.com/office/powerpoint/2010/main" val="11832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239B73-FF86-A946-8F6B-064B742A3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ACEC2D5-CEEE-ECF4-33C6-C27C6F1483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dirty="0"/>
              <a:t>Part1-Arrays</a:t>
            </a:r>
            <a:r>
              <a:rPr lang="zh-CN" altLang="en-US" dirty="0"/>
              <a:t>数组</a:t>
            </a:r>
            <a:endParaRPr lang="en-US" altLang="zh-CN" dirty="0"/>
          </a:p>
          <a:p>
            <a:r>
              <a:rPr lang="zh-CN" altLang="en-US" dirty="0"/>
              <a:t>一维数组</a:t>
            </a:r>
            <a:endParaRPr lang="en-US" altLang="zh-CN" dirty="0"/>
          </a:p>
          <a:p>
            <a:r>
              <a:rPr lang="zh-CN" altLang="en-US" dirty="0"/>
              <a:t>嵌套数组、多级数组</a:t>
            </a:r>
            <a:endParaRPr lang="en-US" altLang="zh-CN" dirty="0"/>
          </a:p>
          <a:p>
            <a:r>
              <a:rPr lang="zh-CN" altLang="en-US" dirty="0"/>
              <a:t>定长数组、变长数组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Part2-Structures</a:t>
            </a:r>
            <a:r>
              <a:rPr lang="zh-CN" altLang="en-US" dirty="0"/>
              <a:t>结构体</a:t>
            </a:r>
            <a:endParaRPr lang="en-US" altLang="zh-CN" dirty="0"/>
          </a:p>
          <a:p>
            <a:r>
              <a:rPr lang="zh-CN" altLang="en-US" dirty="0"/>
              <a:t>结构与联合</a:t>
            </a:r>
            <a:endParaRPr lang="en-US" altLang="zh-CN" dirty="0"/>
          </a:p>
          <a:p>
            <a:r>
              <a:rPr lang="zh-CN" altLang="en-US" dirty="0"/>
              <a:t>数据对齐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Part3-</a:t>
            </a:r>
            <a:r>
              <a:rPr lang="zh-CN" altLang="en-US" dirty="0"/>
              <a:t>浮点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2782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01DE54-04DB-97ED-DED1-A370AE272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数组的分配和访问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8D1BCC-6231-9E07-EE3F-2EC3AFFBEF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F8EC8C6-E9BF-5D6A-EEA9-F4D59DC21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29184"/>
            <a:ext cx="9250066" cy="228631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754CF9A-6C88-F79F-0082-2464526FAC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850440"/>
            <a:ext cx="9326526" cy="259070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791A228A-29FE-6FBF-536A-6F5E40321FF2}"/>
              </a:ext>
            </a:extLst>
          </p:cNvPr>
          <p:cNvSpPr txBox="1"/>
          <p:nvPr/>
        </p:nvSpPr>
        <p:spPr>
          <a:xfrm>
            <a:off x="5836920" y="1294247"/>
            <a:ext cx="551688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700" b="1" dirty="0"/>
              <a:t>地址 </a:t>
            </a:r>
            <a:r>
              <a:rPr lang="en-US" altLang="zh-CN" sz="2700" b="1" dirty="0"/>
              <a:t>= </a:t>
            </a:r>
            <a:r>
              <a:rPr lang="zh-CN" altLang="en-US" sz="2700" b="1" dirty="0"/>
              <a:t>首地址 </a:t>
            </a:r>
            <a:r>
              <a:rPr lang="en-US" altLang="zh-CN" sz="2700" b="1" dirty="0"/>
              <a:t>+ </a:t>
            </a:r>
            <a:r>
              <a:rPr lang="zh-CN" altLang="en-US" sz="2700" b="1" dirty="0"/>
              <a:t>元素大小 </a:t>
            </a:r>
            <a:r>
              <a:rPr lang="en-US" altLang="zh-CN" sz="2700" b="1" dirty="0"/>
              <a:t>* </a:t>
            </a:r>
            <a:r>
              <a:rPr lang="zh-CN" altLang="en-US" sz="2700" b="1" dirty="0"/>
              <a:t>索引</a:t>
            </a:r>
          </a:p>
        </p:txBody>
      </p:sp>
    </p:spTree>
    <p:extLst>
      <p:ext uri="{BB962C8B-B14F-4D97-AF65-F5344CB8AC3E}">
        <p14:creationId xmlns:p14="http://schemas.microsoft.com/office/powerpoint/2010/main" val="4067919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F9BB9E-2627-D4A2-7640-BF49E654B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一维数组</a:t>
            </a:r>
            <a:r>
              <a:rPr lang="en-US" altLang="zh-CN" dirty="0"/>
              <a:t>-</a:t>
            </a:r>
            <a:r>
              <a:rPr lang="zh-CN" altLang="en-US" dirty="0"/>
              <a:t>指针运算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D97920-BBA5-C643-59D5-CBFD1BF770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994402" cy="4351338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/>
              <a:t>示例：</a:t>
            </a:r>
            <a:r>
              <a:rPr lang="en-US" altLang="zh-CN" dirty="0"/>
              <a:t>int val[5] = {1, 5, 2, 1, 3};</a:t>
            </a:r>
            <a:endParaRPr lang="zh-CN" altLang="en-US" dirty="0"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32186F76-7723-5314-1972-8C6F5CE7CD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32602" y="3740149"/>
            <a:ext cx="5257800" cy="203517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数组名</a:t>
            </a:r>
            <a:r>
              <a:rPr lang="en-US" altLang="zh-CN" dirty="0" err="1"/>
              <a:t>val</a:t>
            </a:r>
            <a:r>
              <a:rPr lang="zh-CN" altLang="en-US" dirty="0"/>
              <a:t>是地址常量，在大多数表达式中自动退化为指向首元素的指针。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val[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  <a:r>
              <a:rPr lang="zh-CN" altLang="en-US" dirty="0"/>
              <a:t>等价于</a:t>
            </a:r>
            <a:r>
              <a:rPr lang="en-US" altLang="zh-CN" dirty="0"/>
              <a:t>*(</a:t>
            </a:r>
            <a:r>
              <a:rPr lang="en-US" altLang="zh-CN" dirty="0" err="1"/>
              <a:t>val+i</a:t>
            </a:r>
            <a:r>
              <a:rPr lang="en-US" altLang="zh-CN" dirty="0"/>
              <a:t>)</a:t>
            </a:r>
            <a:endParaRPr lang="zh-CN" alt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2191330-A278-B696-9076-A99B4084B2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7675474"/>
              </p:ext>
            </p:extLst>
          </p:nvPr>
        </p:nvGraphicFramePr>
        <p:xfrm>
          <a:off x="177800" y="2471351"/>
          <a:ext cx="6654802" cy="405883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5305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90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351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581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700" b="1" i="0" u="none" strike="noStrike" dirty="0" err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引用</a:t>
                      </a:r>
                      <a:endParaRPr lang="en-US" sz="17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1E1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700" b="1" i="0" u="none" strike="noStrike" dirty="0" err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类型</a:t>
                      </a:r>
                      <a:endParaRPr lang="en-US" sz="17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1E1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700" b="1" i="0" u="none" strike="noStrike" dirty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值</a:t>
                      </a:r>
                      <a:endParaRPr lang="en-US" sz="17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1E1E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217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700" b="0" i="0" u="none" strike="noStrike" dirty="0" err="1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val</a:t>
                      </a:r>
                      <a:r>
                        <a:rPr lang="en-US" sz="1700" b="0" i="0" u="none" strike="noStrike" dirty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[4]</a:t>
                      </a:r>
                      <a:endParaRPr lang="en-US" sz="17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7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int</a:t>
                      </a:r>
                      <a:endParaRPr lang="en-US" sz="17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700" b="0" i="0" u="none" strike="noStrike" dirty="0">
                          <a:solidFill>
                            <a:srgbClr val="B41E1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</a:t>
                      </a:r>
                      <a:endParaRPr lang="en-US" sz="17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217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700" b="0" i="0" u="none" strike="noStrike" dirty="0" err="1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val</a:t>
                      </a:r>
                      <a:endParaRPr lang="en-US" sz="17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700" b="0" i="0" u="none" strike="noStrike" dirty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int *</a:t>
                      </a:r>
                      <a:endParaRPr lang="en-US" sz="17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700" b="0" i="0" u="none" strike="noStrike" dirty="0">
                          <a:solidFill>
                            <a:srgbClr val="B41E1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x</a:t>
                      </a:r>
                      <a:endParaRPr lang="en-US" sz="17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217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7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val+1</a:t>
                      </a:r>
                      <a:endParaRPr lang="en-US" sz="17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700" b="0" i="0" u="none" strike="noStrike" dirty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int *</a:t>
                      </a:r>
                      <a:endParaRPr lang="en-US" sz="17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700" b="0" i="0" u="none" strike="noStrike" dirty="0">
                          <a:solidFill>
                            <a:srgbClr val="B41E1E"/>
                          </a:solidFill>
                          <a:highlight>
                            <a:srgbClr val="FFFF00"/>
                          </a:highlight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x + 4</a:t>
                      </a:r>
                      <a:endParaRPr lang="en-US" sz="1700" dirty="0">
                        <a:highlight>
                          <a:srgbClr val="FFFF00"/>
                        </a:highlight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217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7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&amp;val[2]</a:t>
                      </a:r>
                      <a:endParaRPr lang="en-US" sz="17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700" b="0" i="0" u="none" strike="noStrike" dirty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int *</a:t>
                      </a:r>
                      <a:endParaRPr lang="en-US" sz="17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700" b="0" i="0" u="none" strike="noStrike" dirty="0">
                          <a:solidFill>
                            <a:srgbClr val="B41E1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x + 8</a:t>
                      </a:r>
                      <a:endParaRPr lang="en-US" sz="17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217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700" b="0" i="0" u="none" strike="noStrike" dirty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*(val+1)</a:t>
                      </a:r>
                      <a:endParaRPr lang="en-US" sz="17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7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int</a:t>
                      </a:r>
                      <a:endParaRPr lang="en-US" sz="17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700" b="0" i="0" u="none" strike="noStrike" dirty="0">
                          <a:solidFill>
                            <a:srgbClr val="B41E1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 （= </a:t>
                      </a:r>
                      <a:r>
                        <a:rPr lang="en-US" sz="1700" b="0" i="0" u="none" strike="noStrike" dirty="0" err="1">
                          <a:solidFill>
                            <a:srgbClr val="B41E1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val</a:t>
                      </a:r>
                      <a:r>
                        <a:rPr lang="en-US" sz="1700" b="0" i="0" u="none" strike="noStrike" dirty="0">
                          <a:solidFill>
                            <a:srgbClr val="B41E1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[1]）</a:t>
                      </a:r>
                      <a:endParaRPr lang="en-US" sz="17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217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7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val + i</a:t>
                      </a:r>
                      <a:endParaRPr lang="en-US" sz="17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7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int *</a:t>
                      </a:r>
                      <a:endParaRPr lang="en-US" sz="17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700" b="0" i="0" u="none" strike="noStrike" dirty="0">
                          <a:solidFill>
                            <a:srgbClr val="B41E1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x + 4×i （= &amp;</a:t>
                      </a:r>
                      <a:r>
                        <a:rPr lang="en-US" sz="1700" b="0" i="0" u="none" strike="noStrike" dirty="0" err="1">
                          <a:solidFill>
                            <a:srgbClr val="B41E1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val</a:t>
                      </a:r>
                      <a:r>
                        <a:rPr lang="en-US" sz="1700" b="0" i="0" u="none" strike="noStrike" dirty="0">
                          <a:solidFill>
                            <a:srgbClr val="B41E1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[</a:t>
                      </a:r>
                      <a:r>
                        <a:rPr lang="en-US" sz="1700" b="0" i="0" u="none" strike="noStrike" dirty="0" err="1">
                          <a:solidFill>
                            <a:srgbClr val="B41E1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i</a:t>
                      </a:r>
                      <a:r>
                        <a:rPr lang="en-US" sz="1700" b="0" i="0" u="none" strike="noStrike" dirty="0">
                          <a:solidFill>
                            <a:srgbClr val="B41E1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]）</a:t>
                      </a:r>
                      <a:endParaRPr lang="en-US" sz="17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7343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5ABAE6-A3EF-5D6D-12AA-901C0A71E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嵌套数组</a:t>
            </a:r>
            <a:r>
              <a:rPr lang="en-US" altLang="zh-CN" dirty="0"/>
              <a:t>-</a:t>
            </a:r>
            <a:r>
              <a:rPr lang="zh-CN" altLang="en-US" dirty="0"/>
              <a:t>行优先存储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2F114132-894A-A383-9387-FE6E9D44DA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一整块连续内存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8" name="内容占位符 4">
            <a:extLst>
              <a:ext uri="{FF2B5EF4-FFF2-40B4-BE49-F238E27FC236}">
                <a16:creationId xmlns:a16="http://schemas.microsoft.com/office/drawing/2014/main" id="{BF580153-5F06-8AB0-2CB8-3918AF2626AD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935" y="2397342"/>
            <a:ext cx="9888330" cy="413442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0096A2BD-B800-994F-9092-A23D488C5A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2451" y="528997"/>
            <a:ext cx="5208889" cy="1671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11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704237-AECE-7750-3884-4176471A6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嵌套数</a:t>
            </a:r>
            <a:r>
              <a:rPr lang="zh-CN" altLang="en-US" dirty="0"/>
              <a:t>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B328FC-C668-45D4-4DEA-5E37C799CF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0576" y="291122"/>
            <a:ext cx="2683565" cy="171394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CN" dirty="0"/>
          </a:p>
          <a:p>
            <a:r>
              <a:rPr lang="en-US" altLang="zh-CN" dirty="0"/>
              <a:t>T A[R][C]</a:t>
            </a:r>
          </a:p>
          <a:p>
            <a:pPr marL="0" indent="0">
              <a:buNone/>
            </a:pPr>
            <a:r>
              <a:rPr lang="en-US" altLang="zh-CN" dirty="0"/>
              <a:t>   K = </a:t>
            </a:r>
            <a:r>
              <a:rPr lang="en-US" altLang="zh-CN" dirty="0" err="1"/>
              <a:t>sizeof</a:t>
            </a:r>
            <a:r>
              <a:rPr lang="en-US" altLang="zh-CN" dirty="0"/>
              <a:t>(T)</a:t>
            </a:r>
          </a:p>
          <a:p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EBB7CB2-D0CE-A42C-DFEA-2071954478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118" y="2109864"/>
            <a:ext cx="9658321" cy="423080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4801247-1A52-7145-13EC-5ADF364226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4781" y="574713"/>
            <a:ext cx="4829659" cy="1430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801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89989A-FBCD-95DA-3B65-913D3C8E7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拓展研讨：行优先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5873C8-4C77-DC89-6827-299B4F3F83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r>
              <a:rPr lang="en-US" altLang="zh-CN" dirty="0"/>
              <a:t>Fortran</a:t>
            </a:r>
            <a:r>
              <a:rPr lang="zh-CN" altLang="en-US" dirty="0"/>
              <a:t>：列优先。早期面向科学计算，矩阵运算多按列访问。</a:t>
            </a:r>
            <a:endParaRPr lang="en-US" altLang="zh-CN" dirty="0"/>
          </a:p>
          <a:p>
            <a:r>
              <a:rPr lang="en-US" altLang="zh-CN" dirty="0"/>
              <a:t>MATLAB</a:t>
            </a:r>
            <a:r>
              <a:rPr lang="zh-CN" altLang="en-US" dirty="0"/>
              <a:t>、</a:t>
            </a:r>
            <a:r>
              <a:rPr lang="en-US" altLang="zh-CN" dirty="0"/>
              <a:t>R</a:t>
            </a:r>
            <a:r>
              <a:rPr lang="zh-CN" altLang="en-US" dirty="0"/>
              <a:t>：底层使用</a:t>
            </a:r>
            <a:r>
              <a:rPr lang="en-US" altLang="zh-CN" dirty="0"/>
              <a:t>Fortran</a:t>
            </a:r>
            <a:r>
              <a:rPr lang="zh-CN" altLang="en-US" dirty="0"/>
              <a:t>，继承列优先方式。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混编</a:t>
            </a:r>
            <a:r>
              <a:rPr lang="en-US" altLang="zh-CN" dirty="0"/>
              <a:t>C</a:t>
            </a:r>
            <a:r>
              <a:rPr lang="zh-CN" altLang="en-US" dirty="0"/>
              <a:t>和</a:t>
            </a:r>
            <a:r>
              <a:rPr lang="en-US" altLang="zh-CN" dirty="0"/>
              <a:t>Fortran</a:t>
            </a:r>
            <a:r>
              <a:rPr lang="zh-CN" altLang="en-US" dirty="0"/>
              <a:t>，传二维数组时需要先转置。</a:t>
            </a:r>
            <a:endParaRPr lang="en-US" altLang="zh-CN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721A1AA-2B41-48CE-0C2B-65951D284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00" y="1601788"/>
            <a:ext cx="10769600" cy="1034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83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5518E2-642B-2F81-77B5-ECCC010AE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多级数组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FB705B5-1898-9F25-052F-CA6B212553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814" y="3143058"/>
            <a:ext cx="11786371" cy="316884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CEE4276-D478-964A-BDEC-EA162FED77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074" y="1500210"/>
            <a:ext cx="6155959" cy="164284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C525DD74-9BDE-8840-A272-B624FDA985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7116" y="422984"/>
            <a:ext cx="5241602" cy="2720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9957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C73660-ED72-D039-51A5-DADCDE9E0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多级数组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2C5604-13DD-895A-2B5C-8B5C4655E9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%</a:t>
            </a:r>
            <a:r>
              <a:rPr lang="en-US" altLang="zh-CN" dirty="0" err="1"/>
              <a:t>rdi</a:t>
            </a:r>
            <a:r>
              <a:rPr lang="zh-CN" altLang="en-US" dirty="0"/>
              <a:t>：</a:t>
            </a:r>
            <a:r>
              <a:rPr lang="en-US" altLang="zh-CN" dirty="0"/>
              <a:t>index</a:t>
            </a:r>
            <a:r>
              <a:rPr lang="zh-CN" altLang="en-US" dirty="0"/>
              <a:t>，外层下标</a:t>
            </a:r>
            <a:endParaRPr lang="en-US" altLang="zh-CN" dirty="0"/>
          </a:p>
          <a:p>
            <a:r>
              <a:rPr lang="en-US" altLang="zh-CN" dirty="0"/>
              <a:t>%</a:t>
            </a:r>
            <a:r>
              <a:rPr lang="en-US" altLang="zh-CN" dirty="0" err="1"/>
              <a:t>rsi</a:t>
            </a:r>
            <a:r>
              <a:rPr lang="zh-CN" altLang="en-US" dirty="0"/>
              <a:t>：</a:t>
            </a:r>
            <a:r>
              <a:rPr lang="en-US" altLang="zh-CN" dirty="0"/>
              <a:t>digit</a:t>
            </a:r>
            <a:r>
              <a:rPr lang="zh-CN" altLang="en-US" dirty="0"/>
              <a:t>，内层下标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DBFB3F1-4725-CC89-2843-B5011B4670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62157"/>
            <a:ext cx="5094266" cy="192396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66514D5-509B-09F6-AC43-6AEEBAAF35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4786118"/>
            <a:ext cx="10331407" cy="192396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B458DA0-395F-DB2C-E982-8A4F81C85A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9536" y="2803971"/>
            <a:ext cx="5543290" cy="198214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724B36A-CFF7-1651-37D9-0CEC143451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2369" y="880769"/>
            <a:ext cx="5827237" cy="1889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3244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F7BE62-C8AD-64C7-3C53-665C49FCA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定长数组</a:t>
            </a:r>
            <a:r>
              <a:rPr lang="en-US" altLang="zh-CN" dirty="0"/>
              <a:t>&amp;</a:t>
            </a:r>
            <a:r>
              <a:rPr lang="zh-CN" altLang="en-US" dirty="0"/>
              <a:t>变长数组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DEBACD-3FC5-F8F1-36A9-4C89FCCFF7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1574766"/>
            <a:ext cx="5181600" cy="4351338"/>
          </a:xfrm>
        </p:spPr>
        <p:txBody>
          <a:bodyPr>
            <a:normAutofit/>
          </a:bodyPr>
          <a:lstStyle/>
          <a:p>
            <a:r>
              <a:rPr lang="zh-CN" altLang="en-US" dirty="0"/>
              <a:t>定长数组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sz="2100" dirty="0" err="1"/>
              <a:t>salq</a:t>
            </a:r>
            <a:r>
              <a:rPr lang="en-US" altLang="zh-CN" sz="2100" dirty="0"/>
              <a:t> $6, %</a:t>
            </a:r>
            <a:r>
              <a:rPr lang="en-US" altLang="zh-CN" sz="2100" dirty="0" err="1"/>
              <a:t>rsi</a:t>
            </a:r>
            <a:r>
              <a:rPr lang="en-US" altLang="zh-CN" sz="2100" dirty="0"/>
              <a:t>         #compute n * </a:t>
            </a:r>
            <a:r>
              <a:rPr lang="en-US" altLang="zh-CN" sz="2100" dirty="0" err="1"/>
              <a:t>i</a:t>
            </a:r>
            <a:endParaRPr lang="zh-CN" altLang="en-US" sz="2100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636AD45-4805-2B07-E572-C3873A12F8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5800" y="1479550"/>
            <a:ext cx="6324600" cy="4892675"/>
          </a:xfrm>
        </p:spPr>
        <p:txBody>
          <a:bodyPr>
            <a:normAutofit/>
          </a:bodyPr>
          <a:lstStyle/>
          <a:p>
            <a:r>
              <a:rPr lang="zh-CN" altLang="en-US" dirty="0"/>
              <a:t>变长数组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sz="2100" dirty="0"/>
          </a:p>
          <a:p>
            <a:pPr marL="0" indent="0">
              <a:buNone/>
            </a:pPr>
            <a:r>
              <a:rPr lang="en-US" altLang="zh-CN" sz="2100" dirty="0"/>
              <a:t>  </a:t>
            </a:r>
            <a:r>
              <a:rPr lang="en-US" altLang="zh-CN" sz="2100" dirty="0" err="1"/>
              <a:t>imulq</a:t>
            </a:r>
            <a:r>
              <a:rPr lang="en-US" altLang="zh-CN" sz="2100" dirty="0"/>
              <a:t> %</a:t>
            </a:r>
            <a:r>
              <a:rPr lang="en-US" altLang="zh-CN" sz="2100" dirty="0" err="1"/>
              <a:t>rdx</a:t>
            </a:r>
            <a:r>
              <a:rPr lang="en-US" altLang="zh-CN" sz="2100" dirty="0"/>
              <a:t>, %</a:t>
            </a:r>
            <a:r>
              <a:rPr lang="en-US" altLang="zh-CN" sz="2100" dirty="0" err="1"/>
              <a:t>rdi</a:t>
            </a:r>
            <a:r>
              <a:rPr lang="en-US" altLang="zh-CN" sz="2100" dirty="0"/>
              <a:t>  	       #compute n * </a:t>
            </a:r>
            <a:r>
              <a:rPr lang="en-US" altLang="zh-CN" sz="2100" dirty="0" err="1"/>
              <a:t>i</a:t>
            </a:r>
            <a:endParaRPr lang="en-US" altLang="zh-CN" sz="2100" dirty="0"/>
          </a:p>
          <a:p>
            <a:pPr marL="0" indent="0">
              <a:buNone/>
            </a:pPr>
            <a:r>
              <a:rPr lang="en-US" altLang="zh-CN" sz="2100" dirty="0"/>
              <a:t>  </a:t>
            </a:r>
            <a:r>
              <a:rPr lang="en-US" altLang="zh-CN" sz="2100" dirty="0" err="1"/>
              <a:t>leaq</a:t>
            </a:r>
            <a:r>
              <a:rPr lang="en-US" altLang="zh-CN" sz="2100" dirty="0"/>
              <a:t>   (%</a:t>
            </a:r>
            <a:r>
              <a:rPr lang="en-US" altLang="zh-CN" sz="2100" dirty="0" err="1"/>
              <a:t>rsi</a:t>
            </a:r>
            <a:r>
              <a:rPr lang="en-US" altLang="zh-CN" sz="2100" dirty="0"/>
              <a:t>, %</a:t>
            </a:r>
            <a:r>
              <a:rPr lang="en-US" altLang="zh-CN" sz="2100" dirty="0" err="1"/>
              <a:t>rdi</a:t>
            </a:r>
            <a:r>
              <a:rPr lang="en-US" altLang="zh-CN" sz="2100" dirty="0"/>
              <a:t>, 4), %</a:t>
            </a:r>
            <a:r>
              <a:rPr lang="en-US" altLang="zh-CN" sz="2100" dirty="0" err="1"/>
              <a:t>rax</a:t>
            </a:r>
            <a:r>
              <a:rPr lang="en-US" altLang="zh-CN" sz="2100" dirty="0"/>
              <a:t>      #compute </a:t>
            </a:r>
            <a:r>
              <a:rPr lang="en-US" altLang="zh-CN" sz="2100" dirty="0" err="1"/>
              <a:t>xA</a:t>
            </a:r>
            <a:r>
              <a:rPr lang="en-US" altLang="zh-CN" sz="2100" dirty="0"/>
              <a:t> + 4*(n*</a:t>
            </a:r>
            <a:r>
              <a:rPr lang="en-US" altLang="zh-CN" sz="2100" dirty="0" err="1"/>
              <a:t>i</a:t>
            </a:r>
            <a:r>
              <a:rPr lang="en-US" altLang="zh-CN" sz="2100" dirty="0"/>
              <a:t>)</a:t>
            </a:r>
          </a:p>
          <a:p>
            <a:pPr marL="0" indent="0">
              <a:buNone/>
            </a:pPr>
            <a:r>
              <a:rPr lang="en-US" altLang="zh-CN" sz="2100" dirty="0"/>
              <a:t>  </a:t>
            </a:r>
            <a:r>
              <a:rPr lang="en-US" altLang="zh-CN" sz="2100" dirty="0" err="1"/>
              <a:t>movl</a:t>
            </a:r>
            <a:r>
              <a:rPr lang="en-US" altLang="zh-CN" sz="2100" dirty="0"/>
              <a:t>  (%</a:t>
            </a:r>
            <a:r>
              <a:rPr lang="en-US" altLang="zh-CN" sz="2100" dirty="0" err="1"/>
              <a:t>rax</a:t>
            </a:r>
            <a:r>
              <a:rPr lang="en-US" altLang="zh-CN" sz="2100" dirty="0"/>
              <a:t>, %</a:t>
            </a:r>
            <a:r>
              <a:rPr lang="en-US" altLang="zh-CN" sz="2100" dirty="0" err="1"/>
              <a:t>rcx</a:t>
            </a:r>
            <a:r>
              <a:rPr lang="en-US" altLang="zh-CN" sz="2100" dirty="0"/>
              <a:t>, 4), %</a:t>
            </a:r>
            <a:r>
              <a:rPr lang="en-US" altLang="zh-CN" sz="2100" dirty="0" err="1"/>
              <a:t>eax</a:t>
            </a:r>
            <a:r>
              <a:rPr lang="en-US" altLang="zh-CN" sz="2100" dirty="0"/>
              <a:t>    #M[xA + 4*(n*</a:t>
            </a:r>
            <a:r>
              <a:rPr lang="en-US" altLang="zh-CN" sz="2100" dirty="0" err="1"/>
              <a:t>i</a:t>
            </a:r>
            <a:r>
              <a:rPr lang="en-US" altLang="zh-CN" sz="2100" dirty="0"/>
              <a:t>)]</a:t>
            </a:r>
          </a:p>
        </p:txBody>
      </p:sp>
      <p:sp>
        <p:nvSpPr>
          <p:cNvPr id="5" name="AutoShape 7">
            <a:extLst>
              <a:ext uri="{FF2B5EF4-FFF2-40B4-BE49-F238E27FC236}">
                <a16:creationId xmlns:a16="http://schemas.microsoft.com/office/drawing/2014/main" id="{9C80A342-20BB-A743-848B-198C6B048A37}"/>
              </a:ext>
            </a:extLst>
          </p:cNvPr>
          <p:cNvSpPr/>
          <p:nvPr/>
        </p:nvSpPr>
        <p:spPr>
          <a:xfrm>
            <a:off x="1181100" y="2096691"/>
            <a:ext cx="4013200" cy="203120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700" b="0" i="0" u="none" strike="noStrike" dirty="0">
                <a:solidFill>
                  <a:srgbClr val="282828"/>
                </a:solidFill>
                <a:latin typeface="Noto Sans SC"/>
                <a:ea typeface="Noto Sans SC"/>
                <a:cs typeface="Noto Sans SC"/>
                <a:sym typeface="Noto Sans SC"/>
              </a:rPr>
              <a:t>#define N 16</a:t>
            </a:r>
            <a:endParaRPr lang="en-US" sz="1700" dirty="0"/>
          </a:p>
          <a:p>
            <a:pPr marL="0" indent="0" algn="l">
              <a:lnSpc>
                <a:spcPct val="141666"/>
              </a:lnSpc>
            </a:pPr>
            <a:r>
              <a:rPr lang="en-US" sz="1700" b="0" i="0" u="none" strike="noStrike" dirty="0">
                <a:solidFill>
                  <a:srgbClr val="282828"/>
                </a:solidFill>
                <a:latin typeface="Noto Sans SC"/>
                <a:ea typeface="Noto Sans SC"/>
                <a:cs typeface="Noto Sans SC"/>
                <a:sym typeface="Noto Sans SC"/>
              </a:rPr>
              <a:t>typedef int </a:t>
            </a:r>
            <a:r>
              <a:rPr lang="en-US" sz="1700" b="0" i="0" u="none" strike="noStrike" dirty="0" err="1">
                <a:solidFill>
                  <a:srgbClr val="282828"/>
                </a:solidFill>
                <a:latin typeface="Noto Sans SC"/>
                <a:ea typeface="Noto Sans SC"/>
                <a:cs typeface="Noto Sans SC"/>
                <a:sym typeface="Noto Sans SC"/>
              </a:rPr>
              <a:t>fix_matrix</a:t>
            </a:r>
            <a:r>
              <a:rPr lang="en-US" sz="1700" b="0" i="0" u="none" strike="noStrike" dirty="0">
                <a:solidFill>
                  <a:srgbClr val="282828"/>
                </a:solidFill>
                <a:latin typeface="Noto Sans SC"/>
                <a:ea typeface="Noto Sans SC"/>
                <a:cs typeface="Noto Sans SC"/>
                <a:sym typeface="Noto Sans SC"/>
              </a:rPr>
              <a:t>[N][N];</a:t>
            </a:r>
          </a:p>
          <a:p>
            <a:pPr marL="0" indent="0" algn="l">
              <a:lnSpc>
                <a:spcPct val="141666"/>
              </a:lnSpc>
            </a:pPr>
            <a:r>
              <a:rPr lang="en-US" sz="1700" b="0" i="0" u="none" strike="noStrike" dirty="0">
                <a:solidFill>
                  <a:srgbClr val="282828"/>
                </a:solidFill>
                <a:latin typeface="Noto Sans SC"/>
                <a:ea typeface="Noto Sans SC"/>
                <a:cs typeface="Noto Sans SC"/>
                <a:sym typeface="Noto Sans SC"/>
              </a:rPr>
              <a:t>int </a:t>
            </a:r>
            <a:r>
              <a:rPr lang="en-US" sz="1700" b="0" i="0" u="none" strike="noStrike" dirty="0" err="1">
                <a:solidFill>
                  <a:srgbClr val="282828"/>
                </a:solidFill>
                <a:latin typeface="Noto Sans SC"/>
                <a:ea typeface="Noto Sans SC"/>
                <a:cs typeface="Noto Sans SC"/>
                <a:sym typeface="Noto Sans SC"/>
              </a:rPr>
              <a:t>fix_ele</a:t>
            </a:r>
            <a:r>
              <a:rPr lang="en-US" sz="1700" b="0" i="0" u="none" strike="noStrike" dirty="0">
                <a:solidFill>
                  <a:srgbClr val="282828"/>
                </a:solidFill>
                <a:latin typeface="Noto Sans SC"/>
                <a:ea typeface="Noto Sans SC"/>
                <a:cs typeface="Noto Sans SC"/>
                <a:sym typeface="Noto Sans SC"/>
              </a:rPr>
              <a:t>(</a:t>
            </a:r>
            <a:r>
              <a:rPr lang="en-US" sz="1700" b="0" i="0" u="none" strike="noStrike" dirty="0" err="1">
                <a:solidFill>
                  <a:srgbClr val="282828"/>
                </a:solidFill>
                <a:latin typeface="Noto Sans SC"/>
                <a:ea typeface="Noto Sans SC"/>
                <a:cs typeface="Noto Sans SC"/>
                <a:sym typeface="Noto Sans SC"/>
              </a:rPr>
              <a:t>fix_matrix</a:t>
            </a:r>
            <a:r>
              <a:rPr lang="en-US" sz="1700" b="0" i="0" u="none" strike="noStrike" dirty="0">
                <a:solidFill>
                  <a:srgbClr val="282828"/>
                </a:solidFill>
                <a:latin typeface="Noto Sans SC"/>
                <a:ea typeface="Noto Sans SC"/>
                <a:cs typeface="Noto Sans SC"/>
                <a:sym typeface="Noto Sans SC"/>
              </a:rPr>
              <a:t> a, int </a:t>
            </a:r>
            <a:r>
              <a:rPr lang="en-US" sz="1700" b="0" i="0" u="none" strike="noStrike" dirty="0" err="1">
                <a:solidFill>
                  <a:srgbClr val="282828"/>
                </a:solidFill>
                <a:latin typeface="Noto Sans SC"/>
                <a:ea typeface="Noto Sans SC"/>
                <a:cs typeface="Noto Sans SC"/>
                <a:sym typeface="Noto Sans SC"/>
              </a:rPr>
              <a:t>i</a:t>
            </a:r>
            <a:r>
              <a:rPr lang="en-US" sz="1700" b="0" i="0" u="none" strike="noStrike" dirty="0">
                <a:solidFill>
                  <a:srgbClr val="282828"/>
                </a:solidFill>
                <a:latin typeface="Noto Sans SC"/>
                <a:ea typeface="Noto Sans SC"/>
                <a:cs typeface="Noto Sans SC"/>
                <a:sym typeface="Noto Sans SC"/>
              </a:rPr>
              <a:t>, int j) {</a:t>
            </a:r>
          </a:p>
          <a:p>
            <a:pPr marL="0" indent="0" algn="l">
              <a:lnSpc>
                <a:spcPct val="141666"/>
              </a:lnSpc>
            </a:pPr>
            <a:r>
              <a:rPr lang="en-US" sz="1700" dirty="0">
                <a:solidFill>
                  <a:srgbClr val="282828"/>
                </a:solidFill>
                <a:latin typeface="Noto Sans SC"/>
                <a:ea typeface="Noto Sans SC"/>
                <a:cs typeface="Noto Sans SC"/>
                <a:sym typeface="Noto Sans SC"/>
              </a:rPr>
              <a:t>        </a:t>
            </a:r>
            <a:r>
              <a:rPr lang="en-US" sz="1700" b="0" i="0" u="none" strike="noStrike" dirty="0">
                <a:solidFill>
                  <a:srgbClr val="282828"/>
                </a:solidFill>
                <a:latin typeface="Noto Sans SC"/>
                <a:ea typeface="Noto Sans SC"/>
                <a:cs typeface="Noto Sans SC"/>
                <a:sym typeface="Noto Sans SC"/>
              </a:rPr>
              <a:t>return a[</a:t>
            </a:r>
            <a:r>
              <a:rPr lang="en-US" sz="1700" b="0" i="0" u="none" strike="noStrike" dirty="0" err="1">
                <a:solidFill>
                  <a:srgbClr val="282828"/>
                </a:solidFill>
                <a:latin typeface="Noto Sans SC"/>
                <a:ea typeface="Noto Sans SC"/>
                <a:cs typeface="Noto Sans SC"/>
                <a:sym typeface="Noto Sans SC"/>
              </a:rPr>
              <a:t>i</a:t>
            </a:r>
            <a:r>
              <a:rPr lang="en-US" sz="1700" b="0" i="0" u="none" strike="noStrike" dirty="0">
                <a:solidFill>
                  <a:srgbClr val="282828"/>
                </a:solidFill>
                <a:latin typeface="Noto Sans SC"/>
                <a:ea typeface="Noto Sans SC"/>
                <a:cs typeface="Noto Sans SC"/>
                <a:sym typeface="Noto Sans SC"/>
              </a:rPr>
              <a:t>][j];</a:t>
            </a:r>
          </a:p>
          <a:p>
            <a:pPr marL="0" indent="0" algn="l">
              <a:lnSpc>
                <a:spcPct val="141666"/>
              </a:lnSpc>
            </a:pPr>
            <a:r>
              <a:rPr lang="en-US" sz="1700" b="0" i="0" u="none" strike="noStrike" dirty="0">
                <a:solidFill>
                  <a:srgbClr val="282828"/>
                </a:solidFill>
                <a:latin typeface="Noto Sans SC"/>
                <a:ea typeface="Noto Sans SC"/>
                <a:cs typeface="Noto Sans SC"/>
                <a:sym typeface="Noto Sans SC"/>
              </a:rPr>
              <a:t>}</a:t>
            </a: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620B89CD-43C5-3E64-F05F-1D3B9D80C04A}"/>
              </a:ext>
            </a:extLst>
          </p:cNvPr>
          <p:cNvSpPr/>
          <p:nvPr/>
        </p:nvSpPr>
        <p:spPr>
          <a:xfrm>
            <a:off x="6096000" y="1785904"/>
            <a:ext cx="4191000" cy="190460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41666"/>
              </a:lnSpc>
              <a:defRPr/>
            </a:pPr>
            <a:r>
              <a:rPr lang="en-US" altLang="zh-CN" sz="1800" dirty="0">
                <a:solidFill>
                  <a:srgbClr val="282828"/>
                </a:solidFill>
                <a:latin typeface="Noto Sans SC"/>
                <a:ea typeface="Noto Sans SC"/>
                <a:cs typeface="Noto Sans SC"/>
                <a:sym typeface="Noto Sans SC"/>
              </a:rPr>
              <a:t>int </a:t>
            </a:r>
            <a:r>
              <a:rPr lang="en-US" altLang="zh-CN" sz="1800" dirty="0" err="1">
                <a:solidFill>
                  <a:srgbClr val="282828"/>
                </a:solidFill>
                <a:latin typeface="Noto Sans SC"/>
                <a:ea typeface="Noto Sans SC"/>
                <a:cs typeface="Noto Sans SC"/>
                <a:sym typeface="Noto Sans SC"/>
              </a:rPr>
              <a:t>var_ele</a:t>
            </a:r>
            <a:r>
              <a:rPr lang="en-US" altLang="zh-CN" sz="1800" dirty="0">
                <a:solidFill>
                  <a:srgbClr val="282828"/>
                </a:solidFill>
                <a:latin typeface="Noto Sans SC"/>
                <a:ea typeface="Noto Sans SC"/>
                <a:cs typeface="Noto Sans SC"/>
                <a:sym typeface="Noto Sans SC"/>
              </a:rPr>
              <a:t>(int n, int a[n][n], int </a:t>
            </a:r>
            <a:r>
              <a:rPr lang="en-US" altLang="zh-CN" sz="1800" dirty="0" err="1">
                <a:solidFill>
                  <a:srgbClr val="282828"/>
                </a:solidFill>
                <a:latin typeface="Noto Sans SC"/>
                <a:ea typeface="Noto Sans SC"/>
                <a:cs typeface="Noto Sans SC"/>
                <a:sym typeface="Noto Sans SC"/>
              </a:rPr>
              <a:t>i</a:t>
            </a:r>
            <a:r>
              <a:rPr lang="en-US" altLang="zh-CN" sz="1800" dirty="0">
                <a:solidFill>
                  <a:srgbClr val="282828"/>
                </a:solidFill>
                <a:latin typeface="Noto Sans SC"/>
                <a:ea typeface="Noto Sans SC"/>
                <a:cs typeface="Noto Sans SC"/>
                <a:sym typeface="Noto Sans SC"/>
              </a:rPr>
              <a:t>, int j) {</a:t>
            </a:r>
            <a:endParaRPr lang="en-US" altLang="zh-CN" dirty="0"/>
          </a:p>
          <a:p>
            <a:pPr>
              <a:lnSpc>
                <a:spcPct val="141666"/>
              </a:lnSpc>
            </a:pPr>
            <a:r>
              <a:rPr lang="en-US" altLang="zh-CN" sz="1800" dirty="0">
                <a:solidFill>
                  <a:srgbClr val="282828"/>
                </a:solidFill>
                <a:latin typeface="Noto Sans SC"/>
                <a:ea typeface="Noto Sans SC"/>
                <a:cs typeface="Noto Sans SC"/>
                <a:sym typeface="Noto Sans SC"/>
              </a:rPr>
              <a:t>        return a[</a:t>
            </a:r>
            <a:r>
              <a:rPr lang="en-US" altLang="zh-CN" sz="1800" dirty="0" err="1">
                <a:solidFill>
                  <a:srgbClr val="282828"/>
                </a:solidFill>
                <a:latin typeface="Noto Sans SC"/>
                <a:ea typeface="Noto Sans SC"/>
                <a:cs typeface="Noto Sans SC"/>
                <a:sym typeface="Noto Sans SC"/>
              </a:rPr>
              <a:t>i</a:t>
            </a:r>
            <a:r>
              <a:rPr lang="en-US" altLang="zh-CN" sz="1800" dirty="0">
                <a:solidFill>
                  <a:srgbClr val="282828"/>
                </a:solidFill>
                <a:latin typeface="Noto Sans SC"/>
                <a:ea typeface="Noto Sans SC"/>
                <a:cs typeface="Noto Sans SC"/>
                <a:sym typeface="Noto Sans SC"/>
              </a:rPr>
              <a:t>][j];</a:t>
            </a:r>
          </a:p>
          <a:p>
            <a:pPr>
              <a:lnSpc>
                <a:spcPct val="141666"/>
              </a:lnSpc>
            </a:pPr>
            <a:r>
              <a:rPr lang="en-US" altLang="zh-CN" sz="1800" dirty="0">
                <a:solidFill>
                  <a:srgbClr val="282828"/>
                </a:solidFill>
                <a:latin typeface="Noto Sans SC"/>
                <a:ea typeface="Noto Sans SC"/>
                <a:cs typeface="Noto Sans SC"/>
                <a:sym typeface="Noto Sans SC"/>
              </a:rPr>
              <a:t>}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B5ABA65-574D-7080-256F-2C0576A6E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510" y="5378450"/>
            <a:ext cx="11046979" cy="1088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7639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690B7D-B2BE-D189-473A-5B0F0D025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异质的数据结构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8D94BC-DE45-742E-E28C-CEF237E661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结构体是一块能装下所有字段的连续内存</a:t>
            </a:r>
            <a:endParaRPr lang="en-US" altLang="zh-CN" dirty="0"/>
          </a:p>
          <a:p>
            <a:r>
              <a:rPr lang="zh-CN" altLang="en-US" dirty="0"/>
              <a:t>内存布局严格按照声明顺序排列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C</a:t>
            </a:r>
            <a:r>
              <a:rPr lang="zh-CN" altLang="en-US" dirty="0"/>
              <a:t>标准不允许重排字段顺序</a:t>
            </a:r>
            <a:endParaRPr lang="en-US" altLang="zh-CN" dirty="0"/>
          </a:p>
          <a:p>
            <a:r>
              <a:rPr lang="zh-CN" altLang="en-US" dirty="0"/>
              <a:t>编译器在编译时计算每个字段的偏移量，运行时按照基址</a:t>
            </a:r>
            <a:r>
              <a:rPr lang="en-US" altLang="zh-CN" dirty="0"/>
              <a:t>+</a:t>
            </a:r>
            <a:r>
              <a:rPr lang="zh-CN" altLang="en-US" dirty="0"/>
              <a:t>偏移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CCCE36D-82FB-4141-A0D8-C4E9E732C2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136231"/>
            <a:ext cx="5911252" cy="2175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596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EAE5CC-89B8-B01F-FBB3-728B844D0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结构</a:t>
            </a:r>
            <a:r>
              <a:rPr lang="en-US" altLang="zh-CN" dirty="0"/>
              <a:t>&amp;</a:t>
            </a:r>
            <a:r>
              <a:rPr lang="zh-CN" altLang="en-US" dirty="0"/>
              <a:t>联合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D878F4-C950-9F77-3E04-E02AC819EA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061700" cy="4791075"/>
          </a:xfrm>
        </p:spPr>
        <p:txBody>
          <a:bodyPr>
            <a:normAutofit/>
          </a:bodyPr>
          <a:lstStyle/>
          <a:p>
            <a:r>
              <a:rPr lang="en-US" altLang="zh-CN" dirty="0"/>
              <a:t>struct vs union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union</a:t>
            </a:r>
            <a:r>
              <a:rPr lang="zh-CN" altLang="en-US" dirty="0"/>
              <a:t>的用途</a:t>
            </a:r>
            <a:endParaRPr lang="en-US" altLang="zh-CN" dirty="0"/>
          </a:p>
          <a:p>
            <a:r>
              <a:rPr lang="zh-CN" altLang="en-US" dirty="0"/>
              <a:t>节省内存：</a:t>
            </a:r>
            <a:r>
              <a:rPr lang="en-US" altLang="zh-CN" dirty="0"/>
              <a:t>union</a:t>
            </a:r>
            <a:r>
              <a:rPr lang="zh-CN" altLang="en-US" dirty="0"/>
              <a:t>所有成员从同一地址开始，</a:t>
            </a:r>
            <a:r>
              <a:rPr lang="en-US" altLang="zh-CN" dirty="0" err="1"/>
              <a:t>sizeof</a:t>
            </a:r>
            <a:r>
              <a:rPr lang="zh-CN" altLang="en-US" dirty="0"/>
              <a:t>取最大成员大小</a:t>
            </a:r>
            <a:endParaRPr lang="en-US" altLang="zh-CN" dirty="0"/>
          </a:p>
          <a:p>
            <a:r>
              <a:rPr lang="zh-CN" altLang="en-US" dirty="0"/>
              <a:t>类型双关：可以用来访问不同数据类型的位模式</a:t>
            </a: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906A2E1-0FDC-D852-CBB6-7ECC39DE8B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990" y="2562104"/>
            <a:ext cx="5449060" cy="1733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7795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DBD187-0AA9-8B94-8A10-0BD906008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数据对齐 </a:t>
            </a:r>
            <a:r>
              <a:rPr lang="en-US" altLang="zh-CN" dirty="0"/>
              <a:t>.align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D39599-497F-2EFB-86F2-2B530E11B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8097"/>
            <a:ext cx="9220200" cy="5285603"/>
          </a:xfrm>
        </p:spPr>
        <p:txBody>
          <a:bodyPr>
            <a:normAutofit/>
          </a:bodyPr>
          <a:lstStyle/>
          <a:p>
            <a:r>
              <a:rPr lang="zh-CN" altLang="en-US" dirty="0"/>
              <a:t>跨内存块：内存按照</a:t>
            </a:r>
            <a:r>
              <a:rPr lang="en-US" altLang="zh-CN" dirty="0"/>
              <a:t>8</a:t>
            </a:r>
            <a:r>
              <a:rPr lang="zh-CN" altLang="en-US" dirty="0"/>
              <a:t>字节块访问，跨块访问效率低</a:t>
            </a:r>
            <a:endParaRPr lang="en-US" altLang="zh-CN" dirty="0"/>
          </a:p>
          <a:p>
            <a:r>
              <a:rPr lang="zh-CN" altLang="en-US" dirty="0"/>
              <a:t>虚拟内存数据跨页</a:t>
            </a:r>
            <a:endParaRPr lang="en-US" altLang="zh-CN" dirty="0"/>
          </a:p>
          <a:p>
            <a:r>
              <a:rPr lang="zh-CN" altLang="en-US" dirty="0"/>
              <a:t>硬件限制、跨平台兼容性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r>
              <a:rPr lang="zh-CN" altLang="en-US" dirty="0"/>
              <a:t>对齐规则</a:t>
            </a:r>
            <a:endParaRPr lang="en-US" altLang="zh-CN" dirty="0"/>
          </a:p>
          <a:p>
            <a:r>
              <a:rPr lang="zh-CN" altLang="en-US" dirty="0"/>
              <a:t>每个基本类型的地址必须是其大小的倍数</a:t>
            </a:r>
            <a:endParaRPr lang="en-US" altLang="zh-CN" dirty="0"/>
          </a:p>
          <a:p>
            <a:r>
              <a:rPr lang="zh-CN" altLang="en-US" dirty="0"/>
              <a:t>结构体总大小必须是最大字段对齐值的倍数</a:t>
            </a:r>
            <a:endParaRPr lang="en-US" altLang="zh-CN" dirty="0"/>
          </a:p>
          <a:p>
            <a:r>
              <a:rPr lang="zh-CN" altLang="en-US" dirty="0"/>
              <a:t>结构体的起始地址必须满足其最大子段的对齐要求</a:t>
            </a: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9A6C40D-D2B4-8344-B430-117337DE060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2" t="12998" r="8449" b="6189"/>
          <a:stretch/>
        </p:blipFill>
        <p:spPr>
          <a:xfrm>
            <a:off x="5214644" y="1933059"/>
            <a:ext cx="6588861" cy="2991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6920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9BBB52-5719-934B-BC65-D0C291837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数据对齐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666F37C5-DA2F-1240-9AA9-FDA02269C5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30008"/>
          </a:xfrm>
        </p:spPr>
        <p:txBody>
          <a:bodyPr>
            <a:normAutofit/>
          </a:bodyPr>
          <a:lstStyle/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r>
              <a:rPr lang="zh-CN" altLang="en-US" dirty="0"/>
              <a:t>如果只按第一个元素的对齐要求分配结构体起始地址，可能导致后续对齐要求更高的元素发生内存错位。</a:t>
            </a:r>
            <a:endParaRPr lang="en-US" altLang="zh-CN" dirty="0"/>
          </a:p>
          <a:p>
            <a:r>
              <a:rPr lang="zh-CN" altLang="en-US" dirty="0"/>
              <a:t>结构体数组内存连续性</a:t>
            </a:r>
            <a:endParaRPr lang="en-US" altLang="zh-CN" dirty="0"/>
          </a:p>
          <a:p>
            <a:r>
              <a:rPr lang="en-US" altLang="zh-CN" dirty="0"/>
              <a:t>malloc</a:t>
            </a:r>
            <a:r>
              <a:rPr lang="zh-CN" altLang="en-US" dirty="0"/>
              <a:t>和栈帧分配永远返回对齐的地址，如果起始地址按照第一个元素的对齐要求对齐，第一个元素较小时其他元素可能因为物理内存跨块访问导致报错。</a:t>
            </a:r>
            <a:endParaRPr lang="en-US" altLang="zh-CN" dirty="0"/>
          </a:p>
        </p:txBody>
      </p:sp>
      <p:pic>
        <p:nvPicPr>
          <p:cNvPr id="8" name="内容占位符 4">
            <a:extLst>
              <a:ext uri="{FF2B5EF4-FFF2-40B4-BE49-F238E27FC236}">
                <a16:creationId xmlns:a16="http://schemas.microsoft.com/office/drawing/2014/main" id="{60098156-54FE-844F-9E02-4341FB5D2E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994" y="1540786"/>
            <a:ext cx="10942012" cy="1086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648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9850DC-B68B-0ABE-6AA0-7CFD4701D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节省结构体内存空间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1C7AC8-89EE-0A38-342A-20AFC1562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声明时将大字段类型放在前面（编译器不会主动调整结构体中的元素顺序）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06BB91B-FD0A-77A7-4C3F-457042195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785792"/>
            <a:ext cx="6573167" cy="3877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0477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3EC5FC-EB9E-E25B-AD09-8F4BE59BF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浮点数的机器级编程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97789E-A9A2-4E42-17CA-3DEAA1A47F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7"/>
            <a:ext cx="10515600" cy="4802187"/>
          </a:xfrm>
        </p:spPr>
        <p:txBody>
          <a:bodyPr>
            <a:normAutofit/>
          </a:bodyPr>
          <a:lstStyle/>
          <a:p>
            <a:r>
              <a:rPr lang="en-US" altLang="zh-CN" dirty="0"/>
              <a:t>x87 -&gt; SSE -&gt; AVX</a:t>
            </a:r>
          </a:p>
          <a:p>
            <a:r>
              <a:rPr lang="en-US" altLang="zh-CN" dirty="0"/>
              <a:t>x87</a:t>
            </a:r>
            <a:r>
              <a:rPr lang="zh-CN" altLang="en-US" dirty="0"/>
              <a:t>：栈式结构（只能操作栈顶），</a:t>
            </a:r>
            <a:r>
              <a:rPr lang="en-US" altLang="zh-CN" dirty="0"/>
              <a:t>8</a:t>
            </a:r>
            <a:r>
              <a:rPr lang="zh-CN" altLang="en-US" dirty="0"/>
              <a:t>个寄存器，难优化</a:t>
            </a:r>
            <a:endParaRPr lang="en-US" altLang="zh-CN" dirty="0"/>
          </a:p>
          <a:p>
            <a:r>
              <a:rPr lang="en-US" altLang="zh-CN" dirty="0"/>
              <a:t>SSE</a:t>
            </a:r>
            <a:r>
              <a:rPr lang="zh-CN" altLang="en-US" dirty="0"/>
              <a:t>：扁平寄存器文件</a:t>
            </a:r>
            <a:r>
              <a:rPr lang="en-US" altLang="zh-CN" dirty="0"/>
              <a:t>xmm0~xmm15</a:t>
            </a:r>
            <a:r>
              <a:rPr lang="zh-CN" altLang="en-US" dirty="0"/>
              <a:t>（</a:t>
            </a:r>
            <a:r>
              <a:rPr lang="en-US" altLang="zh-CN" dirty="0"/>
              <a:t>128</a:t>
            </a:r>
            <a:r>
              <a:rPr lang="zh-CN" altLang="en-US" dirty="0"/>
              <a:t>位）（可以随时用任意块），更灵活</a:t>
            </a:r>
            <a:endParaRPr lang="en-US" altLang="zh-CN" dirty="0"/>
          </a:p>
          <a:p>
            <a:r>
              <a:rPr lang="en-US" altLang="zh-CN" dirty="0"/>
              <a:t>AVX</a:t>
            </a:r>
            <a:r>
              <a:rPr lang="zh-CN" altLang="en-US" dirty="0"/>
              <a:t>：在</a:t>
            </a:r>
            <a:r>
              <a:rPr lang="en-US" altLang="zh-CN" dirty="0"/>
              <a:t>SSE</a:t>
            </a:r>
            <a:r>
              <a:rPr lang="zh-CN" altLang="en-US" dirty="0"/>
              <a:t>基础上加宽为</a:t>
            </a:r>
            <a:r>
              <a:rPr lang="en-US" altLang="zh-CN" dirty="0"/>
              <a:t>ymm0~ymm15</a:t>
            </a:r>
            <a:r>
              <a:rPr lang="zh-CN" altLang="en-US" dirty="0"/>
              <a:t>（</a:t>
            </a:r>
            <a:r>
              <a:rPr lang="en-US" altLang="zh-CN" dirty="0"/>
              <a:t>256</a:t>
            </a:r>
            <a:r>
              <a:rPr lang="zh-CN" altLang="en-US" dirty="0"/>
              <a:t>位）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整数和浮点数使用两套不同的硬件</a:t>
            </a:r>
            <a:endParaRPr lang="en-US" altLang="zh-CN" dirty="0"/>
          </a:p>
          <a:p>
            <a:r>
              <a:rPr lang="zh-CN" altLang="en-US" dirty="0"/>
              <a:t>整数   </a:t>
            </a:r>
            <a:r>
              <a:rPr lang="en-US" altLang="zh-CN" dirty="0"/>
              <a:t>- </a:t>
            </a:r>
            <a:r>
              <a:rPr lang="zh-CN" altLang="en-US" dirty="0"/>
              <a:t>算术逻辑单元</a:t>
            </a:r>
            <a:r>
              <a:rPr lang="en-US" altLang="zh-CN" dirty="0"/>
              <a:t>ALU-%</a:t>
            </a:r>
            <a:r>
              <a:rPr lang="en-US" altLang="zh-CN" dirty="0" err="1"/>
              <a:t>rax</a:t>
            </a:r>
            <a:r>
              <a:rPr lang="zh-CN" altLang="en-US" dirty="0"/>
              <a:t>、</a:t>
            </a:r>
            <a:r>
              <a:rPr lang="en-US" altLang="zh-CN" dirty="0"/>
              <a:t>%</a:t>
            </a:r>
            <a:r>
              <a:rPr lang="en-US" altLang="zh-CN" dirty="0" err="1"/>
              <a:t>rbx</a:t>
            </a:r>
            <a:r>
              <a:rPr lang="en-US" altLang="zh-CN" dirty="0"/>
              <a:t>……</a:t>
            </a:r>
          </a:p>
          <a:p>
            <a:r>
              <a:rPr lang="zh-CN" altLang="en-US" dirty="0"/>
              <a:t>浮点数</a:t>
            </a:r>
            <a:r>
              <a:rPr lang="en-US" altLang="zh-CN" dirty="0"/>
              <a:t>-</a:t>
            </a:r>
            <a:r>
              <a:rPr lang="zh-CN" altLang="en-US" dirty="0"/>
              <a:t>浮点运算单元</a:t>
            </a:r>
            <a:r>
              <a:rPr lang="en-US" altLang="zh-CN" dirty="0"/>
              <a:t>FPU-</a:t>
            </a:r>
            <a:r>
              <a:rPr lang="en-US" altLang="zh-CN" dirty="0" err="1"/>
              <a:t>xmm</a:t>
            </a:r>
            <a:r>
              <a:rPr lang="zh-CN" altLang="en-US" dirty="0"/>
              <a:t>、</a:t>
            </a:r>
            <a:r>
              <a:rPr lang="en-US" altLang="zh-CN" dirty="0" err="1"/>
              <a:t>ymm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267929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A3F8AD-F1E7-8694-B245-CFA354862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浮点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305972-18B3-E948-2521-062F4A0BB3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39743" y="1327943"/>
            <a:ext cx="3060700" cy="4351338"/>
          </a:xfrm>
        </p:spPr>
        <p:txBody>
          <a:bodyPr/>
          <a:lstStyle/>
          <a:p>
            <a:r>
              <a:rPr lang="zh-CN" altLang="en-US" dirty="0"/>
              <a:t>指令后缀</a:t>
            </a:r>
            <a:endParaRPr lang="en-US" altLang="zh-CN" dirty="0"/>
          </a:p>
          <a:p>
            <a:r>
              <a:rPr lang="en-US" altLang="zh-CN" dirty="0"/>
              <a:t>s/p</a:t>
            </a:r>
            <a:r>
              <a:rPr lang="zh-CN" altLang="en-US" dirty="0"/>
              <a:t>：打包方式</a:t>
            </a:r>
            <a:endParaRPr lang="en-US" altLang="zh-CN" dirty="0"/>
          </a:p>
          <a:p>
            <a:r>
              <a:rPr lang="en-US" altLang="zh-CN" dirty="0"/>
              <a:t>Scalar-</a:t>
            </a:r>
            <a:r>
              <a:rPr lang="zh-CN" altLang="en-US" dirty="0"/>
              <a:t>只算一个</a:t>
            </a:r>
            <a:endParaRPr lang="en-US" altLang="zh-CN" dirty="0"/>
          </a:p>
          <a:p>
            <a:r>
              <a:rPr lang="en-US" altLang="zh-CN" dirty="0"/>
              <a:t>Packed-</a:t>
            </a:r>
            <a:r>
              <a:rPr lang="zh-CN" altLang="en-US" dirty="0"/>
              <a:t>算多个</a:t>
            </a:r>
            <a:endParaRPr lang="en-US" altLang="zh-CN" dirty="0"/>
          </a:p>
          <a:p>
            <a:r>
              <a:rPr lang="en-US" altLang="zh-CN" dirty="0"/>
              <a:t>s/d</a:t>
            </a:r>
            <a:r>
              <a:rPr lang="zh-CN" altLang="en-US" dirty="0"/>
              <a:t>：精度</a:t>
            </a:r>
            <a:endParaRPr lang="en-US" altLang="zh-CN" dirty="0"/>
          </a:p>
          <a:p>
            <a:r>
              <a:rPr lang="en-US" altLang="zh-CN" dirty="0"/>
              <a:t>Single-</a:t>
            </a:r>
            <a:r>
              <a:rPr lang="zh-CN" altLang="en-US" dirty="0"/>
              <a:t>单精度</a:t>
            </a:r>
            <a:endParaRPr lang="en-US" altLang="zh-CN" dirty="0"/>
          </a:p>
          <a:p>
            <a:r>
              <a:rPr lang="en-US" altLang="zh-CN" dirty="0"/>
              <a:t>Double-</a:t>
            </a:r>
            <a:r>
              <a:rPr lang="zh-CN" altLang="en-US" dirty="0"/>
              <a:t>双精度</a:t>
            </a: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5BBD4F2-D02B-296D-9E4E-58F8B64985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557" y="365125"/>
            <a:ext cx="8314954" cy="627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2990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92DD32-A58F-8FBD-6B49-A0A22D42E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整形</a:t>
            </a:r>
            <a:r>
              <a:rPr lang="en-US" altLang="zh-CN" dirty="0"/>
              <a:t> vs </a:t>
            </a:r>
            <a:r>
              <a:rPr lang="zh-CN" altLang="en-US" dirty="0"/>
              <a:t>浮点</a:t>
            </a:r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9ADF9511-C636-1511-9DFB-57DB633326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7941039"/>
              </p:ext>
            </p:extLst>
          </p:nvPr>
        </p:nvGraphicFramePr>
        <p:xfrm>
          <a:off x="838200" y="1825625"/>
          <a:ext cx="1051560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27282150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494996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2100" dirty="0"/>
                        <a:t>整形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100" dirty="0"/>
                        <a:t>浮点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3551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100" dirty="0"/>
                        <a:t>前六个参数按顺序</a:t>
                      </a:r>
                      <a:r>
                        <a:rPr lang="en-US" altLang="zh-CN" sz="2100" dirty="0"/>
                        <a:t>%</a:t>
                      </a:r>
                      <a:r>
                        <a:rPr lang="en-US" altLang="zh-CN" sz="2100" dirty="0" err="1"/>
                        <a:t>rdi</a:t>
                      </a:r>
                      <a:r>
                        <a:rPr lang="en-US" altLang="zh-CN" sz="2100" dirty="0"/>
                        <a:t>, %</a:t>
                      </a:r>
                      <a:r>
                        <a:rPr lang="en-US" altLang="zh-CN" sz="2100" dirty="0" err="1"/>
                        <a:t>rsi</a:t>
                      </a:r>
                      <a:r>
                        <a:rPr lang="en-US" altLang="zh-CN" sz="2100" dirty="0"/>
                        <a:t>, %</a:t>
                      </a:r>
                      <a:r>
                        <a:rPr lang="en-US" altLang="zh-CN" sz="2100" dirty="0" err="1"/>
                        <a:t>rdx</a:t>
                      </a:r>
                      <a:r>
                        <a:rPr lang="en-US" altLang="zh-CN" sz="2100" dirty="0"/>
                        <a:t>, %</a:t>
                      </a:r>
                      <a:r>
                        <a:rPr lang="en-US" altLang="zh-CN" sz="2100" dirty="0" err="1"/>
                        <a:t>rcx</a:t>
                      </a:r>
                      <a:r>
                        <a:rPr lang="en-US" altLang="zh-CN" sz="2100" dirty="0"/>
                        <a:t>, %r8, %r9</a:t>
                      </a:r>
                      <a:r>
                        <a:rPr lang="zh-CN" altLang="en-US" sz="2100" dirty="0"/>
                        <a:t>，之后走栈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100" dirty="0"/>
                        <a:t>前八个参数按照顺序进</a:t>
                      </a:r>
                      <a:r>
                        <a:rPr lang="en-US" altLang="zh-CN" sz="2100" dirty="0"/>
                        <a:t>%xmm0~%xmm7</a:t>
                      </a:r>
                      <a:r>
                        <a:rPr lang="zh-CN" altLang="en-US" sz="2100" dirty="0"/>
                        <a:t>，之后走栈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8352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100" dirty="0"/>
                        <a:t>返回值</a:t>
                      </a:r>
                      <a:r>
                        <a:rPr lang="en-US" altLang="zh-CN" sz="2100" dirty="0"/>
                        <a:t>%</a:t>
                      </a:r>
                      <a:r>
                        <a:rPr lang="en-US" altLang="zh-CN" sz="2100" dirty="0" err="1"/>
                        <a:t>rax</a:t>
                      </a:r>
                      <a:endParaRPr lang="zh-CN" altLang="en-US" sz="2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100" dirty="0"/>
                        <a:t>返回值</a:t>
                      </a:r>
                      <a:r>
                        <a:rPr lang="en-US" altLang="zh-CN" sz="2100" dirty="0"/>
                        <a:t>%xmm0</a:t>
                      </a:r>
                      <a:endParaRPr lang="zh-CN" altLang="en-US" sz="2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3466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100" dirty="0"/>
                        <a:t>调用者保存或被调用者保存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100" dirty="0"/>
                        <a:t>全部调用者保存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9145302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BF56E8B6-2468-D5EE-DB6B-FF0FCA42E279}"/>
              </a:ext>
            </a:extLst>
          </p:cNvPr>
          <p:cNvSpPr txBox="1"/>
          <p:nvPr/>
        </p:nvSpPr>
        <p:spPr>
          <a:xfrm>
            <a:off x="838200" y="4178300"/>
            <a:ext cx="101092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100" dirty="0"/>
              <a:t>浮点数条件码：</a:t>
            </a:r>
            <a:r>
              <a:rPr lang="en-US" altLang="zh-CN" sz="2100" dirty="0"/>
              <a:t>ZF</a:t>
            </a:r>
            <a:r>
              <a:rPr lang="zh-CN" altLang="en-US" sz="2100" dirty="0"/>
              <a:t>、</a:t>
            </a:r>
            <a:r>
              <a:rPr lang="en-US" altLang="zh-CN" sz="2100" dirty="0"/>
              <a:t>CF</a:t>
            </a:r>
            <a:r>
              <a:rPr lang="zh-CN" altLang="en-US" sz="2100" dirty="0"/>
              <a:t>、</a:t>
            </a:r>
            <a:r>
              <a:rPr lang="en-US" altLang="zh-CN" sz="2100" dirty="0"/>
              <a:t>PF</a:t>
            </a:r>
            <a:r>
              <a:rPr lang="zh-CN" altLang="en-US" sz="2100" dirty="0"/>
              <a:t>（奇偶标志位）</a:t>
            </a:r>
            <a:endParaRPr lang="en-US" altLang="zh-CN" sz="2100" dirty="0"/>
          </a:p>
          <a:p>
            <a:r>
              <a:rPr lang="en-US" altLang="zh-CN" sz="2100" dirty="0"/>
              <a:t>        ZF</a:t>
            </a:r>
            <a:r>
              <a:rPr lang="zh-CN" altLang="en-US" sz="2100" dirty="0"/>
              <a:t>：操作数不可排序或相等</a:t>
            </a:r>
            <a:endParaRPr lang="en-US" altLang="zh-CN" sz="2100" dirty="0"/>
          </a:p>
          <a:p>
            <a:r>
              <a:rPr lang="en-US" altLang="zh-CN" sz="2100" dirty="0"/>
              <a:t>        CF</a:t>
            </a:r>
            <a:r>
              <a:rPr lang="zh-CN" altLang="en-US" sz="2100" dirty="0"/>
              <a:t>：操作数不可排序或</a:t>
            </a:r>
            <a:r>
              <a:rPr lang="en-US" altLang="zh-CN" sz="2100" dirty="0"/>
              <a:t>xmm0 &lt; xmm1	 #</a:t>
            </a:r>
            <a:r>
              <a:rPr lang="en-US" altLang="zh-CN" sz="2100" dirty="0" err="1"/>
              <a:t>ucomisd</a:t>
            </a:r>
            <a:r>
              <a:rPr lang="zh-CN" altLang="en-US" sz="2100" dirty="0"/>
              <a:t> </a:t>
            </a:r>
            <a:r>
              <a:rPr lang="en-US" altLang="zh-CN" sz="2100" dirty="0"/>
              <a:t>%xmm1,</a:t>
            </a:r>
            <a:r>
              <a:rPr lang="zh-CN" altLang="en-US" sz="2100" dirty="0"/>
              <a:t> </a:t>
            </a:r>
            <a:r>
              <a:rPr lang="en-US" altLang="zh-CN" sz="2100" dirty="0"/>
              <a:t>%xmm0</a:t>
            </a:r>
          </a:p>
          <a:p>
            <a:r>
              <a:rPr lang="en-US" altLang="zh-CN" sz="2100" dirty="0"/>
              <a:t>        PF</a:t>
            </a:r>
            <a:r>
              <a:rPr lang="zh-CN" altLang="en-US" sz="2100" dirty="0"/>
              <a:t>：操作数不可排序</a:t>
            </a:r>
            <a:endParaRPr lang="en-US" altLang="zh-CN" sz="2100" dirty="0"/>
          </a:p>
        </p:txBody>
      </p:sp>
    </p:spTree>
    <p:extLst>
      <p:ext uri="{BB962C8B-B14F-4D97-AF65-F5344CB8AC3E}">
        <p14:creationId xmlns:p14="http://schemas.microsoft.com/office/powerpoint/2010/main" val="20858207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7BB49A-69D5-5021-EB1E-41A956CEC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8D2BE9-0E40-CC0D-F0FE-E0E193FC12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72300" y="894520"/>
            <a:ext cx="4495800" cy="1021749"/>
          </a:xfrm>
        </p:spPr>
        <p:txBody>
          <a:bodyPr/>
          <a:lstStyle/>
          <a:p>
            <a:r>
              <a:rPr lang="en-US" altLang="zh-CN" dirty="0" err="1"/>
              <a:t>movapd</a:t>
            </a:r>
            <a:r>
              <a:rPr lang="en-US" altLang="zh-CN" dirty="0"/>
              <a:t>: move aligned packed double</a:t>
            </a:r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6D88654-9D7C-D2F1-EB7D-12B0141EE3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16269"/>
            <a:ext cx="7575216" cy="4421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8239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1248</TotalTime>
  <Words>961</Words>
  <Application>Microsoft Macintosh PowerPoint</Application>
  <PresentationFormat>宽屏</PresentationFormat>
  <Paragraphs>152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4" baseType="lpstr">
      <vt:lpstr>等线</vt:lpstr>
      <vt:lpstr>等线 Light</vt:lpstr>
      <vt:lpstr>Noto Sans SC</vt:lpstr>
      <vt:lpstr>Arial</vt:lpstr>
      <vt:lpstr>Office 主题​​</vt:lpstr>
      <vt:lpstr>Machine-Level Programming IV: Data</vt:lpstr>
      <vt:lpstr>主要内容</vt:lpstr>
      <vt:lpstr>数组的分配和访问</vt:lpstr>
      <vt:lpstr>一维数组-指针运算</vt:lpstr>
      <vt:lpstr>嵌套数组-行优先存储</vt:lpstr>
      <vt:lpstr>嵌套数组</vt:lpstr>
      <vt:lpstr>拓展研讨：行优先</vt:lpstr>
      <vt:lpstr>多级数组</vt:lpstr>
      <vt:lpstr>多级数组</vt:lpstr>
      <vt:lpstr>定长数组&amp;变长数组</vt:lpstr>
      <vt:lpstr>异质的数据结构</vt:lpstr>
      <vt:lpstr>结构&amp;联合</vt:lpstr>
      <vt:lpstr>数据对齐 .align</vt:lpstr>
      <vt:lpstr>数据对齐</vt:lpstr>
      <vt:lpstr>节省结构体内存空间</vt:lpstr>
      <vt:lpstr>浮点数的机器级编程</vt:lpstr>
      <vt:lpstr>浮点</vt:lpstr>
      <vt:lpstr>整形 vs 浮点</vt:lpstr>
      <vt:lpstr>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Machine-Level Programming IV: Data</dc:title>
  <dc:creator>佳祺 王</dc:creator>
  <cp:lastModifiedBy>Microsoft Office User</cp:lastModifiedBy>
  <cp:revision>64</cp:revision>
  <dcterms:created xsi:type="dcterms:W3CDTF">2026-09-29T00:59:22Z</dcterms:created>
  <dcterms:modified xsi:type="dcterms:W3CDTF">2026-09-30T09:36:27Z</dcterms:modified>
</cp:coreProperties>
</file>