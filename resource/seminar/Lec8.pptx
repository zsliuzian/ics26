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3"/>
  </p:handoutMasterIdLst>
  <p:sldIdLst>
    <p:sldId id="256" r:id="rId3"/>
    <p:sldId id="257" r:id="rId4"/>
    <p:sldId id="258" r:id="rId6"/>
    <p:sldId id="259" r:id="rId7"/>
    <p:sldId id="260" r:id="rId8"/>
    <p:sldId id="261" r:id="rId9"/>
    <p:sldId id="263" r:id="rId10"/>
    <p:sldId id="262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虽然写入数据时永远从</a:t>
            </a:r>
            <a:r>
              <a:rPr lang="en-US" altLang="zh-CN"/>
              <a:t>union</a:t>
            </a:r>
            <a:r>
              <a:rPr lang="zh-CN" altLang="en-US"/>
              <a:t>最低地址开始写入</a:t>
            </a:r>
            <a:r>
              <a:rPr lang="en-US" altLang="zh-CN"/>
              <a:t>，</a:t>
            </a:r>
            <a:r>
              <a:rPr lang="zh-CN" altLang="en-US"/>
              <a:t>但仍可能把</a:t>
            </a:r>
            <a:r>
              <a:rPr lang="en-US" altLang="zh-CN"/>
              <a:t>most significant</a:t>
            </a:r>
            <a:r>
              <a:rPr lang="zh-CN" altLang="en-US"/>
              <a:t>的位写在最低地址上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r>
              <a:rPr lang="zh-CN" altLang="en-US"/>
              <a:t>栈有大小限制</a:t>
            </a:r>
            <a:r>
              <a:rPr lang="en-US" altLang="zh-CN"/>
              <a:t>，</a:t>
            </a:r>
            <a:r>
              <a:rPr lang="zh-CN" altLang="en-US"/>
              <a:t>因此进行递归时</a:t>
            </a:r>
            <a:r>
              <a:rPr lang="en-US" altLang="zh-CN"/>
              <a:t>，</a:t>
            </a:r>
            <a:r>
              <a:rPr lang="zh-CN" altLang="en-US"/>
              <a:t>若层数过深</a:t>
            </a:r>
            <a:r>
              <a:rPr lang="en-US" altLang="zh-CN"/>
              <a:t>，</a:t>
            </a:r>
            <a:r>
              <a:rPr lang="zh-CN" altLang="en-US"/>
              <a:t>会导致栈溢出。</a:t>
            </a:r>
            <a:br>
              <a:rPr lang="zh-CN" altLang="en-US"/>
            </a:br>
            <a:r>
              <a:rPr lang="zh-CN" altLang="en-US"/>
              <a:t>注意</a:t>
            </a:r>
            <a:r>
              <a:rPr lang="en-US" altLang="zh-CN"/>
              <a:t>，</a:t>
            </a:r>
            <a:r>
              <a:rPr lang="zh-CN" altLang="en-US"/>
              <a:t>使用</a:t>
            </a:r>
            <a:r>
              <a:rPr lang="en-US" altLang="zh-CN"/>
              <a:t>malloc</a:t>
            </a:r>
            <a:r>
              <a:rPr lang="zh-CN" altLang="en-US"/>
              <a:t>申请的内存并不一定必然位于</a:t>
            </a:r>
            <a:r>
              <a:rPr lang="en-US" altLang="zh-CN"/>
              <a:t>heap</a:t>
            </a:r>
            <a:r>
              <a:rPr lang="zh-CN" altLang="en-US"/>
              <a:t>内</a:t>
            </a:r>
            <a:r>
              <a:rPr lang="en-US" altLang="zh-CN"/>
              <a:t>。</a:t>
            </a:r>
            <a:r>
              <a:rPr lang="zh-CN" altLang="en-US"/>
              <a:t>如果申请的内存空间很大</a:t>
            </a:r>
            <a:r>
              <a:rPr lang="en-US" altLang="zh-CN"/>
              <a:t>，</a:t>
            </a:r>
            <a:r>
              <a:rPr lang="zh-CN" altLang="en-US"/>
              <a:t>实际上可能位于共享库附近的</a:t>
            </a:r>
            <a:r>
              <a:rPr lang="zh-CN" altLang="en-US"/>
              <a:t>内存映射区域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下面是三种常见的</a:t>
            </a:r>
            <a:r>
              <a:rPr lang="zh-CN" altLang="en-US"/>
              <a:t>攻击方式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3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4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4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4800"/>
              <a:t>ICS Lec08: Advanced Topics</a:t>
            </a:r>
            <a:endParaRPr lang="en-US" altLang="zh-CN" sz="4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2026.10.14</a:t>
            </a:r>
            <a:endParaRPr lang="en-US" altLang="zh-CN"/>
          </a:p>
          <a:p>
            <a:r>
              <a:rPr lang="zh-CN" altLang="en-US" sz="1600"/>
              <a:t>肖涵</a:t>
            </a:r>
            <a:r>
              <a:rPr lang="en-US" altLang="zh-CN" sz="1600"/>
              <a:t> 2500017420</a:t>
            </a:r>
            <a:endParaRPr lang="en-US" altLang="zh-CN" sz="16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Union </a:t>
            </a:r>
            <a:r>
              <a:rPr lang="zh-CN" altLang="en-US"/>
              <a:t>联合体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622925" cy="4759325"/>
          </a:xfrm>
        </p:spPr>
        <p:txBody>
          <a:bodyPr/>
          <a:p>
            <a:r>
              <a:rPr lang="en-US" altLang="zh-CN"/>
              <a:t>union</a:t>
            </a:r>
            <a:r>
              <a:rPr lang="zh-CN" altLang="en-US"/>
              <a:t>各成员从同一地址开始，内存相互覆盖；同一时刻通常只用一个成员解释其内容。以不同成员访问</a:t>
            </a:r>
            <a:r>
              <a:rPr lang="en-US" altLang="zh-CN"/>
              <a:t>，union</a:t>
            </a:r>
            <a:r>
              <a:rPr lang="zh-CN" altLang="en-US"/>
              <a:t>所存储的</a:t>
            </a:r>
            <a:r>
              <a:rPr lang="en-US" altLang="zh-CN"/>
              <a:t>bit</a:t>
            </a:r>
            <a:r>
              <a:rPr lang="zh-CN" altLang="en-US"/>
              <a:t>表示不变</a:t>
            </a:r>
            <a:r>
              <a:rPr lang="en-US" altLang="zh-CN"/>
              <a:t>，</a:t>
            </a:r>
            <a:r>
              <a:rPr lang="zh-CN" altLang="en-US"/>
              <a:t>仅改变</a:t>
            </a:r>
            <a:r>
              <a:rPr lang="en-US" altLang="zh-CN"/>
              <a:t>bit</a:t>
            </a:r>
            <a:r>
              <a:rPr lang="zh-CN" altLang="en-US"/>
              <a:t>的解释方式</a:t>
            </a:r>
            <a:r>
              <a:rPr lang="en-US" altLang="zh-CN"/>
              <a:t>。</a:t>
            </a:r>
            <a:r>
              <a:rPr lang="zh-CN" altLang="en-US"/>
              <a:t>本质是为同一段内存提供了不同解释方式</a:t>
            </a:r>
            <a:r>
              <a:rPr lang="en-US" altLang="zh-CN"/>
              <a:t>。</a:t>
            </a:r>
            <a:endParaRPr lang="en-US" altLang="zh-CN"/>
          </a:p>
          <a:p>
            <a:r>
              <a:rPr lang="en-US" altLang="zh-CN"/>
              <a:t>union</a:t>
            </a:r>
            <a:r>
              <a:rPr lang="zh-CN" altLang="en-US"/>
              <a:t>大小由最大成员及对齐要求决定</a:t>
            </a:r>
            <a:r>
              <a:rPr lang="en-US" altLang="zh-CN"/>
              <a:t>，union</a:t>
            </a:r>
            <a:r>
              <a:rPr lang="zh-CN" altLang="en-US"/>
              <a:t>大小必须是内部成员最大对</a:t>
            </a:r>
            <a:r>
              <a:rPr lang="zh-CN" altLang="en-US"/>
              <a:t>齐要求的整数倍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利用</a:t>
            </a:r>
            <a:r>
              <a:rPr lang="en-US" altLang="zh-CN"/>
              <a:t>union</a:t>
            </a:r>
            <a:r>
              <a:rPr lang="zh-CN" altLang="en-US"/>
              <a:t>可以观察不同机器的字节序</a:t>
            </a:r>
            <a:r>
              <a:rPr lang="en-US" altLang="zh-CN"/>
              <a:t>，</a:t>
            </a:r>
            <a:r>
              <a:rPr lang="zh-CN" altLang="en-US"/>
              <a:t>但字节序仅影响字节的解释方式</a:t>
            </a:r>
            <a:r>
              <a:rPr lang="en-US" altLang="zh-CN"/>
              <a:t>，</a:t>
            </a:r>
            <a:r>
              <a:rPr lang="zh-CN" altLang="en-US"/>
              <a:t>不影响写入数据时永远从</a:t>
            </a:r>
            <a:r>
              <a:rPr lang="en-US" altLang="zh-CN"/>
              <a:t>union</a:t>
            </a:r>
            <a:r>
              <a:rPr lang="zh-CN" altLang="en-US"/>
              <a:t>起始地址</a:t>
            </a:r>
            <a:r>
              <a:rPr lang="en-US" altLang="zh-CN"/>
              <a:t>（</a:t>
            </a:r>
            <a:r>
              <a:rPr lang="zh-CN" altLang="en-US"/>
              <a:t>最低地址</a:t>
            </a:r>
            <a:r>
              <a:rPr lang="en-US" altLang="zh-CN"/>
              <a:t>）</a:t>
            </a:r>
            <a:r>
              <a:rPr lang="zh-CN" altLang="en-US"/>
              <a:t>开始写</a:t>
            </a:r>
            <a:r>
              <a:rPr lang="en-US" altLang="zh-CN"/>
              <a:t>。</a:t>
            </a:r>
            <a:endParaRPr lang="en-US" altLang="zh-CN"/>
          </a:p>
        </p:txBody>
      </p:sp>
      <p:pic>
        <p:nvPicPr>
          <p:cNvPr id="4" name="图片 3" descr="截屏2026-10-08 15.23.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255" y="1820545"/>
            <a:ext cx="5517515" cy="27590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IMG_0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365" y="1490345"/>
            <a:ext cx="4084955" cy="43700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Memory Layout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745615"/>
            <a:ext cx="8128000" cy="3191510"/>
          </a:xfrm>
        </p:spPr>
        <p:txBody>
          <a:bodyPr>
            <a:normAutofit fontScale="90000" lnSpcReduction="20000"/>
          </a:bodyPr>
          <a:p>
            <a:r>
              <a:rPr lang="zh-CN" altLang="en-US"/>
              <a:t>该图为一个进程的虚拟地址空间</a:t>
            </a:r>
            <a:r>
              <a:rPr lang="en-US" altLang="zh-CN"/>
              <a:t>，</a:t>
            </a:r>
            <a:r>
              <a:rPr lang="zh-CN" altLang="en-US"/>
              <a:t>多个进程拥有多个这样的</a:t>
            </a:r>
            <a:r>
              <a:rPr lang="zh-CN" altLang="en-US"/>
              <a:t>虚拟地址空间</a:t>
            </a:r>
            <a:endParaRPr lang="zh-CN" altLang="en-US"/>
          </a:p>
          <a:p>
            <a:r>
              <a:rPr lang="zh-CN" altLang="en-US"/>
              <a:t>内存地址从低到高大致为</a:t>
            </a:r>
            <a:r>
              <a:rPr lang="en-US" altLang="zh-CN"/>
              <a:t>：Text </a:t>
            </a:r>
            <a:r>
              <a:rPr lang="en-US" altLang="en-US"/>
              <a:t>→</a:t>
            </a:r>
            <a:r>
              <a:rPr lang="en-US" altLang="zh-CN"/>
              <a:t> Data </a:t>
            </a:r>
            <a:r>
              <a:rPr lang="en-US" altLang="en-US"/>
              <a:t>→</a:t>
            </a:r>
            <a:r>
              <a:rPr lang="en-US" altLang="zh-CN"/>
              <a:t> Heap </a:t>
            </a:r>
            <a:r>
              <a:rPr lang="en-US" altLang="en-US"/>
              <a:t>→</a:t>
            </a:r>
            <a:r>
              <a:rPr lang="zh-CN" altLang="en-US"/>
              <a:t>（空闲映射区域）</a:t>
            </a:r>
            <a:r>
              <a:rPr lang="en-US" altLang="en-US"/>
              <a:t>→</a:t>
            </a:r>
            <a:r>
              <a:rPr lang="en-US" altLang="zh-CN"/>
              <a:t> Shared Libraries / </a:t>
            </a:r>
            <a:r>
              <a:rPr lang="zh-CN" altLang="en-US"/>
              <a:t>大型映射块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Stack</a:t>
            </a:r>
            <a:endParaRPr lang="en-US" altLang="zh-CN"/>
          </a:p>
          <a:p>
            <a:r>
              <a:rPr lang="en-US" altLang="zh-CN"/>
              <a:t>Stack</a:t>
            </a:r>
            <a:r>
              <a:rPr lang="zh-CN" altLang="en-US"/>
              <a:t>栈</a:t>
            </a:r>
            <a:r>
              <a:rPr lang="en-US" altLang="zh-CN"/>
              <a:t>：</a:t>
            </a:r>
            <a:r>
              <a:rPr lang="zh-CN" altLang="en-US"/>
              <a:t>运行时栈</a:t>
            </a:r>
            <a:r>
              <a:rPr lang="en-US" altLang="zh-CN"/>
              <a:t>（</a:t>
            </a:r>
            <a:r>
              <a:rPr lang="zh-CN" altLang="en-US"/>
              <a:t>大小上限通常是</a:t>
            </a:r>
            <a:r>
              <a:rPr lang="en-US" altLang="zh-CN"/>
              <a:t>8MB），</a:t>
            </a:r>
            <a:r>
              <a:rPr lang="zh-CN" altLang="en-US"/>
              <a:t>部分局部</a:t>
            </a:r>
            <a:r>
              <a:rPr lang="zh-CN" altLang="en-US"/>
              <a:t>变量</a:t>
            </a:r>
            <a:endParaRPr lang="zh-CN" altLang="en-US"/>
          </a:p>
          <a:p>
            <a:r>
              <a:rPr lang="en-US" altLang="zh-CN"/>
              <a:t>Shared libraries：</a:t>
            </a:r>
            <a:r>
              <a:rPr lang="zh-CN" altLang="en-US"/>
              <a:t>存放内容包括一些库</a:t>
            </a:r>
            <a:r>
              <a:rPr lang="zh-CN" altLang="en-US"/>
              <a:t>等</a:t>
            </a:r>
            <a:endParaRPr lang="zh-CN" altLang="en-US"/>
          </a:p>
          <a:p>
            <a:r>
              <a:rPr lang="en-US" altLang="zh-CN"/>
              <a:t>Heap</a:t>
            </a:r>
            <a:r>
              <a:rPr lang="zh-CN" altLang="en-US"/>
              <a:t>堆</a:t>
            </a:r>
            <a:r>
              <a:rPr lang="en-US" altLang="zh-CN"/>
              <a:t>：</a:t>
            </a:r>
            <a:r>
              <a:rPr lang="zh-CN" altLang="en-US"/>
              <a:t>运行时动态申请的内存</a:t>
            </a:r>
            <a:r>
              <a:rPr lang="en-US" altLang="zh-CN"/>
              <a:t>，</a:t>
            </a:r>
            <a:r>
              <a:rPr lang="zh-CN" altLang="en-US"/>
              <a:t>如使用</a:t>
            </a:r>
            <a:r>
              <a:rPr lang="en-US" altLang="zh-CN"/>
              <a:t>malloc() / calloc() / new()</a:t>
            </a:r>
            <a:r>
              <a:rPr lang="zh-CN" altLang="en-US"/>
              <a:t>等</a:t>
            </a:r>
            <a:r>
              <a:rPr lang="zh-CN" altLang="en-US"/>
              <a:t>时</a:t>
            </a:r>
            <a:endParaRPr lang="zh-CN" altLang="en-US"/>
          </a:p>
          <a:p>
            <a:r>
              <a:rPr lang="en-US" altLang="zh-CN"/>
              <a:t>Data：</a:t>
            </a:r>
            <a:r>
              <a:rPr lang="zh-CN" altLang="en-US"/>
              <a:t>静态分配数据</a:t>
            </a:r>
            <a:r>
              <a:rPr lang="en-US" altLang="zh-CN"/>
              <a:t>，</a:t>
            </a:r>
            <a:r>
              <a:rPr lang="zh-CN" altLang="en-US"/>
              <a:t>如全局变量</a:t>
            </a:r>
            <a:r>
              <a:rPr lang="en-US" altLang="zh-CN"/>
              <a:t>、static</a:t>
            </a:r>
            <a:r>
              <a:rPr lang="zh-CN" altLang="en-US"/>
              <a:t>变量</a:t>
            </a:r>
            <a:r>
              <a:rPr lang="en-US" altLang="zh-CN"/>
              <a:t>、</a:t>
            </a:r>
            <a:r>
              <a:rPr lang="zh-CN" altLang="en-US"/>
              <a:t>字符串</a:t>
            </a:r>
            <a:r>
              <a:rPr lang="zh-CN" altLang="en-US"/>
              <a:t>常量等</a:t>
            </a:r>
            <a:endParaRPr lang="zh-CN" altLang="en-US"/>
          </a:p>
          <a:p>
            <a:r>
              <a:rPr lang="en-US" altLang="zh-CN"/>
              <a:t>Text：</a:t>
            </a:r>
            <a:r>
              <a:rPr lang="zh-CN" altLang="en-US"/>
              <a:t>程序可执行机器指令</a:t>
            </a:r>
            <a:r>
              <a:rPr lang="en-US" altLang="zh-CN"/>
              <a:t>，</a:t>
            </a:r>
            <a:r>
              <a:rPr lang="zh-CN" altLang="en-US"/>
              <a:t>通常</a:t>
            </a:r>
            <a:r>
              <a:rPr lang="zh-CN" altLang="en-US"/>
              <a:t>只读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7540" y="5147310"/>
            <a:ext cx="10968990" cy="261810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/>
              <a:t>Stack</a:t>
            </a:r>
            <a:r>
              <a:rPr lang="zh-CN" altLang="en-US" sz="1600"/>
              <a:t>向低地址方向生长</a:t>
            </a:r>
            <a:endParaRPr lang="zh-CN" altLang="en-US" sz="1600"/>
          </a:p>
          <a:p>
            <a:r>
              <a:rPr lang="en-US" altLang="zh-CN" sz="1600"/>
              <a:t>heap</a:t>
            </a:r>
            <a:r>
              <a:rPr lang="zh-CN" altLang="en-US" sz="1600"/>
              <a:t>通常向高地址生长</a:t>
            </a:r>
            <a:endParaRPr lang="zh-CN" altLang="en-US" sz="1600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Buffer Over</a:t>
            </a:r>
            <a:r>
              <a:rPr lang="en-US" altLang="zh-CN"/>
              <a:t>flow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缓冲区溢出的本质是</a:t>
            </a:r>
            <a:r>
              <a:rPr lang="en-US" altLang="zh-CN"/>
              <a:t>，</a:t>
            </a:r>
            <a:r>
              <a:rPr lang="zh-CN" altLang="en-US"/>
              <a:t>程序向一块固定大小的内存区域写入了超过其容量的数据，导致写入越过该区域的边界，覆盖相邻区域的内存</a:t>
            </a:r>
            <a:r>
              <a:rPr lang="en-US" altLang="zh-CN"/>
              <a:t>，</a:t>
            </a:r>
            <a:r>
              <a:rPr lang="zh-CN" altLang="en-US"/>
              <a:t>可能破坏其他数据甚至程序的控制信息。</a:t>
            </a:r>
            <a:endParaRPr lang="zh-CN" altLang="en-US"/>
          </a:p>
          <a:p>
            <a:r>
              <a:rPr lang="zh-CN" altLang="en-US"/>
              <a:t>输入字符串长度超出内存中为其分配的空间大小</a:t>
            </a:r>
            <a:r>
              <a:rPr lang="en-US" altLang="zh-CN"/>
              <a:t>，</a:t>
            </a:r>
            <a:r>
              <a:rPr lang="zh-CN" altLang="en-US"/>
              <a:t>未检查就直接写入</a:t>
            </a:r>
            <a:r>
              <a:rPr lang="en-US" altLang="zh-CN"/>
              <a:t>，</a:t>
            </a:r>
            <a:r>
              <a:rPr lang="zh-CN" altLang="en-US"/>
              <a:t>是传统缓冲区溢出最常见的表现之一</a:t>
            </a:r>
            <a:r>
              <a:rPr lang="en-US" altLang="zh-CN"/>
              <a:t>。（</a:t>
            </a:r>
            <a:r>
              <a:rPr lang="zh-CN" altLang="en-US"/>
              <a:t>注意</a:t>
            </a:r>
            <a:r>
              <a:rPr lang="en-US" altLang="zh-CN"/>
              <a:t>gets()</a:t>
            </a:r>
            <a:r>
              <a:rPr lang="zh-CN" altLang="en-US"/>
              <a:t>在读入的同时</a:t>
            </a:r>
            <a:r>
              <a:rPr lang="en-US" altLang="zh-CN"/>
              <a:t>，</a:t>
            </a:r>
            <a:r>
              <a:rPr lang="zh-CN" altLang="en-US"/>
              <a:t>会在字符串末尾加上</a:t>
            </a:r>
            <a:r>
              <a:rPr lang="en-US" altLang="zh-CN"/>
              <a:t>\0）。</a:t>
            </a:r>
            <a:r>
              <a:rPr lang="zh-CN" altLang="en-US"/>
              <a:t>其他的还有如数组下标越界写入等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这样的越界写入</a:t>
            </a:r>
            <a:r>
              <a:rPr lang="en-US" altLang="zh-CN"/>
              <a:t>，</a:t>
            </a:r>
            <a:r>
              <a:rPr lang="zh-CN" altLang="en-US"/>
              <a:t>会直接覆盖内存中其他的信息</a:t>
            </a:r>
            <a:r>
              <a:rPr lang="en-US" altLang="zh-CN"/>
              <a:t>，</a:t>
            </a:r>
            <a:r>
              <a:rPr lang="zh-CN" altLang="en-US"/>
              <a:t>一种较为严重的后果就是会覆盖函数返回的地址信息</a:t>
            </a:r>
            <a:r>
              <a:rPr lang="en-US" altLang="zh-CN"/>
              <a:t>。</a:t>
            </a:r>
            <a:r>
              <a:rPr lang="zh-CN" altLang="en-US"/>
              <a:t>这为攻击者提供了便利</a:t>
            </a:r>
            <a:r>
              <a:rPr lang="en-US" altLang="zh-CN"/>
              <a:t>，</a:t>
            </a:r>
            <a:r>
              <a:rPr lang="zh-CN" altLang="en-US"/>
              <a:t>若攻击者能控制越界写入的位置和内容</a:t>
            </a:r>
            <a:r>
              <a:rPr lang="en-US" altLang="zh-CN"/>
              <a:t>，</a:t>
            </a:r>
            <a:r>
              <a:rPr lang="zh-CN" altLang="en-US"/>
              <a:t>计算机就会受到攻击</a:t>
            </a:r>
            <a:r>
              <a:rPr lang="en-US" altLang="zh-CN"/>
              <a:t>。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利用缓冲区溢出改变控制流</a:t>
            </a:r>
            <a:r>
              <a:rPr lang="en-US" altLang="zh-CN"/>
              <a:t>-Stack </a:t>
            </a:r>
            <a:r>
              <a:rPr lang="en-US" altLang="zh-CN"/>
              <a:t>Smashing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692275"/>
            <a:ext cx="6398260" cy="4759325"/>
          </a:xfrm>
        </p:spPr>
        <p:txBody>
          <a:bodyPr>
            <a:normAutofit lnSpcReduction="20000"/>
          </a:bodyPr>
          <a:p>
            <a:r>
              <a:rPr lang="en-US" altLang="zh-CN"/>
              <a:t>call</a:t>
            </a:r>
            <a:r>
              <a:rPr lang="zh-CN" altLang="en-US"/>
              <a:t>把下一条指令的地址压栈</a:t>
            </a:r>
            <a:r>
              <a:rPr lang="en-US" altLang="zh-CN"/>
              <a:t>，</a:t>
            </a:r>
            <a:r>
              <a:rPr lang="zh-CN" altLang="en-US"/>
              <a:t>被调用函数</a:t>
            </a:r>
            <a:r>
              <a:rPr lang="en-US" altLang="zh-CN"/>
              <a:t>return</a:t>
            </a:r>
            <a:r>
              <a:rPr lang="zh-CN" altLang="en-US"/>
              <a:t>后从栈顶获取返回地址并跳转</a:t>
            </a:r>
            <a:r>
              <a:rPr lang="en-US" altLang="zh-CN"/>
              <a:t>。</a:t>
            </a:r>
            <a:r>
              <a:rPr lang="zh-CN" altLang="en-US"/>
              <a:t>若被调用函数</a:t>
            </a:r>
            <a:r>
              <a:rPr lang="en-US" altLang="zh-CN"/>
              <a:t> Q </a:t>
            </a:r>
            <a:r>
              <a:rPr lang="zh-CN" altLang="en-US"/>
              <a:t>的局部缓冲区可被超长输入写穿，攻击者可以把原返回地址</a:t>
            </a:r>
            <a:r>
              <a:rPr lang="en-US" altLang="zh-CN"/>
              <a:t> A </a:t>
            </a:r>
            <a:r>
              <a:rPr lang="zh-CN" altLang="en-US"/>
              <a:t>改成其他代码位置</a:t>
            </a:r>
            <a:r>
              <a:rPr lang="en-US" altLang="zh-CN"/>
              <a:t> S</a:t>
            </a:r>
            <a:r>
              <a:rPr lang="zh-CN" altLang="en-US"/>
              <a:t>；</a:t>
            </a:r>
            <a:r>
              <a:rPr lang="en-US" altLang="zh-CN"/>
              <a:t>Q </a:t>
            </a:r>
            <a:r>
              <a:rPr lang="zh-CN" altLang="en-US"/>
              <a:t>执行</a:t>
            </a:r>
            <a:r>
              <a:rPr lang="en-US" altLang="zh-CN"/>
              <a:t> return </a:t>
            </a:r>
            <a:r>
              <a:rPr lang="zh-CN" altLang="en-US"/>
              <a:t>时便不会正常返回到调用者</a:t>
            </a:r>
            <a:r>
              <a:rPr lang="en-US" altLang="zh-CN"/>
              <a:t> P</a:t>
            </a:r>
            <a:r>
              <a:rPr lang="zh-CN" altLang="en-US"/>
              <a:t>，而是转向</a:t>
            </a:r>
            <a:r>
              <a:rPr lang="en-US" altLang="zh-CN"/>
              <a:t> </a:t>
            </a:r>
            <a:r>
              <a:rPr lang="en-US" altLang="zh-CN"/>
              <a:t>S。</a:t>
            </a:r>
            <a:endParaRPr lang="en-US" altLang="zh-CN"/>
          </a:p>
          <a:p>
            <a:r>
              <a:rPr lang="zh-CN" altLang="en-US"/>
              <a:t>主要是通过缓冲区溢出</a:t>
            </a:r>
            <a:r>
              <a:rPr lang="en-US" altLang="zh-CN"/>
              <a:t>，</a:t>
            </a:r>
            <a:r>
              <a:rPr lang="zh-CN" altLang="en-US"/>
              <a:t>修改函数返回地址</a:t>
            </a:r>
            <a:r>
              <a:rPr lang="en-US" altLang="zh-CN"/>
              <a:t>，</a:t>
            </a:r>
            <a:r>
              <a:rPr lang="zh-CN" altLang="en-US"/>
              <a:t>劫持控制流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>
                <a:sym typeface="+mn-ea"/>
              </a:rPr>
              <a:t>注意</a:t>
            </a:r>
            <a:r>
              <a:rPr lang="en-US" altLang="zh-CN">
                <a:sym typeface="+mn-ea"/>
              </a:rPr>
              <a:t>buf</a:t>
            </a:r>
            <a:r>
              <a:rPr lang="zh-CN" altLang="en-US">
                <a:sym typeface="+mn-ea"/>
              </a:rPr>
              <a:t>到返回地址的距离需要结合完整的汇编代码来分析</a:t>
            </a:r>
            <a:endParaRPr lang="en-US" altLang="zh-CN"/>
          </a:p>
          <a:p>
            <a:r>
              <a:rPr lang="zh-CN" altLang="en-US"/>
              <a:t>一种最简单的思路</a:t>
            </a:r>
            <a:r>
              <a:rPr lang="en-US" altLang="zh-CN"/>
              <a:t>，</a:t>
            </a:r>
            <a:r>
              <a:rPr lang="zh-CN" altLang="en-US"/>
              <a:t>是把返回地址修改成程序内已有的某个函数的地址</a:t>
            </a:r>
            <a:r>
              <a:rPr lang="en-US" altLang="zh-CN"/>
              <a:t>，</a:t>
            </a:r>
            <a:r>
              <a:rPr lang="zh-CN" altLang="en-US"/>
              <a:t>不过</a:t>
            </a:r>
            <a:r>
              <a:rPr lang="zh-CN" altLang="en-US"/>
              <a:t>功能比较受限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4" name="图片 3" descr="截屏2026-10-08 18.49.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095" y="1922145"/>
            <a:ext cx="4570730" cy="26504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通过改变控制流实施攻击</a:t>
            </a:r>
            <a:r>
              <a:rPr lang="en-US" altLang="zh-CN">
                <a:sym typeface="+mn-ea"/>
              </a:rPr>
              <a:t>-Code </a:t>
            </a:r>
            <a:r>
              <a:rPr lang="en-US" altLang="zh-CN">
                <a:sym typeface="+mn-ea"/>
              </a:rPr>
              <a:t>Injection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攻击输入本身包含机器指令字节，攻击者将这些字节写入缓冲区</a:t>
            </a:r>
            <a:r>
              <a:rPr lang="en-US" altLang="zh-CN"/>
              <a:t>。</a:t>
            </a:r>
            <a:r>
              <a:rPr lang="zh-CN" altLang="en-US"/>
              <a:t>同时</a:t>
            </a:r>
            <a:r>
              <a:rPr lang="en-US" altLang="zh-CN"/>
              <a:t>，</a:t>
            </a:r>
            <a:r>
              <a:rPr lang="zh-CN" altLang="en-US"/>
              <a:t>攻击输入会覆盖当前函数的返回地址</a:t>
            </a:r>
            <a:r>
              <a:rPr lang="en-US" altLang="zh-CN"/>
              <a:t>，</a:t>
            </a:r>
            <a:r>
              <a:rPr lang="zh-CN" altLang="en-US"/>
              <a:t>让函数返回后</a:t>
            </a:r>
            <a:r>
              <a:rPr lang="en-US" altLang="zh-CN"/>
              <a:t>，</a:t>
            </a:r>
            <a:r>
              <a:rPr lang="zh-CN" altLang="en-US"/>
              <a:t>跳转到缓冲区中注入的攻击代码起始地址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前提是能够改写控制数据</a:t>
            </a:r>
            <a:r>
              <a:rPr lang="en-US" altLang="zh-CN"/>
              <a:t>，</a:t>
            </a:r>
            <a:r>
              <a:rPr lang="zh-CN" altLang="en-US"/>
              <a:t>且被跳转到的位置允许执行。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650" y="2521585"/>
            <a:ext cx="4041775" cy="37280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通过改变控制流实施攻击</a:t>
            </a:r>
            <a:r>
              <a:rPr lang="en-US" altLang="zh-CN"/>
              <a:t>-</a:t>
            </a:r>
            <a:r>
              <a:rPr lang="zh-CN" altLang="en-US"/>
              <a:t>复用已有</a:t>
            </a:r>
            <a:r>
              <a:rPr lang="zh-CN" altLang="en-US"/>
              <a:t>指令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886450" cy="4759325"/>
          </a:xfrm>
        </p:spPr>
        <p:txBody>
          <a:bodyPr>
            <a:normAutofit lnSpcReduction="10000"/>
          </a:bodyPr>
          <a:p>
            <a:r>
              <a:rPr lang="zh-CN" altLang="en-US">
                <a:sym typeface="+mn-ea"/>
              </a:rPr>
              <a:t>但现代系统通常将栈设置为不可执行。ROP（Return-Oriented Programming）则改为复用程序或库中已经存在且可执行的机器指令片段。</a:t>
            </a:r>
            <a:endParaRPr lang="zh-CN" altLang="en-US"/>
          </a:p>
          <a:p>
            <a:r>
              <a:rPr lang="en-US" altLang="zh-CN"/>
              <a:t>ROP</a:t>
            </a:r>
            <a:r>
              <a:rPr lang="zh-CN" altLang="en-US"/>
              <a:t>主要由多个</a:t>
            </a:r>
            <a:r>
              <a:rPr lang="en-US" altLang="zh-CN"/>
              <a:t>gadget</a:t>
            </a:r>
            <a:r>
              <a:rPr lang="zh-CN" altLang="en-US"/>
              <a:t>构成</a:t>
            </a:r>
            <a:r>
              <a:rPr lang="en-US" altLang="zh-CN"/>
              <a:t>。</a:t>
            </a:r>
            <a:r>
              <a:rPr lang="zh-CN" altLang="en-US"/>
              <a:t>一个</a:t>
            </a:r>
            <a:r>
              <a:rPr lang="en-US" altLang="zh-CN"/>
              <a:t>gadget</a:t>
            </a:r>
            <a:r>
              <a:rPr lang="zh-CN" altLang="en-US"/>
              <a:t>通常是包含一个</a:t>
            </a:r>
            <a:r>
              <a:rPr lang="en-US" altLang="zh-CN"/>
              <a:t>/</a:t>
            </a:r>
            <a:r>
              <a:rPr lang="zh-CN" altLang="en-US"/>
              <a:t>一系列小操作并以</a:t>
            </a:r>
            <a:r>
              <a:rPr lang="en-US" altLang="zh-CN"/>
              <a:t>ret</a:t>
            </a:r>
            <a:r>
              <a:rPr lang="zh-CN" altLang="en-US"/>
              <a:t>结尾的指令序列</a:t>
            </a:r>
            <a:r>
              <a:rPr lang="en-US" altLang="zh-CN"/>
              <a:t>，</a:t>
            </a:r>
            <a:r>
              <a:rPr lang="zh-CN" altLang="en-US"/>
              <a:t>可以</a:t>
            </a:r>
            <a:r>
              <a:rPr lang="en-US" altLang="zh-CN"/>
              <a:t>	</a:t>
            </a:r>
            <a:r>
              <a:rPr lang="zh-CN" altLang="en-US"/>
              <a:t>尾部</a:t>
            </a:r>
            <a:r>
              <a:rPr lang="en-US" altLang="zh-CN"/>
              <a:t>（</a:t>
            </a:r>
            <a:r>
              <a:rPr lang="zh-CN" altLang="en-US"/>
              <a:t>完整机器指令</a:t>
            </a:r>
            <a:r>
              <a:rPr lang="en-US" altLang="zh-CN"/>
              <a:t>），</a:t>
            </a:r>
            <a:r>
              <a:rPr lang="zh-CN" altLang="en-US"/>
              <a:t>也可能从原机器码的某个指令中间</a:t>
            </a:r>
            <a:r>
              <a:rPr lang="zh-CN" altLang="en-US"/>
              <a:t>字节开始解码来得到</a:t>
            </a:r>
            <a:r>
              <a:rPr lang="en-US" altLang="zh-CN"/>
              <a:t>。</a:t>
            </a:r>
            <a:r>
              <a:rPr lang="zh-CN" altLang="en-US"/>
              <a:t>多个</a:t>
            </a:r>
            <a:r>
              <a:rPr lang="en-US" altLang="zh-CN"/>
              <a:t>gadget</a:t>
            </a:r>
            <a:r>
              <a:rPr lang="zh-CN" altLang="en-US"/>
              <a:t>的地址会被依次放在栈中</a:t>
            </a:r>
            <a:r>
              <a:rPr lang="en-US" altLang="zh-CN"/>
              <a:t>，</a:t>
            </a:r>
            <a:r>
              <a:rPr lang="zh-CN" altLang="en-US"/>
              <a:t>每一个</a:t>
            </a:r>
            <a:r>
              <a:rPr lang="en-US" altLang="zh-CN"/>
              <a:t>gadget</a:t>
            </a:r>
            <a:r>
              <a:rPr lang="zh-CN" altLang="en-US"/>
              <a:t>末尾</a:t>
            </a:r>
            <a:r>
              <a:rPr lang="en-US" altLang="zh-CN"/>
              <a:t>ret</a:t>
            </a:r>
            <a:r>
              <a:rPr lang="zh-CN" altLang="en-US"/>
              <a:t>后</a:t>
            </a:r>
            <a:r>
              <a:rPr lang="en-US" altLang="zh-CN"/>
              <a:t>，</a:t>
            </a:r>
            <a:r>
              <a:rPr lang="zh-CN" altLang="en-US"/>
              <a:t>弹出下一个</a:t>
            </a:r>
            <a:r>
              <a:rPr lang="en-US" altLang="zh-CN"/>
              <a:t>gadget</a:t>
            </a:r>
            <a:r>
              <a:rPr lang="zh-CN" altLang="en-US"/>
              <a:t>的地址</a:t>
            </a:r>
            <a:r>
              <a:rPr lang="en-US" altLang="zh-CN"/>
              <a:t>，</a:t>
            </a:r>
            <a:r>
              <a:rPr lang="zh-CN" altLang="en-US"/>
              <a:t>以此类推</a:t>
            </a:r>
            <a:r>
              <a:rPr lang="en-US" altLang="zh-CN"/>
              <a:t>，</a:t>
            </a:r>
            <a:r>
              <a:rPr lang="zh-CN" altLang="en-US"/>
              <a:t>组合成更复杂的操作序列</a:t>
            </a:r>
            <a:r>
              <a:rPr lang="en-US" altLang="zh-CN"/>
              <a:t>。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175" y="1587500"/>
            <a:ext cx="3744595" cy="12293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175" y="3204845"/>
            <a:ext cx="3761740" cy="1330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175" y="4711700"/>
            <a:ext cx="3726815" cy="18034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防御措施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源码层面</a:t>
            </a:r>
            <a:r>
              <a:rPr lang="en-US" altLang="zh-CN"/>
              <a:t>：</a:t>
            </a:r>
            <a:r>
              <a:rPr lang="zh-CN" altLang="en-US"/>
              <a:t>避免无界写入</a:t>
            </a:r>
            <a:r>
              <a:rPr lang="en-US" altLang="zh-CN"/>
              <a:t>（</a:t>
            </a:r>
            <a:r>
              <a:rPr lang="zh-CN" altLang="en-US"/>
              <a:t>如</a:t>
            </a:r>
            <a:r>
              <a:rPr lang="en-US" altLang="zh-CN"/>
              <a:t>gets/strcpy/strcat/</a:t>
            </a:r>
            <a:r>
              <a:rPr lang="zh-CN" altLang="en-US"/>
              <a:t>未指定字段宽度的的</a:t>
            </a:r>
            <a:r>
              <a:rPr lang="en-US" altLang="zh-CN"/>
              <a:t>scanf），</a:t>
            </a:r>
            <a:r>
              <a:rPr lang="zh-CN" altLang="en-US"/>
              <a:t>用有长度约束的接口替代无界接口</a:t>
            </a:r>
            <a:r>
              <a:rPr lang="en-US" altLang="zh-CN"/>
              <a:t>（</a:t>
            </a:r>
            <a:r>
              <a:rPr lang="zh-CN" altLang="en-US"/>
              <a:t>如</a:t>
            </a:r>
            <a:r>
              <a:rPr lang="en-US" altLang="zh-CN"/>
              <a:t>fgets(buf, sizeof buf, stdin））。</a:t>
            </a:r>
            <a:endParaRPr lang="zh-CN" altLang="en-US"/>
          </a:p>
          <a:p>
            <a:r>
              <a:rPr lang="zh-CN" altLang="en-US"/>
              <a:t>系统层面</a:t>
            </a:r>
            <a:r>
              <a:rPr lang="en-US" altLang="zh-CN"/>
              <a:t>：1.randomized stack offsets </a:t>
            </a:r>
            <a:r>
              <a:rPr lang="zh-CN" altLang="en-US"/>
              <a:t>随机栈偏移：程序启动时在栈上分配随机数量的空间，使该进程的栈地址整体偏移；同一程序不同次运行的局部变量地址可能不同，因此难以提前猜中注入代码位置。</a:t>
            </a:r>
            <a:r>
              <a:rPr lang="en-US" altLang="zh-CN"/>
              <a:t>（</a:t>
            </a:r>
            <a:r>
              <a:rPr lang="zh-CN" altLang="en-US"/>
              <a:t>仅栈起始位置随机偏移</a:t>
            </a:r>
            <a:r>
              <a:rPr lang="en-US" altLang="zh-CN"/>
              <a:t>，</a:t>
            </a:r>
            <a:r>
              <a:rPr lang="zh-CN" altLang="en-US"/>
              <a:t>栈上内容相对位置关系规则不变</a:t>
            </a:r>
            <a:r>
              <a:rPr lang="en-US" altLang="zh-CN"/>
              <a:t>）2.non executable stack </a:t>
            </a:r>
            <a:r>
              <a:rPr lang="zh-CN" altLang="en-US"/>
              <a:t>不可执行栈：</a:t>
            </a:r>
            <a:r>
              <a:rPr lang="en-US" altLang="zh-CN"/>
              <a:t>x86-64 </a:t>
            </a:r>
            <a:r>
              <a:rPr lang="zh-CN" altLang="en-US"/>
              <a:t>支持将内存区分为可读、可写、可执行几类权限类型</a:t>
            </a:r>
            <a:r>
              <a:rPr lang="en-US" altLang="zh-CN"/>
              <a:t>，</a:t>
            </a:r>
            <a:r>
              <a:rPr lang="zh-CN" altLang="en-US"/>
              <a:t>而栈通常被标记为不可执行。</a:t>
            </a:r>
            <a:endParaRPr lang="zh-CN" altLang="en-US"/>
          </a:p>
          <a:p>
            <a:r>
              <a:rPr lang="zh-CN" altLang="en-US"/>
              <a:t>编译器层面</a:t>
            </a:r>
            <a:r>
              <a:rPr lang="en-US" altLang="zh-CN"/>
              <a:t>：stack canary</a:t>
            </a:r>
            <a:r>
              <a:rPr lang="zh-CN" altLang="en-US"/>
              <a:t>栈金丝雀</a:t>
            </a:r>
            <a:r>
              <a:rPr lang="en-US" altLang="zh-CN"/>
              <a:t>，</a:t>
            </a:r>
            <a:r>
              <a:rPr lang="zh-CN" altLang="en-US"/>
              <a:t>在缓冲区与返回地址等重要控制信息之间放置特殊随机值</a:t>
            </a:r>
            <a:r>
              <a:rPr lang="en-US" altLang="zh-CN"/>
              <a:t>，</a:t>
            </a:r>
            <a:r>
              <a:rPr lang="zh-CN" altLang="en-US"/>
              <a:t>函数即将返回前检查其是否被修改，若已损坏则调用失败处理流程。</a:t>
            </a:r>
            <a:r>
              <a:rPr lang="en-US" altLang="zh-CN"/>
              <a:t>（</a:t>
            </a:r>
            <a:r>
              <a:rPr lang="zh-CN" altLang="en-US"/>
              <a:t>但不保证检测所有内存破坏</a:t>
            </a:r>
            <a:r>
              <a:rPr lang="en-US" altLang="zh-CN"/>
              <a:t>）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谢谢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2026.10.14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1870</Words>
  <Application>WPS 表格</Application>
  <PresentationFormat>宽屏</PresentationFormat>
  <Paragraphs>59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绿海深蓝丶</cp:lastModifiedBy>
  <cp:revision>176</cp:revision>
  <dcterms:created xsi:type="dcterms:W3CDTF">2026-10-14T06:20:10Z</dcterms:created>
  <dcterms:modified xsi:type="dcterms:W3CDTF">2026-10-14T06:20:10Z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1F891FC99DF8249E19E5CE6A60E8C317_43</vt:lpwstr>
  </property>
</Properties>
</file>