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  <p:sldId id="263" r:id="rId10"/>
    <p:sldId id="264" r:id="rId11"/>
    <p:sldId id="266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8.xml"/><Relationship Id="rId3" Type="http://schemas.openxmlformats.org/officeDocument/2006/relationships/image" Target="../media/image1.jpeg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1.xml"/><Relationship Id="rId3" Type="http://schemas.openxmlformats.org/officeDocument/2006/relationships/image" Target="../media/image2.jpeg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4.xml"/><Relationship Id="rId3" Type="http://schemas.openxmlformats.org/officeDocument/2006/relationships/image" Target="../media/image3.jpeg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7.xml"/><Relationship Id="rId4" Type="http://schemas.openxmlformats.org/officeDocument/2006/relationships/image" Target="../media/image5.jpeg"/><Relationship Id="rId3" Type="http://schemas.openxmlformats.org/officeDocument/2006/relationships/image" Target="../media/image4.jpeg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0.xml"/><Relationship Id="rId3" Type="http://schemas.openxmlformats.org/officeDocument/2006/relationships/image" Target="../media/image6.jpeg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6.xml"/><Relationship Id="rId3" Type="http://schemas.openxmlformats.org/officeDocument/2006/relationships/image" Target="../media/image7.jpeg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80" y="2485390"/>
            <a:ext cx="9799320" cy="528320"/>
          </a:xfrm>
        </p:spPr>
        <p:txBody>
          <a:bodyPr>
            <a:noAutofit/>
          </a:bodyPr>
          <a:p>
            <a:r>
              <a:rPr lang="en-GB" altLang="zh-CN" sz="3600"/>
              <a:t>Lec8:</a:t>
            </a:r>
            <a:r>
              <a:rPr lang="zh-CN" altLang="zh-CN" sz="3600"/>
              <a:t> </a:t>
            </a:r>
            <a:r>
              <a:rPr lang="en-US" altLang="zh-CN" sz="3600"/>
              <a:t>machine advanced</a:t>
            </a:r>
            <a:endParaRPr lang="en-US" altLang="zh-CN" sz="36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80" y="3181985"/>
            <a:ext cx="9799320" cy="1851025"/>
          </a:xfrm>
        </p:spPr>
        <p:txBody>
          <a:bodyPr/>
          <a:p>
            <a:r>
              <a:rPr lang="zh-CN" altLang="en-US" sz="2800"/>
              <a:t>徐世安</a:t>
            </a:r>
            <a:endParaRPr lang="zh-CN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Union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 sz="2400"/>
              <a:t>内存分配特点：</a:t>
            </a:r>
            <a:endParaRPr lang="zh-CN" altLang="en-US" sz="2400"/>
          </a:p>
          <a:p>
            <a:pPr marL="0" indent="0">
              <a:buNone/>
            </a:pPr>
            <a:r>
              <a:rPr lang="en-US" altLang="zh-CN"/>
              <a:t>1 </a:t>
            </a:r>
            <a:r>
              <a:rPr lang="zh-CN" altLang="en-US"/>
              <a:t>内存空间取决于最大的成员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2 </a:t>
            </a:r>
            <a:r>
              <a:rPr lang="zh-CN" altLang="en-US"/>
              <a:t>一次只能使用其中一个字段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3 </a:t>
            </a:r>
            <a:r>
              <a:rPr lang="zh-CN" altLang="en-US"/>
              <a:t>成员都从同一地址开始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pic>
        <p:nvPicPr>
          <p:cNvPr id="4" name="图片 3" descr="4f4fd4a941c051bafeb24d50319d238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935" y="1490345"/>
            <a:ext cx="6128385" cy="405828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>
                <a:sym typeface="+mn-ea"/>
              </a:rPr>
              <a:t>Union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zh-CN" sz="2400"/>
              <a:t>Union</a:t>
            </a:r>
            <a:r>
              <a:rPr lang="zh-CN" altLang="en-US" sz="2400"/>
              <a:t>作用：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访问位模式，用</a:t>
            </a:r>
            <a:r>
              <a:rPr lang="en-US" altLang="zh-CN"/>
              <a:t>float</a:t>
            </a:r>
            <a:r>
              <a:rPr lang="zh-CN" altLang="en-US"/>
              <a:t>来解释</a:t>
            </a:r>
            <a:r>
              <a:rPr lang="en-US" altLang="zh-CN"/>
              <a:t>unsigned u</a:t>
            </a:r>
            <a:r>
              <a:rPr lang="zh-CN" altLang="en-US"/>
              <a:t>的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位，也可以用</a:t>
            </a:r>
            <a:r>
              <a:rPr lang="en-US" altLang="zh-CN"/>
              <a:t>unsigned</a:t>
            </a:r>
            <a:r>
              <a:rPr lang="zh-CN" altLang="en-US"/>
              <a:t>来解释</a:t>
            </a:r>
            <a:r>
              <a:rPr lang="en-US" altLang="zh-CN"/>
              <a:t>float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在判断字节序</a:t>
            </a:r>
            <a:r>
              <a:rPr lang="en-US" altLang="zh-CN"/>
              <a:t> Little/Big Endian</a:t>
            </a:r>
            <a:r>
              <a:rPr lang="zh-CN" altLang="en-US"/>
              <a:t>时可以用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union</a:t>
            </a:r>
            <a:r>
              <a:rPr lang="zh-CN" altLang="en-US"/>
              <a:t>储存多种数据类型并打印其地址来显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示区别</a:t>
            </a:r>
            <a:endParaRPr lang="zh-CN" altLang="en-US"/>
          </a:p>
        </p:txBody>
      </p:sp>
      <p:pic>
        <p:nvPicPr>
          <p:cNvPr id="4" name="图片 3" descr="c259cff57040225353ee900e81e3704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90345"/>
            <a:ext cx="6045200" cy="43307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Memory Layout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 sz="2400"/>
              <a:t>内存布局</a:t>
            </a:r>
            <a:endParaRPr lang="en-US" altLang="zh-CN" sz="2400"/>
          </a:p>
          <a:p>
            <a:pPr marL="0" indent="0">
              <a:buNone/>
            </a:pPr>
            <a:r>
              <a:rPr lang="en-US" altLang="zh-CN"/>
              <a:t>Stack(Runtime)</a:t>
            </a:r>
            <a:endParaRPr lang="en-US" altLang="zh-CN"/>
          </a:p>
          <a:p>
            <a:pPr marL="0" indent="0">
              <a:buNone/>
            </a:pPr>
            <a:r>
              <a:rPr lang="zh-CN" altLang="en-US" sz="1600"/>
              <a:t>地址向下增长</a:t>
            </a:r>
            <a:r>
              <a:rPr lang="en-US" altLang="zh-CN" sz="1600"/>
              <a:t>,</a:t>
            </a:r>
            <a:r>
              <a:rPr lang="zh-CN" altLang="en-US" sz="1600"/>
              <a:t>每次从</a:t>
            </a:r>
            <a:r>
              <a:rPr lang="en-US" altLang="zh-CN" sz="1600"/>
              <a:t>128MB</a:t>
            </a:r>
            <a:r>
              <a:rPr lang="zh-CN" altLang="en-US" sz="1600"/>
              <a:t>内存中随机取</a:t>
            </a:r>
            <a:r>
              <a:rPr lang="en-US" altLang="zh-CN" sz="1600"/>
              <a:t>8</a:t>
            </a:r>
            <a:endParaRPr lang="en-US" altLang="zh-CN" sz="1600"/>
          </a:p>
          <a:p>
            <a:pPr marL="0" indent="0">
              <a:buNone/>
            </a:pPr>
            <a:r>
              <a:rPr lang="en-US" altLang="zh-CN" sz="1600"/>
              <a:t>MB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Heap(Runtime)</a:t>
            </a:r>
            <a:endParaRPr lang="en-US" altLang="zh-CN"/>
          </a:p>
          <a:p>
            <a:pPr marL="0" indent="0">
              <a:buNone/>
            </a:pPr>
            <a:r>
              <a:rPr lang="zh-CN" altLang="en-US" sz="1600"/>
              <a:t>地址向上增长</a:t>
            </a:r>
            <a:r>
              <a:rPr lang="en-US" altLang="zh-CN" sz="1600"/>
              <a:t>,huge malloc</a:t>
            </a:r>
            <a:r>
              <a:rPr lang="zh-CN" altLang="en-US" sz="1600"/>
              <a:t>会存在</a:t>
            </a:r>
            <a:r>
              <a:rPr lang="en-US" altLang="zh-CN" sz="1600"/>
              <a:t>shared</a:t>
            </a:r>
            <a:endParaRPr lang="en-US" altLang="zh-CN" sz="1600"/>
          </a:p>
          <a:p>
            <a:pPr marL="0" indent="0">
              <a:buNone/>
            </a:pPr>
            <a:r>
              <a:rPr lang="en-US" altLang="zh-CN" sz="1600"/>
              <a:t>libraries</a:t>
            </a:r>
            <a:r>
              <a:rPr lang="zh-CN" altLang="en-US" sz="1600"/>
              <a:t>里面</a:t>
            </a:r>
            <a:endParaRPr lang="en-US" altLang="zh-CN" sz="1600"/>
          </a:p>
          <a:p>
            <a:pPr marL="0" indent="0">
              <a:buNone/>
            </a:pPr>
            <a:r>
              <a:rPr lang="en-US" altLang="zh-CN"/>
              <a:t>Data(Static)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Text(Read only)</a:t>
            </a:r>
            <a:endParaRPr lang="en-US" altLang="zh-CN"/>
          </a:p>
        </p:txBody>
      </p:sp>
      <p:pic>
        <p:nvPicPr>
          <p:cNvPr id="4" name="图片 3" descr="4a518bb319755bea8027e5a8c8bd51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5080" y="1490345"/>
            <a:ext cx="6289675" cy="435419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Buffer Overflow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 sz="2400"/>
              <a:t>缓冲区溢出</a:t>
            </a:r>
            <a:endParaRPr lang="zh-CN" altLang="en-US" sz="2400"/>
          </a:p>
          <a:p>
            <a:pPr marL="0" indent="0">
              <a:buNone/>
            </a:pPr>
            <a:r>
              <a:rPr lang="en-US" altLang="zh-CN"/>
              <a:t>buffer</a:t>
            </a:r>
            <a:r>
              <a:rPr lang="zh-CN" altLang="en-US"/>
              <a:t>申请的内存超过限制时发生，不同的输入对应不同的溢出结果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以</a:t>
            </a:r>
            <a:r>
              <a:rPr lang="en-US" altLang="zh-CN"/>
              <a:t>gets()</a:t>
            </a:r>
            <a:r>
              <a:rPr lang="zh-CN" altLang="en-US"/>
              <a:t>为例，输入</a:t>
            </a:r>
            <a:r>
              <a:rPr lang="en-US" altLang="zh-CN"/>
              <a:t>23</a:t>
            </a:r>
            <a:r>
              <a:rPr lang="zh-CN" altLang="en-US"/>
              <a:t>位没有崩溃，但</a:t>
            </a:r>
            <a:r>
              <a:rPr lang="en-US" altLang="zh-CN"/>
              <a:t>24</a:t>
            </a:r>
            <a:r>
              <a:rPr lang="zh-CN" altLang="en-US"/>
              <a:t>位时返回地址就会被修改</a:t>
            </a:r>
            <a:endParaRPr lang="zh-CN" altLang="en-US"/>
          </a:p>
        </p:txBody>
      </p:sp>
      <p:pic>
        <p:nvPicPr>
          <p:cNvPr id="4" name="图片 3" descr="c377147ed7161051129593651de269f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75" y="3074670"/>
            <a:ext cx="5172075" cy="3175000"/>
          </a:xfrm>
          <a:prstGeom prst="rect">
            <a:avLst/>
          </a:prstGeom>
        </p:spPr>
      </p:pic>
      <p:pic>
        <p:nvPicPr>
          <p:cNvPr id="5" name="图片 4" descr="d4b5c9063e8630b28537f8a61b9804b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895" y="3074670"/>
            <a:ext cx="5477510" cy="3175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>
                <a:sym typeface="+mn-ea"/>
              </a:rPr>
              <a:t>Buffer Overflow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zh-CN" sz="2400"/>
              <a:t>attack</a:t>
            </a:r>
            <a:endParaRPr lang="en-US" altLang="zh-CN" sz="2400"/>
          </a:p>
          <a:p>
            <a:pPr marL="0" indent="0">
              <a:buNone/>
            </a:pPr>
            <a:r>
              <a:rPr lang="zh-CN" altLang="en-US"/>
              <a:t>利用</a:t>
            </a:r>
            <a:r>
              <a:rPr lang="en-US" altLang="zh-CN"/>
              <a:t>buffer overflow</a:t>
            </a:r>
            <a:r>
              <a:rPr lang="zh-CN" altLang="en-US"/>
              <a:t>可以通过输入的内容对机器进行攻击，先将攻击代码写入</a:t>
            </a:r>
            <a:r>
              <a:rPr lang="en-US" altLang="zh-CN"/>
              <a:t>attack string</a:t>
            </a:r>
            <a:r>
              <a:rPr lang="zh-CN" altLang="en-US"/>
              <a:t>，然后通过溢出后的填充使函数</a:t>
            </a:r>
            <a:r>
              <a:rPr lang="en-US" altLang="zh-CN"/>
              <a:t>Q</a:t>
            </a:r>
            <a:r>
              <a:rPr lang="zh-CN" altLang="en-US"/>
              <a:t>的返回地址从</a:t>
            </a:r>
            <a:r>
              <a:rPr lang="en-US" altLang="zh-CN"/>
              <a:t>A</a:t>
            </a:r>
            <a:r>
              <a:rPr lang="zh-CN" altLang="en-US"/>
              <a:t>变成</a:t>
            </a:r>
            <a:r>
              <a:rPr lang="en-US" altLang="zh-CN"/>
              <a:t>B</a:t>
            </a:r>
            <a:r>
              <a:rPr lang="zh-CN" altLang="en-US"/>
              <a:t>，然后从</a:t>
            </a:r>
            <a:r>
              <a:rPr lang="en-US" altLang="zh-CN"/>
              <a:t>B</a:t>
            </a:r>
            <a:r>
              <a:rPr lang="zh-CN" altLang="en-US"/>
              <a:t>开始执行攻击代码</a:t>
            </a:r>
            <a:endParaRPr lang="zh-CN" altLang="en-US"/>
          </a:p>
        </p:txBody>
      </p:sp>
      <p:pic>
        <p:nvPicPr>
          <p:cNvPr id="4" name="图片 3" descr="f0e71db7bf9b9ada0ae5f41580597c6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335" y="2933700"/>
            <a:ext cx="5671820" cy="341820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>
                <a:sym typeface="+mn-ea"/>
              </a:rPr>
              <a:t>Buffer Overflow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 sz="2400"/>
              <a:t>防范缓冲区溢出的方法：</a:t>
            </a:r>
            <a:endParaRPr lang="zh-CN" altLang="en-US" sz="2400"/>
          </a:p>
          <a:p>
            <a:pPr marL="0" indent="0">
              <a:buNone/>
            </a:pPr>
            <a:r>
              <a:rPr lang="en-US" altLang="zh-CN"/>
              <a:t>1</a:t>
            </a:r>
            <a:r>
              <a:rPr lang="en-GB" altLang="en-US"/>
              <a:t> code </a:t>
            </a:r>
            <a:r>
              <a:rPr lang="en-US" altLang="en-GB"/>
              <a:t> </a:t>
            </a:r>
            <a:r>
              <a:rPr lang="zh-CN" altLang="en-US"/>
              <a:t>用</a:t>
            </a:r>
            <a:r>
              <a:rPr lang="en-US" altLang="zh-CN"/>
              <a:t>fgets</a:t>
            </a:r>
            <a:r>
              <a:rPr lang="zh-CN" altLang="en-US"/>
              <a:t>代替</a:t>
            </a:r>
            <a:r>
              <a:rPr lang="en-US" altLang="zh-CN"/>
              <a:t>gets</a:t>
            </a:r>
            <a:r>
              <a:rPr lang="zh-CN" altLang="en-US"/>
              <a:t>，用</a:t>
            </a:r>
            <a:r>
              <a:rPr lang="en-US" altLang="zh-CN"/>
              <a:t>strncpy</a:t>
            </a:r>
            <a:r>
              <a:rPr lang="zh-CN" altLang="en-US"/>
              <a:t>代替</a:t>
            </a:r>
            <a:r>
              <a:rPr lang="en-US" altLang="zh-CN"/>
              <a:t>strcpy...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2</a:t>
            </a:r>
            <a:r>
              <a:rPr lang="en-GB" altLang="en-US"/>
              <a:t> system</a:t>
            </a:r>
            <a:r>
              <a:rPr lang="en-US" altLang="en-GB"/>
              <a:t>  </a:t>
            </a:r>
            <a:endParaRPr lang="en-US" altLang="en-GB"/>
          </a:p>
          <a:p>
            <a:pPr marL="0" indent="0">
              <a:buNone/>
            </a:pPr>
            <a:r>
              <a:rPr lang="en-US" altLang="en-GB"/>
              <a:t>randomize stack address </a:t>
            </a:r>
            <a:r>
              <a:rPr lang="zh-CN" altLang="en-US"/>
              <a:t>难以找到要跳转的地址</a:t>
            </a:r>
            <a:endParaRPr lang="zh-CN" altLang="en-US"/>
          </a:p>
          <a:p>
            <a:pPr marL="0" indent="0">
              <a:buNone/>
            </a:pPr>
            <a:r>
              <a:rPr lang="en-US" altLang="en-GB"/>
              <a:t>nonexecutable code segments </a:t>
            </a:r>
            <a:r>
              <a:rPr lang="zh-CN" altLang="en-US"/>
              <a:t>无法执行攻击代码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3 canary  </a:t>
            </a:r>
            <a:r>
              <a:rPr lang="zh-CN" altLang="en-US"/>
              <a:t>在栈上存放的特殊值，如果被更改函数无法正常退出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>
                <a:sym typeface="+mn-ea"/>
              </a:rPr>
              <a:t>Buffer Overflow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 sz="2400"/>
              <a:t>相应的攻击手段</a:t>
            </a:r>
            <a:r>
              <a:rPr lang="en-US" altLang="zh-CN" sz="2400"/>
              <a:t>: ROP Attacks</a:t>
            </a:r>
            <a:endParaRPr lang="en-US" altLang="zh-CN" sz="2400"/>
          </a:p>
          <a:p>
            <a:pPr marL="0" indent="0">
              <a:buNone/>
            </a:pPr>
            <a:r>
              <a:rPr lang="en-US" altLang="zh-CN"/>
              <a:t>    </a:t>
            </a:r>
            <a:r>
              <a:rPr lang="zh-CN" altLang="en-US"/>
              <a:t>先利用</a:t>
            </a:r>
            <a:r>
              <a:rPr lang="en-US" altLang="zh-CN"/>
              <a:t>attack string</a:t>
            </a:r>
            <a:r>
              <a:rPr lang="zh-CN" altLang="en-US"/>
              <a:t>将返回地址填充到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gadget1</a:t>
            </a:r>
            <a:r>
              <a:rPr lang="zh-CN" altLang="en-US"/>
              <a:t>处，</a:t>
            </a:r>
            <a:r>
              <a:rPr lang="en-US" altLang="zh-CN"/>
              <a:t>gadget1</a:t>
            </a:r>
            <a:r>
              <a:rPr lang="zh-CN" altLang="en-US"/>
              <a:t>返回到</a:t>
            </a:r>
            <a:r>
              <a:rPr lang="en-US" altLang="zh-CN"/>
              <a:t>gadget2...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一直到</a:t>
            </a:r>
            <a:r>
              <a:rPr lang="en-US" altLang="zh-CN"/>
              <a:t>gadgetn</a:t>
            </a:r>
            <a:r>
              <a:rPr lang="zh-CN" altLang="en-US"/>
              <a:t>返回后恢复到正常状态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    </a:t>
            </a:r>
            <a:r>
              <a:rPr lang="zh-CN" altLang="en-US"/>
              <a:t>其中</a:t>
            </a:r>
            <a:r>
              <a:rPr lang="en-US" altLang="zh-CN"/>
              <a:t>gadget</a:t>
            </a:r>
            <a:r>
              <a:rPr lang="zh-CN" altLang="en-US"/>
              <a:t>是指已经存在于程序内存中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的可运行的小代码片段，通过组合这种片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段来实现攻击目的并正常返回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    </a:t>
            </a:r>
            <a:r>
              <a:rPr lang="zh-CN" altLang="en-US"/>
              <a:t>这种攻击方式无法通过</a:t>
            </a:r>
            <a:r>
              <a:rPr lang="en-US" altLang="zh-CN"/>
              <a:t>canary</a:t>
            </a:r>
            <a:r>
              <a:rPr lang="zh-CN" altLang="en-US"/>
              <a:t>的检验</a:t>
            </a:r>
            <a:endParaRPr lang="zh-CN" altLang="en-US"/>
          </a:p>
        </p:txBody>
      </p:sp>
      <p:pic>
        <p:nvPicPr>
          <p:cNvPr id="4" name="图片 3" descr="9e1853f81295a5ac9b455104d91045e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985" y="1861185"/>
            <a:ext cx="5855335" cy="401701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80" y="3013710"/>
            <a:ext cx="9799320" cy="528320"/>
          </a:xfrm>
        </p:spPr>
        <p:txBody>
          <a:bodyPr>
            <a:noAutofit/>
          </a:bodyPr>
          <a:p>
            <a:r>
              <a:rPr lang="zh-CN" altLang="en-US" sz="3600"/>
              <a:t>我的回课结束，谢谢</a:t>
            </a:r>
            <a:endParaRPr lang="en-US" altLang="zh-CN" sz="36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80" y="4416425"/>
            <a:ext cx="9799320" cy="616585"/>
          </a:xfrm>
        </p:spPr>
        <p:txBody>
          <a:bodyPr/>
          <a:p>
            <a:endParaRPr lang="zh-CN" altLang="en-US" sz="2800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902</Words>
  <Application>WPS 演示</Application>
  <PresentationFormat>宽屏</PresentationFormat>
  <Paragraphs>69</Paragraphs>
  <Slides>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Lec8: machine advanced</vt:lpstr>
      <vt:lpstr>Union</vt:lpstr>
      <vt:lpstr>Union</vt:lpstr>
      <vt:lpstr>Memory Layout</vt:lpstr>
      <vt:lpstr>Buffer Overflow</vt:lpstr>
      <vt:lpstr>Buffer Overflow</vt:lpstr>
      <vt:lpstr>Buffer Overflow</vt:lpstr>
      <vt:lpstr>PowerPoint 演示文稿</vt:lpstr>
      <vt:lpstr>Lec8: machine advanced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徐世安</cp:lastModifiedBy>
  <cp:revision>159</cp:revision>
  <dcterms:created xsi:type="dcterms:W3CDTF">2019-06-19T02:08:00Z</dcterms:created>
  <dcterms:modified xsi:type="dcterms:W3CDTF">2025-10-11T07:31:23Z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0CC14D2E178F4729920F6FF28DEADF73_11</vt:lpwstr>
  </property>
</Properties>
</file>