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3"/>
    <p:sldId id="257" r:id="rId4"/>
    <p:sldId id="471" r:id="rId5"/>
    <p:sldId id="517" r:id="rId6"/>
    <p:sldId id="519" r:id="rId8"/>
    <p:sldId id="520" r:id="rId9"/>
    <p:sldId id="521" r:id="rId10"/>
    <p:sldId id="522" r:id="rId11"/>
    <p:sldId id="514" r:id="rId12"/>
    <p:sldId id="515" r:id="rId13"/>
    <p:sldId id="472" r:id="rId14"/>
    <p:sldId id="422" r:id="rId15"/>
    <p:sldId id="473" r:id="rId16"/>
    <p:sldId id="480" r:id="rId17"/>
    <p:sldId id="481" r:id="rId18"/>
    <p:sldId id="475" r:id="rId19"/>
    <p:sldId id="477" r:id="rId20"/>
    <p:sldId id="431" r:id="rId21"/>
    <p:sldId id="474" r:id="rId22"/>
    <p:sldId id="482" r:id="rId23"/>
    <p:sldId id="483" r:id="rId24"/>
    <p:sldId id="476" r:id="rId25"/>
    <p:sldId id="523" r:id="rId26"/>
    <p:sldId id="484" r:id="rId27"/>
    <p:sldId id="485" r:id="rId28"/>
    <p:sldId id="486" r:id="rId29"/>
    <p:sldId id="487" r:id="rId30"/>
    <p:sldId id="497" r:id="rId31"/>
    <p:sldId id="512" r:id="rId32"/>
    <p:sldId id="513" r:id="rId33"/>
    <p:sldId id="496" r:id="rId34"/>
    <p:sldId id="488" r:id="rId35"/>
    <p:sldId id="489" r:id="rId36"/>
    <p:sldId id="490" r:id="rId37"/>
    <p:sldId id="491" r:id="rId38"/>
    <p:sldId id="492" r:id="rId39"/>
    <p:sldId id="493" r:id="rId40"/>
    <p:sldId id="494" r:id="rId41"/>
    <p:sldId id="499" r:id="rId42"/>
    <p:sldId id="500" r:id="rId43"/>
    <p:sldId id="502" r:id="rId44"/>
    <p:sldId id="503" r:id="rId45"/>
    <p:sldId id="505" r:id="rId46"/>
    <p:sldId id="506" r:id="rId47"/>
    <p:sldId id="507" r:id="rId48"/>
    <p:sldId id="508" r:id="rId49"/>
    <p:sldId id="510" r:id="rId50"/>
    <p:sldId id="511" r:id="rId51"/>
    <p:sldId id="524" r:id="rId52"/>
    <p:sldId id="525" r:id="rId53"/>
    <p:sldId id="526" r:id="rId54"/>
    <p:sldId id="332" r:id="rId5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7" userDrawn="1">
          <p15:clr>
            <a:srgbClr val="A4A3A4"/>
          </p15:clr>
        </p15:guide>
        <p15:guide id="2" pos="376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7"/>
        <p:guide pos="37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9" Type="http://schemas.openxmlformats.org/officeDocument/2006/relationships/commentAuthors" Target="commentAuthors.xml"/><Relationship Id="rId58" Type="http://schemas.openxmlformats.org/officeDocument/2006/relationships/tableStyles" Target="tableStyles.xml"/><Relationship Id="rId57" Type="http://schemas.openxmlformats.org/officeDocument/2006/relationships/viewProps" Target="viewProps.xml"/><Relationship Id="rId56" Type="http://schemas.openxmlformats.org/officeDocument/2006/relationships/presProps" Target="presProps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tags" Target="../tags/tag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tags" Target="../tags/tag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485458"/>
            <a:ext cx="9144000" cy="2387600"/>
          </a:xfrm>
        </p:spPr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ICS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小班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Week10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2924493"/>
            <a:ext cx="9144000" cy="1655762"/>
          </a:xfrm>
        </p:spPr>
        <p:txBody>
          <a:bodyPr/>
          <a:p>
            <a:r>
              <a:rPr lang="en-US" altLang="zh-CN" sz="3600">
                <a:latin typeface="华文中宋" panose="02010600040101010101" charset="-122"/>
                <a:ea typeface="华文中宋" panose="02010600040101010101" charset="-122"/>
              </a:rPr>
              <a:t>2025.11.12</a:t>
            </a:r>
            <a:endParaRPr lang="en-US" altLang="zh-CN" sz="360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编译器驱动程序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642745" y="1454150"/>
            <a:ext cx="8621395" cy="16637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8195" y="3318510"/>
            <a:ext cx="4705350" cy="2905125"/>
          </a:xfrm>
          <a:prstGeom prst="rect">
            <a:avLst/>
          </a:prstGeom>
        </p:spPr>
      </p:pic>
      <p:sp>
        <p:nvSpPr>
          <p:cNvPr id="7" name="内容占位符 2"/>
          <p:cNvSpPr>
            <a:spLocks noGrp="1"/>
          </p:cNvSpPr>
          <p:nvPr/>
        </p:nvSpPr>
        <p:spPr>
          <a:xfrm>
            <a:off x="838200" y="3355975"/>
            <a:ext cx="10305415" cy="28308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链接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可重定位目标文件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→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可执行目标文件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符号解析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+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重定位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符号解析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21322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每个符号对应一个函数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/ 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全局变量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/ 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静态变量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将每个</a:t>
            </a:r>
            <a:r>
              <a:rPr lang="zh-CN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符号引用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和正好一个</a:t>
            </a:r>
            <a:r>
              <a:rPr lang="zh-CN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符号定义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关联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符号解析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3392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引用：被使用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声明与定义（定义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一定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同时是声明）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264285" y="2788920"/>
          <a:ext cx="9879330" cy="3770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3420"/>
                <a:gridCol w="3958590"/>
                <a:gridCol w="3957320"/>
              </a:tblGrid>
              <a:tr h="47879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2400"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latin typeface="华文中宋" panose="02010600040101010101" charset="-122"/>
                          <a:ea typeface="华文中宋" panose="02010600040101010101" charset="-122"/>
                        </a:rPr>
                        <a:t>变量</a:t>
                      </a:r>
                      <a:endParaRPr lang="zh-CN" altLang="en-US" sz="2400"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latin typeface="华文中宋" panose="02010600040101010101" charset="-122"/>
                          <a:ea typeface="华文中宋" panose="02010600040101010101" charset="-122"/>
                        </a:rPr>
                        <a:t>函数</a:t>
                      </a:r>
                      <a:endParaRPr lang="zh-CN" altLang="en-US" sz="2400"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</a:txBody>
                  <a:tcPr/>
                </a:tc>
              </a:tr>
              <a:tr h="8229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有</a:t>
                      </a:r>
                      <a:r>
                        <a:rPr lang="en-US" altLang="zh-CN" sz="24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extern</a:t>
                      </a:r>
                      <a:r>
                        <a:rPr lang="zh-CN" altLang="en-US" sz="24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，无</a:t>
                      </a:r>
                      <a:r>
                        <a:rPr lang="en-US" altLang="zh-CN" sz="24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“</a:t>
                      </a:r>
                      <a:r>
                        <a:rPr lang="zh-CN" altLang="en-US" sz="24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内容</a:t>
                      </a:r>
                      <a:r>
                        <a:rPr lang="en-US" altLang="zh-CN" sz="24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”</a:t>
                      </a:r>
                      <a:endParaRPr lang="en-US" altLang="zh-CN" sz="2400"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extern int x;</a:t>
                      </a:r>
                      <a:endParaRPr lang="zh-CN" altLang="en-US" sz="2400"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24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声明</a:t>
                      </a:r>
                      <a:endParaRPr lang="zh-CN" altLang="en-US" sz="2400"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extern int f();</a:t>
                      </a:r>
                      <a:endParaRPr lang="en-US" altLang="zh-CN" sz="2400"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24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声明</a:t>
                      </a:r>
                      <a:endParaRPr lang="zh-CN" altLang="en-US" sz="2400"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</a:endParaRPr>
                    </a:p>
                  </a:txBody>
                  <a:tcPr/>
                </a:tc>
              </a:tr>
              <a:tr h="8229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有</a:t>
                      </a:r>
                      <a:r>
                        <a:rPr lang="en-US" altLang="zh-CN" sz="24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extern</a:t>
                      </a:r>
                      <a:r>
                        <a:rPr lang="zh-CN" altLang="en-US" sz="24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，有</a:t>
                      </a:r>
                      <a:r>
                        <a:rPr lang="en-US" altLang="zh-CN" sz="24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“</a:t>
                      </a:r>
                      <a:r>
                        <a:rPr lang="zh-CN" altLang="en-US" sz="24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内容</a:t>
                      </a:r>
                      <a:r>
                        <a:rPr lang="en-US" altLang="zh-CN" sz="24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”</a:t>
                      </a:r>
                      <a:endParaRPr lang="en-US" altLang="zh-CN" sz="2400"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？</a:t>
                      </a:r>
                      <a:endParaRPr lang="zh-CN" altLang="en-US" sz="2400"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？</a:t>
                      </a:r>
                      <a:endParaRPr lang="zh-CN" altLang="en-US" sz="2400"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</a:endParaRPr>
                    </a:p>
                  </a:txBody>
                  <a:tcPr/>
                </a:tc>
              </a:tr>
              <a:tr h="8229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无</a:t>
                      </a:r>
                      <a:r>
                        <a:rPr lang="en-US" altLang="zh-CN" sz="24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extern</a:t>
                      </a:r>
                      <a:r>
                        <a:rPr lang="zh-CN" altLang="en-US" sz="24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，无</a:t>
                      </a:r>
                      <a:r>
                        <a:rPr lang="en-US" altLang="zh-CN" sz="24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“</a:t>
                      </a:r>
                      <a:r>
                        <a:rPr lang="zh-CN" altLang="en-US" sz="24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内容</a:t>
                      </a:r>
                      <a:r>
                        <a:rPr lang="en-US" altLang="zh-CN" sz="24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”</a:t>
                      </a:r>
                      <a:endParaRPr lang="en-US" altLang="zh-CN" sz="2400"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int x;</a:t>
                      </a:r>
                      <a:endParaRPr lang="en-US" altLang="zh-CN" sz="2400"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2400">
                          <a:solidFill>
                            <a:srgbClr val="FF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定义（也可能其他文件定义）</a:t>
                      </a:r>
                      <a:endParaRPr lang="zh-CN" altLang="en-US" sz="2400">
                        <a:solidFill>
                          <a:srgbClr val="FF0000"/>
                        </a:solidFill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int f();</a:t>
                      </a:r>
                      <a:endParaRPr lang="en-US" altLang="zh-CN" sz="2400"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2400">
                          <a:solidFill>
                            <a:srgbClr val="FF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声明</a:t>
                      </a:r>
                      <a:endParaRPr lang="zh-CN" altLang="en-US" sz="2400">
                        <a:solidFill>
                          <a:srgbClr val="FF0000"/>
                        </a:solidFill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</a:endParaRPr>
                    </a:p>
                  </a:txBody>
                  <a:tcPr/>
                </a:tc>
              </a:tr>
              <a:tr h="8229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无</a:t>
                      </a:r>
                      <a:r>
                        <a:rPr lang="en-US" altLang="zh-CN" sz="24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extern</a:t>
                      </a:r>
                      <a:r>
                        <a:rPr lang="zh-CN" altLang="en-US" sz="24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，有</a:t>
                      </a:r>
                      <a:r>
                        <a:rPr lang="en-US" altLang="zh-CN" sz="24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“</a:t>
                      </a:r>
                      <a:r>
                        <a:rPr lang="zh-CN" altLang="en-US" sz="24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内容</a:t>
                      </a:r>
                      <a:r>
                        <a:rPr lang="en-US" altLang="zh-CN" sz="24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”</a:t>
                      </a:r>
                      <a:endParaRPr lang="en-US" altLang="zh-CN" sz="2400"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int x = 1;</a:t>
                      </a:r>
                      <a:endParaRPr lang="en-US" altLang="zh-CN" sz="2400"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24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定义</a:t>
                      </a:r>
                      <a:endParaRPr lang="zh-CN" altLang="en-US" sz="2400"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int f() { return 0; }</a:t>
                      </a:r>
                      <a:endParaRPr lang="en-US" altLang="zh-CN" sz="2400"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24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定义</a:t>
                      </a:r>
                      <a:endParaRPr lang="zh-CN" altLang="en-US" sz="2400"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符号解析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21322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该程序中：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f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、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、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printf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被引用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a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f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g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main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被声明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a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g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main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被定义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9395" y="1374140"/>
            <a:ext cx="3969385" cy="51161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r="26483"/>
          <a:stretch>
            <a:fillRect/>
          </a:stretch>
        </p:blipFill>
        <p:spPr>
          <a:xfrm>
            <a:off x="1765300" y="782320"/>
            <a:ext cx="6437630" cy="47523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r="26164"/>
          <a:stretch>
            <a:fillRect/>
          </a:stretch>
        </p:blipFill>
        <p:spPr>
          <a:xfrm>
            <a:off x="1765300" y="782320"/>
            <a:ext cx="6465570" cy="47523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5359400"/>
            <a:ext cx="10305415" cy="110998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6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；</a:t>
            </a: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static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变量仅在模块内使用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符号解析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33925"/>
          </a:xfrm>
        </p:spPr>
        <p:txBody>
          <a:bodyPr>
            <a:normAutofit lnSpcReduction="10000"/>
          </a:bodyPr>
          <a:p>
            <a:pPr marL="0" lvl="2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构建大型项目的一般做法：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lvl="2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函数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定义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放在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.c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文件中，编译到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.o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后链接成可执行文件使用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lvl="2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对外的结构、变量、函数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声明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放在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.h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文件中，其他文件通过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#include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引入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lvl="2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只在内部用到的函数、变量用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static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修饰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lvl="2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符号解析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21322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模块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的符号表包含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定义和引用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的符号的信息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全局符号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模块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定义并能被其他模块引用（非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静态函数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/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非</a:t>
            </a:r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静态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全局变量）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外部符号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其他模块定义并被模块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引用（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非</a:t>
            </a:r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静态函数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/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非</a:t>
            </a:r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静态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全局变量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局部符号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只被模块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定义和引用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（静态函数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/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静态全局变量）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solidFill>
                  <a:srgbClr val="FF0000"/>
                </a:solidFill>
                <a:highlight>
                  <a:srgbClr val="FFFF00"/>
                </a:highligh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非静态</a:t>
            </a:r>
            <a:r>
              <a:rPr lang="en-US" altLang="zh-CN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“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局部变量</a:t>
            </a:r>
            <a:r>
              <a:rPr lang="en-US" altLang="zh-CN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”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保存在栈中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45" y="5748020"/>
            <a:ext cx="9839325" cy="756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符号解析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21322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静态的局部变量？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1360" y="2303145"/>
            <a:ext cx="7999095" cy="41884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符号解析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49389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解析多重定义的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全局符号</a:t>
            </a:r>
            <a:r>
              <a:rPr lang="zh-CN" altLang="en-US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（与</a:t>
            </a:r>
            <a:r>
              <a:rPr lang="en-US" altLang="zh-CN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static</a:t>
            </a:r>
            <a:r>
              <a:rPr lang="zh-CN" altLang="en-US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无关）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强符号：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函数、已初始化的</a:t>
            </a:r>
            <a:r>
              <a:rPr lang="zh-CN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全局变量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弱符号：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未初始化的</a:t>
            </a:r>
            <a:r>
              <a:rPr lang="zh-CN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全局变量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处理重名规则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强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&gt;1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，不允许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强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=1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，选择强符号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强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=0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，任意选择弱符号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可重定位目标文件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6499860" cy="421322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.text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：已编译程序的机器代码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.rodata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：只读数据（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printf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格式串、跳转表）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.data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.bss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：不占据任何实际的磁盘空间，运行时在内存中分配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symtab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：符号表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6955" y="1461770"/>
            <a:ext cx="4173855" cy="4348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  <a:sym typeface="+mn-ea"/>
              </a:rPr>
              <a:t>可重定位目标文件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59041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.data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（已初始化不为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已初始化的全局变量（全局符号，强符号）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已初始化的静态变量（局部符号）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.bss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（未初始化或初始化为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，但不是弱符号）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初始化为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的全局变量（全局符号，强符号）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初始化为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的静态变量（局部符号）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未初始化的静态变量（局部符号）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COMMON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（弱符号）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未初始化的全局变量（全局符号，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弱符号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rcRect r="33007"/>
          <a:stretch>
            <a:fillRect/>
          </a:stretch>
        </p:blipFill>
        <p:spPr>
          <a:xfrm>
            <a:off x="1141095" y="1691005"/>
            <a:ext cx="3562350" cy="43516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r="14659"/>
          <a:stretch>
            <a:fillRect/>
          </a:stretch>
        </p:blipFill>
        <p:spPr>
          <a:xfrm>
            <a:off x="5129530" y="342265"/>
            <a:ext cx="6283960" cy="61963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2675" y="1621155"/>
            <a:ext cx="5123815" cy="46964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rcRect r="33007"/>
          <a:stretch>
            <a:fillRect/>
          </a:stretch>
        </p:blipFill>
        <p:spPr>
          <a:xfrm>
            <a:off x="1141095" y="1691005"/>
            <a:ext cx="3562350" cy="43516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r="14659"/>
          <a:stretch>
            <a:fillRect/>
          </a:stretch>
        </p:blipFill>
        <p:spPr>
          <a:xfrm>
            <a:off x="5129530" y="342265"/>
            <a:ext cx="6283960" cy="61963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重定位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49389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重定位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PC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相对引用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目标：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(PC + 4) + *refptr = ADDR(r.symbol)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r.addend = -4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PC = ADDR(s) + r.offset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*refptr = ADDR(r.symbol) - (PC + 4)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780" y="4930140"/>
            <a:ext cx="8389620" cy="13144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380" y="284480"/>
            <a:ext cx="6809105" cy="2367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重定位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49389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重定位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绝对引用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目标：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*refptr = ADDR(r.symbol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r.addend = 0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*refptr = ADDR(r.symbol)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4870" y="4312285"/>
            <a:ext cx="7712710" cy="66230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355" y="180975"/>
            <a:ext cx="6885305" cy="2433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静态库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965200" y="1797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相关函数被编译为独立的目标模块，封装成单独的静态库文件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优点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链接时只复制被程序引用的目标模块，减少可执行文件大小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缺点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需要定期维护，显式地与更新了的库重新链接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可执行文件的重复（几乎每个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程序都使用标准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I/O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函数）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静态库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965200" y="1797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使用静态库解析引用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从左到右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按照命令行顺序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扫描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未定义符号由更晚出现的文件解析（使用在前，定义在后）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.o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文件完全加入，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.a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文件按需部分加入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965200" y="1797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请对于下面的依赖关系，给出最小的命令行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0830" y="2663190"/>
            <a:ext cx="8504555" cy="51498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965200" y="1797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请对于下面的依赖关系，给出最小的命令行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gcc p.o libx.a liby.a libx.a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不需再加上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p.o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p.o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已经完全加入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0830" y="2663190"/>
            <a:ext cx="8504555" cy="51498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共享库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965200" y="1797685"/>
            <a:ext cx="5058410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通常用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.so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后缀表示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可以加载到任意的内存地址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不需复制到可执行文件中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共享库的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.text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节的一个副本可以被不同的进程共享（见第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9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章）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4625" y="1271270"/>
            <a:ext cx="4584700" cy="489140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库打桩机制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965200" y="1797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截获对共享库函数的调用，取而代之执行自己的代码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编译时打桩：需要能访问程序的源代码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链接时打桩：</a:t>
            </a:r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需要能访问程序的可重定位目标文件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运行时打桩：只需能访问可执行目标文件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异常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965200" y="1797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控制流中的突变，由硬件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+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操作系统实现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处理器：被零除、缺页、内存访问违例、断点、算术运算溢出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操作系统：系统调用、来自外部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I/O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设备的信号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9385" y="3583305"/>
            <a:ext cx="4629785" cy="25711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2710" y="3525520"/>
            <a:ext cx="4210050" cy="27559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异常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965200" y="1797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与过程调用区别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异常返回地址要么是当前指令，要么是下一条指令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处理器也会把额外的处理器状态压到栈中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如果控制转移到内核，这都被压入到内核栈中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异常处理程序运行在内核模式下，对所有系统资源都有完全的访问权限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异常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965200" y="1797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205" y="1483995"/>
            <a:ext cx="9926955" cy="2840355"/>
          </a:xfrm>
          <a:prstGeom prst="rect">
            <a:avLst/>
          </a:prstGeom>
        </p:spPr>
      </p:pic>
      <p:sp>
        <p:nvSpPr>
          <p:cNvPr id="5" name="内容占位符 2"/>
          <p:cNvSpPr>
            <a:spLocks noGrp="1"/>
          </p:cNvSpPr>
          <p:nvPr/>
        </p:nvSpPr>
        <p:spPr>
          <a:xfrm>
            <a:off x="1092200" y="4422140"/>
            <a:ext cx="10271125" cy="2209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中断：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I/O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设备的信号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陷阱：系统调用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故障：除法错误、一般保护故障、缺页等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终止：通常是硬件错误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67385" y="1670685"/>
            <a:ext cx="10856595" cy="40665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255" y="1653540"/>
            <a:ext cx="10861675" cy="408114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8090" y="1866265"/>
            <a:ext cx="9490710" cy="208470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680" y="1789430"/>
            <a:ext cx="9577705" cy="2063115"/>
          </a:xfrm>
          <a:prstGeom prst="rect">
            <a:avLst/>
          </a:prstGeom>
        </p:spPr>
      </p:pic>
      <p:sp>
        <p:nvSpPr>
          <p:cNvPr id="5" name="内容占位符 2"/>
          <p:cNvSpPr>
            <a:spLocks noGrp="1"/>
          </p:cNvSpPr>
          <p:nvPr/>
        </p:nvSpPr>
        <p:spPr>
          <a:xfrm>
            <a:off x="965200" y="4362450"/>
            <a:ext cx="10271125" cy="1504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系统调用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965200" y="1797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%rax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包含系统调用号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所有参数通过寄存器传递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%rdi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%rsi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%rdx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%r10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%r8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%r9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60" y="3441065"/>
            <a:ext cx="10647680" cy="294195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系统调用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965200" y="1797685"/>
            <a:ext cx="4199890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异常表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≠ 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系统调用表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系统调用时，先在异常表中找到处理系统调用的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handler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，再查找系统调用表执行相应的系统调用函数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165090" y="1337310"/>
            <a:ext cx="6779260" cy="406463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进程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965200" y="1797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独立的逻辑控制流（程序独占处理器的假象）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私有的地址空间（程序独占内存系统的假象）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上下文：程序正确运行所需的状态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栈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寄存器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程序计数器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环境变量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打开的文件描述符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进程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965200" y="1797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用户模式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运行应用程序的代码初始时在用户模式中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不允许执行特权指令，如停止处理器、改变模式位、发起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I/O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操作；不允许直接引用地址空间中内核区的代码和数据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内核模式（超级用户模式）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由模式位控制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用户模式通过中断、故障或系统调用变为内核模式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/proc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文件系统允许用户模式进程访问内核数据结构的内容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进程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965200" y="1797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上下文切换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保存当前进程上下文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恢复某个保存的上下文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将控制传递给新恢复的进程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执行系统调用：如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read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访问磁盘、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sleep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显式休眠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中断：时钟中断、磁盘中断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5725" y="958850"/>
            <a:ext cx="6707505" cy="218948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进程控制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965200" y="1797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进程三种状态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、运行：在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CPU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上执行；在等待被执行且最终会被内核调度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、停止：收到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SIGSTOP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SIGTSTP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SIGTTIN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SIGTTOUT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信号，直到收到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SIGCONT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信号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、终止：收到终止信号；从主程序返回；调用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exit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函数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进程控制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965200" y="1797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getpid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：返回进程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PID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getppid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：返回父进程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PID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exit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：终止进程（从不返回）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fork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：复制进程（子进程返回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，父进程返回子进程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PID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waitpid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：回收子进程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sleep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：挂起一段指定的时间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pause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：休眠直到进程收到一个信号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execve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：在当前进程上下文中加载并运行一个新程序（从不返回）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子进程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965200" y="1797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与父进程并发执行，相同但独立的地址空间，共享文件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进程终止时保持在已终止状态中，直到被父进程回收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终止了但未被回收的进程称为僵死进程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如果父进程终止，内核会安排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init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进程成为孤儿进程的养父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0955" y="1691005"/>
            <a:ext cx="2913380" cy="17545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950" y="1670685"/>
            <a:ext cx="2892425" cy="216154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/>
        </p:nvSpPr>
        <p:spPr>
          <a:xfrm>
            <a:off x="965200" y="4408170"/>
            <a:ext cx="10271125" cy="2101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7990" y="1670685"/>
            <a:ext cx="3482340" cy="273748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0955" y="1691005"/>
            <a:ext cx="2913380" cy="17545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950" y="1670685"/>
            <a:ext cx="2892425" cy="216154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/>
        </p:nvSpPr>
        <p:spPr>
          <a:xfrm>
            <a:off x="965200" y="4408170"/>
            <a:ext cx="10271125" cy="2101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AA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AAAA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AAAAAAAA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7990" y="1670685"/>
            <a:ext cx="3482340" cy="273748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691640"/>
            <a:ext cx="3434080" cy="16859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260" y="1691640"/>
            <a:ext cx="3586480" cy="168529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285" y="1691640"/>
            <a:ext cx="3188970" cy="168592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965200" y="4023995"/>
            <a:ext cx="10271125" cy="2101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AAAA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AAAA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AAA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（第一个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fork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返回非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时短路求值，不进行第二个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fork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691640"/>
            <a:ext cx="3434080" cy="16859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260" y="1691640"/>
            <a:ext cx="3586480" cy="168529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285" y="1691640"/>
            <a:ext cx="3188970" cy="168592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35" y="1670685"/>
            <a:ext cx="2922270" cy="17075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720" y="1691005"/>
            <a:ext cx="2951480" cy="20739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945" y="1691005"/>
            <a:ext cx="2871470" cy="207391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965200" y="4023995"/>
            <a:ext cx="10271125" cy="2101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 ; A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 ; A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（换行会刷新缓冲区）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AAAA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（缓冲区被一起复制，若在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printf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后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fflush(stdout)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则为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AA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35" y="1670685"/>
            <a:ext cx="2922270" cy="17075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720" y="1691005"/>
            <a:ext cx="2951480" cy="20739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945" y="1691005"/>
            <a:ext cx="2871470" cy="207391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4305" y="1183640"/>
            <a:ext cx="4108450" cy="375031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4305" y="1045845"/>
            <a:ext cx="4108450" cy="375031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/>
        </p:nvSpPr>
        <p:spPr>
          <a:xfrm>
            <a:off x="965200" y="4933315"/>
            <a:ext cx="10271125" cy="1617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B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 * 3 = 9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个进程，每个进程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个字符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0370" y="953770"/>
            <a:ext cx="3646805" cy="422275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0370" y="953770"/>
            <a:ext cx="3646805" cy="422275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/>
        </p:nvSpPr>
        <p:spPr>
          <a:xfrm>
            <a:off x="965200" y="5469255"/>
            <a:ext cx="10271125" cy="127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AAB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；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ABA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父进程只会等子进程结束，不需等子进程的子进程结束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阶段测验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2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pPr marL="0" indent="0" algn="l">
              <a:buClrTx/>
              <a:buSzTx/>
              <a:buNone/>
            </a:pP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知识前瞻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pPr marL="0" indent="0" algn="l">
              <a:buClrTx/>
              <a:buSzTx/>
              <a:buNone/>
            </a:pPr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信号处理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发送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接收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阻塞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显式等待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延伸阅读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AIOS: LLM Agent Operating System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https://arxiv.org/abs/2403.16971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898843"/>
            <a:ext cx="9144000" cy="2387600"/>
          </a:xfrm>
        </p:spPr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谢谢！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副标题 3"/>
          <p:cNvSpPr/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  <p:tag name="KSO_WM_UNIT_PLACING_PICTURE_USER_VIEWPORT" val="{&quot;height&quot;:1590,&quot;width&quot;:8240}"/>
</p:tagLst>
</file>

<file path=ppt/tags/tag2.xml><?xml version="1.0" encoding="utf-8"?>
<p:tagLst xmlns:p="http://schemas.openxmlformats.org/presentationml/2006/main">
  <p:tag name="TABLE_ENDDRAG_ORIGIN_RECT" val="777*291"/>
  <p:tag name="TABLE_ENDDRAG_RECT" val="103*193*777*291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2994</Words>
  <Application>WPS 演示</Application>
  <PresentationFormat>宽屏</PresentationFormat>
  <Paragraphs>362</Paragraphs>
  <Slides>52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60" baseType="lpstr">
      <vt:lpstr>Arial</vt:lpstr>
      <vt:lpstr>宋体</vt:lpstr>
      <vt:lpstr>Wingdings</vt:lpstr>
      <vt:lpstr>华文中宋</vt:lpstr>
      <vt:lpstr>微软雅黑</vt:lpstr>
      <vt:lpstr>Arial Unicode MS</vt:lpstr>
      <vt:lpstr>Calibri</vt:lpstr>
      <vt:lpstr>WPS</vt:lpstr>
      <vt:lpstr>ICS小班 Week10</vt:lpstr>
      <vt:lpstr>编译器驱动程序</vt:lpstr>
      <vt:lpstr>符号解析</vt:lpstr>
      <vt:lpstr>符号解析</vt:lpstr>
      <vt:lpstr>符号解析</vt:lpstr>
      <vt:lpstr>练习</vt:lpstr>
      <vt:lpstr>练习</vt:lpstr>
      <vt:lpstr>符号解析</vt:lpstr>
      <vt:lpstr>符号解析</vt:lpstr>
      <vt:lpstr>符号解析</vt:lpstr>
      <vt:lpstr>符号解析</vt:lpstr>
      <vt:lpstr>可重定位目标文件</vt:lpstr>
      <vt:lpstr>可重定位目标文件</vt:lpstr>
      <vt:lpstr>练习</vt:lpstr>
      <vt:lpstr>练习</vt:lpstr>
      <vt:lpstr>重定位</vt:lpstr>
      <vt:lpstr>重定位</vt:lpstr>
      <vt:lpstr>静态库</vt:lpstr>
      <vt:lpstr>静态库</vt:lpstr>
      <vt:lpstr>练习</vt:lpstr>
      <vt:lpstr>练习</vt:lpstr>
      <vt:lpstr>共享库</vt:lpstr>
      <vt:lpstr>库打桩机制</vt:lpstr>
      <vt:lpstr>异常</vt:lpstr>
      <vt:lpstr>异常</vt:lpstr>
      <vt:lpstr>异常</vt:lpstr>
      <vt:lpstr>练习</vt:lpstr>
      <vt:lpstr>练习</vt:lpstr>
      <vt:lpstr>练习</vt:lpstr>
      <vt:lpstr>练习</vt:lpstr>
      <vt:lpstr>系统调用</vt:lpstr>
      <vt:lpstr>系统调用</vt:lpstr>
      <vt:lpstr>进程</vt:lpstr>
      <vt:lpstr>进程</vt:lpstr>
      <vt:lpstr>进程</vt:lpstr>
      <vt:lpstr>进程控制</vt:lpstr>
      <vt:lpstr>进程控制</vt:lpstr>
      <vt:lpstr>子进程</vt:lpstr>
      <vt:lpstr>练习</vt:lpstr>
      <vt:lpstr>练习</vt:lpstr>
      <vt:lpstr>练习</vt:lpstr>
      <vt:lpstr>练习</vt:lpstr>
      <vt:lpstr>练习</vt:lpstr>
      <vt:lpstr>练习</vt:lpstr>
      <vt:lpstr>练习</vt:lpstr>
      <vt:lpstr>练习</vt:lpstr>
      <vt:lpstr>练习</vt:lpstr>
      <vt:lpstr>练习</vt:lpstr>
      <vt:lpstr>阶段测验2</vt:lpstr>
      <vt:lpstr>知识前瞻</vt:lpstr>
      <vt:lpstr>延伸阅读</vt:lpstr>
      <vt:lpstr>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Zian Liu</dc:creator>
  <cp:lastModifiedBy>刘梓安</cp:lastModifiedBy>
  <cp:revision>530</cp:revision>
  <dcterms:created xsi:type="dcterms:W3CDTF">2023-08-09T12:44:00Z</dcterms:created>
  <dcterms:modified xsi:type="dcterms:W3CDTF">2025-11-12T12:01:02Z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0FFB374EF87741258E9EC42A4DEF22FC_13</vt:lpwstr>
  </property>
</Properties>
</file>