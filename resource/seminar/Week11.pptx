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3"/>
    <p:sldId id="564" r:id="rId4"/>
    <p:sldId id="549" r:id="rId5"/>
    <p:sldId id="550" r:id="rId6"/>
    <p:sldId id="551" r:id="rId7"/>
    <p:sldId id="548" r:id="rId8"/>
    <p:sldId id="514" r:id="rId9"/>
    <p:sldId id="472" r:id="rId10"/>
    <p:sldId id="515" r:id="rId11"/>
    <p:sldId id="516" r:id="rId12"/>
    <p:sldId id="517" r:id="rId13"/>
    <p:sldId id="518" r:id="rId14"/>
    <p:sldId id="519" r:id="rId15"/>
    <p:sldId id="530" r:id="rId16"/>
    <p:sldId id="531" r:id="rId17"/>
    <p:sldId id="522" r:id="rId18"/>
    <p:sldId id="523" r:id="rId19"/>
    <p:sldId id="521" r:id="rId20"/>
    <p:sldId id="524" r:id="rId21"/>
    <p:sldId id="526" r:id="rId22"/>
    <p:sldId id="527" r:id="rId23"/>
    <p:sldId id="528" r:id="rId24"/>
    <p:sldId id="529" r:id="rId25"/>
    <p:sldId id="546" r:id="rId26"/>
    <p:sldId id="547" r:id="rId27"/>
    <p:sldId id="532" r:id="rId28"/>
    <p:sldId id="533" r:id="rId29"/>
    <p:sldId id="534" r:id="rId30"/>
    <p:sldId id="535" r:id="rId31"/>
    <p:sldId id="536" r:id="rId32"/>
    <p:sldId id="538" r:id="rId33"/>
    <p:sldId id="539" r:id="rId34"/>
    <p:sldId id="541" r:id="rId35"/>
    <p:sldId id="542" r:id="rId36"/>
    <p:sldId id="543" r:id="rId37"/>
    <p:sldId id="544" r:id="rId38"/>
    <p:sldId id="545" r:id="rId39"/>
    <p:sldId id="566" r:id="rId40"/>
    <p:sldId id="567" r:id="rId41"/>
    <p:sldId id="552" r:id="rId42"/>
    <p:sldId id="553" r:id="rId43"/>
    <p:sldId id="554" r:id="rId44"/>
    <p:sldId id="555" r:id="rId45"/>
    <p:sldId id="556" r:id="rId46"/>
    <p:sldId id="557" r:id="rId47"/>
    <p:sldId id="558" r:id="rId48"/>
    <p:sldId id="559" r:id="rId49"/>
    <p:sldId id="560" r:id="rId50"/>
    <p:sldId id="561" r:id="rId51"/>
    <p:sldId id="562" r:id="rId52"/>
    <p:sldId id="563" r:id="rId53"/>
    <p:sldId id="332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tags" Target="../tags/tag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tags" Target="../tags/tag5.xml"/><Relationship Id="rId2" Type="http://schemas.openxmlformats.org/officeDocument/2006/relationships/image" Target="../media/image34.png"/><Relationship Id="rId1" Type="http://schemas.openxmlformats.org/officeDocument/2006/relationships/tags" Target="../tags/tag4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tags" Target="../tags/tag7.xml"/><Relationship Id="rId2" Type="http://schemas.openxmlformats.org/officeDocument/2006/relationships/image" Target="../media/image34.png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tags" Target="../tags/tag9.xml"/><Relationship Id="rId1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tags" Target="../tags/tag11.xml"/><Relationship Id="rId1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tags" Target="../tags/tag1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tags" Target="../tags/tag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2025.11.19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7280" y="298450"/>
            <a:ext cx="7025640" cy="6261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6425" y="1368425"/>
            <a:ext cx="5812790" cy="51809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539490"/>
            <a:ext cx="5602605" cy="2839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45412"/>
          <a:stretch>
            <a:fillRect/>
          </a:stretch>
        </p:blipFill>
        <p:spPr>
          <a:xfrm>
            <a:off x="7715250" y="365125"/>
            <a:ext cx="3999865" cy="6159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内容占位符 10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1691005"/>
            <a:ext cx="7265670" cy="2889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45412"/>
          <a:stretch>
            <a:fillRect/>
          </a:stretch>
        </p:blipFill>
        <p:spPr>
          <a:xfrm>
            <a:off x="7715250" y="365125"/>
            <a:ext cx="3999865" cy="6159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内容占位符 10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1691005"/>
            <a:ext cx="7265670" cy="2889885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/>
        </p:nvSpPr>
        <p:spPr>
          <a:xfrm>
            <a:off x="838200" y="4794250"/>
            <a:ext cx="10305415" cy="18129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init_func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被定义了，也会出现在符号表中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异步的异常、更高层的软件形式的异常（不直接涉及硬件）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内核检测到一个系统事件后发送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/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进程显式要求内核发送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在任何时刻，一种类型至多只有一个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待处理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可以同时存在正在处理的信号和待处理的信号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920" y="3979545"/>
            <a:ext cx="7884160" cy="234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SIGINT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：来自键盘的中断（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Ctrl+C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SIGKILL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：杀死程序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SIGCHILD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：一个子进程停止或终止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SIGSTOP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：不是来自终端的停止信号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SIGTSTP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：来自终端的停止信号（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Ctrl+Z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SIGKILL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SIGSTOP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既不能被捕获，也不能被忽略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发送信号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/bin/kill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程序发送信号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/bin/kill -9 15213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发送信号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给进程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15213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一个负的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导致信号发到进程组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≠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所在进程组）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、从键盘发送信号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Ctrl+C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SIGINT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到前台进程组中的每个进程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Ctrl+Z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SIGTSTP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到前台进程组中的每个进程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发送信号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kill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函数发送信号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kill(pid, sig)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pid&gt;0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pid=0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：调用进程组中每个进程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pid&lt;0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：进程组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|pid|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中每个进程（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≠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所在进程组）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alarm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函数发送信号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alarm(secs)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安排内核在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secs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秒后发送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SIGALARM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信号给调用进程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接收信号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内核把进程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从内核模式切换到用户模式时，会检查未被阻塞的待处理信号集合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进程可以通过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signal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函数修改和信号相关联的默认行为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SIGSTOP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SIGKILL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的默认行为不能修改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885" y="4432935"/>
            <a:ext cx="3780155" cy="11309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05" y="3658235"/>
            <a:ext cx="3908425" cy="2854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接收信号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信号处理程序可以被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其他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信号处理程序中断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165" y="2607945"/>
            <a:ext cx="3429635" cy="14179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25" y="2353310"/>
            <a:ext cx="3713480" cy="4093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阻塞信号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隐式阻塞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内核默认阻塞当前处理程序正在处理信号类型的待处理信号（阻塞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≠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忽略）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显式阻塞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sigprocmask(how, set, oldset)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：增加、减少、覆盖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sigemptyset(set) / sigfillset(set)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sigaddset(set, signum) / sigdelset(set, signum)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阻塞信号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70750" y="1952625"/>
            <a:ext cx="3917950" cy="1285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3395"/>
            <a:ext cx="5923280" cy="3549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820" y="1492885"/>
            <a:ext cx="8679815" cy="2446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820" y="1492885"/>
            <a:ext cx="8679815" cy="2446020"/>
          </a:xfrm>
          <a:prstGeom prst="rect">
            <a:avLst/>
          </a:prstGeom>
        </p:spPr>
      </p:pic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838200" y="4494530"/>
            <a:ext cx="10305415" cy="20535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 T F T T F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SIGKILL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SIGSTOP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既不能被捕获，也不能被忽略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可以被信号中断，如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pause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休眠直到进程收到一个信号）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可以发送给进程组（或通过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pid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发送）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显式等待信号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85521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、错误方法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while(!pid) pause();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while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后和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pause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前收到信号，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pause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会永远休眠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、正确但低效方法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while(!pid) 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while(!pid) sleep(1);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3859530"/>
            <a:ext cx="4735195" cy="2274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显式等待信号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85521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、正确方法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sigsuspend(mask);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168"/>
          <a:stretch>
            <a:fillRect/>
          </a:stretch>
        </p:blipFill>
        <p:spPr>
          <a:xfrm>
            <a:off x="1506855" y="3087370"/>
            <a:ext cx="9178290" cy="1722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925" y="3557270"/>
            <a:ext cx="5044440" cy="244856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问题：信号处理程序和主程序以及其他信号处理程序并发运行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、处理程序尽可能简单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、只调用异步信号安全的函数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printf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sprintf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malloc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exit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不是异步信号安全的函数）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即使在信号处理中调用</a:t>
            </a: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printf 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前阻塞所有信号，也不一定安全</a:t>
            </a:r>
            <a:endParaRPr lang="zh-CN" altLang="en-US" sz="2800">
              <a:solidFill>
                <a:schemeClr val="tx1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信号处理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信号处理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保存和恢复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errno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、阻塞所有信号，保护对共享全局数据结构的访问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volatile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声明全局变量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sig_atomic_t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声明标志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330" y="3821430"/>
            <a:ext cx="3893185" cy="2491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15" y="3821430"/>
            <a:ext cx="6234430" cy="2694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信号处理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问题：信号不排队（每种类型最多只有一个未处理信号）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每次触发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handler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时可能已经有多个信号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10" y="2964815"/>
            <a:ext cx="4822825" cy="2947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410" y="2964815"/>
            <a:ext cx="5030470" cy="3382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并发流同步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530" y="1528445"/>
            <a:ext cx="7409815" cy="1976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3770630"/>
            <a:ext cx="8101330" cy="2557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非本地跳转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956810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setjmp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：调用一次，返回多次（首次返回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longjmp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：从不返回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355" y="1779270"/>
            <a:ext cx="2974975" cy="46081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65" y="3418205"/>
            <a:ext cx="2715895" cy="18878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165" y="4653280"/>
            <a:ext cx="1414145" cy="1734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非本地跳转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信号处理中：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sigsetjmp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siglongjmp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4445" y="1384935"/>
            <a:ext cx="3519170" cy="896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2796540"/>
            <a:ext cx="3240405" cy="2559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35" y="4321175"/>
            <a:ext cx="1612265" cy="10344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770" y="2863850"/>
            <a:ext cx="1333500" cy="24917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595" y="2836545"/>
            <a:ext cx="3220720" cy="2519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13890" y="3210560"/>
            <a:ext cx="7820660" cy="27628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1616710"/>
            <a:ext cx="8936355" cy="1257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25625"/>
            <a:ext cx="5709285" cy="4786630"/>
          </a:xfrm>
        </p:spPr>
        <p:txBody>
          <a:bodyPr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、CPU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执行发现除数为零，触发浮点异常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、CPU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查找异常表，把控制转移给内核中的浮点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异常处理函数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、内核在执行浮点异常处理函数时，发送 SIGFPE 信号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、进程接收到内核发送的 SIGFPE 信号，执行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信号处理函数</a:t>
            </a: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推知终止行为在信号处理函数完成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7830" y="1742440"/>
            <a:ext cx="3406140" cy="2571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190" y="743585"/>
            <a:ext cx="969645" cy="5433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45055" y="500380"/>
            <a:ext cx="7720965" cy="5210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45055" y="500380"/>
            <a:ext cx="7720965" cy="52101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35" y="5658485"/>
            <a:ext cx="8659495" cy="733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95575" y="365125"/>
            <a:ext cx="6229350" cy="4203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1340" y="4643755"/>
            <a:ext cx="8529320" cy="158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95575" y="365125"/>
            <a:ext cx="6229350" cy="4203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40660" y="4534535"/>
            <a:ext cx="6315075" cy="1170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890" y="5705475"/>
            <a:ext cx="8872855" cy="790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65375" y="179070"/>
            <a:ext cx="7098665" cy="3957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75" y="4055745"/>
            <a:ext cx="7154545" cy="14624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385" y="5449570"/>
            <a:ext cx="3169285" cy="309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365" y="5662930"/>
            <a:ext cx="8076565" cy="8801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65375" y="179070"/>
            <a:ext cx="7098665" cy="3957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75" y="4055745"/>
            <a:ext cx="7154545" cy="14624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385" y="5449570"/>
            <a:ext cx="3169285" cy="309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44090" y="531495"/>
            <a:ext cx="8194675" cy="4780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605" y="5032375"/>
            <a:ext cx="9371330" cy="14376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44090" y="531495"/>
            <a:ext cx="8194675" cy="4780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43025" y="1569720"/>
            <a:ext cx="9841865" cy="3206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43025" y="1569720"/>
            <a:ext cx="9841865" cy="320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70" y="4649470"/>
            <a:ext cx="9801225" cy="1028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080" y="1748155"/>
            <a:ext cx="8715375" cy="50330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30" y="309245"/>
            <a:ext cx="7197725" cy="1398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443990"/>
            <a:ext cx="8715375" cy="50330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2129155"/>
            <a:ext cx="2106930" cy="3889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系统级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IO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文件（打开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关闭、读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RIO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包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共享文件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虚拟内存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基本作用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地址翻译规则（多级、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TLB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加速、与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Cache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结合）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动机：程序中存在异常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68245"/>
            <a:ext cx="5167630" cy="19824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130935"/>
            <a:ext cx="2080895" cy="11893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05710"/>
            <a:ext cx="5645150" cy="13995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129405"/>
            <a:ext cx="5628005" cy="1187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try-except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缺点：无法恢复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765" y="2935605"/>
            <a:ext cx="5457825" cy="2924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385" y="2935605"/>
            <a:ext cx="1751965" cy="958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：使用多次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try-except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缺点：程序混乱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185" y="2899410"/>
            <a:ext cx="4488815" cy="3352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980" y="2899410"/>
            <a:ext cx="2119630" cy="1221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：使用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函数包装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缺点：修改异常处理行为时，只能修改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calc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函数或更换函数名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465" y="2899410"/>
            <a:ext cx="4529455" cy="3460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715" y="2899410"/>
            <a:ext cx="2164715" cy="1276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Exception 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Handler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41575"/>
            <a:ext cx="5130800" cy="2071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4746625"/>
            <a:ext cx="2049780" cy="1141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670" y="4746625"/>
            <a:ext cx="3440430" cy="11410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687"/>
          <a:stretch>
            <a:fillRect/>
          </a:stretch>
        </p:blipFill>
        <p:spPr>
          <a:xfrm>
            <a:off x="6328410" y="2441575"/>
            <a:ext cx="5417820" cy="2071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1817370"/>
            <a:ext cx="3541395" cy="40811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620" y="1817370"/>
            <a:ext cx="3060065" cy="4080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6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Exception Handler → Effect Handler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分离错误处理逻辑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主逻辑与副作用分离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330" y="3291840"/>
            <a:ext cx="3973830" cy="1673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56580" y="1691005"/>
            <a:ext cx="3709670" cy="12947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215" y="3274060"/>
            <a:ext cx="3709035" cy="889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215" y="4518660"/>
            <a:ext cx="1341120" cy="404495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838200" y="1825625"/>
            <a:ext cx="10305415" cy="47866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ReadHandler(s):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45720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read(_;c) -&gt; c(s)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38200" y="1825625"/>
            <a:ext cx="10305415" cy="47866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ReverseHandler():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45720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print(s;c) -&gt; c(); print(s)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45720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75" y="3111500"/>
            <a:ext cx="2762250" cy="1795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3111500"/>
            <a:ext cx="3428365" cy="26422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265" y="3111500"/>
            <a:ext cx="578485" cy="2313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38200" y="1825625"/>
            <a:ext cx="10305415" cy="47866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CollectHandler():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45720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return _ -&gt; “”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45720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print(s;c) -&gt; let acc = c() in return s++acc 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6867"/>
          <a:stretch>
            <a:fillRect/>
          </a:stretch>
        </p:blipFill>
        <p:spPr>
          <a:xfrm>
            <a:off x="1396365" y="3429000"/>
            <a:ext cx="2372995" cy="1593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55" y="3429000"/>
            <a:ext cx="2960370" cy="28962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295" y="3429000"/>
            <a:ext cx="954405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38200" y="1825625"/>
            <a:ext cx="10305415" cy="47866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PickFirst():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45720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decide(_;c) -&gt; c(0)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PickMax():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decide(_;c) -&gt; 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let m = c(0) in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let n = c(1) in 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457200" lvl="1" indent="457200">
              <a:buNone/>
            </a:pP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return max(m, n)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520" y="1017905"/>
            <a:ext cx="4094480" cy="22967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520" y="3729990"/>
            <a:ext cx="2933700" cy="22726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425" y="3729990"/>
            <a:ext cx="536575" cy="1010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Effect Handler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38200" y="1825625"/>
            <a:ext cx="10459720" cy="47866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https://overreacted.io/algebraic-effects-for-the-rest-of-us/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https://doc.pypy.org/en/latest/stackless.html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https://www.eff-lang.org/handlers-tutorial.pdf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https://arxiv.org/abs/2507.22048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2527</Words>
  <Application>WPS 演示</Application>
  <PresentationFormat>宽屏</PresentationFormat>
  <Paragraphs>279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Week11</vt:lpstr>
      <vt:lpstr>练习</vt:lpstr>
      <vt:lpstr>练习</vt:lpstr>
      <vt:lpstr>练习</vt:lpstr>
      <vt:lpstr>练习</vt:lpstr>
      <vt:lpstr>信号</vt:lpstr>
      <vt:lpstr>信号</vt:lpstr>
      <vt:lpstr>发送信号</vt:lpstr>
      <vt:lpstr>发送信号</vt:lpstr>
      <vt:lpstr>接收信号</vt:lpstr>
      <vt:lpstr>接收信号</vt:lpstr>
      <vt:lpstr>阻塞信号</vt:lpstr>
      <vt:lpstr>阻塞信号</vt:lpstr>
      <vt:lpstr>练习</vt:lpstr>
      <vt:lpstr>练习</vt:lpstr>
      <vt:lpstr>显式等待信号</vt:lpstr>
      <vt:lpstr>显式等待信号</vt:lpstr>
      <vt:lpstr>信号处理</vt:lpstr>
      <vt:lpstr>信号处理</vt:lpstr>
      <vt:lpstr>信号处理</vt:lpstr>
      <vt:lpstr>并发流同步</vt:lpstr>
      <vt:lpstr>非本地跳转</vt:lpstr>
      <vt:lpstr>非本地跳转</vt:lpstr>
      <vt:lpstr>思考</vt:lpstr>
      <vt:lpstr>思考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知识前瞻</vt:lpstr>
      <vt:lpstr>知识前瞻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Effect Handler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536</cp:revision>
  <dcterms:created xsi:type="dcterms:W3CDTF">2023-08-09T12:44:00Z</dcterms:created>
  <dcterms:modified xsi:type="dcterms:W3CDTF">2025-11-19T13:12:24Z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