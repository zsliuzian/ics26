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4"/>
  </p:notesMasterIdLst>
  <p:sldIdLst>
    <p:sldId id="256" r:id="rId3"/>
    <p:sldId id="471" r:id="rId4"/>
    <p:sldId id="548" r:id="rId5"/>
    <p:sldId id="549" r:id="rId6"/>
    <p:sldId id="514" r:id="rId7"/>
    <p:sldId id="550" r:id="rId8"/>
    <p:sldId id="562" r:id="rId9"/>
    <p:sldId id="551" r:id="rId10"/>
    <p:sldId id="552" r:id="rId11"/>
    <p:sldId id="555" r:id="rId12"/>
    <p:sldId id="554" r:id="rId13"/>
    <p:sldId id="556" r:id="rId14"/>
    <p:sldId id="557" r:id="rId15"/>
    <p:sldId id="558" r:id="rId16"/>
    <p:sldId id="560" r:id="rId17"/>
    <p:sldId id="561" r:id="rId18"/>
    <p:sldId id="565" r:id="rId19"/>
    <p:sldId id="600" r:id="rId20"/>
    <p:sldId id="599" r:id="rId21"/>
    <p:sldId id="566" r:id="rId22"/>
    <p:sldId id="595" r:id="rId23"/>
    <p:sldId id="596" r:id="rId24"/>
    <p:sldId id="567" r:id="rId25"/>
    <p:sldId id="568" r:id="rId26"/>
    <p:sldId id="569" r:id="rId27"/>
    <p:sldId id="570" r:id="rId28"/>
    <p:sldId id="571" r:id="rId29"/>
    <p:sldId id="572" r:id="rId30"/>
    <p:sldId id="573" r:id="rId31"/>
    <p:sldId id="574" r:id="rId32"/>
    <p:sldId id="575" r:id="rId33"/>
    <p:sldId id="577" r:id="rId34"/>
    <p:sldId id="578" r:id="rId35"/>
    <p:sldId id="579" r:id="rId36"/>
    <p:sldId id="580" r:id="rId37"/>
    <p:sldId id="581" r:id="rId38"/>
    <p:sldId id="582" r:id="rId39"/>
    <p:sldId id="583" r:id="rId40"/>
    <p:sldId id="584" r:id="rId41"/>
    <p:sldId id="585" r:id="rId42"/>
    <p:sldId id="586" r:id="rId43"/>
    <p:sldId id="597" r:id="rId44"/>
    <p:sldId id="598" r:id="rId45"/>
    <p:sldId id="593" r:id="rId46"/>
    <p:sldId id="594" r:id="rId47"/>
    <p:sldId id="591" r:id="rId48"/>
    <p:sldId id="592" r:id="rId49"/>
    <p:sldId id="589" r:id="rId50"/>
    <p:sldId id="590" r:id="rId51"/>
    <p:sldId id="601" r:id="rId52"/>
    <p:sldId id="332" r:id="rId5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5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8" Type="http://schemas.openxmlformats.org/officeDocument/2006/relationships/commentAuthors" Target="commentAuthors.xml"/><Relationship Id="rId57" Type="http://schemas.openxmlformats.org/officeDocument/2006/relationships/tableStyles" Target="tableStyles.xml"/><Relationship Id="rId56" Type="http://schemas.openxmlformats.org/officeDocument/2006/relationships/viewProps" Target="viewProps.xml"/><Relationship Id="rId55" Type="http://schemas.openxmlformats.org/officeDocument/2006/relationships/presProps" Target="presProps.xml"/><Relationship Id="rId54" Type="http://schemas.openxmlformats.org/officeDocument/2006/relationships/notesMaster" Target="notesMasters/notesMaster1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485458"/>
            <a:ext cx="9144000" cy="2387600"/>
          </a:xfrm>
        </p:spPr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ICS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小班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Week12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2924493"/>
            <a:ext cx="9144000" cy="1655762"/>
          </a:xfrm>
        </p:spPr>
        <p:txBody>
          <a:bodyPr/>
          <a:p>
            <a:r>
              <a:rPr lang="en-US" altLang="zh-CN" sz="3600">
                <a:latin typeface="华文中宋" panose="02010600040101010101" charset="-122"/>
                <a:ea typeface="华文中宋" panose="02010600040101010101" charset="-122"/>
              </a:rPr>
              <a:t>2025.11.26</a:t>
            </a:r>
            <a:endParaRPr lang="en-US" altLang="zh-CN" sz="360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Unix I/O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所有的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I/O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设备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（网络、磁盘、终端等）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都被模型化为文件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文件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应用程序要求内核打开文件，返回一个小的</a:t>
            </a:r>
            <a:r>
              <a:rPr 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非负整数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叫做描述符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Linux shell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创建的每个进程开始时都有三个打开的文件：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标准输入（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标准输出（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标准错误（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文件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普通文件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文本文件：只含有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ASCII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或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Unicode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字符的普通文件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二进制文件：所有其他文件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、目录：包含一组链接的文件，其中每个链接都将一个文件名映射到一个文件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mkdir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创建目录；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ls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查看内容；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rmdir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删除目录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、套接字：用来与另一个进程进行跨网络通信的文件（第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11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章）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打开和关闭文件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int open(char *filename, int flags, mode_t mode);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返回进程中当前没有打开的最小描述符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int close(int fd);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关闭一个已关闭的描述符会出错（多线程可能出错）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打开和关闭文件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flags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参数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O_RDONLY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：只读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O_WRONLY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：只写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O_RDWR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：可读可写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O_CREAT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：如果文件不存在，就创建一个截断的（空）文件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O_TRUNC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：如果文件已存在，就截断它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O_APPEND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：在每次写操作前，设置文件位置到文件的结尾处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打开和关闭文件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mode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参数：文件访问权限被设置为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mode &amp; ~umask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umask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通过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umask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函数设置）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431415" y="2787015"/>
            <a:ext cx="7119620" cy="3693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读和写文件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ssize_t read(int fd, 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void *buf, size_t n);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ssize_t write(int fd, const 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void *buf, size_t n);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n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为最大字节数，返回成功字节数（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≤n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某些情况下，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read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write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传送的字节比应用程序要求的少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读时遇到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EOF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从终端读入文本行，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read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将一次传送一个文本行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读和写网络套接字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读和写文件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74165" y="1581785"/>
            <a:ext cx="7123430" cy="23672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165" y="4110990"/>
            <a:ext cx="7129780" cy="2473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RIO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包（无缓冲）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ssize_t rio_readn(int fd, void *usrbuf, size_t n);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ssize_t rio_writen(int fd, void *usrbuf, size_t n);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rio_readn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遇到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EOF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返回不足值，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rio_writen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不会返回不足值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对同一个描述符可以任意交错地调用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如果被从应用信号处理程序的返回中断，那么会手动重启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4910" y="4741545"/>
            <a:ext cx="7072630" cy="17551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RIO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包（带缓冲）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void rio_readinitb(rio_t *rp, </a:t>
            </a:r>
            <a:r>
              <a:rPr lang="en-US" alt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int fd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);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ssize_t rio_readlineb(</a:t>
            </a:r>
            <a:r>
              <a:rPr lang="en-US" alt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rio_t *rp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, void *usrbuf, size_t maxlen);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ssize_t rio_readnb(</a:t>
            </a:r>
            <a:r>
              <a:rPr lang="en-US" alt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rio_t *rp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, void *usrbuf, size_t n);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每个描述符都调用一次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rio_readinitb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，和缓冲区联系起来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对同一描述符，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rio_readlineb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rio_readnb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可以任意交叉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带缓冲的函数和无缓冲的函数不应交叉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RIO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包（带缓冲）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rio_readlineb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rio_readnb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的核心是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rio_read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函数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rio_read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函数是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read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函数的带缓冲版本（先尝试读缓冲区）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240" y="3188335"/>
            <a:ext cx="9919335" cy="21310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共享文件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描述符表：每个进程独立，由描述符指向文件表中的表项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文件表：所有进程共享，包括文件位置</a:t>
            </a:r>
            <a:r>
              <a:rPr lang="zh-CN" sz="2800">
                <a:highlight>
                  <a:srgbClr val="FFFF00"/>
                </a:highligh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（读写指针位置）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、引用计数、指向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v-node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表的文件指针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v-node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表：所有进程共享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1600" y="3493770"/>
            <a:ext cx="6439535" cy="31134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共享文件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多个描述符可以通过不同的文件表项来引用同一个文件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对同一个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filename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调用两次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open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6240" y="2908300"/>
            <a:ext cx="6318885" cy="330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共享文件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父子进程共享相同的打开文件表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2715" y="2461260"/>
            <a:ext cx="6636385" cy="3908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I/O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重定向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int dup2(int oldfd, int newfd);</a:t>
            </a:r>
            <a:r>
              <a:rPr lang="zh-CN" altLang="en-US" sz="2800">
                <a:solidFill>
                  <a:schemeClr val="tx1"/>
                </a:solidFill>
                <a:highlight>
                  <a:srgbClr val="FFFF00"/>
                </a:highligh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</a:t>
            </a:r>
            <a:r>
              <a:rPr lang="en-US" altLang="zh-CN" sz="2800">
                <a:solidFill>
                  <a:schemeClr val="tx1"/>
                </a:solidFill>
                <a:highlight>
                  <a:srgbClr val="FFFF00"/>
                </a:highligh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newfd </a:t>
            </a:r>
            <a:r>
              <a:rPr lang="zh-CN" altLang="en-US" sz="2800">
                <a:solidFill>
                  <a:schemeClr val="tx1"/>
                </a:solidFill>
                <a:highlight>
                  <a:srgbClr val="FFFF00"/>
                </a:highligh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被</a:t>
            </a:r>
            <a:r>
              <a:rPr lang="en-US" altLang="zh-CN" sz="2800">
                <a:solidFill>
                  <a:schemeClr val="tx1"/>
                </a:solidFill>
                <a:highlight>
                  <a:srgbClr val="FFFF00"/>
                </a:highligh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oldfd </a:t>
            </a:r>
            <a:r>
              <a:rPr lang="zh-CN" altLang="en-US" sz="2800">
                <a:solidFill>
                  <a:schemeClr val="tx1"/>
                </a:solidFill>
                <a:highlight>
                  <a:srgbClr val="FFFF00"/>
                </a:highligh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覆盖）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int dup(int oldfd);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4020" y="2827020"/>
            <a:ext cx="6073140" cy="35109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3975" y="1592580"/>
            <a:ext cx="9422130" cy="32194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3975" y="1592580"/>
            <a:ext cx="9422130" cy="3219450"/>
          </a:xfrm>
          <a:prstGeom prst="rect">
            <a:avLst/>
          </a:prstGeom>
        </p:spPr>
      </p:pic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838200" y="4812665"/>
            <a:ext cx="10516235" cy="179451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</a:t>
            </a: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01234 → 01334 → 01304 → 013041 → 013011 → 113011</a:t>
            </a: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2885" y="1351280"/>
            <a:ext cx="9206230" cy="3860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9140" y="811530"/>
            <a:ext cx="8534400" cy="357886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4579620"/>
            <a:ext cx="10305415" cy="202755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B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A.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可重定向到其他文件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C.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带缓冲和无缓冲不可交叉使用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D.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再次打开文件对应新的打开文件表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250" y="1654810"/>
            <a:ext cx="10984865" cy="22885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250" y="1654810"/>
            <a:ext cx="10984865" cy="22885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590" y="4302125"/>
            <a:ext cx="10570210" cy="13468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3834" y="270703"/>
            <a:ext cx="8758980" cy="62221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8875" y="365125"/>
            <a:ext cx="8733790" cy="61588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8865" y="365125"/>
            <a:ext cx="8762365" cy="61207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1245" y="474345"/>
            <a:ext cx="8766810" cy="61404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7800" y="93980"/>
            <a:ext cx="7885430" cy="6670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8740" y="191770"/>
            <a:ext cx="7933055" cy="64744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虚拟内存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进程之间共享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内存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资源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不同进程可能有相同虚拟地址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3805" y="2853055"/>
            <a:ext cx="3881755" cy="35566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5560" y="2890520"/>
            <a:ext cx="6716395" cy="3332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虚拟内存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虚拟内存被组织为由存放在</a:t>
            </a:r>
            <a:r>
              <a:rPr 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磁盘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上的单元组成的数组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每字节都有唯一的虚拟地址，作为到数组的索引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磁盘上数组的内容被缓存在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主存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中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将虚拟内存分割为虚拟页：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未分配的：没有任何数据相关联，不占用磁盘空间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缓存的：已缓存在物理内存中的已分配页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未缓存的：未缓存在物理内存中的已分配页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虚拟内存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页表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将虚拟页映射到物理页（将虚拟地址转换为物理地址）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页表存在在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物理内存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中，每个进程独立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页命中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/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缺页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虚拟内存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65899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缺页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触发缺页异常（硬件），调用内核中的缺页异常处理程序（软件）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若已分配，从磁盘调入，程序再次访问成功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若未分配，程序异常退出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如果工作集大小超出了物理内存大小，产生抖动，页面不断换进换出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5" name="内容占位符 4"/>
          <p:cNvPicPr>
            <a:picLocks noChangeAspect="1"/>
          </p:cNvPicPr>
          <p:nvPr/>
        </p:nvPicPr>
        <p:blipFill>
          <a:blip r:embed="rId1"/>
          <a:srcRect b="9114"/>
          <a:stretch>
            <a:fillRect/>
          </a:stretch>
        </p:blipFill>
        <p:spPr>
          <a:xfrm>
            <a:off x="5396865" y="1639570"/>
            <a:ext cx="6405245" cy="36474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虚拟内存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分配页面（如调用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malloc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760" y="2335530"/>
            <a:ext cx="10996295" cy="38804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虚拟内存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作为缓存的工具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页面大、局部性好、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全相联、使用写回（磁盘访问时间过长）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作为内存管理的工具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每个进程都有独立完整的虚拟地址空间，使用相同的基本格式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通过修改页表条目简化加载和共享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页面在物理内存中允许不连续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作为内存保护的工具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在页表中带许可位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地址翻译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虚拟地址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→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物理地址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虚拟地址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= VPN + VPO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物理地址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= PPN + PPO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VPO = PPO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VPN → PPN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页表：索引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= VPN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；值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= PPN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完整索引对应，不存在冲突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页表同样按页存储在内存中（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多级页表常有</a:t>
            </a:r>
            <a:r>
              <a:rPr 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页表大小</a:t>
            </a:r>
            <a:r>
              <a:rPr lang="en-US" alt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= 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页大小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3465" y="944880"/>
            <a:ext cx="7328535" cy="37191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地址翻译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命中时两次访问内存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/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高速缓存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：读页表、读数据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15" y="2764155"/>
            <a:ext cx="10522585" cy="27990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地址翻译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结合高速缓存（访问内存自带访问高速缓冲的行为）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440" y="2642235"/>
            <a:ext cx="5038090" cy="23355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225" y="2550160"/>
            <a:ext cx="6821170" cy="28816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地址翻译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利用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TLB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加速地址翻译（本质是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Cache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TLB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没有块偏移，通常有高度的相联度，与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VPO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无关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VPN → PPN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VPN = TLBT + TLBI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6895" y="2944495"/>
            <a:ext cx="7607300" cy="32613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地址翻译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多级页表：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i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级页表使用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VPN i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查询对应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i+1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级页表的基地址（物理地址）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k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级页表使用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VPN k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查询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PPN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，即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“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物理页的基地址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”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4900" y="846455"/>
            <a:ext cx="6972300" cy="39719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85" y="1751330"/>
            <a:ext cx="4867275" cy="2790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600" y="1584960"/>
            <a:ext cx="10718165" cy="23304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600" y="1584960"/>
            <a:ext cx="10718165" cy="233045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4211955"/>
            <a:ext cx="10305415" cy="239522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B</a:t>
            </a: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映射到同一个页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b="18936"/>
          <a:stretch>
            <a:fillRect/>
          </a:stretch>
        </p:blipFill>
        <p:spPr>
          <a:xfrm>
            <a:off x="989965" y="1739900"/>
            <a:ext cx="10212070" cy="26314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965" y="1739900"/>
            <a:ext cx="10212070" cy="3246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825" y="1436370"/>
            <a:ext cx="10165715" cy="21310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825" y="1436370"/>
            <a:ext cx="10165715" cy="2131060"/>
          </a:xfrm>
          <a:prstGeom prst="rect">
            <a:avLst/>
          </a:prstGeom>
        </p:spPr>
      </p:pic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38200" y="3567430"/>
            <a:ext cx="10305415" cy="249936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A.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基于虚拟地址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B.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基于物理地址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C.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仍在同一个进程中，共享虚拟地址空间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D.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基于物理地址索引，进程间不会冲突（课本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P570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t="6834"/>
          <a:stretch>
            <a:fillRect/>
          </a:stretch>
        </p:blipFill>
        <p:spPr>
          <a:xfrm>
            <a:off x="1595120" y="5968365"/>
            <a:ext cx="9002395" cy="683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050" y="1450340"/>
            <a:ext cx="10121265" cy="2656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050" y="1450340"/>
            <a:ext cx="10121265" cy="2656840"/>
          </a:xfrm>
          <a:prstGeom prst="rect">
            <a:avLst/>
          </a:prstGeom>
        </p:spPr>
      </p:pic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38200" y="4107815"/>
            <a:ext cx="10305415" cy="249936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A/B.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只能说明曾存在过，但可能已经被换替换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C. Cache Line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没有读写执行权限位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670" y="1406525"/>
            <a:ext cx="10106660" cy="29762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670" y="1406525"/>
            <a:ext cx="10106660" cy="297624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4211955"/>
            <a:ext cx="10305415" cy="239522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64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；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页大小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128B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，共需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8KB / 128B = 64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个页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即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64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个页表项，共需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64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×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2B = 128B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大小的页表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页表数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128B / 128B = 1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知识前瞻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pPr marL="0" indent="0" algn="l">
              <a:buClrTx/>
              <a:buSzTx/>
              <a:buNone/>
            </a:pP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虚拟内存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Core i7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地址翻译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Linux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虚拟内存系统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内存映射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898843"/>
            <a:ext cx="9144000" cy="2387600"/>
          </a:xfrm>
        </p:spPr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谢谢！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副标题 3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2801</Words>
  <Application>WPS 演示</Application>
  <PresentationFormat>宽屏</PresentationFormat>
  <Paragraphs>284</Paragraphs>
  <Slides>51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59" baseType="lpstr">
      <vt:lpstr>Arial</vt:lpstr>
      <vt:lpstr>宋体</vt:lpstr>
      <vt:lpstr>Wingdings</vt:lpstr>
      <vt:lpstr>华文中宋</vt:lpstr>
      <vt:lpstr>微软雅黑</vt:lpstr>
      <vt:lpstr>Arial Unicode MS</vt:lpstr>
      <vt:lpstr>Calibri</vt:lpstr>
      <vt:lpstr>WPS</vt:lpstr>
      <vt:lpstr>ICS小班 Week12</vt:lpstr>
      <vt:lpstr>Unix I/O</vt:lpstr>
      <vt:lpstr>文件</vt:lpstr>
      <vt:lpstr>文件</vt:lpstr>
      <vt:lpstr>打开和关闭文件</vt:lpstr>
      <vt:lpstr>打开和关闭文件</vt:lpstr>
      <vt:lpstr>打开和关闭文件</vt:lpstr>
      <vt:lpstr>读和写文件</vt:lpstr>
      <vt:lpstr>读和写文件</vt:lpstr>
      <vt:lpstr>RIO 包（无缓冲）</vt:lpstr>
      <vt:lpstr>RIO 包（带缓冲）</vt:lpstr>
      <vt:lpstr>RIO 包（带缓冲）</vt:lpstr>
      <vt:lpstr>共享文件</vt:lpstr>
      <vt:lpstr>共享文件</vt:lpstr>
      <vt:lpstr>共享文件</vt:lpstr>
      <vt:lpstr>I/O 重定向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虚拟内存</vt:lpstr>
      <vt:lpstr>虚拟内存</vt:lpstr>
      <vt:lpstr>虚拟内存</vt:lpstr>
      <vt:lpstr>虚拟内存</vt:lpstr>
      <vt:lpstr>虚拟内存</vt:lpstr>
      <vt:lpstr>虚拟内存</vt:lpstr>
      <vt:lpstr>地址翻译</vt:lpstr>
      <vt:lpstr>地址翻译</vt:lpstr>
      <vt:lpstr>地址翻译</vt:lpstr>
      <vt:lpstr>地址翻译</vt:lpstr>
      <vt:lpstr>地址翻译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知识前瞻</vt:lpstr>
      <vt:lpstr>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Zian Liu</dc:creator>
  <cp:lastModifiedBy>刘梓安</cp:lastModifiedBy>
  <cp:revision>632</cp:revision>
  <dcterms:created xsi:type="dcterms:W3CDTF">2023-08-09T12:44:00Z</dcterms:created>
  <dcterms:modified xsi:type="dcterms:W3CDTF">2025-11-26T12:41:38Z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0FFB374EF87741258E9EC42A4DEF22FC_13</vt:lpwstr>
  </property>
</Properties>
</file>