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3"/>
    <p:sldId id="855" r:id="rId4"/>
    <p:sldId id="591" r:id="rId5"/>
    <p:sldId id="592" r:id="rId6"/>
    <p:sldId id="593" r:id="rId7"/>
    <p:sldId id="607" r:id="rId8"/>
    <p:sldId id="608" r:id="rId9"/>
    <p:sldId id="852" r:id="rId10"/>
    <p:sldId id="853" r:id="rId11"/>
    <p:sldId id="595" r:id="rId12"/>
    <p:sldId id="596" r:id="rId13"/>
    <p:sldId id="849" r:id="rId14"/>
    <p:sldId id="850" r:id="rId15"/>
    <p:sldId id="851" r:id="rId16"/>
    <p:sldId id="854" r:id="rId17"/>
    <p:sldId id="597" r:id="rId18"/>
    <p:sldId id="598" r:id="rId19"/>
    <p:sldId id="600" r:id="rId20"/>
    <p:sldId id="601" r:id="rId21"/>
    <p:sldId id="602" r:id="rId22"/>
    <p:sldId id="603" r:id="rId23"/>
    <p:sldId id="604" r:id="rId24"/>
    <p:sldId id="605" r:id="rId25"/>
    <p:sldId id="611" r:id="rId26"/>
    <p:sldId id="612" r:id="rId27"/>
    <p:sldId id="606" r:id="rId28"/>
    <p:sldId id="627" r:id="rId29"/>
    <p:sldId id="626" r:id="rId30"/>
    <p:sldId id="628" r:id="rId31"/>
    <p:sldId id="629" r:id="rId32"/>
    <p:sldId id="838" r:id="rId33"/>
    <p:sldId id="839" r:id="rId35"/>
    <p:sldId id="845" r:id="rId36"/>
    <p:sldId id="844" r:id="rId37"/>
    <p:sldId id="840" r:id="rId38"/>
    <p:sldId id="842" r:id="rId39"/>
    <p:sldId id="841" r:id="rId40"/>
    <p:sldId id="843" r:id="rId41"/>
    <p:sldId id="856" r:id="rId42"/>
    <p:sldId id="857" r:id="rId43"/>
    <p:sldId id="332" r:id="rId4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23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8" Type="http://schemas.openxmlformats.org/officeDocument/2006/relationships/commentAuthors" Target="commentAuthors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485458"/>
            <a:ext cx="9144000" cy="2387600"/>
          </a:xfrm>
        </p:spPr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ICS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小班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Week13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2924493"/>
            <a:ext cx="9144000" cy="1655762"/>
          </a:xfrm>
        </p:spPr>
        <p:txBody>
          <a:bodyPr/>
          <a:p>
            <a:r>
              <a:rPr lang="en-US" altLang="zh-CN" sz="3600">
                <a:latin typeface="华文中宋" panose="02010600040101010101" charset="-122"/>
                <a:ea typeface="华文中宋" panose="02010600040101010101" charset="-122"/>
              </a:rPr>
              <a:t>2025.12.3</a:t>
            </a:r>
            <a:endParaRPr lang="en-US" altLang="zh-CN" sz="360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Core i7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sym typeface="+mn-ea"/>
              </a:rPr>
              <a:t>地址翻译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48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位虚拟地址空间、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52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位物理地址空间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兼容模式支持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32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位虚拟和物理地址空间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TLB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虚拟寻址（本身任务翻译虚拟地址）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高速缓存物理寻址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采用四级页表结构，每个进程私有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CR3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控制寄存器指向第一级页表的起始位置，每个进程私有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Linux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使用的是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4KB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的页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Core i7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sym typeface="+mn-ea"/>
              </a:rPr>
              <a:t>地址翻译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42870" y="1401445"/>
            <a:ext cx="6905625" cy="5135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Core i7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sym typeface="+mn-ea"/>
              </a:rPr>
              <a:t>地址翻译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66340" y="1423670"/>
            <a:ext cx="7258685" cy="51466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Core i7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sym typeface="+mn-ea"/>
              </a:rPr>
              <a:t>地址翻译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64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位处理器：进行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64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位的运算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48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位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/52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位地址空间：地址空间大小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en-US" altLang="zh-CN" sz="2800" baseline="30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48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/2</a:t>
            </a:r>
            <a:r>
              <a:rPr lang="en-US" altLang="zh-CN" sz="2800" baseline="30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52</a:t>
            </a:r>
            <a:endParaRPr lang="en-US" altLang="zh-CN" sz="2800" baseline="30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 sz="2800" baseline="30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为什么使用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48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位虚拟地址空间？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页大小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4KB → </a:t>
            </a:r>
            <a:r>
              <a:rPr lang="en-US" alt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VPO/PPO 12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位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页大小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4KB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、页表项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8B →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页表有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en-US" altLang="zh-CN" sz="2800" baseline="30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9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个条目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→ 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每级</a:t>
            </a:r>
            <a:r>
              <a:rPr lang="en-US" alt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VPN 9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位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虚拟地址长度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= 9n + 12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576070"/>
            <a:ext cx="10515600" cy="22929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576070"/>
            <a:ext cx="10515600" cy="229298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/>
        </p:nvSpPr>
        <p:spPr>
          <a:xfrm>
            <a:off x="838200" y="4023995"/>
            <a:ext cx="10305415" cy="258318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13 - 3 = 10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log</a:t>
            </a:r>
            <a:r>
              <a:rPr lang="en-US" altLang="zh-CN" sz="2800" baseline="-25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(2</a:t>
            </a:r>
            <a:r>
              <a:rPr lang="en-US" altLang="zh-CN" sz="2800" baseline="30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13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/8) = 10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10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×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3 = 30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rcRect b="74066"/>
          <a:stretch>
            <a:fillRect/>
          </a:stretch>
        </p:blipFill>
        <p:spPr>
          <a:xfrm>
            <a:off x="770255" y="1781175"/>
            <a:ext cx="7541895" cy="21183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3455" y="598805"/>
            <a:ext cx="3204210" cy="58953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rcRect b="74066"/>
          <a:stretch>
            <a:fillRect/>
          </a:stretch>
        </p:blipFill>
        <p:spPr>
          <a:xfrm>
            <a:off x="770255" y="1781175"/>
            <a:ext cx="7541895" cy="21183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3455" y="598805"/>
            <a:ext cx="3204210" cy="589534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/>
        </p:nvSpPr>
        <p:spPr>
          <a:xfrm>
            <a:off x="838200" y="4023995"/>
            <a:ext cx="10305415" cy="258318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1024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；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5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每个页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4KB / 4B = 1024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个条目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32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位系统需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</a:t>
            </a:r>
            <a:r>
              <a:rPr lang="en-US" altLang="zh-CN" sz="2800" baseline="30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32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B / 4KB = 2</a:t>
            </a:r>
            <a:r>
              <a:rPr lang="en-US" altLang="zh-CN" sz="2800" baseline="30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20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页，即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en-US" altLang="zh-CN" sz="2800" baseline="30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20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个条目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en-US" altLang="zh-CN" sz="2800" baseline="30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20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/ 1024 = 1024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页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个二级页表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+ 1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个一级页表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= 5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页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Core i7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sym typeface="+mn-ea"/>
              </a:rPr>
              <a:t>地址翻译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75205" y="1548765"/>
            <a:ext cx="7642225" cy="48634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Core i7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地址翻译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42210" y="1384300"/>
            <a:ext cx="7307580" cy="51073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2229" t="59649" r="5450"/>
          <a:stretch>
            <a:fillRect/>
          </a:stretch>
        </p:blipFill>
        <p:spPr>
          <a:xfrm>
            <a:off x="6086475" y="3304540"/>
            <a:ext cx="6082030" cy="32061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r="5573"/>
          <a:stretch>
            <a:fillRect/>
          </a:stretch>
        </p:blipFill>
        <p:spPr>
          <a:xfrm>
            <a:off x="0" y="3192145"/>
            <a:ext cx="6003925" cy="33127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050" y="109855"/>
            <a:ext cx="7153275" cy="30270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785" y="1535430"/>
            <a:ext cx="6031865" cy="12134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b="54047"/>
          <a:stretch>
            <a:fillRect/>
          </a:stretch>
        </p:blipFill>
        <p:spPr>
          <a:xfrm>
            <a:off x="228600" y="2889885"/>
            <a:ext cx="6115050" cy="137350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/>
        </p:nvSpPr>
        <p:spPr>
          <a:xfrm>
            <a:off x="838200" y="4445000"/>
            <a:ext cx="10305415" cy="21621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B C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0x00D0 = 000</a:t>
            </a:r>
            <a:r>
              <a:rPr 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0 0000 1</a:t>
            </a: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…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0x2226 = 00</a:t>
            </a:r>
            <a:r>
              <a:rPr lang="en-US" sz="2800">
                <a:solidFill>
                  <a:schemeClr val="tx1"/>
                </a:solidFill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0 0010 0</a:t>
            </a: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…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670" y="365125"/>
            <a:ext cx="5899785" cy="61461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t="46548"/>
          <a:stretch>
            <a:fillRect/>
          </a:stretch>
        </p:blipFill>
        <p:spPr>
          <a:xfrm>
            <a:off x="1711325" y="1518920"/>
            <a:ext cx="8768715" cy="2291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t="46548"/>
          <a:stretch>
            <a:fillRect/>
          </a:stretch>
        </p:blipFill>
        <p:spPr>
          <a:xfrm>
            <a:off x="2188210" y="927735"/>
            <a:ext cx="7913370" cy="206756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/>
        </p:nvSpPr>
        <p:spPr>
          <a:xfrm>
            <a:off x="838200" y="3190875"/>
            <a:ext cx="10690860" cy="34163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0x00E77190 0x0D000980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0x19260817 = </a:t>
            </a:r>
            <a:r>
              <a:rPr 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0001 1001 00</a:t>
            </a:r>
            <a:r>
              <a:rPr lang="en-US" sz="2800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10 0110 0000</a:t>
            </a: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1000 0001 0111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0001100100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×</a:t>
            </a: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4 = 110010000 = 0x190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0x00E77000 + 0x190 = 0x00E77190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1001100000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×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4 = 100110000000 = 0x980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0x0D000</a:t>
            </a:r>
            <a:r>
              <a:rPr lang="en-US" altLang="zh-CN" sz="2800"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000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+ 0x980 = 0x0D000980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Linux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虚拟内存系统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内核虚拟内存的某些区域被映射到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所有进程共享的物理页面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、内核的代码和数据结构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、将连续的虚拟页面（等于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DRAM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总量）映射到连续物理页面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便于访问物理内存中任何特定的位置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例如，访问页表、在一些设备上执行内存映射的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I/O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操作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Linux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虚拟内存系统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33290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每个进程单独的任务结构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en-US" alt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task_struct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任务结构中的一个条目指向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en-US" alt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mm_struct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，描述虚拟内存状态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pgd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指向第一级页表的基址（运行时放在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CR3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寄存器）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mmap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指向一个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en-US" alt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vm_area_structs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的链表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（与硬件地址翻译行为无关）</a:t>
            </a:r>
            <a:endParaRPr lang="zh-CN" altLang="en-US" sz="2800">
              <a:highlight>
                <a:srgbClr val="FFFF00"/>
              </a:highligh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7700" y="1725930"/>
            <a:ext cx="6153150" cy="4394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Linux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虚拟内存系统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缺页异常处理（已经由硬件触发了异常）：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、判断虚拟地址是否在每个段的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start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end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范围内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、判断访问是否合法，即查看权限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、若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1/2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都不是，则为正常缺页，调入新的页面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在实现上区分：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未分配的：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PTE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中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P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位为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0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，在判断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发现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缓存的：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PTE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中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P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位为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1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未缓存的：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PTE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中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P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位为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0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，不会在判断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发现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内存映射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将虚拟内存区域与一个磁盘上的对象关联起来，以初始化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这个虚拟内存区域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的内容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Linux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文件系统中的普通文件（如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execve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加载可执行文件）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、匿名文件（磁盘和内存之间没有实际的数据传送）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内存映射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一个对象可以被映射到虚拟内存的一个区域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共享对象：任何写操作对其他进程可见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私有对象：任何写操作不会反映在磁盘上的对象中（写时复制）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715" y="3777615"/>
            <a:ext cx="5606415" cy="2829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内存映射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私有对象写时复制（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COW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标记为只读，写操作触发保护故障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在物理内存中创建新副本，更新地址，恢复可写权限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重新执行写操作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0250" y="3483610"/>
            <a:ext cx="6753225" cy="29552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内存映射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fork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为新进程创建各种数据结构，分配唯一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PID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创建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mm_struct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、区域结构、页表的原样副本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每个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页面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标为只读，每个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区域结构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标记为写时复制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execve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删除已存在的用户区域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映射私有区域、共享区域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设置程序计数器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内存映射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fork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COW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、父进程有一个可写（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PTE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）的私有（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vm_area_struct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）对象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fork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时，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PTE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改为只读，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vm_area_struct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标记为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COW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、试图写私有对象时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硬件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在地址翻译时，在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PTE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中发现只读，触发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page fault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内核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运行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handler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vm_area_struct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中发现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COW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并完成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现代 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L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inux 中，当 COW 的物理页引用计数为1时，不再拷贝（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PTE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改成可写）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38555" y="1584325"/>
            <a:ext cx="9914255" cy="2387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38555" y="1584325"/>
            <a:ext cx="9914255" cy="238760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/>
        </p:nvSpPr>
        <p:spPr>
          <a:xfrm>
            <a:off x="838200" y="4269740"/>
            <a:ext cx="10305415" cy="233743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B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内存映射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mmap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函数要求内核创建新的虚拟内存区域，映射指定对象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munmap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函数删除虚拟内存的区域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2775" y="2999740"/>
            <a:ext cx="5676900" cy="32975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内存映射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MAP_ANON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：匿名对象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MAP_PRIVATE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：私有的、写时复制的对象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MAP_SHARED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：共享对象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可以通过指针直接读写文件，不需要通过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read/write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系统调用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mmap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映射一次，访问在用户态操作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2500" y="179070"/>
            <a:ext cx="5942965" cy="64992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11" name="内容占位符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" y="1484630"/>
            <a:ext cx="5850890" cy="48202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6790" y="848360"/>
            <a:ext cx="5654040" cy="3679825"/>
          </a:xfrm>
          <a:prstGeom prst="rect">
            <a:avLst/>
          </a:prstGeom>
        </p:spPr>
      </p:pic>
      <p:sp>
        <p:nvSpPr>
          <p:cNvPr id="4" name="内容占位符 2"/>
          <p:cNvSpPr>
            <a:spLocks noGrp="1"/>
          </p:cNvSpPr>
          <p:nvPr/>
        </p:nvSpPr>
        <p:spPr>
          <a:xfrm>
            <a:off x="6160135" y="4684395"/>
            <a:ext cx="5584825" cy="14255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；</a:t>
            </a: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私有时进行写时复制，既不会修改文件，也对其他进程不可见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11" name="内容占位符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" y="1484630"/>
            <a:ext cx="5850890" cy="48202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160135" y="4323080"/>
            <a:ext cx="5584825" cy="182118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；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父子进程对应同一个打开文件表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2340" y="823595"/>
            <a:ext cx="5989320" cy="3306445"/>
          </a:xfrm>
          <a:prstGeom prst="rect">
            <a:avLst/>
          </a:prstGeom>
        </p:spPr>
      </p:pic>
      <p:pic>
        <p:nvPicPr>
          <p:cNvPr id="9" name="内容占位符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" y="1484630"/>
            <a:ext cx="5850890" cy="48202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2025" y="365125"/>
            <a:ext cx="7319645" cy="61747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2800" y="4559300"/>
            <a:ext cx="1944370" cy="194437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390" y="1595120"/>
            <a:ext cx="5638165" cy="4756150"/>
          </a:xfrm>
          <a:prstGeom prst="rect">
            <a:avLst/>
          </a:prstGeom>
        </p:spPr>
      </p:pic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698615" y="1952625"/>
            <a:ext cx="4782185" cy="4678045"/>
          </a:xfrm>
        </p:spPr>
        <p:txBody>
          <a:bodyPr>
            <a:normAutofit/>
          </a:bodyPr>
          <a:p>
            <a:pPr marL="0" algn="l">
              <a:buClrTx/>
              <a:buSzTx/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0000：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；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0001：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；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0.1</a:t>
            </a:r>
            <a:r>
              <a:rPr lang="en-US" altLang="zh-CN" baseline="-25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*1=1/2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1000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-8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；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-0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1101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-3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1.1</a:t>
            </a:r>
            <a:r>
              <a:rPr lang="en-US" altLang="zh-CN" baseline="-250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*2=3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D.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①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④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r="49941" b="23984"/>
          <a:stretch>
            <a:fillRect/>
          </a:stretch>
        </p:blipFill>
        <p:spPr>
          <a:xfrm>
            <a:off x="8308340" y="693420"/>
            <a:ext cx="3141980" cy="57353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b="15649"/>
          <a:stretch>
            <a:fillRect/>
          </a:stretch>
        </p:blipFill>
        <p:spPr>
          <a:xfrm>
            <a:off x="921385" y="1609090"/>
            <a:ext cx="7237095" cy="307022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r="49941" b="23984"/>
          <a:stretch>
            <a:fillRect/>
          </a:stretch>
        </p:blipFill>
        <p:spPr>
          <a:xfrm>
            <a:off x="8308340" y="693420"/>
            <a:ext cx="3141980" cy="57353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b="16312"/>
          <a:stretch>
            <a:fillRect/>
          </a:stretch>
        </p:blipFill>
        <p:spPr>
          <a:xfrm>
            <a:off x="921385" y="1609090"/>
            <a:ext cx="7237095" cy="3046095"/>
          </a:xfrm>
          <a:prstGeom prst="rect">
            <a:avLst/>
          </a:prstGeom>
        </p:spPr>
      </p:pic>
      <p:sp>
        <p:nvSpPr>
          <p:cNvPr id="11" name="内容占位符 2"/>
          <p:cNvSpPr>
            <a:spLocks noGrp="1"/>
          </p:cNvSpPr>
          <p:nvPr/>
        </p:nvSpPr>
        <p:spPr>
          <a:xfrm>
            <a:off x="921385" y="4778375"/>
            <a:ext cx="5584825" cy="11379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16 4 52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  <a:sym typeface="+mn-ea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564005"/>
            <a:ext cx="7765415" cy="25838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885" y="4202430"/>
            <a:ext cx="7277735" cy="20015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  <a:sym typeface="+mn-ea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564005"/>
            <a:ext cx="7765415" cy="25838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885" y="4202430"/>
            <a:ext cx="7277735" cy="2001520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8988425" y="1691005"/>
            <a:ext cx="2365375" cy="481266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valE </a:t>
            </a:r>
            <a:endParaRPr 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valA </a:t>
            </a:r>
            <a:endParaRPr 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valA </a:t>
            </a:r>
            <a:endParaRPr 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valP</a:t>
            </a:r>
            <a:endParaRPr 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!M_cnd</a:t>
            </a:r>
            <a:endParaRPr 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M_valA</a:t>
            </a:r>
            <a:endParaRPr 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W_valM</a:t>
            </a:r>
            <a:endParaRPr 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  <a:sym typeface="+mn-ea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1525" y="587375"/>
            <a:ext cx="7878445" cy="582676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  <a:sym typeface="+mn-ea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1525" y="587375"/>
            <a:ext cx="7878445" cy="5826760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7927975" y="3318510"/>
            <a:ext cx="3926205" cy="318516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</a:t>
            </a:r>
            <a:r>
              <a:rPr lang="en-US" baseline="-250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[PC+1]</a:t>
            </a:r>
            <a:endParaRPr 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valP </a:t>
            </a:r>
            <a:r>
              <a:rPr 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← PC + 2</a:t>
            </a:r>
            <a:endParaRPr 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valE </a:t>
            </a:r>
            <a:r>
              <a:rPr 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← valB + (-1)</a:t>
            </a:r>
            <a:endParaRPr 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if (Cnd) R[rB] </a:t>
            </a:r>
            <a:r>
              <a:rPr 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← valE</a:t>
            </a:r>
            <a:endParaRPr 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知识前瞻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pPr marL="0" indent="0" algn="l">
              <a:buClrTx/>
              <a:buSzTx/>
              <a:buNone/>
            </a:pP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动态内存分配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分配：查找算法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维护空闲块：</a:t>
            </a:r>
            <a:r>
              <a:rPr 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显式/隐式空闲链表</a:t>
            </a:r>
            <a:endParaRPr 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垃圾回收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知识前瞻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pPr marL="0" indent="0" algn="l">
              <a:buClrTx/>
              <a:buSzTx/>
              <a:buNone/>
            </a:pP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计算机网络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基础知识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898843"/>
            <a:ext cx="9144000" cy="2387600"/>
          </a:xfrm>
        </p:spPr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谢谢！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副标题 3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2250</Words>
  <Application>WPS 演示</Application>
  <PresentationFormat>宽屏</PresentationFormat>
  <Paragraphs>233</Paragraphs>
  <Slides>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49" baseType="lpstr">
      <vt:lpstr>Arial</vt:lpstr>
      <vt:lpstr>宋体</vt:lpstr>
      <vt:lpstr>Wingdings</vt:lpstr>
      <vt:lpstr>华文中宋</vt:lpstr>
      <vt:lpstr>微软雅黑</vt:lpstr>
      <vt:lpstr>Arial Unicode MS</vt:lpstr>
      <vt:lpstr>Calibri</vt:lpstr>
      <vt:lpstr>WPS</vt:lpstr>
      <vt:lpstr>ICS小班 Week13</vt:lpstr>
      <vt:lpstr>Core i7 地址翻译</vt:lpstr>
      <vt:lpstr>Core i7 地址翻译</vt:lpstr>
      <vt:lpstr>Core i7 地址翻译</vt:lpstr>
      <vt:lpstr>Core i7 地址翻译</vt:lpstr>
      <vt:lpstr>练习</vt:lpstr>
      <vt:lpstr>练习</vt:lpstr>
      <vt:lpstr>练习</vt:lpstr>
      <vt:lpstr>练习</vt:lpstr>
      <vt:lpstr>Core i7 地址翻译</vt:lpstr>
      <vt:lpstr>Core i7 地址翻译</vt:lpstr>
      <vt:lpstr>练习</vt:lpstr>
      <vt:lpstr>练习</vt:lpstr>
      <vt:lpstr>练习</vt:lpstr>
      <vt:lpstr>练习</vt:lpstr>
      <vt:lpstr>Linux 虚拟内存系统</vt:lpstr>
      <vt:lpstr>Linux 虚拟内存系统</vt:lpstr>
      <vt:lpstr>Linux 虚拟内存系统</vt:lpstr>
      <vt:lpstr>内存映射</vt:lpstr>
      <vt:lpstr>内存映射</vt:lpstr>
      <vt:lpstr>内存映射</vt:lpstr>
      <vt:lpstr>内存映射</vt:lpstr>
      <vt:lpstr>内存映射</vt:lpstr>
      <vt:lpstr>练习</vt:lpstr>
      <vt:lpstr>练习</vt:lpstr>
      <vt:lpstr>内存映射</vt:lpstr>
      <vt:lpstr>内存映射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知识前瞻</vt:lpstr>
      <vt:lpstr>知识前瞻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Zian Liu</dc:creator>
  <cp:lastModifiedBy>刘梓安</cp:lastModifiedBy>
  <cp:revision>711</cp:revision>
  <dcterms:created xsi:type="dcterms:W3CDTF">2023-08-09T12:44:00Z</dcterms:created>
  <dcterms:modified xsi:type="dcterms:W3CDTF">2025-12-03T10:50:11Z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0FFB374EF87741258E9EC42A4DEF22FC_13</vt:lpwstr>
  </property>
</Properties>
</file>