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3"/>
    <p:sldId id="613" r:id="rId4"/>
    <p:sldId id="660" r:id="rId5"/>
    <p:sldId id="614" r:id="rId6"/>
    <p:sldId id="615" r:id="rId7"/>
    <p:sldId id="616" r:id="rId8"/>
    <p:sldId id="621" r:id="rId9"/>
    <p:sldId id="622" r:id="rId10"/>
    <p:sldId id="624" r:id="rId11"/>
    <p:sldId id="625" r:id="rId12"/>
    <p:sldId id="642" r:id="rId13"/>
    <p:sldId id="643" r:id="rId14"/>
    <p:sldId id="644" r:id="rId15"/>
    <p:sldId id="645" r:id="rId16"/>
    <p:sldId id="617" r:id="rId17"/>
    <p:sldId id="619" r:id="rId18"/>
    <p:sldId id="623" r:id="rId19"/>
    <p:sldId id="626" r:id="rId20"/>
    <p:sldId id="628" r:id="rId21"/>
    <p:sldId id="627" r:id="rId22"/>
    <p:sldId id="629" r:id="rId23"/>
    <p:sldId id="630" r:id="rId24"/>
    <p:sldId id="631" r:id="rId25"/>
    <p:sldId id="632" r:id="rId26"/>
    <p:sldId id="633" r:id="rId27"/>
    <p:sldId id="634" r:id="rId28"/>
    <p:sldId id="637" r:id="rId29"/>
    <p:sldId id="636" r:id="rId30"/>
    <p:sldId id="641" r:id="rId31"/>
    <p:sldId id="638" r:id="rId32"/>
    <p:sldId id="640" r:id="rId33"/>
    <p:sldId id="649" r:id="rId34"/>
    <p:sldId id="657" r:id="rId35"/>
    <p:sldId id="656" r:id="rId36"/>
    <p:sldId id="654" r:id="rId37"/>
    <p:sldId id="655" r:id="rId38"/>
    <p:sldId id="658" r:id="rId39"/>
    <p:sldId id="659" r:id="rId40"/>
    <p:sldId id="661" r:id="rId41"/>
    <p:sldId id="332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Week14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2025.12.10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Lab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测验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范围：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Lab 1~7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计划采用选择题判断题的形式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重在检验学生对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的熟悉程度，只要是自己做的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，就应该不难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动态内存分配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分配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堆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中的对象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目标：最大化吞吐量（快）、最大化内存利用率（碎片少）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内部碎片：已分配块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&gt; 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有效载荷（对齐、最小值限制、其他信息）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外部碎片：零散的空闲块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动态内存分配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malloc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函数分配（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calloc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realloc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返回指针指向内存块</a:t>
            </a:r>
            <a:r>
              <a:rPr lang="zh-CN" altLang="en-US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有效载荷开始处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有效载荷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8/16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字节</a:t>
            </a:r>
            <a:r>
              <a:rPr lang="zh-CN" altLang="en-US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基于</a:t>
            </a:r>
            <a:r>
              <a:rPr lang="zh-CN" altLang="en-US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系统调用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free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函数释放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ptr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参数必须是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malloc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calloc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realloc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返回的结果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488" r="5166"/>
          <a:stretch>
            <a:fillRect/>
          </a:stretch>
        </p:blipFill>
        <p:spPr>
          <a:xfrm>
            <a:off x="5369560" y="2759075"/>
            <a:ext cx="6534785" cy="2675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隐式空闲链表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3214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通过记录块大小实现依次遍历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查找：首次适配、下一次适配、最佳适配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分割：分配多少空间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合并：空闲块增加脚部记录块大小，头部记录上一块状态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605" y="4780915"/>
            <a:ext cx="9827260" cy="1403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060" y="890905"/>
            <a:ext cx="4523740" cy="3366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显式空闲链表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通过前驱后继实现链表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连接策略：后进先出、按地址顺序、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按大小分组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610" y="2896870"/>
            <a:ext cx="7510780" cy="353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55" y="1691005"/>
            <a:ext cx="10092055" cy="1737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55" y="1691005"/>
            <a:ext cx="10092055" cy="1737995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838200" y="3569970"/>
            <a:ext cx="10305415" cy="2313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（课本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P594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65" y="4312920"/>
            <a:ext cx="9906635" cy="705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410" y="365125"/>
            <a:ext cx="7324725" cy="6273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410" y="502285"/>
            <a:ext cx="6406515" cy="5487035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838200" y="5951220"/>
            <a:ext cx="10305415" cy="6565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925" y="974725"/>
            <a:ext cx="3305810" cy="4976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4020" r="3831"/>
          <a:stretch>
            <a:fillRect/>
          </a:stretch>
        </p:blipFill>
        <p:spPr>
          <a:xfrm>
            <a:off x="359410" y="1382395"/>
            <a:ext cx="5578475" cy="3247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985"/>
          <a:stretch>
            <a:fillRect/>
          </a:stretch>
        </p:blipFill>
        <p:spPr>
          <a:xfrm>
            <a:off x="5937885" y="649605"/>
            <a:ext cx="6082030" cy="564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4020" r="3831"/>
          <a:stretch>
            <a:fillRect/>
          </a:stretch>
        </p:blipFill>
        <p:spPr>
          <a:xfrm>
            <a:off x="359410" y="1382395"/>
            <a:ext cx="5578475" cy="3247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985"/>
          <a:stretch>
            <a:fillRect/>
          </a:stretch>
        </p:blipFill>
        <p:spPr>
          <a:xfrm>
            <a:off x="5937885" y="649605"/>
            <a:ext cx="6082030" cy="564515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555625" y="4629785"/>
            <a:ext cx="5186045" cy="1978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0x11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（实际块大小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字节）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 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1/16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（最低时分配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字节）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（对齐保证空间足够）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245" y="485140"/>
            <a:ext cx="6451600" cy="43865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4020" r="3831"/>
          <a:stretch>
            <a:fillRect/>
          </a:stretch>
        </p:blipFill>
        <p:spPr>
          <a:xfrm>
            <a:off x="252730" y="1624330"/>
            <a:ext cx="5578475" cy="3247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245" y="485140"/>
            <a:ext cx="6451600" cy="43865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4020" r="3831"/>
          <a:stretch>
            <a:fillRect/>
          </a:stretch>
        </p:blipFill>
        <p:spPr>
          <a:xfrm>
            <a:off x="252730" y="1624330"/>
            <a:ext cx="5578475" cy="324739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944110"/>
            <a:ext cx="10305415" cy="15436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0x10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0x10 = 0001 0000 →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令块大小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字节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262"/>
          <a:stretch>
            <a:fillRect/>
          </a:stretch>
        </p:blipFill>
        <p:spPr>
          <a:xfrm>
            <a:off x="7512685" y="4871720"/>
            <a:ext cx="4582160" cy="1728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垃圾收集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自动释放不再需要的已分配块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根节点：寄存器、栈里的变量、读写数据区的全局变量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保守的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Mark &amp; Sweep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语言不会用类型信息标记内存位置）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715" y="3465830"/>
            <a:ext cx="7144385" cy="2700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480" y="1489710"/>
            <a:ext cx="8632825" cy="2788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480" y="1489710"/>
            <a:ext cx="8632825" cy="278892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838200" y="4455795"/>
            <a:ext cx="10305415" cy="16059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text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不属于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寄存器、栈里的变量、读写数据区的全局变量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网络边缘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934710" cy="4781550"/>
          </a:xfrm>
        </p:spPr>
        <p:txBody>
          <a:bodyPr>
            <a:normAutofit/>
          </a:bodyPr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端系统：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位于互联网边缘与互联网相连的计算机和其他设备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由各类主机（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host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）构成：桌面计算机、移动计算机、服务器等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主机的功能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、运行应用程序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、将程序产生的数据向网络发送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、从网络接收数据提供给应用程序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7045" y="1322705"/>
            <a:ext cx="5078095" cy="4947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网络边缘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/>
          </a:bodyPr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主机内部结构：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用户软件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内核软件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网络设备硬件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1266" name="Picture 2" descr="https://images2015.cnblogs.com/blog/697113/201602/697113-20160228205711695-68937876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140" y="1415415"/>
            <a:ext cx="8274685" cy="486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网络核心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25770" cy="4781550"/>
          </a:xfrm>
        </p:spPr>
        <p:txBody>
          <a:bodyPr>
            <a:normAutofit/>
          </a:bodyPr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由互联端系统的分组交换设备和通信链路构成的网状网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关键技术：分组交换（路由器、交换机）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150" y="1204595"/>
            <a:ext cx="5619115" cy="5196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端系统通过本地网络提供商（access ISP）接入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Internet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本地网络提供商之间也需要互相连接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产生了一个结构极度复杂的当今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Internet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ISP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之间如何连接？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585" y="1818005"/>
            <a:ext cx="8100060" cy="435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145" y="1727200"/>
            <a:ext cx="8286750" cy="4482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8480" y="1732915"/>
            <a:ext cx="8575675" cy="4651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955" y="1419225"/>
            <a:ext cx="8988425" cy="4941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805" y="1087755"/>
            <a:ext cx="8311515" cy="51581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网络架构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网络协议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3450" y="1524635"/>
            <a:ext cx="7785100" cy="474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网络协议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lvl="1" indent="0" algn="l"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每个协议定义自己头部信息，数据被封装为协议载荷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2955" y="607695"/>
            <a:ext cx="6671945" cy="841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10" y="2547620"/>
            <a:ext cx="8371205" cy="3649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网络协议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95" y="1439545"/>
            <a:ext cx="11027410" cy="5015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网络协议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物理层：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定义如何在信道上传输0、1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机械接口、电子信号、时序接口、介质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数据链路层：实现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相邻网络实体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间的数据传输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成帧、错误检测与纠正、共享信道上的访问控制、流量控制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网络层：将数据包跨网络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从源设备发送到目的设备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（主机到主机）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路由、转发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网络协议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/>
          </a:bodyPr>
          <a:p>
            <a:pPr marL="0" lvl="1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传输层：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将数据从源端口发送到目的端口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（进程到进程）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多路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复用、分用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可靠传输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（可选）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：连接管理、差错检验、流量控制、拥塞控制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应用层：提供应用程序便捷的网络服务调用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20765"/>
          <a:stretch>
            <a:fillRect/>
          </a:stretch>
        </p:blipFill>
        <p:spPr>
          <a:xfrm>
            <a:off x="2138045" y="1100455"/>
            <a:ext cx="7753350" cy="550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5865" y="365125"/>
            <a:ext cx="7040245" cy="631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33909"/>
          <a:stretch>
            <a:fillRect/>
          </a:stretch>
        </p:blipFill>
        <p:spPr>
          <a:xfrm>
            <a:off x="892175" y="4521835"/>
            <a:ext cx="9635490" cy="87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85" y="1781810"/>
            <a:ext cx="9954895" cy="2182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781810"/>
            <a:ext cx="9954895" cy="218249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4218305"/>
            <a:ext cx="10516235" cy="2388870"/>
          </a:xfrm>
        </p:spPr>
        <p:txBody>
          <a:bodyPr>
            <a:normAutofit lnSpcReduction="10000"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CD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AB. 0%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miss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之间可能为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1,2,3,4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步，平均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2.5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1-1/2.5=60%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交替被换出，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60%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33909"/>
          <a:stretch>
            <a:fillRect/>
          </a:stretch>
        </p:blipFill>
        <p:spPr>
          <a:xfrm>
            <a:off x="838200" y="2134235"/>
            <a:ext cx="9635490" cy="87503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386455"/>
            <a:ext cx="10516235" cy="2388870"/>
          </a:xfrm>
        </p:spPr>
        <p:txBody>
          <a:bodyPr>
            <a:normAutofit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直接映射：每组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40" y="1595755"/>
            <a:ext cx="9444355" cy="392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640" y="365125"/>
            <a:ext cx="7785735" cy="312928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694430"/>
            <a:ext cx="10516235" cy="2388870"/>
          </a:xfrm>
        </p:spPr>
        <p:txBody>
          <a:bodyPr>
            <a:normAutofit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每个缓存块：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256 / 4 / 2 = 32bytes = 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" y="4223385"/>
            <a:ext cx="11339195" cy="240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计算机网络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IP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地址、域名、因特网连接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WPS 演示</Application>
  <PresentationFormat>宽屏</PresentationFormat>
  <Paragraphs>194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Week14</vt:lpstr>
      <vt:lpstr>Lab 测验</vt:lpstr>
      <vt:lpstr>动态内存分配</vt:lpstr>
      <vt:lpstr>动态内存分配</vt:lpstr>
      <vt:lpstr>隐式空闲链表</vt:lpstr>
      <vt:lpstr>显式空闲链表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垃圾收集</vt:lpstr>
      <vt:lpstr>练习</vt:lpstr>
      <vt:lpstr>练习</vt:lpstr>
      <vt:lpstr>网络边缘</vt:lpstr>
      <vt:lpstr>网络边缘</vt:lpstr>
      <vt:lpstr>网络核心</vt:lpstr>
      <vt:lpstr>网络架构</vt:lpstr>
      <vt:lpstr>网络架构</vt:lpstr>
      <vt:lpstr>网络架构</vt:lpstr>
      <vt:lpstr>网络架构</vt:lpstr>
      <vt:lpstr>网络架构</vt:lpstr>
      <vt:lpstr>网络架构</vt:lpstr>
      <vt:lpstr>网络协议</vt:lpstr>
      <vt:lpstr>网络协议</vt:lpstr>
      <vt:lpstr>网络协议</vt:lpstr>
      <vt:lpstr>网络协议</vt:lpstr>
      <vt:lpstr>网络协议</vt:lpstr>
      <vt:lpstr>练习</vt:lpstr>
      <vt:lpstr>练习</vt:lpstr>
      <vt:lpstr>练习</vt:lpstr>
      <vt:lpstr>练习</vt:lpstr>
      <vt:lpstr>练习</vt:lpstr>
      <vt:lpstr>练习</vt:lpstr>
      <vt:lpstr>练习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719</cp:revision>
  <dcterms:created xsi:type="dcterms:W3CDTF">2023-08-09T12:44:00Z</dcterms:created>
  <dcterms:modified xsi:type="dcterms:W3CDTF">2025-12-10T12:41:31Z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