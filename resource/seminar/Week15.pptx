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3"/>
    <p:sldId id="613" r:id="rId4"/>
    <p:sldId id="642" r:id="rId5"/>
    <p:sldId id="643" r:id="rId6"/>
    <p:sldId id="645" r:id="rId7"/>
    <p:sldId id="646" r:id="rId8"/>
    <p:sldId id="647" r:id="rId9"/>
    <p:sldId id="648" r:id="rId10"/>
    <p:sldId id="650" r:id="rId11"/>
    <p:sldId id="652" r:id="rId12"/>
    <p:sldId id="649" r:id="rId13"/>
    <p:sldId id="654" r:id="rId14"/>
    <p:sldId id="655" r:id="rId15"/>
    <p:sldId id="656" r:id="rId16"/>
    <p:sldId id="657" r:id="rId17"/>
    <p:sldId id="658" r:id="rId18"/>
    <p:sldId id="659" r:id="rId19"/>
    <p:sldId id="660" r:id="rId20"/>
    <p:sldId id="662" r:id="rId21"/>
    <p:sldId id="664" r:id="rId22"/>
    <p:sldId id="671" r:id="rId23"/>
    <p:sldId id="670" r:id="rId24"/>
    <p:sldId id="672" r:id="rId25"/>
    <p:sldId id="667" r:id="rId26"/>
    <p:sldId id="668" r:id="rId27"/>
    <p:sldId id="669" r:id="rId28"/>
    <p:sldId id="678" r:id="rId29"/>
    <p:sldId id="679" r:id="rId30"/>
    <p:sldId id="685" r:id="rId31"/>
    <p:sldId id="680" r:id="rId32"/>
    <p:sldId id="681" r:id="rId33"/>
    <p:sldId id="682" r:id="rId34"/>
    <p:sldId id="683" r:id="rId35"/>
    <p:sldId id="675" r:id="rId36"/>
    <p:sldId id="676" r:id="rId37"/>
    <p:sldId id="677" r:id="rId38"/>
    <p:sldId id="673" r:id="rId39"/>
    <p:sldId id="674" r:id="rId40"/>
    <p:sldId id="684" r:id="rId41"/>
    <p:sldId id="332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commentAuthors" Target="commentAuthors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85458"/>
            <a:ext cx="9144000" cy="2387600"/>
          </a:xfrm>
        </p:spPr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ICS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小班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Week15</a:t>
            </a:r>
            <a:endParaRPr lang="en-US" alt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924493"/>
            <a:ext cx="9144000" cy="1655762"/>
          </a:xfrm>
        </p:spPr>
        <p:txBody>
          <a:bodyPr/>
          <a:p>
            <a:r>
              <a:rPr lang="en-US" altLang="zh-CN" sz="3600">
                <a:latin typeface="华文中宋" panose="02010600040101010101" charset="-122"/>
                <a:ea typeface="华文中宋" panose="02010600040101010101" charset="-122"/>
              </a:rPr>
              <a:t>2025.12.17</a:t>
            </a:r>
            <a:endParaRPr lang="en-US" altLang="zh-CN" sz="3600"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网络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0541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局域网（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Local Area Network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工作在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链路层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最流行的局域网技术是以太网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每个以太网适配器都有全球唯一的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48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每个主机都能看到某一台主机发送的帧，但只有目的主机读取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广域网（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Wide Area Network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，工作在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网络层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多个不兼容的局域网由路由器连接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internet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：一般概念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Internet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：一种具体实现，全球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因特网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IPv4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32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位，点分十进制表示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地址结构中存放的地址总是以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大端法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存放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htonl / htons / ntohl / ntohs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网络和主机字节顺序转换：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host/network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long/short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inet_pton / inet_ntop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点分十进制串和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地址的转换：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presentation/network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两个字段：网络号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+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主机号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algn="l"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记法：在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IP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地址后加上“/”，写上网络前缀所占位数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主机地址：表示网络本身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主机地址：用于子网内广播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子网拥有主机数量：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</a:t>
            </a:r>
            <a:r>
              <a:rPr lang="en-US" altLang="zh-CN" sz="2800" baseline="300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n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-2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5106035"/>
            <a:ext cx="8060055" cy="1163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子网：有相同网络地址的网络接口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子网内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数据传输通过</a:t>
            </a:r>
            <a:r>
              <a:rPr 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链路层</a:t>
            </a: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技术，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不需要</a:t>
            </a: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网络层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路由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子网掩码：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表示网络位，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表示主机位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lvl="1"/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340" y="4067810"/>
            <a:ext cx="9545955" cy="2252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IP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地址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分类编址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私有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510" y="1558290"/>
            <a:ext cx="8173085" cy="28238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690" y="4580255"/>
            <a:ext cx="6442075" cy="168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域名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因特网定义了域名映射到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地址的机制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DNS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domain name system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）维护映射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DNS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是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应用层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协议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多个域名可以对应一个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地址，一个域名可以对应多个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IP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本地定义的域名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localhost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，总是映射为回送地址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127.0.0.1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因特网连接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点对点（连接一对进程）、全双工（数据可以同时双向流动）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连接的端点：套接字（因特网地址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+16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位整数端口）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客户端端口自动分配，服务器端口通常是某个知名端口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Web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服务器：端口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80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；电子邮件服务器：端口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25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两种套接字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流套接字（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SOCK_STREAM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）：可靠，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TCP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使用。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数据报套接字（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SOCK_DGRAM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）：不可靠的，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UDP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使用。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1623060"/>
            <a:ext cx="9502140" cy="2425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1532255"/>
            <a:ext cx="9502140" cy="242506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115435"/>
            <a:ext cx="10516235" cy="22923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主机到主机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固定为大端法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D.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客户端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zh-CN" altLang="en-US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创建套接字描述符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socket(int domain, int type, int protocal);</a:t>
            </a: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domain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指定底层协议族，AF_INET表明IPv4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type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指定服务类型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SOCK_STREAM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传输层使用TCP协议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SOCK_DGRAM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传输层使用UDP协议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protocol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指定一个具体的协议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一般为默认0</a:t>
            </a: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客户端</a:t>
            </a: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发起连接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connect(int clientfd, const stuct sockaddr *addr, 	socklen_t addrlen);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clientfd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：客户端用于连接的套接字描述符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addr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：服务器的套接字地址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addrlen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：地址长度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绑定套接字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bind(int sockfd, const stuct sockaddr *addr, 	socklen_t addrlen);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sockfd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：服务器用于连接的套接字描述符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addr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：服务器的套接字地址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addrlen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：地址长度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转化监听套接字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listen(int sockfd, int backlog);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sockfd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：服务器用于监听连接的套接字描述符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backlog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：内核监听队列的最大长度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如果超过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backlog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将不受理新的客户连接请求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r>
              <a:rPr 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等待连接请求</a:t>
            </a:r>
            <a:endParaRPr lang="zh-CN" sz="2800">
              <a:solidFill>
                <a:srgbClr val="FF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int accept(int listenfd, struct sockaddr *addr, int *addrlen);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listenfd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：服务器用于监听连接的套接字描述符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addr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：获取被接收连接的客户端套接字地址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addrlen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：获取套接字地址的长度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返回一个套接字描述符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，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服务器通过读写该套接字与客户端通信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客户端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clientfd: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发起连接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listenfd: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监听连接请求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（创建一次，存在于服务器的整个生命周期）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connfd: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已建立连接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（对应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一个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特定的客户端）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客户端和服务器将分别通过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clientfd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connfd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传送数据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575" y="434975"/>
            <a:ext cx="3975735" cy="3493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0220" y="1943735"/>
            <a:ext cx="8672195" cy="3709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5240" y="2060575"/>
            <a:ext cx="9527540" cy="25736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主机和服务的转换</a:t>
            </a:r>
            <a:endParaRPr 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getaddrinfo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：将主机名、主机地址、服务名和端口号的字符串转化成套接字地址结构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getnameinfo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：将套接字地址结构转换成相应的主机和服务名字符串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均是可重入的函数，适用于任何协议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endParaRPr lang="zh-CN" altLang="en-US" dirty="0">
              <a:solidFill>
                <a:srgbClr val="0070C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辅助函数（非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Linux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自带）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open_clientfd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：建立与服务器的连接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- open_listenfd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：创建监听描述符，准备好接收连接请求</a:t>
            </a:r>
            <a:endParaRPr lang="zh-CN" altLang="en-US" dirty="0">
              <a:solidFill>
                <a:srgbClr val="0070C0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套接字接口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内容占位符 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52040" y="1469390"/>
            <a:ext cx="7487920" cy="5158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110" y="1776095"/>
            <a:ext cx="9923780" cy="2856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110" y="1776095"/>
            <a:ext cx="9923780" cy="2856865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4869180"/>
            <a:ext cx="10516235" cy="173799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通过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accept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建立已连接描述符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connfd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 altLang="en-US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1659"/>
          <a:stretch>
            <a:fillRect/>
          </a:stretch>
        </p:blipFill>
        <p:spPr>
          <a:xfrm>
            <a:off x="5705475" y="495935"/>
            <a:ext cx="6360795" cy="3508375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838200" y="1825625"/>
            <a:ext cx="5574030" cy="478155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服务器的内核为监听描述符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listenfd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维护了一个监听队列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客户端调用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connect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时，服务器把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client2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放进监听队列，如果成功（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backlog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没有满）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connect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就会返回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服务器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accept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时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，从监听队列中取出一个客户端创建连接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所以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client2 </a:t>
            </a:r>
            <a:r>
              <a:rPr lang="zh-CN" altLang="en-US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阻塞在</a:t>
            </a:r>
            <a:r>
              <a:rPr lang="en-US" altLang="zh-CN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read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21080"/>
          <a:stretch>
            <a:fillRect/>
          </a:stretch>
        </p:blipFill>
        <p:spPr>
          <a:xfrm>
            <a:off x="1285240" y="1594485"/>
            <a:ext cx="8395335" cy="1764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b="26560"/>
          <a:stretch>
            <a:fillRect/>
          </a:stretch>
        </p:blipFill>
        <p:spPr>
          <a:xfrm>
            <a:off x="1238250" y="3596640"/>
            <a:ext cx="9460865" cy="1613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21080"/>
          <a:stretch>
            <a:fillRect/>
          </a:stretch>
        </p:blipFill>
        <p:spPr>
          <a:xfrm>
            <a:off x="1285240" y="1594485"/>
            <a:ext cx="8395335" cy="176403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707130"/>
            <a:ext cx="10516235" cy="260477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F T F F F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、非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HTTP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协议规定；默认端口非强制端口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UDP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协议不需建立连接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4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、可以用网卡驱动接口直接发送数据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26560"/>
          <a:stretch>
            <a:fillRect/>
          </a:stretch>
        </p:blipFill>
        <p:spPr>
          <a:xfrm>
            <a:off x="1238250" y="1691005"/>
            <a:ext cx="9460865" cy="161353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749675"/>
            <a:ext cx="10516235" cy="285750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①③④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②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在进程间传输，不一定在主机间（同一个主机上两个进程）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⑤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TCP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不依赖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DNS</a:t>
            </a:r>
            <a:endParaRPr lang="en-US" altLang="zh-CN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383665"/>
            <a:ext cx="6948805" cy="2388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383665"/>
            <a:ext cx="6948805" cy="238823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749675"/>
            <a:ext cx="10516235" cy="285750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进程已经在</a:t>
            </a:r>
            <a:r>
              <a:rPr lang="en-US" altLang="zh-CN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accept </a:t>
            </a:r>
            <a:r>
              <a:rPr lang="zh-CN" alt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上阻塞，内核直接唤醒，不通过信号通知进程</a:t>
            </a:r>
            <a:endParaRPr lang="zh-CN" alt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华文中宋" panose="02010600040101010101" charset="-122"/>
                <a:ea typeface="华文中宋" panose="02010600040101010101" charset="-122"/>
              </a:rPr>
              <a:t>Proxylab</a:t>
            </a:r>
            <a:endParaRPr lang="en-US" alt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78155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网络代理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并发的网络代理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带缓存的并发的网络代理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739140"/>
            <a:ext cx="8177530" cy="5813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8210" r="3931"/>
          <a:stretch>
            <a:fillRect/>
          </a:stretch>
        </p:blipFill>
        <p:spPr>
          <a:xfrm>
            <a:off x="323215" y="1607820"/>
            <a:ext cx="7423150" cy="4147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975" y="454660"/>
            <a:ext cx="4282440" cy="6069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5239" t="1047" b="2073"/>
          <a:stretch>
            <a:fillRect/>
          </a:stretch>
        </p:blipFill>
        <p:spPr>
          <a:xfrm>
            <a:off x="7520940" y="99695"/>
            <a:ext cx="4375150" cy="6616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10" y="1691005"/>
            <a:ext cx="6882765" cy="4909820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2959100" y="1080770"/>
            <a:ext cx="4295775" cy="568325"/>
          </a:xfrm>
        </p:spPr>
        <p:txBody>
          <a:bodyPr>
            <a:normAutofit/>
          </a:bodyPr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假设均使用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PC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相对引用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5239" t="1047"/>
          <a:stretch>
            <a:fillRect/>
          </a:stretch>
        </p:blipFill>
        <p:spPr>
          <a:xfrm>
            <a:off x="7520940" y="49530"/>
            <a:ext cx="4375150" cy="6758305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76885" y="1825625"/>
            <a:ext cx="6899275" cy="4781550"/>
          </a:xfrm>
        </p:spPr>
        <p:txBody>
          <a:bodyPr>
            <a:normAutofit/>
          </a:bodyPr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①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 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20 20 00 00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0x302e - (0x1009 + 5) = 0x2020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②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未知</a:t>
            </a:r>
            <a:endParaRPr lang="zh-CN" altLang="en-US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③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be 00 00 00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0x10e4 - (0x1021 + 5) = 0xbe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④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00 00 00 00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（立即数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⑤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39 cc de 00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（变量</a:t>
            </a: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count</a:t>
            </a:r>
            <a:r>
              <a:rPr lang="zh-CN" altLang="en-US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）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lvl="1" indent="0" algn="l" fontAlgn="auto">
              <a:lnSpc>
                <a:spcPct val="90000"/>
              </a:lnSpc>
              <a:spcBef>
                <a:spcPts val="1000"/>
              </a:spcBef>
              <a:buClrTx/>
              <a:buSzTx/>
              <a:buNone/>
            </a:pPr>
            <a:r>
              <a:rPr lang="en-US" altLang="zh-CN" sz="28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0xdedd38 - (0x10f4 + 11) = 0xdecc39</a:t>
            </a:r>
            <a:endParaRPr lang="en-US" altLang="zh-CN" sz="280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990" y="178435"/>
            <a:ext cx="3366135" cy="65017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05" y="1365250"/>
            <a:ext cx="7260590" cy="5167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75" y="178435"/>
            <a:ext cx="3366135" cy="65017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t="7545" b="82072"/>
          <a:stretch>
            <a:fillRect/>
          </a:stretch>
        </p:blipFill>
        <p:spPr>
          <a:xfrm>
            <a:off x="624205" y="1501775"/>
            <a:ext cx="7260590" cy="536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2038350"/>
            <a:ext cx="7604125" cy="1154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990" y="178435"/>
            <a:ext cx="3366135" cy="65017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t="17818"/>
          <a:stretch>
            <a:fillRect/>
          </a:stretch>
        </p:blipFill>
        <p:spPr>
          <a:xfrm>
            <a:off x="624205" y="1388110"/>
            <a:ext cx="7260590" cy="4246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" y="5688965"/>
            <a:ext cx="3117850" cy="471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4538" b="2709"/>
          <a:stretch>
            <a:fillRect/>
          </a:stretch>
        </p:blipFill>
        <p:spPr>
          <a:xfrm>
            <a:off x="7463155" y="53975"/>
            <a:ext cx="4728845" cy="6591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3379"/>
          <a:stretch>
            <a:fillRect/>
          </a:stretch>
        </p:blipFill>
        <p:spPr>
          <a:xfrm>
            <a:off x="266700" y="1761490"/>
            <a:ext cx="7387590" cy="18103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3134" r="4268"/>
          <a:stretch>
            <a:fillRect/>
          </a:stretch>
        </p:blipFill>
        <p:spPr>
          <a:xfrm>
            <a:off x="377825" y="4027805"/>
            <a:ext cx="7092315" cy="2618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练习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4538" b="2709"/>
          <a:stretch>
            <a:fillRect/>
          </a:stretch>
        </p:blipFill>
        <p:spPr>
          <a:xfrm>
            <a:off x="7463155" y="53975"/>
            <a:ext cx="4728845" cy="65919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3379"/>
          <a:stretch>
            <a:fillRect/>
          </a:stretch>
        </p:blipFill>
        <p:spPr>
          <a:xfrm>
            <a:off x="256540" y="1530985"/>
            <a:ext cx="7387590" cy="181038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1185" y="3429000"/>
            <a:ext cx="6646545" cy="285750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3, 4, 5, 6, 7, 8, 9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6, 7, 8, 9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>
              <a:buNone/>
            </a:pPr>
            <a:r>
              <a:rPr lang="en-US" sz="28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10!</a:t>
            </a:r>
            <a:endParaRPr lang="en-US" sz="28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</a:rPr>
              <a:t>知识前瞻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 algn="l">
              <a:buClrTx/>
              <a:buSzTx/>
              <a:buNone/>
            </a:pPr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并发编程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基于进程、基于线程、基于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IO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多路复用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并发问题：竞争、死锁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模型：生产者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消费者、读者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-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写者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8843"/>
            <a:ext cx="9144000" cy="2387600"/>
          </a:xfrm>
        </p:spPr>
        <p:txBody>
          <a:bodyPr/>
          <a:p>
            <a:r>
              <a:rPr 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谢谢！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副标题 3"/>
          <p:cNvSpPr/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2563</Words>
  <Application>WPS 演示</Application>
  <PresentationFormat>宽屏</PresentationFormat>
  <Paragraphs>262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9" baseType="lpstr">
      <vt:lpstr>Arial</vt:lpstr>
      <vt:lpstr>宋体</vt:lpstr>
      <vt:lpstr>Wingdings</vt:lpstr>
      <vt:lpstr>华文中宋</vt:lpstr>
      <vt:lpstr>微软雅黑</vt:lpstr>
      <vt:lpstr>Arial Unicode MS</vt:lpstr>
      <vt:lpstr>Calibri</vt:lpstr>
      <vt:lpstr>黑体</vt:lpstr>
      <vt:lpstr>WPS</vt:lpstr>
      <vt:lpstr>ICS小班 Week15</vt:lpstr>
      <vt:lpstr>网络</vt:lpstr>
      <vt:lpstr>IP 地址</vt:lpstr>
      <vt:lpstr>IP 地址</vt:lpstr>
      <vt:lpstr>IP 地址</vt:lpstr>
      <vt:lpstr>IP 地址</vt:lpstr>
      <vt:lpstr>域名</vt:lpstr>
      <vt:lpstr>因特网连接</vt:lpstr>
      <vt:lpstr>练习</vt:lpstr>
      <vt:lpstr>练习</vt:lpstr>
      <vt:lpstr>套接字接口</vt:lpstr>
      <vt:lpstr>套接字接口</vt:lpstr>
      <vt:lpstr>套接字接口</vt:lpstr>
      <vt:lpstr>套接字接口</vt:lpstr>
      <vt:lpstr>套接字接口</vt:lpstr>
      <vt:lpstr>套接字接口</vt:lpstr>
      <vt:lpstr>套接字接口</vt:lpstr>
      <vt:lpstr>套接字接口</vt:lpstr>
      <vt:lpstr>套接字接口</vt:lpstr>
      <vt:lpstr>套接字接口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Proxylab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练习</vt:lpstr>
      <vt:lpstr>知识前瞻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Zian Liu</dc:creator>
  <cp:lastModifiedBy>刘梓安</cp:lastModifiedBy>
  <cp:revision>751</cp:revision>
  <dcterms:created xsi:type="dcterms:W3CDTF">2023-08-09T12:44:00Z</dcterms:created>
  <dcterms:modified xsi:type="dcterms:W3CDTF">2025-12-17T13:12:42Z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0FFB374EF87741258E9EC42A4DEF22FC_13</vt:lpwstr>
  </property>
</Properties>
</file>