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3"/>
    <p:sldId id="710" r:id="rId4"/>
    <p:sldId id="613" r:id="rId5"/>
    <p:sldId id="643" r:id="rId6"/>
    <p:sldId id="644" r:id="rId7"/>
    <p:sldId id="645" r:id="rId8"/>
    <p:sldId id="646" r:id="rId9"/>
    <p:sldId id="642" r:id="rId10"/>
    <p:sldId id="650" r:id="rId11"/>
    <p:sldId id="647" r:id="rId12"/>
    <p:sldId id="648" r:id="rId13"/>
    <p:sldId id="649" r:id="rId14"/>
    <p:sldId id="676" r:id="rId15"/>
    <p:sldId id="677" r:id="rId16"/>
    <p:sldId id="680" r:id="rId17"/>
    <p:sldId id="681" r:id="rId18"/>
    <p:sldId id="682" r:id="rId19"/>
    <p:sldId id="689" r:id="rId20"/>
    <p:sldId id="690" r:id="rId21"/>
    <p:sldId id="691" r:id="rId22"/>
    <p:sldId id="692" r:id="rId23"/>
    <p:sldId id="693" r:id="rId24"/>
    <p:sldId id="694" r:id="rId25"/>
    <p:sldId id="695" r:id="rId26"/>
    <p:sldId id="683" r:id="rId27"/>
    <p:sldId id="685" r:id="rId28"/>
    <p:sldId id="686" r:id="rId29"/>
    <p:sldId id="687" r:id="rId30"/>
    <p:sldId id="655" r:id="rId31"/>
    <p:sldId id="656" r:id="rId32"/>
    <p:sldId id="657" r:id="rId33"/>
    <p:sldId id="658" r:id="rId34"/>
    <p:sldId id="659" r:id="rId35"/>
    <p:sldId id="660" r:id="rId36"/>
    <p:sldId id="661" r:id="rId37"/>
    <p:sldId id="697" r:id="rId38"/>
    <p:sldId id="698" r:id="rId39"/>
    <p:sldId id="699" r:id="rId40"/>
    <p:sldId id="700" r:id="rId41"/>
    <p:sldId id="702" r:id="rId42"/>
    <p:sldId id="703" r:id="rId43"/>
    <p:sldId id="704" r:id="rId44"/>
    <p:sldId id="705" r:id="rId45"/>
    <p:sldId id="706" r:id="rId46"/>
    <p:sldId id="707" r:id="rId47"/>
    <p:sldId id="708" r:id="rId48"/>
    <p:sldId id="332" r:id="rId49"/>
    <p:sldId id="709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Week16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2025.12.24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小班评分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基于进程的并发编程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并发服务器：父进程接受请求，创建子进程为新客户端服务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56280"/>
          <a:stretch>
            <a:fillRect/>
          </a:stretch>
        </p:blipFill>
        <p:spPr>
          <a:xfrm>
            <a:off x="736600" y="2205355"/>
            <a:ext cx="3148330" cy="2155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515" y="2828925"/>
            <a:ext cx="7692390" cy="32518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" y="4502785"/>
            <a:ext cx="3188970" cy="2217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基于进程的并发编程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优点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子进程不影响父进程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进程有独立的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地址空间和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资源，能达到的性能上限高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缺点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进程共享状态信息变得困难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多进程调度开销大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I/O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多路复用的并发编程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假设需要同时响应：客户端请求；键盘命令行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阻塞等待一个则必然无法响应另一个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select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函数：处理描述符集合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内核挂起进程，有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I/O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事件发生后才将控制返回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310" y="4231005"/>
            <a:ext cx="8053070" cy="10801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5453380"/>
            <a:ext cx="3944620" cy="955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830" y="5329555"/>
            <a:ext cx="4375785" cy="1163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I/O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多路复用的并发编程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参数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：描述符集合的最大基数（从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开始，需要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参数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：描述符集合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30" y="2762885"/>
            <a:ext cx="7929880" cy="3597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645" y="2590800"/>
            <a:ext cx="4508500" cy="113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I/O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多路复用的并发编程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单一进程的上下文中，每个逻辑流都能访问全部地址空间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比基于进程的设计高效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编码复杂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不能充分利用多核处理器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基于线程的并发编程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线程：运行在进程上下文中的逻辑流，由内核自动调度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每个线程的线程上下文包括：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栈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、栈指针、程序计数器、通用目的寄存器、条件码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一个进程里的所有线程共享该进程的：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虚拟地址空间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代码、数据、堆、共享库、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打开的文件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线程栈不对其他线程设防，可以通过指针读写其他线程的栈</a:t>
            </a:r>
            <a:endParaRPr lang="zh-CN" altLang="en-US" sz="2800"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基于线程的并发编程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进程：运行中的程序实例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地址空间相互独立，难以实现共享，切换开销大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线程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“轻量级”进程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共享地址空间等进程上下文，切换开销小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高度的共享引起竞争、饥饿、死锁等问题</a:t>
            </a:r>
            <a:endParaRPr lang="zh-CN" altLang="en-US" sz="2800"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基于线程的并发编程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pthread_create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：创建新线程，在新线程运行线程例程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f(arg)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pthread_self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：获取线程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pthread_exit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：线程显式终止（主线程等待对等线程终止）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pthread_cancel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：终止线程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tid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pthread_join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：等待线程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tid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终止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pthread_detach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：分离线程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，不被其他线程回收或杀死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pthread_once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：初始化与线程例程相关的状态（防止初始化多次）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基于线程的并发编程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926840"/>
            <a:ext cx="10162540" cy="237871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传指针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——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参数只能是指针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动态分配内存块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——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防止与主线程竞争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detach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free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close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160" y="1278890"/>
            <a:ext cx="4384040" cy="264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共享变量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全局变量：定义在函数之外的变量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虚拟内存读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写数据区只包含一个实例，任何线程都可以引用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本地自动变量：定义在函数内但没有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static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属性的变量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每个线程栈都包含自己对应的实例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本地静态变量：定义在函数内并有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static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属性的变量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虚拟内存读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写数据区只包含一个实例，每个线程读写这个实例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一个变量是共享的，当且仅当它的一个实例被一个以上线程引用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共享变量也有可能是本地自动变量（通过指针引用）</a:t>
            </a:r>
            <a:endParaRPr lang="zh-CN" altLang="en-US" sz="2800"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190" y="149225"/>
            <a:ext cx="8152765" cy="6558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015" y="365125"/>
            <a:ext cx="7825105" cy="6068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并发问题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线程安全：被多个并发线程反复调用能产生正确结果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可重入：被多个线程调用时，不会用任何共享数据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可重入函数一定是线程安全函数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大多数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Linux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函数包括定义在标准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库中的函数都是线程安全的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printf </a:t>
            </a:r>
            <a:r>
              <a:rPr lang="zh-CN" altLang="en-US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是线程安全的，不是可重入的</a:t>
            </a:r>
            <a:endParaRPr lang="zh-CN" altLang="en-US" sz="2800"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并发问题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线程不安全函数类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、不保护共享变量的函数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、保持跨越多个调用的状态的函数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函数内部保存某些变量，在调用后仍存在，影响下次调用结果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、返回指向静态变量的指针的函数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、调用线程不安全函数的函数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竞争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竞争：一个线程需要避免另一个线程到达控制流中某点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对全局变量的读写：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 → Use → Store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cnt + 1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cnt + 1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同一条指令顺序一致，不同指令间顺序不保证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竞争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若一条指令已经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Load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，则必须在其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Store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后其他指令才能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Load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0910" y="2473325"/>
            <a:ext cx="5249545" cy="3736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信号量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P(&amp;s)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：等待直到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非零（或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本身非零），将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V(&amp;s)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加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都是原子操作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没有定义等待线程被启动的顺序，不能预测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后哪个线程会启动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 = 1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P(&amp;s); cnt++; V(&amp;s)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P(&amp;s); cnt++; V(&amp;s)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 </a:t>
            </a:r>
            <a:r>
              <a:rPr lang="en-US" altLang="zh-CN">
                <a:solidFill>
                  <a:srgbClr val="00B0F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00B0F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信号量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 </a:t>
            </a:r>
            <a:r>
              <a:rPr lang="en-US" altLang="zh-CN">
                <a:solidFill>
                  <a:srgbClr val="00B0F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</a:t>
            </a:r>
            <a:r>
              <a:rPr lang="en-US" altLang="zh-CN" baseline="-25000">
                <a:solidFill>
                  <a:srgbClr val="00B0F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Store</a:t>
            </a:r>
            <a:r>
              <a:rPr lang="en-US" altLang="zh-CN" baseline="-250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095" y="2454275"/>
            <a:ext cx="5339080" cy="3972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855" y="721995"/>
            <a:ext cx="8360410" cy="5236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631825"/>
            <a:ext cx="7866380" cy="4927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15" y="5787390"/>
            <a:ext cx="10700385" cy="789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4368"/>
          <a:stretch>
            <a:fillRect/>
          </a:stretch>
        </p:blipFill>
        <p:spPr>
          <a:xfrm>
            <a:off x="2613025" y="259080"/>
            <a:ext cx="6637655" cy="6268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4368"/>
          <a:stretch>
            <a:fillRect/>
          </a:stretch>
        </p:blipFill>
        <p:spPr>
          <a:xfrm>
            <a:off x="213360" y="1496060"/>
            <a:ext cx="5490210" cy="518477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6148705" y="1825625"/>
            <a:ext cx="5205730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16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12/9/6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6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12/6/6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9/9/6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9/6/6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6/6/6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一定会分别正确算出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12/9/6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Load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不确定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可能是更小的数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不确定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可能乱序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死锁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死锁：一组线程被阻塞了，等待一个永远也不会为真的条件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P(&amp;s); P(&amp;t); V(&amp;s); V(&amp;t)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P(&amp;t); P(&amp;s); V(&amp;t); V(&amp;s)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禁止区由同一个互斥锁决定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死锁状态由多个禁止区决定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7290" y="2446655"/>
            <a:ext cx="5464810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死锁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5495290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死锁产生的必要条件：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资源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使用存在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互斥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线程同时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占有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且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等待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存在一个环形等待队列，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</a:t>
            </a:r>
            <a:r>
              <a:rPr lang="en-US" altLang="zh-CN" sz="2800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等待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</a:t>
            </a:r>
            <a:r>
              <a:rPr lang="en-US" altLang="zh-CN" sz="2800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(i+1) mod n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占用的资源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解决：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允许一起使用筷子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一次性占有两根筷子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优先选择编号小的筷子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5" y="1546225"/>
            <a:ext cx="5204460" cy="4444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45765" y="767715"/>
            <a:ext cx="6301740" cy="5638165"/>
            <a:chOff x="454730" y="1858457"/>
            <a:chExt cx="5744893" cy="515036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t="67974"/>
            <a:stretch>
              <a:fillRect/>
            </a:stretch>
          </p:blipFill>
          <p:spPr>
            <a:xfrm>
              <a:off x="454730" y="4468309"/>
              <a:ext cx="5744893" cy="2540514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/>
            <a:srcRect b="67089"/>
            <a:stretch>
              <a:fillRect/>
            </a:stretch>
          </p:blipFill>
          <p:spPr>
            <a:xfrm>
              <a:off x="454731" y="1858457"/>
              <a:ext cx="5743085" cy="260984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30935" y="1388110"/>
            <a:ext cx="5590540" cy="5107940"/>
            <a:chOff x="454730" y="1858457"/>
            <a:chExt cx="5744893" cy="515036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t="67974"/>
            <a:stretch>
              <a:fillRect/>
            </a:stretch>
          </p:blipFill>
          <p:spPr>
            <a:xfrm>
              <a:off x="454730" y="4468309"/>
              <a:ext cx="5744893" cy="2540514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/>
            <a:srcRect b="67089"/>
            <a:stretch>
              <a:fillRect/>
            </a:stretch>
          </p:blipFill>
          <p:spPr>
            <a:xfrm>
              <a:off x="454731" y="1858457"/>
              <a:ext cx="5743085" cy="2609848"/>
            </a:xfrm>
            <a:prstGeom prst="rect">
              <a:avLst/>
            </a:prstGeom>
          </p:spPr>
        </p:pic>
      </p:grpSp>
      <p:sp>
        <p:nvSpPr>
          <p:cNvPr id="6" name="内容占位符 2"/>
          <p:cNvSpPr>
            <a:spLocks noGrp="1"/>
          </p:cNvSpPr>
          <p:nvPr/>
        </p:nvSpPr>
        <p:spPr>
          <a:xfrm>
            <a:off x="6891020" y="1825625"/>
            <a:ext cx="4980940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①②：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P(d) P(a)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①③：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P(d) P(a)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②③：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P(d)</a:t>
            </a:r>
            <a:r>
              <a:rPr lang="zh-CN" altLang="en-US" sz="2800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第二个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P(c)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生产者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消费者问题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多个生产者线程，多个消费者线程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生产者生成资源（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），消费者使用资源（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默认有：任何时刻资源数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≥0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（资源为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时无法使用）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并假设：缓冲区有限，任何时刻空槽数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≥0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空槽为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时无法生产）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055" y="4236085"/>
            <a:ext cx="6739255" cy="1327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生产者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消费者问题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items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：资源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slots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：槽位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mutex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：对生产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消费过程中访问共享资源的控制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905" y="3375025"/>
            <a:ext cx="2856865" cy="2940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060" y="3375025"/>
            <a:ext cx="2922270" cy="2939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生产者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消费者问题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生产者能否先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P(&amp;mutex)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P(&amp;slots)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（消费者同理）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生产者在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P(&amp;mutex)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抢占到了控制权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若此时空槽不足，阻塞在了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P(&amp;slots)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则任何一个消费者都阻塞在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P(&amp;mutex)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无法消费资源，腾出空槽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从而构成死锁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9490" y="365125"/>
            <a:ext cx="2840355" cy="29387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490" y="3556000"/>
            <a:ext cx="2850515" cy="2867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读者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写者问题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读者可以和无限个其他读者共享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写者必须独占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第一类：读者优先，不让读者等待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第二类：写者优先，一旦写者准备好可以写就会尽快完成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读者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写者问题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第一类：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读者优先，不让读者等待</a:t>
            </a:r>
            <a:r>
              <a:rPr lang="zh-CN" altLang="en-US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（写者可能饥饿）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mutex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：共享的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readcnt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w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：读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写资源（写者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第一个读者抢占；写者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最后一个读者释放）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460" y="3310255"/>
            <a:ext cx="3453130" cy="32969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605" y="3310255"/>
            <a:ext cx="2351405" cy="1978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读者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写者问题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第二类：写者优先，一旦写者准备好可以写就会尽快完成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读者们阻止写者写，写者们阻止读者们阻止写者写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455" y="2805430"/>
            <a:ext cx="3335655" cy="37153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505" y="2805430"/>
            <a:ext cx="3372485" cy="3740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读者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写者问题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正在读、写到达、读到达、读到达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……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第一类：即使前面的写还在等待，后面到达的读都会直接读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第二类：在写完前到达的读无法读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狒狒过峡谷问题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760" y="2400935"/>
            <a:ext cx="8666480" cy="3950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狒狒过峡谷问题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2410" y="2376805"/>
            <a:ext cx="4647565" cy="3909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10" y="2376170"/>
            <a:ext cx="4708525" cy="3909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785" y="233680"/>
            <a:ext cx="8976360" cy="5692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2526665"/>
            <a:ext cx="4582160" cy="3756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100" y="120015"/>
            <a:ext cx="9190990" cy="5850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2526665"/>
            <a:ext cx="4582160" cy="3756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130" y="211455"/>
            <a:ext cx="9246870" cy="59150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2526665"/>
            <a:ext cx="4582160" cy="3756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1955" y="167005"/>
            <a:ext cx="9213850" cy="58451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2526665"/>
            <a:ext cx="4582160" cy="3756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975"/>
          <a:stretch>
            <a:fillRect/>
          </a:stretch>
        </p:blipFill>
        <p:spPr>
          <a:xfrm>
            <a:off x="2898140" y="169545"/>
            <a:ext cx="9218295" cy="59207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2526665"/>
            <a:ext cx="4582160" cy="3756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9230" y="464185"/>
            <a:ext cx="7908925" cy="61531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有没有不用全局变量的办法？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有没有不用信号量数组的办法？</a:t>
            </a:r>
            <a:endParaRPr lang="zh-CN" sz="2800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885" y="2452370"/>
            <a:ext cx="8296275" cy="40392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有没有不用全局变量的办法？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有没有不用信号量数组的办法？</a:t>
            </a:r>
            <a:endParaRPr lang="zh-CN" sz="2800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3670" y="675640"/>
            <a:ext cx="7978140" cy="6082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能否这样修改？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能够将这两个信号量合并为一个？</a:t>
            </a:r>
            <a:endParaRPr lang="zh-CN" sz="2800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能否同时进行这两种修改？</a:t>
            </a:r>
            <a:endParaRPr 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270" y="713740"/>
            <a:ext cx="7833995" cy="59721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38200" y="1825625"/>
            <a:ext cx="10516235" cy="47815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可以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stu_count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计算正确，运行结果正确</a:t>
            </a:r>
            <a:endParaRPr lang="zh-CN" altLang="en-US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但可能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Load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多次得到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30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，导致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V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增加多次</a:t>
            </a:r>
            <a:endParaRPr lang="en-US" alt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可以</a:t>
            </a:r>
            <a:endParaRPr lang="zh-CN" altLang="en-US" sz="2800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不可以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增加多次影响下次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祝大家期末顺利！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2826</Words>
  <Application>WPS 演示</Application>
  <PresentationFormat>宽屏</PresentationFormat>
  <Paragraphs>316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Week16</vt:lpstr>
      <vt:lpstr>小班评分</vt:lpstr>
      <vt:lpstr>基于进程的并发编程</vt:lpstr>
      <vt:lpstr>基于进程的并发编程</vt:lpstr>
      <vt:lpstr>基于 I/O 多路复用的并发编程</vt:lpstr>
      <vt:lpstr>基于 I/O 多路复用的并发编程</vt:lpstr>
      <vt:lpstr>基于 I/O 多路复用的并发编程</vt:lpstr>
      <vt:lpstr>基于线程的并发编程</vt:lpstr>
      <vt:lpstr>基于线程的并发编程</vt:lpstr>
      <vt:lpstr>基于线程的并发编程</vt:lpstr>
      <vt:lpstr>基于线程的并发编程</vt:lpstr>
      <vt:lpstr>共享变量</vt:lpstr>
      <vt:lpstr>练习</vt:lpstr>
      <vt:lpstr>练习</vt:lpstr>
      <vt:lpstr>并发问题</vt:lpstr>
      <vt:lpstr>并发问题</vt:lpstr>
      <vt:lpstr>竞争</vt:lpstr>
      <vt:lpstr>竞争</vt:lpstr>
      <vt:lpstr>信号量</vt:lpstr>
      <vt:lpstr>信号量</vt:lpstr>
      <vt:lpstr>练习</vt:lpstr>
      <vt:lpstr>练习</vt:lpstr>
      <vt:lpstr>练习</vt:lpstr>
      <vt:lpstr>练习</vt:lpstr>
      <vt:lpstr>死锁</vt:lpstr>
      <vt:lpstr>死锁</vt:lpstr>
      <vt:lpstr>练习</vt:lpstr>
      <vt:lpstr>练习</vt:lpstr>
      <vt:lpstr>生产者-消费者问题</vt:lpstr>
      <vt:lpstr>生产者-消费者问题</vt:lpstr>
      <vt:lpstr>生产者-消费者问题</vt:lpstr>
      <vt:lpstr>读者-写者问题</vt:lpstr>
      <vt:lpstr>读者-写者问题</vt:lpstr>
      <vt:lpstr>读者-写者问题</vt:lpstr>
      <vt:lpstr>读者-写者问题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谢谢！</vt:lpstr>
      <vt:lpstr>祝大家期末顺利！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853</cp:revision>
  <dcterms:created xsi:type="dcterms:W3CDTF">2023-08-09T12:44:00Z</dcterms:created>
  <dcterms:modified xsi:type="dcterms:W3CDTF">2025-12-24T03:10:21Z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0FFB374EF87741258E9EC42A4DEF22FC_13</vt:lpwstr>
  </property>
</Properties>
</file>