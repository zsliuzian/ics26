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3"/>
    <p:sldId id="350" r:id="rId4"/>
    <p:sldId id="387" r:id="rId5"/>
    <p:sldId id="388" r:id="rId6"/>
    <p:sldId id="389" r:id="rId7"/>
    <p:sldId id="353" r:id="rId8"/>
    <p:sldId id="354" r:id="rId9"/>
    <p:sldId id="385" r:id="rId10"/>
    <p:sldId id="355" r:id="rId11"/>
    <p:sldId id="356" r:id="rId12"/>
    <p:sldId id="357" r:id="rId13"/>
    <p:sldId id="358" r:id="rId14"/>
    <p:sldId id="359" r:id="rId15"/>
    <p:sldId id="361" r:id="rId16"/>
    <p:sldId id="390" r:id="rId17"/>
    <p:sldId id="344" r:id="rId18"/>
    <p:sldId id="301" r:id="rId19"/>
    <p:sldId id="302" r:id="rId20"/>
    <p:sldId id="303" r:id="rId21"/>
    <p:sldId id="327" r:id="rId22"/>
    <p:sldId id="304" r:id="rId23"/>
    <p:sldId id="305" r:id="rId24"/>
    <p:sldId id="337" r:id="rId25"/>
    <p:sldId id="306" r:id="rId26"/>
    <p:sldId id="307" r:id="rId27"/>
    <p:sldId id="308" r:id="rId28"/>
    <p:sldId id="309" r:id="rId29"/>
    <p:sldId id="311" r:id="rId31"/>
    <p:sldId id="317" r:id="rId32"/>
    <p:sldId id="312" r:id="rId33"/>
    <p:sldId id="321" r:id="rId34"/>
    <p:sldId id="324" r:id="rId35"/>
    <p:sldId id="313" r:id="rId36"/>
    <p:sldId id="330" r:id="rId37"/>
    <p:sldId id="391" r:id="rId38"/>
    <p:sldId id="314" r:id="rId39"/>
    <p:sldId id="315" r:id="rId40"/>
    <p:sldId id="316" r:id="rId41"/>
    <p:sldId id="347" r:id="rId42"/>
    <p:sldId id="334" r:id="rId43"/>
    <p:sldId id="340" r:id="rId44"/>
    <p:sldId id="341" r:id="rId45"/>
    <p:sldId id="384" r:id="rId46"/>
    <p:sldId id="339" r:id="rId47"/>
    <p:sldId id="338" r:id="rId48"/>
    <p:sldId id="346" r:id="rId49"/>
    <p:sldId id="332" r:id="rId5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zsliuzian.github.io/ics26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tags" Target="../tags/tag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485458"/>
            <a:ext cx="9144000" cy="2387600"/>
          </a:xfrm>
        </p:spPr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ICS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小班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Week2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2924493"/>
            <a:ext cx="9144000" cy="1655762"/>
          </a:xfrm>
        </p:spPr>
        <p:txBody>
          <a:bodyPr/>
          <a:p>
            <a:r>
              <a:rPr lang="en-US" altLang="zh-CN" sz="3600">
                <a:latin typeface="华文中宋" panose="02010600040101010101" charset="-122"/>
                <a:ea typeface="华文中宋" panose="02010600040101010101" charset="-122"/>
              </a:rPr>
              <a:t>2026.9.16</a:t>
            </a:r>
            <a:endParaRPr lang="en-US" altLang="zh-CN" sz="3600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小班信息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5680"/>
          </a:xfrm>
        </p:spPr>
        <p:txBody>
          <a:bodyPr/>
          <a:p>
            <a:pPr marL="0" indent="0">
              <a:buNone/>
            </a:pPr>
            <a:r>
              <a:rPr lang="zh-CN" altLang="en-US">
                <a:solidFill>
                  <a:srgbClr val="FF0000"/>
                </a:solidFill>
                <a:highlight>
                  <a:srgbClr val="FFFF00"/>
                </a:highligh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班号：</a:t>
            </a:r>
            <a:r>
              <a:rPr lang="en-US" altLang="zh-CN">
                <a:solidFill>
                  <a:srgbClr val="FF0000"/>
                </a:solidFill>
                <a:highlight>
                  <a:srgbClr val="FFFF00"/>
                </a:highligh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22</a:t>
            </a:r>
            <a:endParaRPr lang="en-US" altLang="zh-CN">
              <a:solidFill>
                <a:srgbClr val="FF0000"/>
              </a:solidFill>
              <a:highlight>
                <a:srgbClr val="FFFF00"/>
              </a:highligh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sym typeface="+mn-ea"/>
                <a:hlinkClick r:id="rId1" tooltip="" action="ppaction://hlinkfile"/>
              </a:rPr>
              <a:t>https://zsliuzian.github.io/ics26/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hlinkClick r:id="rId1" tooltip="" action="ppaction://hlinkfile"/>
            </a:endParaRPr>
          </a:p>
          <a:p>
            <a:pPr marL="0" indent="0">
              <a:buNone/>
            </a:pP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sym typeface="+mn-ea"/>
              </a:rPr>
              <a:t>主要目的是方便资料下载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sym typeface="+mn-ea"/>
              </a:rPr>
              <a:t>通知都会优先在微信群发送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>
              <a:buNone/>
            </a:pP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小班老师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5680"/>
          </a:xfrm>
        </p:spPr>
        <p:txBody>
          <a:bodyPr/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卓有为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集成电路学院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助理教授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youwei@pku.edu.cn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研究方向：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异构芯片与计算系统的设计与优化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小班助教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5680"/>
          </a:xfrm>
        </p:spPr>
        <p:txBody>
          <a:bodyPr/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刘梓安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信科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23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级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计算机科学与技术专业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aiiaa@stu.pku.edu.cn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研究方向：程序设计语言（导师王迪）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当助教的原因：去年/今年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能力和经验：我会什么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/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我做了什么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预期：我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/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同学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小班同学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5680"/>
          </a:xfrm>
        </p:spPr>
        <p:txBody>
          <a:bodyPr/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基本情况、个人能力、对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ICS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的认识和期望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……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ICS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课程需要完成什么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上大班课、参加考试、完成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 Lab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上小班课、小班课讲授、完成书面作业、思考研讨题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为什么需要小班课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30655" y="1691005"/>
            <a:ext cx="7343775" cy="4144645"/>
          </a:xfrm>
          <a:prstGeom prst="rect">
            <a:avLst/>
          </a:prstGeom>
        </p:spPr>
      </p:pic>
      <p:sp>
        <p:nvSpPr>
          <p:cNvPr id="8" name="内容占位符 2"/>
          <p:cNvSpPr>
            <a:spLocks noGrp="1"/>
          </p:cNvSpPr>
          <p:nvPr/>
        </p:nvSpPr>
        <p:spPr>
          <a:xfrm>
            <a:off x="1430655" y="6061075"/>
            <a:ext cx="2745105" cy="409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sz="2000">
                <a:solidFill>
                  <a:srgbClr val="FF0000"/>
                </a:solidFill>
                <a:highlight>
                  <a:srgbClr val="FFFF00"/>
                </a:highligh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注：不代表本人观点</a:t>
            </a:r>
            <a:endParaRPr lang="zh-CN" sz="2000">
              <a:solidFill>
                <a:srgbClr val="FF0000"/>
              </a:solidFill>
              <a:highlight>
                <a:srgbClr val="FFFF00"/>
              </a:highligh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为什么需要小班课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8090" y="1691005"/>
            <a:ext cx="8825230" cy="43497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为什么需要小班课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1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、回顾课程：梳理主干知识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 +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关注细节重点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2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、适当练习：加强理解记忆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 + </a:t>
            </a:r>
            <a:r>
              <a:rPr lang="zh-CN" altLang="en-US">
                <a:highlight>
                  <a:srgbClr val="FFFF00"/>
                </a:highlight>
                <a:latin typeface="华文中宋" panose="02010600040101010101" charset="-122"/>
                <a:ea typeface="华文中宋" panose="02010600040101010101" charset="-122"/>
              </a:rPr>
              <a:t>应试技巧（？）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3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、同学、助教、老师之间互相交流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sym typeface="+mn-ea"/>
              </a:rPr>
              <a:t>（关于任何话题）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小班课流程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813415" cy="4351655"/>
          </a:xfrm>
        </p:spPr>
        <p:txBody>
          <a:bodyPr/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前一节课：同学回顾大班课内容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后一节课：助教回顾大班课内容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  <a:sym typeface="+mn-ea"/>
              </a:rPr>
              <a:t>同学讲授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813415" cy="4351655"/>
          </a:xfrm>
        </p:spPr>
        <p:txBody>
          <a:bodyPr/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一般两位同学分别回顾前一周内两次大班课内容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sym typeface="+mn-ea"/>
              </a:rPr>
              <a:t>如：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sym typeface="+mn-ea"/>
              </a:rPr>
              <a:t>9.23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sym typeface="+mn-ea"/>
              </a:rPr>
              <a:t>（周三）回顾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sym typeface="+mn-ea"/>
              </a:rPr>
              <a:t> 9.17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sym typeface="+mn-ea"/>
              </a:rPr>
              <a:t>（周四）及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sym typeface="+mn-ea"/>
              </a:rPr>
              <a:t> 9.21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sym typeface="+mn-ea"/>
              </a:rPr>
              <a:t>（周一）内容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每人每学期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 1~2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次，每次约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 20min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可以包括但不限于：知识点梳理、重难点总结、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sym typeface="+mn-ea"/>
              </a:rPr>
              <a:t>研讨题、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心得体会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需要准备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 PPT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，其中可使用大班课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 PPT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截图、教材截图等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  <a:sym typeface="+mn-ea"/>
              </a:rPr>
              <a:t>书面作业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813415" cy="4351655"/>
          </a:xfrm>
        </p:spPr>
        <p:txBody>
          <a:bodyPr/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由大班统一布置，截止日期以具体通知为准（一般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 1~2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周）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发至助教邮箱：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aiiaa@stu.pku.edu.cn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>
              <a:buNone/>
            </a:pPr>
            <a:endParaRPr lang="zh-CN" altLang="en-US" strike="sngStrike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小班课评分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占总评中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15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分（会有平均分限制？）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、考勤：出勤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/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请假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→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满分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、作业：按时完成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→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满分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、回课：不敷衍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→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接近满分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  <a:sym typeface="+mn-ea"/>
              </a:rPr>
              <a:t>Q &amp; A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813415" cy="4351655"/>
          </a:xfrm>
        </p:spPr>
        <p:txBody>
          <a:bodyPr/>
          <a:p>
            <a:pPr marL="0" indent="0">
              <a:buNone/>
            </a:pP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5035" y="1746885"/>
            <a:ext cx="10362565" cy="1454150"/>
          </a:xfrm>
        </p:spPr>
        <p:txBody>
          <a:bodyPr/>
          <a:p>
            <a:r>
              <a:rPr lang="en-US" altLang="zh-CN" sz="4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Lec2: Bits and Bytes/Integers</a:t>
            </a:r>
            <a:endParaRPr lang="en-US" altLang="zh-CN" sz="4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二进制与十六进制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3585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0xA = 0b1010 = 10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0xB = 0b1011 = 11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0xC = 0b1100 = 12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0xD = 0b1101 = 13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0xE = 0b1110 = 14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0xF = 0b1111 = 15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0x18 + 0x4 = ?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0x18 + 16 = ?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0x20 - 0x18 = ?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数据类型大小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096000" y="1016635"/>
            <a:ext cx="4509770" cy="4678045"/>
          </a:xfrm>
          <a:prstGeom prst="rect">
            <a:avLst/>
          </a:prstGeom>
        </p:spPr>
      </p:pic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int ≈ int32_t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unsigned = unsigned int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字节顺序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大</a:t>
            </a:r>
            <a:r>
              <a:rPr lang="zh-CN" altLang="en-US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端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/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小</a:t>
            </a:r>
            <a:r>
              <a:rPr lang="zh-CN" altLang="en-US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端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→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最高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/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最低有效字节</a:t>
            </a:r>
            <a:r>
              <a:rPr lang="zh-CN" altLang="en-US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在前（低地址）</a:t>
            </a:r>
            <a:endParaRPr lang="zh-CN" altLang="en-US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仅针对跨越多字节的程序对象，低地址即该对象的地址</a:t>
            </a:r>
            <a:endParaRPr lang="zh-CN" altLang="en-US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8010" y="2743200"/>
            <a:ext cx="8736965" cy="203073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字节顺序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语言中字符串被编码为以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null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字符（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\0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）结尾的字符数组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内存中存放顺序与大端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/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小端无关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低地址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→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字符串开头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在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x86-64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机器上运行如下代码，输出是？</a:t>
            </a: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0x66</a:t>
            </a: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7" name="内容占位符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62075" y="2715260"/>
            <a:ext cx="5277485" cy="19564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逻辑运算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 /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位运算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逻辑运算：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||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&amp;&amp;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!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位运算：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|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&amp;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~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^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!0b0000=0b0001     ~0b0000=0b1111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!0b1010=0b0000     ~0b1010=0b0101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0b1010 &amp;&amp; 0b0101 = 0b1010 || 0b0101 = 0b0001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逻辑运算即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True/False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的运算，认为所有非零参数都表示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True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逻辑运算在参数为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0/1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时，与位运算有相同的行为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逻辑运算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 /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位运算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逻辑运算会进行短路求值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x=0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时，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x &amp;&amp; (1/x) = 0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，不会造成被零除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以下程序的作用是？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交换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x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y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地址的内容（当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x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和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y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不同时）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0840" y="2606040"/>
            <a:ext cx="4030345" cy="20008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移位运算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左移：直接左移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右移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逻辑右移（认为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bits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间无关）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算数右移（认为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bits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间相关）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算数右移：高位填补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0b1011 &gt;&gt; 2 = 0b1110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0b0101 &gt;&gt; 2 = 0b0001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移位运算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5545" y="1527175"/>
            <a:ext cx="9659620" cy="479679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移位运算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965200" y="1952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优先级低于加减法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易有加减法优先级最低的错觉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1&lt;&lt;2+3&lt;&lt;4 = 1&lt;&lt;(2+3)&lt;&lt;4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整数编码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965200" y="1952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无符号整数：直接二进制，每位代表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2</a:t>
            </a:r>
            <a:r>
              <a:rPr lang="en-US" altLang="zh-CN" baseline="300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w-1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~2</a:t>
            </a:r>
            <a:r>
              <a:rPr lang="en-US" altLang="zh-CN" baseline="300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</a:t>
            </a:r>
            <a:endParaRPr lang="en-US" altLang="zh-CN" baseline="300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有符号整数（补码）：最高位代表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-2</a:t>
            </a:r>
            <a:r>
              <a:rPr lang="en-US" altLang="zh-CN" baseline="300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w-1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，其余不变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baseline="300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二者表示范围相差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2</a:t>
            </a:r>
            <a:r>
              <a:rPr lang="en-US" altLang="zh-CN" baseline="300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w-1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7235" y="3898265"/>
            <a:ext cx="8430895" cy="242379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整数编码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965200" y="1952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补码快速计算：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x + (~x) = -1 → 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-x = ~x + 1 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整数编码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965200" y="1952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不同类型之间转换根本原则：位级表示相同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相同长度：直接转换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长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→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短：直接截断后转换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短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→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长：先改变大小，再完成符号转换（先后顺序有区别）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整数编码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965200" y="1952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短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→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长：先改变大小，再完成符号转换（先后顺序有区别）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例：有符号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4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位整数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1001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转换为无符号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8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位整数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正确：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1001 → 11111001 → 11111001u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错误：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1001 → 1001u → 00001001u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整数编码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965200" y="1952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同宽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有符号数与无符号数比较：统一转为无符号数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-1 &gt; 1u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整数编码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*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965200" y="1952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C语言中关于整数运算有一套称为“整型提升”的机制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200" y="2556510"/>
            <a:ext cx="5748655" cy="15773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450" y="2615565"/>
            <a:ext cx="5208270" cy="38881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移位与乘除法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965200" y="1952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乘法：左移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k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位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→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乘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2</a:t>
            </a:r>
            <a:r>
              <a:rPr lang="en-US" altLang="zh-CN" baseline="300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k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除法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正数右移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k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位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→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除以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2</a:t>
            </a:r>
            <a:r>
              <a:rPr lang="en-US" altLang="zh-CN" baseline="30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k </a:t>
            </a:r>
            <a:r>
              <a:rPr lang="zh-CN" altLang="en-US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下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取整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负数右移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k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位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→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除以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2</a:t>
            </a:r>
            <a:r>
              <a:rPr lang="en-US" altLang="zh-CN" baseline="30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k </a:t>
            </a:r>
            <a:r>
              <a:rPr lang="zh-CN" altLang="en-US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下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取整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但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C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语言除法向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0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取整，即负数上取整，故负数除法与右移不相同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100 / 8 = 12		100 &gt;&gt; 3 = 12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(-100) / 8 = -12		(-100) &gt;&gt; 3 = -13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934" y="1555542"/>
            <a:ext cx="11296131" cy="397440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650" y="1565819"/>
            <a:ext cx="10564699" cy="46774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5035" y="1746885"/>
            <a:ext cx="10362565" cy="1454150"/>
          </a:xfrm>
        </p:spPr>
        <p:txBody>
          <a:bodyPr/>
          <a:p>
            <a:r>
              <a:rPr lang="en-US" altLang="zh-CN" sz="4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Lec3</a:t>
            </a:r>
            <a:r>
              <a:rPr lang="en-US" sz="4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: </a:t>
            </a:r>
            <a:r>
              <a:rPr lang="en-US" altLang="zh-CN" sz="4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Floating Point</a:t>
            </a:r>
            <a:endParaRPr lang="en-US" altLang="zh-CN" sz="4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浮点数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965200" y="1952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float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1+8+23=32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double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1+11+52=64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e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全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0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（非规格化）：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(-1)</a:t>
            </a:r>
            <a:r>
              <a:rPr lang="en-US" altLang="zh-CN" baseline="30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s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·f·2</a:t>
            </a:r>
            <a:r>
              <a:rPr lang="en-US" altLang="zh-CN" baseline="300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e-[2^(k-1)-1]+1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e </a:t>
            </a:r>
            <a:r>
              <a:rPr 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非全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0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、非全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1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（规格化）：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(-1)</a:t>
            </a:r>
            <a:r>
              <a:rPr lang="en-US" altLang="zh-CN" baseline="300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s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·(1+f)·2</a:t>
            </a:r>
            <a:r>
              <a:rPr lang="en-US" altLang="zh-CN" baseline="300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e-[2^(k-1)-1]</a:t>
            </a:r>
            <a:endParaRPr lang="en-US" altLang="zh-CN" baseline="300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e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全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1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（特殊值）：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f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全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0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则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±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∞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，否则为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NaN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float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的阶码：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0→-126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；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1~254→-126~127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浮点数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965200" y="1952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舍入：向偶数舍入（仅针对正中间）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1.01</a:t>
            </a:r>
            <a:r>
              <a:rPr lang="en-US" altLang="zh-CN">
                <a:solidFill>
                  <a:srgbClr val="00B0F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01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→ 1.01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1.01</a:t>
            </a:r>
            <a:r>
              <a:rPr lang="en-US" altLang="zh-CN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10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→ 1.10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1.01</a:t>
            </a:r>
            <a:r>
              <a:rPr lang="en-US" altLang="zh-CN">
                <a:solidFill>
                  <a:srgbClr val="00B0F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11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→ 1.10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浮点数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965200" y="1952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加法：可交换；不可结合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1+1e20-1e20≠1+(1e20-1e20)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乘法：可交换；不可结合；不可分配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1e20*1e20*1e-20≠1e20*(1e20*1e-20)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1e20*(1e20-1e20)≠1e20*1e20-1e20*1e-20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浮点数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3390" y="2020570"/>
            <a:ext cx="11411585" cy="192722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838"/>
          <a:stretch>
            <a:fillRect/>
          </a:stretch>
        </p:blipFill>
        <p:spPr>
          <a:xfrm>
            <a:off x="571500" y="1774190"/>
            <a:ext cx="11048365" cy="1124585"/>
          </a:xfrm>
          <a:prstGeom prst="rect">
            <a:avLst/>
          </a:prstGeom>
        </p:spPr>
      </p:pic>
      <p:sp>
        <p:nvSpPr>
          <p:cNvPr id="4" name="内容占位符 2"/>
          <p:cNvSpPr>
            <a:spLocks noGrp="1"/>
          </p:cNvSpPr>
          <p:nvPr/>
        </p:nvSpPr>
        <p:spPr>
          <a:xfrm>
            <a:off x="838200" y="3105785"/>
            <a:ext cx="10515600" cy="3289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965200" y="3059430"/>
            <a:ext cx="10515600" cy="364553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A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误差来自舍入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误差最大值需舍入位数最高，同时阶码最大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阶码最大为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127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，舍入小数点后第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23+1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位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127-(23+1)=103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Datalab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965200" y="1952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判断相等：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x - y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是否为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0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判断正负：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x &gt;&gt; 31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为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0/0xffffffff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减法：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a - x = a + (~x) + 1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常用数值转换：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- 0/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非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0 </a:t>
            </a:r>
            <a:r>
              <a:rPr lang="zh-CN" altLang="en-US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取</a:t>
            </a:r>
            <a:r>
              <a:rPr lang="en-US" altLang="zh-CN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!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得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1/0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- 0/0xffffffff </a:t>
            </a:r>
            <a:r>
              <a:rPr lang="en-US" altLang="zh-CN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+1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得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1/0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- 1/0 </a:t>
            </a:r>
            <a:r>
              <a:rPr lang="en-US" altLang="zh-CN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&lt;&lt; 31 &gt;&gt; 31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得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0xffffffff/0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掩码实现分支：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s = ((m &amp; ...) | (~m &amp; ...))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，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m = 0/0xffffffff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Datalab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965200" y="1952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与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“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数位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”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有关的题：折半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/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二分方法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例：求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x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后缀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0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的个数（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Datalab2024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）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操作符数量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不支持依次判断每一位是否为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0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s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计数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若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x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后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16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位全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0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，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s+=16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，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x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取前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16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位；否则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x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取后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16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位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若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x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后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8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位全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0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，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s+=8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，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x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取前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8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位；否则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x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取后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8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位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……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Datalab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965200" y="1952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与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“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数位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”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有关的题：折半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/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二分方法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例：求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x mod 3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的值（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Datalab2025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）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对非负数，从低往高奇数位（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2/8/32/...) mod 3 = 2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，偶数位（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4/16/64/...) mod 3 = 1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需分奇偶位统计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1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的个数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左右折半相加，奇偶性恰好相同（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0xabcd → 0xab + 0xcd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）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即使进位同样满足（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(2 + 2) mod 3 = 1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；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(1 + 1) mod 3 = 2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）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负数同理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关于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 Lab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965200" y="1952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、在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xLab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上完成，在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AutoLab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上提交评测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2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、总分不一定都是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100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，可能包含助教手动评分部分（期末评分）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3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、仔细阅读文档及注释，可能有（不影响评测的）特殊要求，如写姓名学号、写注释、</a:t>
            </a:r>
            <a:r>
              <a:rPr 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代码风格（缩进、长度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……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）等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关于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 Lab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965200" y="1952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796925" y="1496695"/>
          <a:ext cx="1048512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1280"/>
                <a:gridCol w="2621280"/>
                <a:gridCol w="2621280"/>
                <a:gridCol w="2621280"/>
              </a:tblGrid>
              <a:tr h="51308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 b="0">
                          <a:solidFill>
                            <a:schemeClr val="bg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阅读量</a:t>
                      </a:r>
                      <a:endParaRPr lang="zh-CN" altLang="en-US" sz="2400" b="0">
                        <a:solidFill>
                          <a:schemeClr val="bg1"/>
                        </a:solidFill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bg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思维量</a:t>
                      </a:r>
                      <a:endParaRPr lang="en-US" altLang="zh-CN" sz="2400" b="0">
                        <a:solidFill>
                          <a:schemeClr val="bg1"/>
                        </a:solidFill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0">
                          <a:solidFill>
                            <a:schemeClr val="bg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代码量</a:t>
                      </a:r>
                      <a:endParaRPr lang="en-US" altLang="zh-CN" sz="2400" b="0">
                        <a:solidFill>
                          <a:schemeClr val="bg1"/>
                        </a:solidFill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</a:endParaRPr>
                    </a:p>
                  </a:txBody>
                  <a:tcPr/>
                </a:tc>
              </a:tr>
              <a:tr h="513080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  <a:sym typeface="+mn-ea"/>
                        </a:rPr>
                        <a:t>Lab1: datalab</a:t>
                      </a:r>
                      <a:endParaRPr lang="en-US" altLang="zh-CN" sz="2400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☆</a:t>
                      </a:r>
                      <a:endParaRPr lang="en-US" altLang="zh-CN" sz="2400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☆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  <a:sym typeface="+mn-ea"/>
                        </a:rPr>
                        <a:t>☆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  <a:sym typeface="+mn-ea"/>
                        </a:rPr>
                        <a:t>☆☆☆</a:t>
                      </a:r>
                      <a:endParaRPr lang="en-US" altLang="zh-CN" sz="2400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  <a:sym typeface="+mn-ea"/>
                        </a:rPr>
                        <a:t>☆☆</a:t>
                      </a:r>
                      <a:endParaRPr lang="en-US" altLang="zh-CN" sz="2400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  <a:sym typeface="+mn-ea"/>
                      </a:endParaRPr>
                    </a:p>
                  </a:txBody>
                  <a:tcPr/>
                </a:tc>
              </a:tr>
              <a:tr h="513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  <a:sym typeface="+mn-ea"/>
                        </a:rPr>
                        <a:t>Lab2: bomblab</a:t>
                      </a:r>
                      <a:endParaRPr lang="en-US" altLang="zh-CN" sz="2400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  <a:sym typeface="+mn-ea"/>
                        </a:rPr>
                        <a:t>☆☆☆☆☆</a:t>
                      </a:r>
                      <a:endParaRPr lang="en-US" altLang="zh-CN" sz="2400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  <a:sym typeface="+mn-ea"/>
                        </a:rPr>
                        <a:t>☆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  <a:sym typeface="+mn-ea"/>
                        </a:rPr>
                        <a:t>☆</a:t>
                      </a:r>
                      <a:endParaRPr lang="en-US" altLang="zh-CN" sz="2400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  <a:sym typeface="+mn-ea"/>
                        </a:rPr>
                        <a:t>☆</a:t>
                      </a:r>
                      <a:endParaRPr lang="en-US" altLang="zh-CN" sz="2400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  <a:sym typeface="+mn-ea"/>
                      </a:endParaRPr>
                    </a:p>
                  </a:txBody>
                  <a:tcPr/>
                </a:tc>
              </a:tr>
              <a:tr h="513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  <a:sym typeface="+mn-ea"/>
                        </a:rPr>
                        <a:t>Lab3: attacklab</a:t>
                      </a:r>
                      <a:endParaRPr lang="en-US" altLang="zh-CN" sz="2400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  <a:sym typeface="+mn-ea"/>
                        </a:rPr>
                        <a:t>☆☆☆☆</a:t>
                      </a:r>
                      <a:endParaRPr lang="en-US" altLang="zh-CN" sz="2400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  <a:sym typeface="+mn-ea"/>
                        </a:rPr>
                        <a:t>☆☆☆</a:t>
                      </a:r>
                      <a:endParaRPr lang="en-US" altLang="zh-CN" sz="2400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  <a:sym typeface="+mn-ea"/>
                        </a:rPr>
                        <a:t>☆</a:t>
                      </a:r>
                      <a:endParaRPr lang="en-US" altLang="zh-CN" sz="2400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  <a:sym typeface="+mn-ea"/>
                      </a:endParaRPr>
                    </a:p>
                  </a:txBody>
                  <a:tcPr/>
                </a:tc>
              </a:tr>
              <a:tr h="513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Lab4: archlab</a:t>
                      </a:r>
                      <a:endParaRPr lang="en-US" altLang="zh-CN" sz="2400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  <a:sym typeface="+mn-ea"/>
                        </a:rPr>
                        <a:t>☆☆☆</a:t>
                      </a:r>
                      <a:endParaRPr lang="en-US" altLang="zh-CN" sz="2400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  <a:sym typeface="+mn-ea"/>
                        </a:rPr>
                        <a:t>☆☆☆☆</a:t>
                      </a:r>
                      <a:endParaRPr lang="en-US" altLang="zh-CN" sz="2400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  <a:sym typeface="+mn-ea"/>
                        </a:rPr>
                        <a:t>☆☆☆</a:t>
                      </a:r>
                      <a:endParaRPr lang="en-US" altLang="zh-CN" sz="2400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  <a:sym typeface="+mn-ea"/>
                      </a:endParaRPr>
                    </a:p>
                  </a:txBody>
                  <a:tcPr/>
                </a:tc>
              </a:tr>
              <a:tr h="513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  <a:sym typeface="+mn-ea"/>
                        </a:rPr>
                        <a:t>Lab5: cachelab</a:t>
                      </a:r>
                      <a:endParaRPr lang="en-US" altLang="zh-CN" sz="2400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  <a:sym typeface="+mn-ea"/>
                        </a:rPr>
                        <a:t>☆</a:t>
                      </a:r>
                      <a:endParaRPr lang="en-US" altLang="zh-CN" sz="2400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  <a:sym typeface="+mn-ea"/>
                        </a:rPr>
                        <a:t>☆☆☆</a:t>
                      </a:r>
                      <a:endParaRPr lang="en-US" altLang="zh-CN" sz="2400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  <a:sym typeface="+mn-ea"/>
                        </a:rPr>
                        <a:t>☆☆☆</a:t>
                      </a:r>
                      <a:endParaRPr lang="en-US" altLang="zh-CN" sz="2400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  <a:sym typeface="+mn-ea"/>
                      </a:endParaRPr>
                    </a:p>
                  </a:txBody>
                  <a:tcPr/>
                </a:tc>
              </a:tr>
              <a:tr h="513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  <a:sym typeface="+mn-ea"/>
                        </a:rPr>
                        <a:t>Lab6: tshlab</a:t>
                      </a:r>
                      <a:endParaRPr lang="en-US" altLang="zh-CN" sz="2400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  <a:sym typeface="+mn-ea"/>
                        </a:rPr>
                        <a:t>☆</a:t>
                      </a:r>
                      <a:endParaRPr lang="en-US" altLang="zh-CN" sz="2400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  <a:sym typeface="+mn-ea"/>
                        </a:rPr>
                        <a:t>☆☆</a:t>
                      </a:r>
                      <a:endParaRPr lang="en-US" altLang="zh-CN" sz="2400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  <a:sym typeface="+mn-ea"/>
                        </a:rPr>
                        <a:t>☆☆☆☆☆</a:t>
                      </a:r>
                      <a:endParaRPr lang="en-US" altLang="zh-CN" sz="2400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  <a:sym typeface="+mn-ea"/>
                      </a:endParaRPr>
                    </a:p>
                  </a:txBody>
                  <a:tcPr/>
                </a:tc>
              </a:tr>
              <a:tr h="513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  <a:sym typeface="+mn-ea"/>
                        </a:rPr>
                        <a:t>Lab7: malloclab</a:t>
                      </a:r>
                      <a:endParaRPr lang="en-US" altLang="zh-CN" sz="2400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  <a:sym typeface="+mn-ea"/>
                        </a:rPr>
                        <a:t>☆</a:t>
                      </a:r>
                      <a:endParaRPr lang="en-US" altLang="zh-CN" sz="2400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  <a:sym typeface="+mn-ea"/>
                        </a:rPr>
                        <a:t>☆☆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  <a:sym typeface="+mn-ea"/>
                        </a:rPr>
                        <a:t>☆</a:t>
                      </a:r>
                      <a:endParaRPr lang="en-US" altLang="zh-CN" sz="2400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  <a:sym typeface="+mn-ea"/>
                        </a:rPr>
                        <a:t>☆☆☆☆☆</a:t>
                      </a:r>
                      <a:endParaRPr lang="en-US" altLang="zh-CN" sz="2400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  <a:sym typeface="+mn-ea"/>
                      </a:endParaRPr>
                    </a:p>
                  </a:txBody>
                  <a:tcPr/>
                </a:tc>
              </a:tr>
              <a:tr h="513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  <a:sym typeface="+mn-ea"/>
                        </a:rPr>
                        <a:t>Lab8: proxylab</a:t>
                      </a:r>
                      <a:endParaRPr lang="en-US" altLang="zh-CN" sz="2400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  <a:sym typeface="+mn-ea"/>
                        </a:rPr>
                        <a:t>☆</a:t>
                      </a:r>
                      <a:endParaRPr lang="en-US" altLang="zh-CN" sz="2400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  <a:sym typeface="+mn-ea"/>
                        </a:rPr>
                        <a:t>☆☆</a:t>
                      </a:r>
                      <a:endParaRPr lang="en-US" altLang="zh-CN" sz="2400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  <a:sym typeface="+mn-ea"/>
                        </a:rPr>
                        <a:t>☆☆☆☆</a:t>
                      </a:r>
                      <a:endParaRPr lang="en-US" altLang="zh-CN" sz="2400">
                        <a:solidFill>
                          <a:schemeClr val="tx1"/>
                        </a:solidFill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  <a:sym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内容占位符 2"/>
          <p:cNvSpPr>
            <a:spLocks noGrp="1"/>
          </p:cNvSpPr>
          <p:nvPr/>
        </p:nvSpPr>
        <p:spPr>
          <a:xfrm>
            <a:off x="838200" y="6221095"/>
            <a:ext cx="2745105" cy="409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sz="2000">
                <a:solidFill>
                  <a:srgbClr val="FF0000"/>
                </a:solidFill>
                <a:highlight>
                  <a:srgbClr val="FFFF00"/>
                </a:highligh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注：仅代表本人观点</a:t>
            </a:r>
            <a:endParaRPr lang="zh-CN" sz="2000">
              <a:solidFill>
                <a:srgbClr val="FF0000"/>
              </a:solidFill>
              <a:highlight>
                <a:srgbClr val="FFFF00"/>
              </a:highligh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  <a:sym typeface="+mn-ea"/>
              </a:rPr>
              <a:t>知识前瞻</a:t>
            </a:r>
            <a:endParaRPr lang="zh-CN"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813415" cy="4351655"/>
          </a:xfrm>
        </p:spPr>
        <p:txBody>
          <a:bodyPr/>
          <a:p>
            <a:pPr marL="0" indent="0">
              <a:buNone/>
            </a:pPr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汇编语言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基本指令及特殊规则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用基本指令实现分支、循环等逻辑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898843"/>
            <a:ext cx="9144000" cy="2387600"/>
          </a:xfrm>
        </p:spPr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谢谢！</a:t>
            </a: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副标题 3"/>
          <p:cNvSpPr/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TABLE_ENDDRAG_ORIGIN_RECT" val="825*363"/>
  <p:tag name="TABLE_ENDDRAG_RECT" val="62*136*825*363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3410</Words>
  <Application>WPS 演示</Application>
  <PresentationFormat>宽屏</PresentationFormat>
  <Paragraphs>428</Paragraphs>
  <Slides>47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55" baseType="lpstr">
      <vt:lpstr>Arial</vt:lpstr>
      <vt:lpstr>宋体</vt:lpstr>
      <vt:lpstr>Wingdings</vt:lpstr>
      <vt:lpstr>华文中宋</vt:lpstr>
      <vt:lpstr>微软雅黑</vt:lpstr>
      <vt:lpstr>Arial Unicode MS</vt:lpstr>
      <vt:lpstr>Calibri</vt:lpstr>
      <vt:lpstr>WPS</vt:lpstr>
      <vt:lpstr>ICS小班 Week2</vt:lpstr>
      <vt:lpstr>小班信息</vt:lpstr>
      <vt:lpstr>小班老师</vt:lpstr>
      <vt:lpstr>小班助教</vt:lpstr>
      <vt:lpstr>小班同学</vt:lpstr>
      <vt:lpstr>ICS 课程需要完成什么</vt:lpstr>
      <vt:lpstr>为什么需要小班课</vt:lpstr>
      <vt:lpstr>为什么需要小班课</vt:lpstr>
      <vt:lpstr>为什么需要小班课</vt:lpstr>
      <vt:lpstr>小班课流程</vt:lpstr>
      <vt:lpstr>同学讲授</vt:lpstr>
      <vt:lpstr>书面作业</vt:lpstr>
      <vt:lpstr>小班课评分</vt:lpstr>
      <vt:lpstr>Q &amp; A</vt:lpstr>
      <vt:lpstr>Lec2: Bits and Bytes/Integers</vt:lpstr>
      <vt:lpstr>二进制与十六进制</vt:lpstr>
      <vt:lpstr>数据类型大小</vt:lpstr>
      <vt:lpstr>字节顺序</vt:lpstr>
      <vt:lpstr>字节顺序</vt:lpstr>
      <vt:lpstr>练习</vt:lpstr>
      <vt:lpstr>逻辑运算 / 位运算</vt:lpstr>
      <vt:lpstr>逻辑运算 / 位运算</vt:lpstr>
      <vt:lpstr>练习</vt:lpstr>
      <vt:lpstr>移位运算</vt:lpstr>
      <vt:lpstr>移位运算</vt:lpstr>
      <vt:lpstr>移位运算</vt:lpstr>
      <vt:lpstr>整数编码</vt:lpstr>
      <vt:lpstr>整数编码</vt:lpstr>
      <vt:lpstr>整数编码</vt:lpstr>
      <vt:lpstr>整数编码</vt:lpstr>
      <vt:lpstr>整数编码</vt:lpstr>
      <vt:lpstr>整数编码*</vt:lpstr>
      <vt:lpstr>移位与乘除法</vt:lpstr>
      <vt:lpstr>练习</vt:lpstr>
      <vt:lpstr>Lec3: Floating Point</vt:lpstr>
      <vt:lpstr>浮点数</vt:lpstr>
      <vt:lpstr>浮点数</vt:lpstr>
      <vt:lpstr>浮点数</vt:lpstr>
      <vt:lpstr>浮点数</vt:lpstr>
      <vt:lpstr>练习</vt:lpstr>
      <vt:lpstr>Datalab</vt:lpstr>
      <vt:lpstr>Datalab</vt:lpstr>
      <vt:lpstr>Datalab</vt:lpstr>
      <vt:lpstr>关于 Lab</vt:lpstr>
      <vt:lpstr>关于 Lab</vt:lpstr>
      <vt:lpstr>知识前瞻</vt:lpstr>
      <vt:lpstr>谢谢！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Zian Liu</dc:creator>
  <cp:lastModifiedBy>刘梓安</cp:lastModifiedBy>
  <cp:revision>292</cp:revision>
  <dcterms:created xsi:type="dcterms:W3CDTF">2023-08-09T12:44:00Z</dcterms:created>
  <dcterms:modified xsi:type="dcterms:W3CDTF">2026-09-16T11:39:28Z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0FFB374EF87741258E9EC42A4DEF22FC_13</vt:lpwstr>
  </property>
</Properties>
</file>