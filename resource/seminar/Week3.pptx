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3"/>
    <p:sldId id="257" r:id="rId4"/>
    <p:sldId id="388" r:id="rId5"/>
    <p:sldId id="338" r:id="rId6"/>
    <p:sldId id="339" r:id="rId7"/>
    <p:sldId id="340" r:id="rId8"/>
    <p:sldId id="341" r:id="rId9"/>
    <p:sldId id="379" r:id="rId10"/>
    <p:sldId id="380" r:id="rId11"/>
    <p:sldId id="381" r:id="rId12"/>
    <p:sldId id="382" r:id="rId13"/>
    <p:sldId id="342" r:id="rId14"/>
    <p:sldId id="343" r:id="rId15"/>
    <p:sldId id="344" r:id="rId16"/>
    <p:sldId id="302" r:id="rId17"/>
    <p:sldId id="372" r:id="rId18"/>
    <p:sldId id="346" r:id="rId19"/>
    <p:sldId id="347" r:id="rId20"/>
    <p:sldId id="383" r:id="rId21"/>
    <p:sldId id="384" r:id="rId22"/>
    <p:sldId id="304" r:id="rId23"/>
    <p:sldId id="348" r:id="rId24"/>
    <p:sldId id="349" r:id="rId25"/>
    <p:sldId id="311" r:id="rId26"/>
    <p:sldId id="350" r:id="rId28"/>
    <p:sldId id="356" r:id="rId29"/>
    <p:sldId id="357" r:id="rId30"/>
    <p:sldId id="312" r:id="rId31"/>
    <p:sldId id="351" r:id="rId32"/>
    <p:sldId id="358" r:id="rId33"/>
    <p:sldId id="359" r:id="rId34"/>
    <p:sldId id="353" r:id="rId35"/>
    <p:sldId id="352" r:id="rId36"/>
    <p:sldId id="361" r:id="rId37"/>
    <p:sldId id="360" r:id="rId38"/>
    <p:sldId id="368" r:id="rId39"/>
    <p:sldId id="371" r:id="rId40"/>
    <p:sldId id="370" r:id="rId41"/>
    <p:sldId id="369" r:id="rId42"/>
    <p:sldId id="373" r:id="rId43"/>
    <p:sldId id="374" r:id="rId44"/>
    <p:sldId id="375" r:id="rId45"/>
    <p:sldId id="376" r:id="rId46"/>
    <p:sldId id="377" r:id="rId47"/>
    <p:sldId id="378" r:id="rId48"/>
    <p:sldId id="393" r:id="rId49"/>
    <p:sldId id="391" r:id="rId50"/>
    <p:sldId id="392" r:id="rId51"/>
    <p:sldId id="332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tags" Target="../tags/tag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tags" Target="../tags/tag4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tags" Target="../tags/tag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tags" Target="../tags/tag6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1" Type="http://schemas.openxmlformats.org/officeDocument/2006/relationships/tags" Target="../tags/tag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9.emf"/><Relationship Id="rId3" Type="http://schemas.openxmlformats.org/officeDocument/2006/relationships/tags" Target="../tags/tag9.xml"/><Relationship Id="rId2" Type="http://schemas.openxmlformats.org/officeDocument/2006/relationships/image" Target="../media/image18.emf"/><Relationship Id="rId1" Type="http://schemas.openxmlformats.org/officeDocument/2006/relationships/tags" Target="../tags/tag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485458"/>
            <a:ext cx="9144000" cy="2387600"/>
          </a:xfrm>
        </p:spPr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ICS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小班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Week3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2924493"/>
            <a:ext cx="9144000" cy="1655762"/>
          </a:xfrm>
        </p:spPr>
        <p:txBody>
          <a:bodyPr/>
          <a:p>
            <a:r>
              <a:rPr lang="en-US" altLang="zh-CN" sz="3600">
                <a:latin typeface="华文中宋" panose="02010600040101010101" charset="-122"/>
                <a:ea typeface="华文中宋" panose="02010600040101010101" charset="-122"/>
              </a:rPr>
              <a:t>2025.9.24</a:t>
            </a:r>
            <a:endParaRPr lang="en-US" altLang="zh-CN" sz="3600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Datalab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ddl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明晚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23:59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汇编与机器码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gcc -Og -S mstore.c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运行编译器，产生汇编文件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mstore.s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gcc -Og -c mstore.c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编译并汇编，产生二进制文件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mstore.o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objdump -d mstore.o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反汇编得到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mstore.s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a.c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编译得到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汇编得到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a.o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a.o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链接得到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（可执行文件）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199832" y="4522469"/>
            <a:ext cx="9792335" cy="1889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数据格式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术语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“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word)”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表示</a:t>
            </a:r>
            <a:r>
              <a:rPr lang="en-US" altLang="zh-CN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16</a:t>
            </a:r>
            <a:r>
              <a:rPr lang="zh-CN" altLang="en-US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</a:t>
            </a: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（本课程其他部分会出现不同定义，见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P588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b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、字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、双字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、四字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q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汇编代码的数据中不存储类型信息，通过指令操作体现</a:t>
            </a: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整数寄存器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7" name="内容占位符 4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212715" y="325120"/>
            <a:ext cx="5288915" cy="5988685"/>
          </a:xfrm>
          <a:prstGeom prst="rect">
            <a:avLst/>
          </a:prstGeom>
        </p:spPr>
      </p:pic>
      <p:sp>
        <p:nvSpPr>
          <p:cNvPr id="8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栈指针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返回值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参数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操作数指示符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、立即数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、寄存器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、内存引用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比例因子必须是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基址寄存器与变址寄存器必须是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64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位寄存器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变址寄存器不能是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数据传送指令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两个操作数不能都指向内存位置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</a:t>
            </a:r>
            <a:r>
              <a:rPr lang="en-US" altLang="zh-CN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</a:t>
            </a:r>
            <a:r>
              <a:rPr lang="zh-CN" altLang="en-US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寄存器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部分的大小必须与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b/w/l/q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匹配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movl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以寄存器为目的时，该寄存器高位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字节设置为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0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movabsq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传送绝对的四字，只能以寄存器为目的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4110" y="1419860"/>
            <a:ext cx="6873875" cy="3708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3110" y="1172845"/>
            <a:ext cx="4885690" cy="2635885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4035425"/>
            <a:ext cx="10515600" cy="246824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③④⑤正确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①：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基址寄存器与变址寄存器必须是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64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位寄存器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②：没有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%sl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⑥：应为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movq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8290" y="1691005"/>
            <a:ext cx="8117840" cy="26638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4035425"/>
            <a:ext cx="10515600" cy="246824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A.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目的不能是立即数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B.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应为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movq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C.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没有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%sl 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5730" y="1445895"/>
            <a:ext cx="6631940" cy="21761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数据传送指令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661025" cy="39846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扩展数据传送指令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没有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movzlq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指令（相当于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movl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以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为寄存器为目的的指令，高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置为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0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以寄存器或内存地址为源，目的只能是寄存器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cltq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无操作数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内容占位符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797040" y="1620520"/>
            <a:ext cx="5114290" cy="37077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83545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写出汇编代码，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%rdi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中（共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r="65301"/>
          <a:stretch>
            <a:fillRect/>
          </a:stretch>
        </p:blipFill>
        <p:spPr>
          <a:xfrm>
            <a:off x="1481455" y="2548255"/>
            <a:ext cx="4629150" cy="17614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83545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写出汇编代码，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%rdi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中（共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r="65301"/>
          <a:stretch>
            <a:fillRect/>
          </a:stretch>
        </p:blipFill>
        <p:spPr>
          <a:xfrm>
            <a:off x="1481455" y="2548255"/>
            <a:ext cx="4629150" cy="17614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455" y="4440555"/>
            <a:ext cx="5149850" cy="1681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栈操作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压栈时先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 - 8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，弹栈时后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 + 8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1125" y="3065780"/>
            <a:ext cx="9429750" cy="29178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栈操作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栈从高地址向低地址增长，即压栈、弹栈都在低地址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保存栈顶地址，即低地址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6400" y="3228975"/>
            <a:ext cx="8714740" cy="29940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算术和逻辑操作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OP S D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运算顺序：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 op S → D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加载有效地址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leaq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&amp;S → D</a:t>
            </a:r>
            <a:endParaRPr lang="zh-CN" altLang="en-US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目的操作数必须是寄存器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移位操作的移位量可以是立即数，或放在单字节寄存器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%cl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移位量由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%cl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的低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log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位决定（见第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章）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r="32846"/>
          <a:stretch>
            <a:fillRect/>
          </a:stretch>
        </p:blipFill>
        <p:spPr>
          <a:xfrm>
            <a:off x="6018530" y="1384935"/>
            <a:ext cx="5019040" cy="2422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特殊的算数操作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类比：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cqto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与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cltq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（八字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o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rgbClr val="FF0000"/>
                </a:solidFill>
                <a:highlight>
                  <a:srgbClr val="FFFF00"/>
                </a:highlight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注：此处教材电子版有误</a:t>
            </a:r>
            <a:endParaRPr lang="zh-CN" altLang="en-US">
              <a:solidFill>
                <a:srgbClr val="FF0000"/>
              </a:solidFill>
              <a:highlight>
                <a:srgbClr val="FFFF00"/>
              </a:highlight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3745" y="2384425"/>
            <a:ext cx="8144510" cy="27197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7080" y="1508760"/>
            <a:ext cx="8208645" cy="3841115"/>
          </a:xfrm>
          <a:prstGeom prst="rect">
            <a:avLst/>
          </a:prstGeom>
        </p:spPr>
      </p:pic>
      <p:sp>
        <p:nvSpPr>
          <p:cNvPr id="4" name="内容占位符 2"/>
          <p:cNvSpPr>
            <a:spLocks noGrp="1"/>
          </p:cNvSpPr>
          <p:nvPr/>
        </p:nvSpPr>
        <p:spPr>
          <a:xfrm>
            <a:off x="838200" y="5520055"/>
            <a:ext cx="10515600" cy="1207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x, y, z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分别在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%rdi, %rsi, %rdx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4843145"/>
            <a:ext cx="10515600" cy="1884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 * x + 4 * y + 8 * z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8595" y="1250315"/>
            <a:ext cx="6734810" cy="31515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条件码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：进位标志（无符号溢出）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ZF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：零标志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：符号标志（结果负数）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OF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：溢出标志（补码溢出）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9070" y="3984625"/>
            <a:ext cx="9293860" cy="20497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条件码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leaq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不改变条件码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移位操作的进位标志设为最后一个被移出的位，溢出标志设为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0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INC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DEC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指令设置溢出和零标志，不改变进位标志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CMP S1, S2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：常用于比大小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TEST S1, S2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：常用于判断是否为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0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（令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S1=S2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条件码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3555" y="1544320"/>
            <a:ext cx="8400415" cy="4889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跳转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直接跳转：标签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间接跳转：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*%rax / *(%rax)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没有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jmp %rax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有条件的跳转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只能是直接跳转，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set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跳转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相对地址编码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目标地址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与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跳转指令后的地址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之差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可以编码为1、2、4个字节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lvl="2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AutoNum type="alphaLcPeriod"/>
            </a:pPr>
            <a:endParaRPr lang="zh-CN" altLang="en-US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lv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好处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lv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指令编码更简洁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lv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代码可以不做任何改变就移到内存中不同的位置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b="22255"/>
          <a:stretch>
            <a:fillRect/>
          </a:stretch>
        </p:blipFill>
        <p:spPr>
          <a:xfrm>
            <a:off x="814070" y="1918335"/>
            <a:ext cx="10539730" cy="151066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b="22255"/>
          <a:stretch>
            <a:fillRect/>
          </a:stretch>
        </p:blipFill>
        <p:spPr>
          <a:xfrm>
            <a:off x="877570" y="1918335"/>
            <a:ext cx="10539730" cy="1510665"/>
          </a:xfrm>
          <a:prstGeom prst="rect">
            <a:avLst/>
          </a:prstGeom>
        </p:spPr>
      </p:pic>
      <p:sp>
        <p:nvSpPr>
          <p:cNvPr id="4" name="内容占位符 2"/>
          <p:cNvSpPr>
            <a:spLocks noGrp="1"/>
          </p:cNvSpPr>
          <p:nvPr/>
        </p:nvSpPr>
        <p:spPr>
          <a:xfrm>
            <a:off x="965200" y="3600450"/>
            <a:ext cx="10515600" cy="25425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F0 = -16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400022 + (-16) = 400012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条件分支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CMOV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源寄存器或内存地址、目的寄存器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不支持单字节的条件传送（可以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16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64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条件分支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l">
              <a:buClrTx/>
              <a:buSzTx/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件控制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条件传送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条件传送的适用条件：两个表达式容易计算时</a:t>
            </a: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lvl="1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AutoNum type="alphaLcPeriod"/>
            </a:pP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lvl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不会使用条件传送的情况</a:t>
            </a: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lvl="1" indent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表达式求值需要大量的运算</a:t>
            </a: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lvl="1" indent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表达式求值可能导致错误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val = p ? *p : 0;</a:t>
            </a: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lvl="1" indent="0" algn="l">
              <a:lnSpc>
                <a:spcPct val="90000"/>
              </a:lnSpc>
              <a:spcBef>
                <a:spcPts val="1000"/>
              </a:spcBef>
              <a:buClrTx/>
              <a:buSzTx/>
              <a:buFont typeface="+mj-lt"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表达式求值可能导致副作用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val = x ? (x+=1) : (x+=2);</a:t>
            </a:r>
            <a:endParaRPr lang="en-US" altLang="zh-CN" sz="280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758950" y="1547495"/>
            <a:ext cx="8673465" cy="46367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431415" y="1222375"/>
            <a:ext cx="7329170" cy="5270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循环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do-while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while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for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逻辑上比较直观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switch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语句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跳转表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+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基准值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+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间接跳转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内容占位符 7"/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83325" y="1441450"/>
            <a:ext cx="5351780" cy="4850765"/>
          </a:xfrm>
          <a:prstGeom prst="rect">
            <a:avLst/>
          </a:prstGeom>
        </p:spPr>
      </p:pic>
      <p:pic>
        <p:nvPicPr>
          <p:cNvPr id="6" name="内容占位符 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38200" y="2910470"/>
            <a:ext cx="5181600" cy="240516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080" y="1691005"/>
            <a:ext cx="9290685" cy="337629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080" y="1691005"/>
            <a:ext cx="9290685" cy="3376295"/>
          </a:xfrm>
          <a:prstGeom prst="rect">
            <a:avLst/>
          </a:prstGeom>
        </p:spPr>
      </p:pic>
      <p:sp>
        <p:nvSpPr>
          <p:cNvPr id="9" name="内容占位符 2"/>
          <p:cNvSpPr>
            <a:spLocks noGrp="1"/>
          </p:cNvSpPr>
          <p:nvPr/>
        </p:nvSpPr>
        <p:spPr>
          <a:xfrm>
            <a:off x="965200" y="5280025"/>
            <a:ext cx="10515600" cy="1223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.L2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表项不存在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650" y="1884680"/>
            <a:ext cx="9918700" cy="154432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650" y="1884680"/>
            <a:ext cx="9918700" cy="1544320"/>
          </a:xfrm>
          <a:prstGeom prst="rect">
            <a:avLst/>
          </a:prstGeom>
        </p:spPr>
      </p:pic>
      <p:sp>
        <p:nvSpPr>
          <p:cNvPr id="9" name="内容占位符 2"/>
          <p:cNvSpPr>
            <a:spLocks noGrp="1"/>
          </p:cNvSpPr>
          <p:nvPr/>
        </p:nvSpPr>
        <p:spPr>
          <a:xfrm>
            <a:off x="965200" y="3834130"/>
            <a:ext cx="10515600" cy="1223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短整型长度为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判断</a:t>
            </a:r>
            <a:endParaRPr 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800" y="2701290"/>
            <a:ext cx="9297035" cy="268795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判断</a:t>
            </a:r>
            <a:endParaRPr 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825" y="2693035"/>
            <a:ext cx="9912985" cy="271081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Bomblab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首先需要将机器码反汇编为汇编代码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方法一：使用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GDB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（见教材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P193~194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设置断点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直接运行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执行指令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执行函数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…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查看寄存器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查看地址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查看栈帧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…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方法二：不使用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GDB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阅读汇编代码，手动模拟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Bomblab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965200" y="1952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可能包括但不限于：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直接输出某地址下的字符串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简单而无实际意义的比较和计算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稍复杂而有实际意义的条件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循环（如排序等）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链表与指针（如同时出现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%rax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(%rax)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813415" cy="4351655"/>
          </a:xfrm>
        </p:spPr>
        <p:txBody>
          <a:bodyPr/>
          <a:p>
            <a:pPr marL="0" indent="0"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程序的过程调用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栈上的排布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调用者与被调用者的数据传送（参数、返回值）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813415" cy="4351655"/>
          </a:xfrm>
        </p:spPr>
        <p:txBody>
          <a:bodyPr/>
          <a:p>
            <a:pPr marL="0" indent="0"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数据类型的表示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数组与指针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结构（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struct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）、联合（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union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数据对齐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813415" cy="4351655"/>
          </a:xfrm>
        </p:spPr>
        <p:txBody>
          <a:bodyPr/>
          <a:p>
            <a:pPr marL="0" indent="0"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缓冲区溢出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如何实现攻击</a:t>
            </a:r>
            <a:r>
              <a:rPr 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（关于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attacklab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sym typeface="+mn-ea"/>
              </a:rPr>
              <a:t>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对抗的方法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sym typeface="+mn-ea"/>
              </a:rPr>
              <a:t>第一次阶段测验</a:t>
            </a:r>
            <a:endParaRPr lang="zh-CN">
              <a:latin typeface="华文中宋" panose="02010600040101010101" charset="-122"/>
              <a:ea typeface="华文中宋" panose="02010600040101010101" charset="-122"/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813415" cy="4351655"/>
          </a:xfrm>
        </p:spPr>
        <p:txBody>
          <a:bodyPr/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有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节大班的内容还未回课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会提前把下一次小班（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10.15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）的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PPT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发给大家复习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9210" y="600075"/>
            <a:ext cx="8519795" cy="57708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b="47975"/>
          <a:stretch>
            <a:fillRect/>
          </a:stretch>
        </p:blipFill>
        <p:spPr>
          <a:xfrm>
            <a:off x="1517650" y="1536700"/>
            <a:ext cx="8519795" cy="300228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455" y="4805045"/>
            <a:ext cx="8975725" cy="149352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52047"/>
          <a:stretch>
            <a:fillRect/>
          </a:stretch>
        </p:blipFill>
        <p:spPr>
          <a:xfrm>
            <a:off x="1553210" y="1478280"/>
            <a:ext cx="8519795" cy="276733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75" y="4245610"/>
            <a:ext cx="7404100" cy="21463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898843"/>
            <a:ext cx="9144000" cy="2387600"/>
          </a:xfrm>
        </p:spPr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谢谢！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副标题 3"/>
          <p:cNvSpPr/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  <p:tag name="KSO_WM_UNIT_PLACING_PICTURE_USER_VIEWPORT" val="{&quot;height&quot;:1590,&quot;width&quot;:8240}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1958</Words>
  <Application>WPS 演示</Application>
  <PresentationFormat>宽屏</PresentationFormat>
  <Paragraphs>281</Paragraphs>
  <Slides>49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7" baseType="lpstr">
      <vt:lpstr>Arial</vt:lpstr>
      <vt:lpstr>宋体</vt:lpstr>
      <vt:lpstr>Wingdings</vt:lpstr>
      <vt:lpstr>华文中宋</vt:lpstr>
      <vt:lpstr>微软雅黑</vt:lpstr>
      <vt:lpstr>Arial Unicode MS</vt:lpstr>
      <vt:lpstr>Calibri</vt:lpstr>
      <vt:lpstr>WPS</vt:lpstr>
      <vt:lpstr>ICS小班 Week3</vt:lpstr>
      <vt:lpstr>Datalab</vt:lpstr>
      <vt:lpstr>汇编与机器码</vt:lpstr>
      <vt:lpstr>数据格式</vt:lpstr>
      <vt:lpstr>整数寄存器</vt:lpstr>
      <vt:lpstr>操作数指示符</vt:lpstr>
      <vt:lpstr>数据传送指令</vt:lpstr>
      <vt:lpstr>练习</vt:lpstr>
      <vt:lpstr>练习</vt:lpstr>
      <vt:lpstr>练习</vt:lpstr>
      <vt:lpstr>练习</vt:lpstr>
      <vt:lpstr>数据传送指令</vt:lpstr>
      <vt:lpstr>练习</vt:lpstr>
      <vt:lpstr>练习</vt:lpstr>
      <vt:lpstr>栈操作</vt:lpstr>
      <vt:lpstr>栈操作</vt:lpstr>
      <vt:lpstr>算术和逻辑操作</vt:lpstr>
      <vt:lpstr>特殊的算数操作</vt:lpstr>
      <vt:lpstr>练习</vt:lpstr>
      <vt:lpstr>练习</vt:lpstr>
      <vt:lpstr>条件码</vt:lpstr>
      <vt:lpstr>条件码</vt:lpstr>
      <vt:lpstr>条件码</vt:lpstr>
      <vt:lpstr>跳转</vt:lpstr>
      <vt:lpstr>跳转</vt:lpstr>
      <vt:lpstr>练习</vt:lpstr>
      <vt:lpstr>练习</vt:lpstr>
      <vt:lpstr>条件分支</vt:lpstr>
      <vt:lpstr>条件分支</vt:lpstr>
      <vt:lpstr>练习</vt:lpstr>
      <vt:lpstr>练习</vt:lpstr>
      <vt:lpstr>循环</vt:lpstr>
      <vt:lpstr>switch语句</vt:lpstr>
      <vt:lpstr>练习</vt:lpstr>
      <vt:lpstr>练习</vt:lpstr>
      <vt:lpstr>练习</vt:lpstr>
      <vt:lpstr>练习</vt:lpstr>
      <vt:lpstr>练习</vt:lpstr>
      <vt:lpstr>练习</vt:lpstr>
      <vt:lpstr>Bomblab</vt:lpstr>
      <vt:lpstr>Bomblab</vt:lpstr>
      <vt:lpstr>知识前瞻</vt:lpstr>
      <vt:lpstr>知识前瞻</vt:lpstr>
      <vt:lpstr>知识前瞻</vt:lpstr>
      <vt:lpstr>第一次阶段测验</vt:lpstr>
      <vt:lpstr>练习</vt:lpstr>
      <vt:lpstr>练习</vt:lpstr>
      <vt:lpstr>练习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Zian Liu</dc:creator>
  <cp:lastModifiedBy>刘梓安</cp:lastModifiedBy>
  <cp:revision>240</cp:revision>
  <dcterms:created xsi:type="dcterms:W3CDTF">2023-08-09T12:44:00Z</dcterms:created>
  <dcterms:modified xsi:type="dcterms:W3CDTF">2025-09-24T12:31:47Z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B05C11003E3F476D9674CACA5D9AC305_13</vt:lpwstr>
  </property>
</Properties>
</file>