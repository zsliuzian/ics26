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3"/>
    <p:sldId id="397" r:id="rId4"/>
    <p:sldId id="396" r:id="rId5"/>
    <p:sldId id="372" r:id="rId6"/>
    <p:sldId id="373" r:id="rId7"/>
    <p:sldId id="338" r:id="rId8"/>
    <p:sldId id="374" r:id="rId9"/>
    <p:sldId id="342" r:id="rId10"/>
    <p:sldId id="377" r:id="rId11"/>
    <p:sldId id="380" r:id="rId12"/>
    <p:sldId id="378" r:id="rId13"/>
    <p:sldId id="379" r:id="rId14"/>
    <p:sldId id="381" r:id="rId15"/>
    <p:sldId id="392" r:id="rId16"/>
    <p:sldId id="393" r:id="rId17"/>
    <p:sldId id="357" r:id="rId18"/>
    <p:sldId id="395" r:id="rId20"/>
    <p:sldId id="394" r:id="rId21"/>
    <p:sldId id="382" r:id="rId22"/>
    <p:sldId id="384" r:id="rId23"/>
    <p:sldId id="385" r:id="rId24"/>
    <p:sldId id="386" r:id="rId25"/>
    <p:sldId id="388" r:id="rId26"/>
    <p:sldId id="389" r:id="rId27"/>
    <p:sldId id="390" r:id="rId28"/>
    <p:sldId id="391" r:id="rId29"/>
    <p:sldId id="398" r:id="rId30"/>
    <p:sldId id="399" r:id="rId31"/>
    <p:sldId id="400" r:id="rId32"/>
    <p:sldId id="401" r:id="rId33"/>
    <p:sldId id="332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7" Type="http://schemas.openxmlformats.org/officeDocument/2006/relationships/tableStyles" Target="tableStyles.xml"/><Relationship Id="rId36" Type="http://schemas.openxmlformats.org/officeDocument/2006/relationships/viewProps" Target="viewProps.xml"/><Relationship Id="rId35" Type="http://schemas.openxmlformats.org/officeDocument/2006/relationships/presProps" Target="presProps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png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png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png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tags" Target="../tags/tag9.xml"/><Relationship Id="rId1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485458"/>
            <a:ext cx="9144000" cy="2387600"/>
          </a:xfrm>
        </p:spPr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ICS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小班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Week6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2924493"/>
            <a:ext cx="9144000" cy="1655762"/>
          </a:xfrm>
        </p:spPr>
        <p:txBody>
          <a:bodyPr/>
          <a:p>
            <a:r>
              <a:rPr lang="en-US" altLang="zh-CN" sz="3600">
                <a:latin typeface="华文中宋" panose="02010600040101010101" charset="-122"/>
                <a:ea typeface="华文中宋" panose="02010600040101010101" charset="-122"/>
              </a:rPr>
              <a:t>2025.10.15</a:t>
            </a:r>
            <a:endParaRPr lang="en-US" altLang="zh-CN" sz="3600">
              <a:latin typeface="华文中宋" panose="02010600040101010101" charset="-122"/>
              <a:ea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书面作业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838200" y="1825625"/>
            <a:ext cx="1059751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https://dreamanddead.github.io/CSAPP-3e-Solutions/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上交后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自行核对答案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共性问题可能会在小班课上讲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作业少量错误不会扣分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过程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662295" cy="4213225"/>
          </a:xfrm>
        </p:spPr>
        <p:txBody>
          <a:bodyPr>
            <a:normAutofit lnSpcReduction="10000"/>
          </a:bodyPr>
          <a:p>
            <a:pPr marL="0" algn="l">
              <a:buClrTx/>
              <a:buSzTx/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运行时栈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algn="l"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从高地址向低地址增长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参数的顺序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（参数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7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在栈顶）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algn="l"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参数无论大小均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8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字节对齐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algn="l"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P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的帧中参数是调用Q使用的参数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algn="l"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P的返回地址属于P的栈帧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7200" y="327660"/>
            <a:ext cx="4070350" cy="61169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过程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9751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局部数据必须存放在内存中的情况：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、寄存器不足够存放所有数据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、对局部变量使用地址运算符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&amp;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，必须为它产生地址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、局部变量是数组或结构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局部数据不需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8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字节对齐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60695" y="3806825"/>
            <a:ext cx="5037455" cy="27406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过程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9751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被调用者保存：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%rbx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%rbp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%r12~%r15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调用者保存：其他所有寄存器除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%rsp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“XXX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保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存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”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即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XXX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需负责恢复寄存器中的数据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如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调用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Q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，则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是调用者，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Q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是被调用者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Q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可以任意使用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%rbx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%rbp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%r12~%r15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，但需在返回前恢复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其他（除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%rsp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）需由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P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自行保存，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Q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可以任意使用，不需负责恢复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数组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地址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=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首地址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+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索引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·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元素大小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嵌套数组同理，行优先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索引值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= Ci + j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为每行元素个数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数组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变长数组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n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在参数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A[n][n]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之前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必须用乘法指令计算地址，不能用移位和加法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0450" y="3429000"/>
            <a:ext cx="7530465" cy="12103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295" y="4643755"/>
            <a:ext cx="9352915" cy="7035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结构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 /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联合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227945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struct / union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数据对齐：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T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类型的对象地址必须为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sizeof(T)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的倍数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struct/union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整体对齐到最大的成员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指针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假设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</a:t>
            </a:r>
            <a:r>
              <a:rPr lang="en-US" altLang="zh-CN" baseline="-2500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</a:t>
            </a:r>
            <a:r>
              <a:rPr lang="en-US" altLang="zh-CN" baseline="-2500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是类型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T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的指针，值分别为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</a:t>
            </a:r>
            <a:r>
              <a:rPr lang="en-US" altLang="zh-CN" baseline="-2500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</a:t>
            </a:r>
            <a:r>
              <a:rPr lang="en-US" altLang="zh-CN" baseline="-2500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是整数则：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</a:t>
            </a:r>
            <a:r>
              <a:rPr lang="en-US" altLang="zh-CN" baseline="-2500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+ i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的值为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p</a:t>
            </a:r>
            <a:r>
              <a:rPr lang="en-US" altLang="zh-CN" baseline="-250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1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+ i * sizeof(T)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2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A</a:t>
            </a:r>
            <a:r>
              <a:rPr lang="en-US" altLang="zh-CN" baseline="-250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2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- A</a:t>
            </a:r>
            <a:r>
              <a:rPr lang="en-US" altLang="zh-CN" baseline="-250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1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的值为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(p</a:t>
            </a:r>
            <a:r>
              <a:rPr lang="en-US" altLang="zh-CN" baseline="-250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2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- p</a:t>
            </a:r>
            <a:r>
              <a:rPr lang="en-US" altLang="zh-CN" baseline="-250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1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) / sizeof(T)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668395"/>
            <a:ext cx="9676765" cy="25965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指针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函数指针</a:t>
            </a:r>
            <a:endParaRPr 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int *f()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：函数，返回值为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*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int (*f)()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：函数指针，指向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()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7"/>
          <p:cNvSpPr/>
          <p:nvPr>
            <p:ph idx="1"/>
            <p:custDataLst>
              <p:tags r:id="rId1"/>
            </p:custDataLst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 t="14266" b="34926"/>
          <a:stretch>
            <a:fillRect/>
          </a:stretch>
        </p:blipFill>
        <p:spPr>
          <a:xfrm>
            <a:off x="1289367" y="1722166"/>
            <a:ext cx="9614535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7"/>
          <p:cNvSpPr/>
          <p:nvPr>
            <p:ph idx="1"/>
            <p:custDataLst>
              <p:tags r:id="rId1"/>
            </p:custDataLst>
          </p:nvPr>
        </p:nvSpPr>
        <p:spPr>
          <a:xfrm>
            <a:off x="838200" y="4878070"/>
            <a:ext cx="10515600" cy="1608455"/>
          </a:xfrm>
        </p:spPr>
        <p:txBody>
          <a:bodyPr/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24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；长为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的数组，元素类型为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*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（指向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类型的指针）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24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；与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等价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8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；一个指针，指向一个长为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数组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 t="14266" b="34926"/>
          <a:stretch>
            <a:fillRect/>
          </a:stretch>
        </p:blipFill>
        <p:spPr>
          <a:xfrm>
            <a:off x="1289367" y="1463721"/>
            <a:ext cx="9614535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7"/>
          <p:cNvSpPr/>
          <p:nvPr>
            <p:ph idx="1"/>
            <p:custDataLst>
              <p:tags r:id="rId1"/>
            </p:custDataLst>
          </p:nvPr>
        </p:nvSpPr>
        <p:spPr>
          <a:xfrm>
            <a:off x="838200" y="4878070"/>
            <a:ext cx="10515600" cy="1608455"/>
          </a:xfrm>
        </p:spPr>
        <p:txBody>
          <a:bodyPr/>
          <a:p>
            <a:pPr marL="0" indent="0">
              <a:buNone/>
            </a:pP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4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24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；与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等价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5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24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；长为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的数组，元素类型为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(*)()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（指向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()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的指针）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6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24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；长为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的数组，元素类型为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(*)[5]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（指向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[5]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的指针）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 t="14266" b="34926"/>
          <a:stretch>
            <a:fillRect/>
          </a:stretch>
        </p:blipFill>
        <p:spPr>
          <a:xfrm>
            <a:off x="1289367" y="1463721"/>
            <a:ext cx="9614535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620" y="1828800"/>
            <a:ext cx="10398125" cy="27070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790" y="1518285"/>
            <a:ext cx="9751695" cy="2660650"/>
          </a:xfrm>
          <a:prstGeom prst="rect">
            <a:avLst/>
          </a:prstGeom>
        </p:spPr>
      </p:pic>
      <p:sp>
        <p:nvSpPr>
          <p:cNvPr id="8" name="内容占位符 7"/>
          <p:cNvSpPr/>
          <p:nvPr>
            <p:ph idx="1"/>
            <p:custDataLst>
              <p:tags r:id="rId2"/>
            </p:custDataLst>
          </p:nvPr>
        </p:nvSpPr>
        <p:spPr>
          <a:xfrm>
            <a:off x="838200" y="4258310"/>
            <a:ext cx="10515600" cy="2228215"/>
          </a:xfrm>
        </p:spPr>
        <p:txBody>
          <a:bodyPr/>
          <a:p>
            <a:pPr marL="0" indent="0">
              <a:buNone/>
            </a:pP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、长为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数组；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（即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A1[0]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）；无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、长为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int*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数组；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*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（即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A2[0]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）；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（即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*A2[0]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、指向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[3]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的指针；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[3]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；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4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、同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1595" y="1653540"/>
            <a:ext cx="5031105" cy="33591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1595" y="1653540"/>
            <a:ext cx="5031105" cy="3359150"/>
          </a:xfrm>
          <a:prstGeom prst="rect">
            <a:avLst/>
          </a:prstGeom>
        </p:spPr>
      </p:pic>
      <p:sp>
        <p:nvSpPr>
          <p:cNvPr id="8" name="内容占位符 7"/>
          <p:cNvSpPr/>
          <p:nvPr>
            <p:ph idx="1"/>
            <p:custDataLst>
              <p:tags r:id="rId2"/>
            </p:custDataLst>
          </p:nvPr>
        </p:nvSpPr>
        <p:spPr>
          <a:xfrm>
            <a:off x="6998970" y="1431925"/>
            <a:ext cx="4354830" cy="4959350"/>
          </a:xfrm>
        </p:spPr>
        <p:txBody>
          <a:bodyPr/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8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12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函数中的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a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理解为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int *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2430" y="809625"/>
            <a:ext cx="6327140" cy="569404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838200" y="1825625"/>
            <a:ext cx="10515600" cy="467804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1544320"/>
            <a:ext cx="5441315" cy="4897120"/>
          </a:xfrm>
          <a:prstGeom prst="rect">
            <a:avLst/>
          </a:prstGeom>
        </p:spPr>
      </p:pic>
      <p:sp>
        <p:nvSpPr>
          <p:cNvPr id="4" name="内容占位符 2"/>
          <p:cNvSpPr>
            <a:spLocks noGrp="1"/>
          </p:cNvSpPr>
          <p:nvPr/>
        </p:nvSpPr>
        <p:spPr>
          <a:xfrm>
            <a:off x="6412865" y="1449070"/>
            <a:ext cx="5067935" cy="51816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l"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、4+6+2+(1+3)+4=20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2、p是8个元素的指针数组；*p是数组p第一个位置的数据，即是一个指针；**p是该指针指向的内容，即student *[4]，长为4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的指针数组，大小4*8=32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3、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发生类型转换，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char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的大小为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，即相当于不除以类型大小，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是指针数组，指针类型大小为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8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，差值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2*8=16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4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无论是什么类型，最终都会除以类型大小，故为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4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内存排布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3249930" cy="467804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每个</a:t>
            </a:r>
            <a:r>
              <a:rPr lang="zh-CN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进程</a:t>
            </a:r>
            <a:r>
              <a:rPr 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独立</a:t>
            </a:r>
            <a:endParaRPr 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堆向上增长</a:t>
            </a:r>
            <a:endParaRPr 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栈向下增长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只读数据区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8720" y="812800"/>
            <a:ext cx="7762875" cy="555307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缓冲区溢出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5098415" cy="4678045"/>
          </a:xfrm>
        </p:spPr>
        <p:txBody>
          <a:bodyPr>
            <a:normAutofit lnSpcReduction="10000"/>
          </a:bodyPr>
          <a:p>
            <a:pPr marL="0" algn="l"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字符串长度超过了分配的长度，对栈中其他内容造成破坏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fgets等函数会限制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待读入的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最大字节数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strcpy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strcat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、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sprintf等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函数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不限制目标缓冲区的大小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buClrTx/>
              <a:buSzTx/>
              <a:buNone/>
            </a:pP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4430" y="1691005"/>
            <a:ext cx="5547360" cy="36944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对抗缓冲区溢出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4965" cy="4678045"/>
          </a:xfrm>
        </p:spPr>
        <p:txBody>
          <a:bodyPr>
            <a:normAutofit lnSpcReduction="10000"/>
          </a:bodyPr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、栈随机化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攻击字符串需要包含指向攻击代码的指针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随机化后地址无法预测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“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空操作雪橇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”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插入在攻击代码前（攻击代码地址范围变大）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、栈破坏检测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“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金丝雀值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”</a:t>
            </a:r>
            <a:endParaRPr lang="en-US" altLang="zh-CN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、限制可执行代码区域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如限制栈中代码不可执行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ROP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攻击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4965" cy="4678045"/>
          </a:xfrm>
        </p:spPr>
        <p:txBody>
          <a:bodyPr>
            <a:normAutofit lnSpcReduction="10000"/>
          </a:bodyPr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把含有</a:t>
            </a:r>
            <a:r>
              <a:rPr lang="en-US" altLang="zh-CN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ret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的多条指令</a:t>
            </a:r>
            <a:r>
              <a:rPr lang="zh-CN" altLang="en-US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地址</a:t>
            </a: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放在栈上某返回地址开始的连续内存中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不一定是与代码本身含义一致的完整指令（截取部分机器码）</a:t>
            </a: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zh-CN" altLang="en-US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880" y="2789555"/>
            <a:ext cx="5038090" cy="25431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9880" y="3519805"/>
            <a:ext cx="6590030" cy="25806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格式化字符串漏洞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*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8" name="内容占位符 7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082800" y="1406525"/>
            <a:ext cx="7884160" cy="51784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变长栈帧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pPr marL="0" indent="0" algn="l"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偏移量相对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%rsp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不固定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使用帧指针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%rbs，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指向函数栈的顶端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3483610"/>
            <a:ext cx="5272405" cy="274891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6818630" y="850265"/>
            <a:ext cx="4712970" cy="54438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变长栈帧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%rbp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当做</a:t>
            </a:r>
            <a:r>
              <a:rPr lang="zh-CN" altLang="en-US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被调用者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保存寄存器来处理即可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leave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指令等价于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movq %rbp, %rsp ; popq %rbp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4960620"/>
            <a:ext cx="10511790" cy="79184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3601085"/>
            <a:ext cx="9205595" cy="112966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浮点代码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pPr marL="0" indent="0" algn="l">
              <a:buClrTx/>
              <a:buSzTx/>
              <a:buNone/>
            </a:pP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%xmm0~%xmm7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传递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8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个参数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%xmm0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返回值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所有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XMM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寄存器都是调用者保存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知识前瞻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pPr marL="0" indent="0" algn="l"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定义新的指令集体系结构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Y86-64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x86-64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的简化（区别？）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指令格式与对应编码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知识前瞻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pPr marL="0" indent="0" algn="l">
              <a:buClrTx/>
              <a:buSzTx/>
              <a:buNone/>
            </a:pPr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硬件单元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组合逻辑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存储器和时钟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知识前瞻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pPr marL="0" indent="0" algn="l">
              <a:buClrTx/>
              <a:buSzTx/>
              <a:buNone/>
            </a:pPr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指令顺序实现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五阶段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不同指令每个阶段的实现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每个阶段在不同指令上的共性与差异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898843"/>
            <a:ext cx="9144000" cy="2387600"/>
          </a:xfrm>
        </p:spPr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谢谢！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副标题 3"/>
          <p:cNvSpPr/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1753</Words>
  <Application>WPS 演示</Application>
  <PresentationFormat>宽屏</PresentationFormat>
  <Paragraphs>188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9" baseType="lpstr">
      <vt:lpstr>Arial</vt:lpstr>
      <vt:lpstr>宋体</vt:lpstr>
      <vt:lpstr>Wingdings</vt:lpstr>
      <vt:lpstr>华文中宋</vt:lpstr>
      <vt:lpstr>微软雅黑</vt:lpstr>
      <vt:lpstr>Arial Unicode MS</vt:lpstr>
      <vt:lpstr>Calibri</vt:lpstr>
      <vt:lpstr>WPS</vt:lpstr>
      <vt:lpstr>ICS小班 Week6</vt:lpstr>
      <vt:lpstr>书面作业</vt:lpstr>
      <vt:lpstr>过程</vt:lpstr>
      <vt:lpstr>过程</vt:lpstr>
      <vt:lpstr>过程</vt:lpstr>
      <vt:lpstr>数组</vt:lpstr>
      <vt:lpstr>数组</vt:lpstr>
      <vt:lpstr>结构 / 联合</vt:lpstr>
      <vt:lpstr>指针</vt:lpstr>
      <vt:lpstr>指针</vt:lpstr>
      <vt:lpstr>练习</vt:lpstr>
      <vt:lpstr>练习</vt:lpstr>
      <vt:lpstr>练习</vt:lpstr>
      <vt:lpstr>练习</vt:lpstr>
      <vt:lpstr>练习</vt:lpstr>
      <vt:lpstr>练习</vt:lpstr>
      <vt:lpstr>练习</vt:lpstr>
      <vt:lpstr>练习</vt:lpstr>
      <vt:lpstr>练习</vt:lpstr>
      <vt:lpstr>内存排布</vt:lpstr>
      <vt:lpstr>缓冲区溢出</vt:lpstr>
      <vt:lpstr>对抗缓冲区溢出</vt:lpstr>
      <vt:lpstr>ROP攻击</vt:lpstr>
      <vt:lpstr>格式化字符串漏洞*</vt:lpstr>
      <vt:lpstr>变长栈帧</vt:lpstr>
      <vt:lpstr>变长栈帧</vt:lpstr>
      <vt:lpstr>浮点代码</vt:lpstr>
      <vt:lpstr>知识前瞻</vt:lpstr>
      <vt:lpstr>知识前瞻</vt:lpstr>
      <vt:lpstr>知识前瞻</vt:lpstr>
      <vt:lpstr>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Zian Liu</dc:creator>
  <cp:lastModifiedBy>刘梓安</cp:lastModifiedBy>
  <cp:revision>281</cp:revision>
  <dcterms:created xsi:type="dcterms:W3CDTF">2023-08-09T12:44:00Z</dcterms:created>
  <dcterms:modified xsi:type="dcterms:W3CDTF">2025-10-15T12:48:25Z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0FFB374EF87741258E9EC42A4DEF22FC_13</vt:lpwstr>
  </property>
</Properties>
</file>