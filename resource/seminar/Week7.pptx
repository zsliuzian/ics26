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3"/>
    <p:sldId id="425" r:id="rId4"/>
    <p:sldId id="257" r:id="rId5"/>
    <p:sldId id="393" r:id="rId6"/>
    <p:sldId id="392" r:id="rId7"/>
    <p:sldId id="402" r:id="rId8"/>
    <p:sldId id="372" r:id="rId9"/>
    <p:sldId id="394" r:id="rId10"/>
    <p:sldId id="338" r:id="rId11"/>
    <p:sldId id="395" r:id="rId12"/>
    <p:sldId id="404" r:id="rId13"/>
    <p:sldId id="396" r:id="rId14"/>
    <p:sldId id="426" r:id="rId15"/>
    <p:sldId id="374" r:id="rId16"/>
    <p:sldId id="342" r:id="rId17"/>
    <p:sldId id="399" r:id="rId18"/>
    <p:sldId id="427" r:id="rId19"/>
    <p:sldId id="400" r:id="rId20"/>
    <p:sldId id="424" r:id="rId21"/>
    <p:sldId id="406" r:id="rId22"/>
    <p:sldId id="397" r:id="rId23"/>
    <p:sldId id="407" r:id="rId24"/>
    <p:sldId id="408" r:id="rId25"/>
    <p:sldId id="409" r:id="rId26"/>
    <p:sldId id="410" r:id="rId27"/>
    <p:sldId id="411" r:id="rId28"/>
    <p:sldId id="412" r:id="rId29"/>
    <p:sldId id="421" r:id="rId30"/>
    <p:sldId id="414" r:id="rId31"/>
    <p:sldId id="417" r:id="rId32"/>
    <p:sldId id="419" r:id="rId33"/>
    <p:sldId id="422" r:id="rId34"/>
    <p:sldId id="423" r:id="rId35"/>
    <p:sldId id="332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485458"/>
            <a:ext cx="9144000" cy="2387600"/>
          </a:xfrm>
        </p:spPr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ICS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小班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Week7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924493"/>
            <a:ext cx="9144000" cy="1655762"/>
          </a:xfrm>
        </p:spPr>
        <p:txBody>
          <a:bodyPr/>
          <a:p>
            <a:r>
              <a:rPr lang="en-US" altLang="zh-CN" sz="3600">
                <a:latin typeface="华文中宋" panose="02010600040101010101" charset="-122"/>
                <a:ea typeface="华文中宋" panose="02010600040101010101" charset="-122"/>
              </a:rPr>
              <a:t>2026.10.21</a:t>
            </a:r>
            <a:endParaRPr lang="en-US" altLang="zh-CN" sz="36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035" y="1746885"/>
            <a:ext cx="10362565" cy="1454150"/>
          </a:xfrm>
        </p:spPr>
        <p:txBody>
          <a:bodyPr/>
          <a:p>
            <a:r>
              <a:rPr lang="en-US" altLang="zh-CN" sz="4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Lec9: Processor Arch: ISA&amp;Logic</a:t>
            </a:r>
            <a:endParaRPr lang="en-US" altLang="zh-CN" sz="4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ISA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7035" y="3502660"/>
            <a:ext cx="6297295" cy="291909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2132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ISA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Instruction-Set Architecture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）指令集体系结构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软硬件之间的抽象层：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编译器知道允许哪些指令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处理器知道如何执行指令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CISC / RISC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70685"/>
            <a:ext cx="10353040" cy="436816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complex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x86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reduced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ARM、RISC-V、MIPS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5720" y="1289050"/>
            <a:ext cx="6800850" cy="4981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Y86-64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6630" y="4482465"/>
            <a:ext cx="9846945" cy="207264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指令变长，执行时仍然一次读出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10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字节（最长的指令）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寄存器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4 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（半个字节），立即数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8 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字节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基址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偏移方式寻址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无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immovq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1975" y="910590"/>
            <a:ext cx="6270625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Y86-64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97515" cy="42132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特点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只有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15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个程序寄存器（简化编码）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OPq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只对寄存器进行操作（常数先加载到寄存器）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分支指令和调用指令的目的是绝对地址（而非相对寻址）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subq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同时生成条件码（类似地，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testq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andq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替代）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58645" y="1691005"/>
            <a:ext cx="7696200" cy="3889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480" y="1691005"/>
            <a:ext cx="8536940" cy="3889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硬件控制语言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HCL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97515" cy="42132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例如：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bool out = (s &amp;&amp; a) || (!s &amp;&amp; b)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描述的是状态之间的关系，非动作序列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持续响应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没有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“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短路求值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”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87880" y="4400550"/>
            <a:ext cx="8016240" cy="19767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存储器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14095" y="1691005"/>
            <a:ext cx="10053320" cy="2267585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838200" y="4373880"/>
            <a:ext cx="10597515" cy="211391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“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时钟寄存器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”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：时钟控制的简单状态（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Y86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中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PC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Stat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“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随机访问存储器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”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：虚拟内存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+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寄存器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时钟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4103370"/>
            <a:ext cx="10597515" cy="20961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需要更新的值已经产生，在时钟上升沿完成写入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05965" y="1456690"/>
            <a:ext cx="818070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0335" y="1691005"/>
            <a:ext cx="9371330" cy="34759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5166995"/>
            <a:ext cx="2983865" cy="626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寄存器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4103370"/>
            <a:ext cx="10597515" cy="20961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寄存器文件不是组合电路，有内部存储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读：以地址为输人、数据为输出的一个组合逻辑块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写：由时钟控制，时钟上升沿触发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内存类似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34185" y="1622425"/>
            <a:ext cx="4784725" cy="20104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730" y="1195070"/>
            <a:ext cx="4469765" cy="2575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035" y="1746885"/>
            <a:ext cx="10362565" cy="1454150"/>
          </a:xfrm>
        </p:spPr>
        <p:txBody>
          <a:bodyPr/>
          <a:p>
            <a:r>
              <a:rPr lang="en-US" altLang="zh-CN" sz="4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Lec10: Processor Arch: Sequential</a:t>
            </a:r>
            <a:endParaRPr lang="en-US" altLang="zh-CN" sz="4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Y86-84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的顺序实现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804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fetch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）：取指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decode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）：译码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execute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）：执行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memory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）：访存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write back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）：写回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更新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PC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华文中宋" panose="02010600040101010101" charset="-122"/>
                <a:ea typeface="华文中宋" panose="02010600040101010101" charset="-122"/>
              </a:rPr>
              <a:t>pushq</a:t>
            </a:r>
            <a:endParaRPr 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089015" cy="467804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pushq %rsp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压入栈中的是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%rsp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原始值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原因：</a:t>
            </a:r>
            <a:r>
              <a:rPr 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访存阶段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rA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%rsp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独立，且最后阶段才将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-8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后的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%rsp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写回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8660" y="852170"/>
            <a:ext cx="3533775" cy="52952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popq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236335" cy="42132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popq %rsp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栈顶弹出会覆盖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+8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后的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%rsp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原因：先写入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valE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，再写入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valM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5845" y="1054735"/>
            <a:ext cx="3387725" cy="50819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华文中宋" panose="02010600040101010101" charset="-122"/>
                <a:ea typeface="华文中宋" panose="02010600040101010101" charset="-122"/>
              </a:rPr>
              <a:t>pushq / popq</a:t>
            </a:r>
            <a:endParaRPr 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7710" y="3053715"/>
            <a:ext cx="10604500" cy="6000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70" y="2279650"/>
            <a:ext cx="10476230" cy="2654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jXX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236335" cy="42132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在执行阶段计算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Cnd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在更新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PC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阶段用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Cnd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判断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CC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是条件码寄存器（一组）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Cnd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是条件信号（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0/1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0" y="1248410"/>
            <a:ext cx="3051175" cy="4790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cmovXX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236335" cy="42132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在执行阶段计算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Cnd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在写回阶段用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Cnd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判断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085" y="1243965"/>
            <a:ext cx="3154045" cy="47948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SEQ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236335" cy="4213225"/>
          </a:xfrm>
        </p:spPr>
        <p:txBody>
          <a:bodyPr>
            <a:normAutofit lnSpcReduction="10000"/>
          </a:bodyPr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SEQ 中由时钟控制的：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程序计数器 PC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条件码寄存器 CC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寄存器的写端口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数据内存的写端口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其他都可看作组合逻辑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8" name="内容占位符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345" y="269875"/>
            <a:ext cx="4584065" cy="62325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华文中宋" panose="02010600040101010101" charset="-122"/>
                <a:ea typeface="华文中宋" panose="02010600040101010101" charset="-122"/>
              </a:rPr>
              <a:t>SEQ</a:t>
            </a:r>
            <a:endParaRPr 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804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不同阶段产生的值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F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valP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valC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D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valA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valB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E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valE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M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valM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W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：无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华文中宋" panose="02010600040101010101" charset="-122"/>
                <a:ea typeface="华文中宋" panose="02010600040101010101" charset="-122"/>
              </a:rPr>
              <a:t>Fetch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441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valC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对应指令中的常数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用于计算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用于跳转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valP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PC +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指令长度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一般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情况下的下一条指令地址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2995" y="970280"/>
            <a:ext cx="6897370" cy="29286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5840" y="1647190"/>
            <a:ext cx="5873750" cy="38506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华文中宋" panose="02010600040101010101" charset="-122"/>
                <a:ea typeface="华文中宋" panose="02010600040101010101" charset="-122"/>
              </a:rPr>
              <a:t>Decode</a:t>
            </a:r>
            <a:endParaRPr 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431790" cy="484441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valA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的寄存器有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rA / %rsp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valB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的寄存器有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rB / %rsp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所有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%rsp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与压栈、弹栈、调用、返回有关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valB = %rsp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时用于计算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%rsp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的变化（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valA = %rsp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时用于访存取出栈中的返回值（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华文中宋" panose="02010600040101010101" charset="-122"/>
                <a:ea typeface="华文中宋" panose="02010600040101010101" charset="-122"/>
              </a:rPr>
              <a:t>Execute</a:t>
            </a:r>
            <a:endParaRPr 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868545" cy="484441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valE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两个操作数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valB / 0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valA / valC /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±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8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valB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±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8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%rsp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改变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- 0 + valA/valC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直接传值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valB + valC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计算访存地址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0" y="879475"/>
            <a:ext cx="5650865" cy="51923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华文中宋" panose="02010600040101010101" charset="-122"/>
                <a:ea typeface="华文中宋" panose="02010600040101010101" charset="-122"/>
              </a:rPr>
              <a:t>Memory</a:t>
            </a:r>
            <a:endParaRPr 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457825" cy="484441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访存的地址只有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valA / valE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valA = R[%rsp]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valE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为计算后得到的地址（偏移、调用、压栈）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访存写入的值只有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valA / valP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valA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为一个寄存器的值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valP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将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call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时返回地址压栈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6195" y="334010"/>
            <a:ext cx="5343525" cy="60915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华文中宋" panose="02010600040101010101" charset="-122"/>
                <a:ea typeface="华文中宋" panose="02010600040101010101" charset="-122"/>
              </a:rPr>
              <a:t>Write back</a:t>
            </a:r>
            <a:endParaRPr 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420360" cy="484441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写回的只有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valE / valM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0620" y="724535"/>
            <a:ext cx="6777990" cy="56267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更新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PC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064885" cy="484441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PC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可能更新为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valP / valC / valM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valP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：正常下一条指令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valC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：跳转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valM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：返回地址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7590" y="104140"/>
            <a:ext cx="3566795" cy="664908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华文中宋" panose="02010600040101010101" charset="-122"/>
                <a:ea typeface="华文中宋" panose="02010600040101010101" charset="-122"/>
              </a:rPr>
              <a:t>SEQ</a:t>
            </a:r>
            <a:endParaRPr 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54350" y="365125"/>
            <a:ext cx="5867400" cy="61804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79040" y="785495"/>
            <a:ext cx="3791585" cy="2170430"/>
          </a:xfrm>
          <a:prstGeom prst="rect">
            <a:avLst/>
          </a:prstGeom>
        </p:spPr>
      </p:pic>
      <p:sp>
        <p:nvSpPr>
          <p:cNvPr id="4" name="内容占位符 2"/>
          <p:cNvSpPr>
            <a:spLocks noGrp="1"/>
          </p:cNvSpPr>
          <p:nvPr/>
        </p:nvSpPr>
        <p:spPr>
          <a:xfrm>
            <a:off x="2479040" y="3326765"/>
            <a:ext cx="3608705" cy="28663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%rbp -&gt; %rsp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</a:t>
            </a:r>
            <a:r>
              <a:rPr lang="en-US" altLang="zh-CN" baseline="-25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8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[%rsp] -&gt; %rbp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%rsp += 8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%rbp + 8 -&gt; %rsp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</a:t>
            </a:r>
            <a:r>
              <a:rPr lang="en-US" altLang="zh-CN" baseline="-25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8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[%rbp] -&gt; %rbp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842" y="538369"/>
            <a:ext cx="5061916" cy="58741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8" name="内容占位符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52270" y="1818005"/>
            <a:ext cx="8583930" cy="3235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310" y="1795780"/>
            <a:ext cx="8248015" cy="3157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44345" y="1745615"/>
            <a:ext cx="8340090" cy="1683385"/>
          </a:xfrm>
          <a:prstGeom prst="rect">
            <a:avLst/>
          </a:prstGeom>
        </p:spPr>
      </p:pic>
      <p:pic>
        <p:nvPicPr>
          <p:cNvPr id="4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750" y="1739900"/>
            <a:ext cx="8528685" cy="1677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流水线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基本原理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几类问题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不同的解决方式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存储器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不同存储器的基本原理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8843"/>
            <a:ext cx="9144000" cy="2387600"/>
          </a:xfrm>
        </p:spPr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谢谢！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1706</Words>
  <Application>WPS 演示</Application>
  <PresentationFormat>宽屏</PresentationFormat>
  <Paragraphs>216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Arial</vt:lpstr>
      <vt:lpstr>宋体</vt:lpstr>
      <vt:lpstr>Wingdings</vt:lpstr>
      <vt:lpstr>华文中宋</vt:lpstr>
      <vt:lpstr>微软雅黑</vt:lpstr>
      <vt:lpstr>Arial Unicode MS</vt:lpstr>
      <vt:lpstr>Calibri</vt:lpstr>
      <vt:lpstr>WPS</vt:lpstr>
      <vt:lpstr>ICS小班 Week7</vt:lpstr>
      <vt:lpstr>Lec9: Processor Arch: ISA&amp;Logic</vt:lpstr>
      <vt:lpstr>ISA</vt:lpstr>
      <vt:lpstr>CISC / RISC</vt:lpstr>
      <vt:lpstr>Y86-64</vt:lpstr>
      <vt:lpstr>Y86-64</vt:lpstr>
      <vt:lpstr>练习</vt:lpstr>
      <vt:lpstr>硬件控制语言 HCL</vt:lpstr>
      <vt:lpstr>存储器</vt:lpstr>
      <vt:lpstr>时钟</vt:lpstr>
      <vt:lpstr>练习</vt:lpstr>
      <vt:lpstr>寄存器</vt:lpstr>
      <vt:lpstr>Lec10: Processor Arch: Sequential</vt:lpstr>
      <vt:lpstr>Y86-84的顺序实现</vt:lpstr>
      <vt:lpstr>pushq</vt:lpstr>
      <vt:lpstr>popq</vt:lpstr>
      <vt:lpstr>Y86-84的顺序实现</vt:lpstr>
      <vt:lpstr>jXX</vt:lpstr>
      <vt:lpstr>cmovXX</vt:lpstr>
      <vt:lpstr>SEQ</vt:lpstr>
      <vt:lpstr>SEQ</vt:lpstr>
      <vt:lpstr>Fetch</vt:lpstr>
      <vt:lpstr>Decode</vt:lpstr>
      <vt:lpstr>Execute</vt:lpstr>
      <vt:lpstr>Memory</vt:lpstr>
      <vt:lpstr>Write back</vt:lpstr>
      <vt:lpstr>更新 PC</vt:lpstr>
      <vt:lpstr>SEQ</vt:lpstr>
      <vt:lpstr>练习</vt:lpstr>
      <vt:lpstr>练习</vt:lpstr>
      <vt:lpstr>练习</vt:lpstr>
      <vt:lpstr>知识前瞻</vt:lpstr>
      <vt:lpstr>知识前瞻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Zian Liu</dc:creator>
  <cp:lastModifiedBy>刘梓安</cp:lastModifiedBy>
  <cp:revision>365</cp:revision>
  <dcterms:created xsi:type="dcterms:W3CDTF">2023-08-09T12:44:00Z</dcterms:created>
  <dcterms:modified xsi:type="dcterms:W3CDTF">2026-10-19T11:04:05Z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0FFB374EF87741258E9EC42A4DEF22FC_13</vt:lpwstr>
  </property>
</Properties>
</file>