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0"/>
  </p:notesMasterIdLst>
  <p:sldIdLst>
    <p:sldId id="256" r:id="rId3"/>
    <p:sldId id="257" r:id="rId4"/>
    <p:sldId id="393" r:id="rId5"/>
    <p:sldId id="372" r:id="rId6"/>
    <p:sldId id="403" r:id="rId7"/>
    <p:sldId id="402" r:id="rId8"/>
    <p:sldId id="392" r:id="rId9"/>
    <p:sldId id="394" r:id="rId10"/>
    <p:sldId id="338" r:id="rId11"/>
    <p:sldId id="395" r:id="rId12"/>
    <p:sldId id="404" r:id="rId13"/>
    <p:sldId id="405" r:id="rId14"/>
    <p:sldId id="396" r:id="rId15"/>
    <p:sldId id="374" r:id="rId16"/>
    <p:sldId id="342" r:id="rId17"/>
    <p:sldId id="399" r:id="rId18"/>
    <p:sldId id="400" r:id="rId19"/>
    <p:sldId id="424" r:id="rId20"/>
    <p:sldId id="406" r:id="rId21"/>
    <p:sldId id="397" r:id="rId22"/>
    <p:sldId id="407" r:id="rId23"/>
    <p:sldId id="408" r:id="rId24"/>
    <p:sldId id="409" r:id="rId25"/>
    <p:sldId id="410" r:id="rId26"/>
    <p:sldId id="411" r:id="rId27"/>
    <p:sldId id="412" r:id="rId28"/>
    <p:sldId id="421" r:id="rId29"/>
    <p:sldId id="413" r:id="rId30"/>
    <p:sldId id="414" r:id="rId31"/>
    <p:sldId id="415" r:id="rId32"/>
    <p:sldId id="417" r:id="rId33"/>
    <p:sldId id="418" r:id="rId34"/>
    <p:sldId id="419" r:id="rId35"/>
    <p:sldId id="420" r:id="rId36"/>
    <p:sldId id="422" r:id="rId37"/>
    <p:sldId id="423" r:id="rId38"/>
    <p:sldId id="332" r:id="rId3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ell" initials="d" lastIdx="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4" Type="http://schemas.openxmlformats.org/officeDocument/2006/relationships/commentAuthors" Target="commentAuthors.xml"/><Relationship Id="rId43" Type="http://schemas.openxmlformats.org/officeDocument/2006/relationships/tableStyles" Target="tableStyles.xml"/><Relationship Id="rId42" Type="http://schemas.openxmlformats.org/officeDocument/2006/relationships/viewProps" Target="viewProps.xml"/><Relationship Id="rId41" Type="http://schemas.openxmlformats.org/officeDocument/2006/relationships/presProps" Target="presProps.xml"/><Relationship Id="rId40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9" Type="http://schemas.openxmlformats.org/officeDocument/2006/relationships/slide" Target="slides/slide37.xml"/><Relationship Id="rId38" Type="http://schemas.openxmlformats.org/officeDocument/2006/relationships/slide" Target="slides/slide36.xml"/><Relationship Id="rId37" Type="http://schemas.openxmlformats.org/officeDocument/2006/relationships/slide" Target="slides/slide35.xml"/><Relationship Id="rId36" Type="http://schemas.openxmlformats.org/officeDocument/2006/relationships/slide" Target="slides/slide34.xml"/><Relationship Id="rId35" Type="http://schemas.openxmlformats.org/officeDocument/2006/relationships/slide" Target="slides/slide33.xml"/><Relationship Id="rId34" Type="http://schemas.openxmlformats.org/officeDocument/2006/relationships/slide" Target="slides/slide32.xml"/><Relationship Id="rId33" Type="http://schemas.openxmlformats.org/officeDocument/2006/relationships/slide" Target="slides/slide31.xml"/><Relationship Id="rId32" Type="http://schemas.openxmlformats.org/officeDocument/2006/relationships/slide" Target="slides/slide30.xml"/><Relationship Id="rId31" Type="http://schemas.openxmlformats.org/officeDocument/2006/relationships/slide" Target="slides/slide29.xml"/><Relationship Id="rId30" Type="http://schemas.openxmlformats.org/officeDocument/2006/relationships/slide" Target="slides/slide28.xml"/><Relationship Id="rId3" Type="http://schemas.openxmlformats.org/officeDocument/2006/relationships/slide" Target="slides/slide1.xml"/><Relationship Id="rId29" Type="http://schemas.openxmlformats.org/officeDocument/2006/relationships/slide" Target="slides/slide27.xml"/><Relationship Id="rId28" Type="http://schemas.openxmlformats.org/officeDocument/2006/relationships/slide" Target="slides/slide26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1" Type="http://schemas.openxmlformats.org/officeDocument/2006/relationships/tags" Target="../tags/tag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6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7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8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9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0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1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2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3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4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4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5.png"/><Relationship Id="rId1" Type="http://schemas.openxmlformats.org/officeDocument/2006/relationships/image" Target="../media/image24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6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7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8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9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485458"/>
            <a:ext cx="9144000" cy="2387600"/>
          </a:xfrm>
        </p:spPr>
        <p:txBody>
          <a:bodyPr/>
          <a:p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ICS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小班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 Week7</a:t>
            </a:r>
            <a:endParaRPr lang="en-US" altLang="zh-CN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2924493"/>
            <a:ext cx="9144000" cy="1655762"/>
          </a:xfrm>
        </p:spPr>
        <p:txBody>
          <a:bodyPr/>
          <a:p>
            <a:r>
              <a:rPr lang="en-US" altLang="zh-CN" sz="3600">
                <a:latin typeface="华文中宋" panose="02010600040101010101" charset="-122"/>
                <a:ea typeface="华文中宋" panose="02010600040101010101" charset="-122"/>
              </a:rPr>
              <a:t>2025.10.22</a:t>
            </a:r>
            <a:endParaRPr lang="en-US" altLang="zh-CN" sz="3600">
              <a:latin typeface="华文中宋" panose="02010600040101010101" charset="-122"/>
              <a:ea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>
                <a:latin typeface="华文中宋" panose="02010600040101010101" charset="-122"/>
                <a:ea typeface="华文中宋" panose="02010600040101010101" charset="-122"/>
              </a:rPr>
              <a:t>ISA</a:t>
            </a:r>
            <a:endParaRPr lang="en-US" altLang="zh-CN">
              <a:latin typeface="华文中宋" panose="02010600040101010101" charset="-122"/>
              <a:ea typeface="华文中宋" panose="02010600040101010101" charset="-122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47035" y="3502660"/>
            <a:ext cx="6297295" cy="2919095"/>
          </a:xfrm>
          <a:prstGeom prst="rect">
            <a:avLst/>
          </a:prstGeom>
        </p:spPr>
      </p:pic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305415" cy="4213225"/>
          </a:xfrm>
        </p:spPr>
        <p:txBody>
          <a:bodyPr>
            <a:normAutofit lnSpcReduction="10000"/>
          </a:bodyPr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ISA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（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Instruction-Set Architecture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）指令集体系结构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软硬件之间的抽象层：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编译器知道允许哪些指令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处理器知道如何执行指令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>
                <a:latin typeface="华文中宋" panose="02010600040101010101" charset="-122"/>
                <a:ea typeface="华文中宋" panose="02010600040101010101" charset="-122"/>
              </a:rPr>
              <a:t>CISC / RISC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670685"/>
            <a:ext cx="10353040" cy="4368165"/>
          </a:xfrm>
        </p:spPr>
        <p:txBody>
          <a:bodyPr>
            <a:normAutofit/>
          </a:bodyPr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C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：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complex</a:t>
            </a:r>
            <a:endParaRPr lang="en-US" altLang="zh-CN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x86</a:t>
            </a:r>
            <a:endParaRPr lang="en-US" altLang="zh-CN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en-US" altLang="zh-CN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R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：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reduced</a:t>
            </a:r>
            <a:endParaRPr lang="en-US" altLang="zh-CN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ARM、RISC-V、MIPS</a:t>
            </a:r>
            <a:endParaRPr lang="en-US" altLang="zh-CN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08880" y="1365250"/>
            <a:ext cx="6799580" cy="497903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练习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 rotWithShape="1">
          <a:blip r:embed="rId1"/>
          <a:srcRect b="1574"/>
          <a:stretch>
            <a:fillRect/>
          </a:stretch>
        </p:blipFill>
        <p:spPr>
          <a:xfrm>
            <a:off x="2453640" y="467360"/>
            <a:ext cx="8689975" cy="60655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练习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pic>
        <p:nvPicPr>
          <p:cNvPr id="3" name="内容占位符 2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2345690" y="365125"/>
            <a:ext cx="8708390" cy="62725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>
                <a:latin typeface="华文中宋" panose="02010600040101010101" charset="-122"/>
                <a:ea typeface="华文中宋" panose="02010600040101010101" charset="-122"/>
              </a:rPr>
              <a:t>Y86-64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597515" cy="4213225"/>
          </a:xfrm>
        </p:spPr>
        <p:txBody>
          <a:bodyPr>
            <a:normAutofit lnSpcReduction="10000"/>
          </a:bodyPr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只有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15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个程序寄存器（简化编码）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OPq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只对寄存器进行操作（常数先加载到寄存器）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分支指令和调用指令的目的是绝对地址（而非相对寻址）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subq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同时生成条件码（类似地，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testq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用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andq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替代）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>
                <a:latin typeface="华文中宋" panose="02010600040101010101" charset="-122"/>
                <a:ea typeface="华文中宋" panose="02010600040101010101" charset="-122"/>
              </a:rPr>
              <a:t>Y86-64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976630" y="4482465"/>
            <a:ext cx="9846945" cy="2072640"/>
          </a:xfrm>
        </p:spPr>
        <p:txBody>
          <a:bodyPr>
            <a:normAutofit/>
          </a:bodyPr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指令变长（但执行时仍然一次读出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10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字节）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寄存器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4</a:t>
            </a:r>
            <a:r>
              <a:rPr lang="zh-CN" altLang="en-US" sz="2800">
                <a:solidFill>
                  <a:srgbClr val="FF0000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位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（半个字节），立即数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8</a:t>
            </a:r>
            <a:r>
              <a:rPr lang="zh-CN" altLang="en-US" sz="2800">
                <a:solidFill>
                  <a:srgbClr val="FF0000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字节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基址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+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偏移方式寻址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无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immovq</a:t>
            </a:r>
            <a:endParaRPr lang="en-US" altLang="zh-CN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1975" y="910590"/>
            <a:ext cx="6270625" cy="34099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硬件控制语言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</a:rPr>
              <a:t>HCL</a:t>
            </a:r>
            <a:endParaRPr lang="en-US" altLang="zh-CN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597515" cy="4213225"/>
          </a:xfrm>
        </p:spPr>
        <p:txBody>
          <a:bodyPr>
            <a:normAutofit lnSpcReduction="10000"/>
          </a:bodyPr>
          <a:p>
            <a:pPr marL="0" indent="0">
              <a:buNone/>
            </a:pPr>
            <a:r>
              <a:rPr 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例如：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bool out = (s &amp;&amp; a) || (!s &amp;&amp; b)</a:t>
            </a:r>
            <a:endParaRPr lang="en-US" altLang="zh-CN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- 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描述的是状态之间的关系，非动作序列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- 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持续响应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- 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没有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“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短路求值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”</a:t>
            </a:r>
            <a:endParaRPr lang="en-US" altLang="zh-CN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>
              <a:buNone/>
            </a:pPr>
            <a:endParaRPr lang="en-US" altLang="zh-CN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</p:txBody>
      </p:sp>
      <p:pic>
        <p:nvPicPr>
          <p:cNvPr id="5" name="图片 4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087880" y="4400550"/>
            <a:ext cx="8016240" cy="197675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存储器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pic>
        <p:nvPicPr>
          <p:cNvPr id="4" name="内容占位符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1014095" y="1691005"/>
            <a:ext cx="10053320" cy="2267585"/>
          </a:xfrm>
          <a:prstGeom prst="rect">
            <a:avLst/>
          </a:prstGeom>
        </p:spPr>
      </p:pic>
      <p:sp>
        <p:nvSpPr>
          <p:cNvPr id="5" name="内容占位符 2"/>
          <p:cNvSpPr>
            <a:spLocks noGrp="1"/>
          </p:cNvSpPr>
          <p:nvPr/>
        </p:nvSpPr>
        <p:spPr>
          <a:xfrm>
            <a:off x="838200" y="4103370"/>
            <a:ext cx="10597515" cy="209613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“</a:t>
            </a:r>
            <a:r>
              <a:rPr 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时钟寄存器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”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：时钟控制的简单状态（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Y86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中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PC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、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CC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、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Stat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）</a:t>
            </a:r>
            <a:endParaRPr lang="zh-CN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“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随机访问存储器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”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：虚拟内存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 + 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寄存器</a:t>
            </a:r>
            <a:endParaRPr lang="en-US" altLang="zh-CN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时钟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5" name="内容占位符 2"/>
          <p:cNvSpPr>
            <a:spLocks noGrp="1"/>
          </p:cNvSpPr>
          <p:nvPr/>
        </p:nvSpPr>
        <p:spPr>
          <a:xfrm>
            <a:off x="838200" y="4103370"/>
            <a:ext cx="10597515" cy="209613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需要更新的值已经产生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在时钟上升沿完成写入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</p:txBody>
      </p:sp>
      <p:pic>
        <p:nvPicPr>
          <p:cNvPr id="4" name="内容占位符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2005965" y="1456690"/>
            <a:ext cx="8180705" cy="21431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练习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0800" y="1452880"/>
            <a:ext cx="9549765" cy="437070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练习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7620" y="1433195"/>
            <a:ext cx="9095105" cy="4083050"/>
          </a:xfrm>
          <a:prstGeom prst="rect">
            <a:avLst/>
          </a:prstGeom>
        </p:spPr>
      </p:pic>
      <p:sp>
        <p:nvSpPr>
          <p:cNvPr id="5" name="内容占位符 2"/>
          <p:cNvSpPr>
            <a:spLocks noGrp="1"/>
          </p:cNvSpPr>
          <p:nvPr/>
        </p:nvSpPr>
        <p:spPr>
          <a:xfrm>
            <a:off x="838200" y="5652135"/>
            <a:ext cx="10597515" cy="81724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此处考虑了延迟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寄存器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5" name="内容占位符 2"/>
          <p:cNvSpPr>
            <a:spLocks noGrp="1"/>
          </p:cNvSpPr>
          <p:nvPr/>
        </p:nvSpPr>
        <p:spPr>
          <a:xfrm>
            <a:off x="838200" y="4103370"/>
            <a:ext cx="10597515" cy="209613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读：组合逻辑（持续相应）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写：时钟控制（由时钟上升沿触发）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内存同理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</p:txBody>
      </p:sp>
      <p:pic>
        <p:nvPicPr>
          <p:cNvPr id="4" name="内容占位符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2926080" y="1148080"/>
            <a:ext cx="6422390" cy="269811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>
                <a:latin typeface="华文中宋" panose="02010600040101010101" charset="-122"/>
                <a:ea typeface="华文中宋" panose="02010600040101010101" charset="-122"/>
              </a:rPr>
              <a:t>Y86-84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的顺序实现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78045"/>
          </a:xfrm>
        </p:spPr>
        <p:txBody>
          <a:bodyPr>
            <a:normAutofit lnSpcReduction="10000"/>
          </a:bodyPr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F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（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fetch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）：取指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D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（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decode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）：译码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E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（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execute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）：执行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M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（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memory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）：访存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W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（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write back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）：写回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更新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PC</a:t>
            </a: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>
                <a:latin typeface="华文中宋" panose="02010600040101010101" charset="-122"/>
                <a:ea typeface="华文中宋" panose="02010600040101010101" charset="-122"/>
              </a:rPr>
              <a:t>pushq</a:t>
            </a:r>
            <a:endParaRPr 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6745605" cy="4678045"/>
          </a:xfrm>
        </p:spPr>
        <p:txBody>
          <a:bodyPr>
            <a:normAutofit lnSpcReduction="10000"/>
          </a:bodyPr>
          <a:p>
            <a:pPr marL="0" indent="0">
              <a:buNone/>
            </a:pP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pushq %rsp</a:t>
            </a:r>
            <a:endParaRPr lang="en-US" altLang="zh-CN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>
              <a:buNone/>
            </a:pP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压入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%rsp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原始值，再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%rsp -= 8</a:t>
            </a:r>
            <a:endParaRPr lang="en-US" altLang="zh-CN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原因：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M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阶段在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W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阶段前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8660" y="852170"/>
            <a:ext cx="3533775" cy="529526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>
                <a:latin typeface="华文中宋" panose="02010600040101010101" charset="-122"/>
                <a:ea typeface="华文中宋" panose="02010600040101010101" charset="-122"/>
              </a:rPr>
              <a:t>popq</a:t>
            </a:r>
            <a:endParaRPr lang="en-US" altLang="zh-CN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6236335" cy="4213225"/>
          </a:xfrm>
        </p:spPr>
        <p:txBody>
          <a:bodyPr>
            <a:normAutofit lnSpcReduction="10000"/>
          </a:bodyPr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popq %rsp</a:t>
            </a:r>
            <a:endParaRPr lang="en-US" altLang="zh-CN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%rsp += 8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，再将栈顶弹出（覆盖）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原因：先写入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valE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，再写入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valM</a:t>
            </a:r>
            <a:endParaRPr lang="en-US" altLang="zh-CN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95845" y="1054735"/>
            <a:ext cx="3387725" cy="508190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>
                <a:latin typeface="华文中宋" panose="02010600040101010101" charset="-122"/>
                <a:ea typeface="华文中宋" panose="02010600040101010101" charset="-122"/>
              </a:rPr>
              <a:t>jXX</a:t>
            </a:r>
            <a:endParaRPr lang="en-US" altLang="zh-CN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6236335" cy="4213225"/>
          </a:xfrm>
        </p:spPr>
        <p:txBody>
          <a:bodyPr>
            <a:normAutofit lnSpcReduction="10000"/>
          </a:bodyPr>
          <a:p>
            <a:pPr marL="0" indent="0"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在执行阶段计算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Cnd</a:t>
            </a:r>
            <a:endParaRPr lang="en-US" altLang="zh-CN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在更新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PC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阶段用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Cnd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判断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0" y="1248410"/>
            <a:ext cx="3051175" cy="47904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>
                <a:latin typeface="华文中宋" panose="02010600040101010101" charset="-122"/>
                <a:ea typeface="华文中宋" panose="02010600040101010101" charset="-122"/>
              </a:rPr>
              <a:t>cmovXX</a:t>
            </a:r>
            <a:endParaRPr lang="en-US" altLang="zh-CN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6236335" cy="4213225"/>
          </a:xfrm>
        </p:spPr>
        <p:txBody>
          <a:bodyPr>
            <a:normAutofit lnSpcReduction="10000"/>
          </a:bodyPr>
          <a:p>
            <a:pPr marL="0" indent="0"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在执行阶段计算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Cnd</a:t>
            </a:r>
            <a:endParaRPr lang="en-US" altLang="zh-CN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在写回阶段用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Cnd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判断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11085" y="1243965"/>
            <a:ext cx="3154045" cy="479488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>
                <a:latin typeface="华文中宋" panose="02010600040101010101" charset="-122"/>
                <a:ea typeface="华文中宋" panose="02010600040101010101" charset="-122"/>
              </a:rPr>
              <a:t>SEQ</a:t>
            </a:r>
            <a:endParaRPr lang="en-US" altLang="zh-CN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6236335" cy="4213225"/>
          </a:xfrm>
        </p:spPr>
        <p:txBody>
          <a:bodyPr>
            <a:normAutofit lnSpcReduction="10000"/>
          </a:bodyPr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SEQ 中由时钟控制的：</a:t>
            </a:r>
            <a:endParaRPr lang="zh-CN" altLang="en-US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- 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程序计数器 PC</a:t>
            </a:r>
            <a:endParaRPr lang="zh-CN" altLang="en-US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- 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条件码寄存器 CC</a:t>
            </a:r>
            <a:endParaRPr lang="zh-CN" altLang="en-US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- 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寄存器的写端口</a:t>
            </a:r>
            <a:endParaRPr lang="zh-CN" altLang="en-US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- 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数据内存的写端口</a:t>
            </a:r>
            <a:endParaRPr lang="zh-CN" altLang="en-US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285750" indent="-2857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zh-CN" altLang="en-US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其他都可看作组合逻辑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</p:txBody>
      </p:sp>
      <p:pic>
        <p:nvPicPr>
          <p:cNvPr id="8" name="内容占位符 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3345" y="269875"/>
            <a:ext cx="4584065" cy="623252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>
                <a:latin typeface="华文中宋" panose="02010600040101010101" charset="-122"/>
                <a:ea typeface="华文中宋" panose="02010600040101010101" charset="-122"/>
              </a:rPr>
              <a:t>SEQ</a:t>
            </a:r>
            <a:endParaRPr 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78045"/>
          </a:xfrm>
        </p:spPr>
        <p:txBody>
          <a:bodyPr>
            <a:normAutofit lnSpcReduction="10000"/>
          </a:bodyPr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不同阶段产生的值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F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：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valP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、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valC</a:t>
            </a: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D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：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valA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、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valB</a:t>
            </a: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E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：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valE</a:t>
            </a: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M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：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valM</a:t>
            </a: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W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：无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>
                <a:latin typeface="华文中宋" panose="02010600040101010101" charset="-122"/>
                <a:ea typeface="华文中宋" panose="02010600040101010101" charset="-122"/>
              </a:rPr>
              <a:t>Fetch</a:t>
            </a:r>
            <a:endParaRPr lang="en-US" altLang="zh-CN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44415"/>
          </a:xfrm>
        </p:spPr>
        <p:txBody>
          <a:bodyPr>
            <a:normAutofit lnSpcReduction="10000"/>
          </a:bodyPr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valC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对应指令中的常数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用于计算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用于跳转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valP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为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PC + 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指令长度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一般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情况下的下一条指令地址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05145" y="1295400"/>
            <a:ext cx="5025390" cy="21336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>
                <a:latin typeface="华文中宋" panose="02010600040101010101" charset="-122"/>
                <a:ea typeface="华文中宋" panose="02010600040101010101" charset="-122"/>
              </a:rPr>
              <a:t>Decode</a:t>
            </a:r>
            <a:endParaRPr 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5431790" cy="4844415"/>
          </a:xfrm>
        </p:spPr>
        <p:txBody>
          <a:bodyPr>
            <a:normAutofit lnSpcReduction="10000"/>
          </a:bodyPr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valA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的寄存器有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 rA / %rsp</a:t>
            </a: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valB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的寄存器有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 rB / %rsp</a:t>
            </a: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所有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%rsp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与压栈、弹栈、调用、返回有关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valB = %rsp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时用于计算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%rsp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的变化（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E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）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valA = %rsp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时用于访存取出栈中的返回值（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M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）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19215" y="1042670"/>
            <a:ext cx="5164455" cy="338518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>
                <a:latin typeface="华文中宋" panose="02010600040101010101" charset="-122"/>
                <a:ea typeface="华文中宋" panose="02010600040101010101" charset="-122"/>
              </a:rPr>
              <a:t>Execute</a:t>
            </a:r>
            <a:endParaRPr 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4868545" cy="4844415"/>
          </a:xfrm>
        </p:spPr>
        <p:txBody>
          <a:bodyPr>
            <a:normAutofit lnSpcReduction="10000"/>
          </a:bodyPr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valE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两个操作数</a:t>
            </a: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valB / 0</a:t>
            </a: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valA / valC / 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±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8</a:t>
            </a: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valB 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±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 8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计算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%rsp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改变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- 0 + valA/valC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直接传值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valB + valC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计算访存地址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61685" y="842645"/>
            <a:ext cx="5112385" cy="469709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>
                <a:latin typeface="华文中宋" panose="02010600040101010101" charset="-122"/>
                <a:ea typeface="华文中宋" panose="02010600040101010101" charset="-122"/>
              </a:rPr>
              <a:t>Memory</a:t>
            </a:r>
            <a:endParaRPr 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5457825" cy="4844415"/>
          </a:xfrm>
        </p:spPr>
        <p:txBody>
          <a:bodyPr>
            <a:normAutofit lnSpcReduction="10000"/>
          </a:bodyPr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访存的地址只有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 valA / valE</a:t>
            </a: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valA = R[%rsp]</a:t>
            </a: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valE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为计算后得到的地址（偏移、调用、压栈）</a:t>
            </a: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访存写入的值只有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 valA / valP</a:t>
            </a: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valA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仅为一个寄存器的值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valP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：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call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时返回地址压栈</a:t>
            </a: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93840" y="707390"/>
            <a:ext cx="4653280" cy="530479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>
                <a:latin typeface="华文中宋" panose="02010600040101010101" charset="-122"/>
                <a:ea typeface="华文中宋" panose="02010600040101010101" charset="-122"/>
              </a:rPr>
              <a:t>Write back</a:t>
            </a:r>
            <a:endParaRPr 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5420360" cy="4844415"/>
          </a:xfrm>
        </p:spPr>
        <p:txBody>
          <a:bodyPr>
            <a:normAutofit lnSpcReduction="10000"/>
          </a:bodyPr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写回的只有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 valE / valM</a:t>
            </a: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23255" y="1125855"/>
            <a:ext cx="5425440" cy="450405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更新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</a:rPr>
              <a:t> PC</a:t>
            </a:r>
            <a:endParaRPr lang="en-US" altLang="zh-CN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5391150" cy="4844415"/>
          </a:xfrm>
        </p:spPr>
        <p:txBody>
          <a:bodyPr>
            <a:normAutofit lnSpcReduction="10000"/>
          </a:bodyPr>
          <a:p>
            <a:pPr marL="0" indent="0">
              <a:buNone/>
            </a:pP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PC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可能更新为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 valP / valC / valM</a:t>
            </a:r>
            <a:endParaRPr lang="en-US" altLang="zh-CN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>
              <a:buNone/>
            </a:pP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- valP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：正常下一条指令</a:t>
            </a:r>
            <a:endParaRPr lang="zh-CN" altLang="en-US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>
              <a:buNone/>
            </a:pP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- valC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：跳转</a:t>
            </a:r>
            <a:endParaRPr lang="zh-CN" altLang="en-US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>
              <a:buNone/>
            </a:pP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- valM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：返回地址</a:t>
            </a: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62165" y="409575"/>
            <a:ext cx="3239135" cy="603821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>
                <a:latin typeface="华文中宋" panose="02010600040101010101" charset="-122"/>
                <a:ea typeface="华文中宋" panose="02010600040101010101" charset="-122"/>
              </a:rPr>
              <a:t>SEQ</a:t>
            </a:r>
            <a:endParaRPr 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pic>
        <p:nvPicPr>
          <p:cNvPr id="6" name="内容占位符 5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3054350" y="365125"/>
            <a:ext cx="5867400" cy="618045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练习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pic>
        <p:nvPicPr>
          <p:cNvPr id="6" name="内容占位符 5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1056005" y="1631315"/>
            <a:ext cx="4153535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练习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pic>
        <p:nvPicPr>
          <p:cNvPr id="6" name="内容占位符 5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1056005" y="1631315"/>
            <a:ext cx="4153535" cy="2377440"/>
          </a:xfrm>
          <a:prstGeom prst="rect">
            <a:avLst/>
          </a:prstGeom>
        </p:spPr>
      </p:pic>
      <p:sp>
        <p:nvSpPr>
          <p:cNvPr id="4" name="内容占位符 2"/>
          <p:cNvSpPr>
            <a:spLocks noGrp="1"/>
          </p:cNvSpPr>
          <p:nvPr/>
        </p:nvSpPr>
        <p:spPr>
          <a:xfrm>
            <a:off x="6158230" y="1461135"/>
            <a:ext cx="4300220" cy="491553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algn="l">
              <a:buClrTx/>
              <a:buSzTx/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%rbp -&gt; %rsp</a:t>
            </a: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algn="l">
              <a:buClrTx/>
              <a:buSzTx/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M8[%rsp] -&gt; %rbp</a:t>
            </a: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algn="l">
              <a:buClrTx/>
              <a:buSzTx/>
              <a:buNone/>
            </a:pP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%rsp += 8</a:t>
            </a: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algn="l">
              <a:buClrTx/>
              <a:buSzTx/>
              <a:buNone/>
            </a:pP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algn="l">
              <a:buClrTx/>
              <a:buSzTx/>
              <a:buNone/>
            </a:pP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algn="l">
              <a:buClrTx/>
              <a:buSzTx/>
              <a:buNone/>
            </a:pP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可简化为：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algn="l">
              <a:buClrTx/>
              <a:buSzTx/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%rbp + 8 -&gt; %rsp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algn="l">
              <a:buClrTx/>
              <a:buSzTx/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M8[%rbp] -&gt; %rbp</a:t>
            </a: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练习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pic>
        <p:nvPicPr>
          <p:cNvPr id="6" name="内容占位符 5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1056005" y="1631315"/>
            <a:ext cx="4153535" cy="2377440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8802" y="588534"/>
            <a:ext cx="5061916" cy="5874143"/>
          </a:xfrm>
          <a:prstGeom prst="rect">
            <a:avLst/>
          </a:prstGeom>
        </p:spPr>
      </p:pic>
      <p:sp>
        <p:nvSpPr>
          <p:cNvPr id="4" name="内容占位符 2"/>
          <p:cNvSpPr>
            <a:spLocks noGrp="1"/>
          </p:cNvSpPr>
          <p:nvPr/>
        </p:nvSpPr>
        <p:spPr>
          <a:xfrm>
            <a:off x="1280160" y="4599940"/>
            <a:ext cx="4300220" cy="186245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algn="l">
              <a:buClrTx/>
              <a:buSzTx/>
              <a:buNone/>
            </a:pP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%rbp + 8 -&gt; %rsp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algn="l">
              <a:buClrTx/>
              <a:buSzTx/>
              <a:buNone/>
            </a:pP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M8[%rbp] -&gt; %rbp</a:t>
            </a: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练习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pic>
        <p:nvPicPr>
          <p:cNvPr id="8" name="内容占位符 7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1652270" y="1818005"/>
            <a:ext cx="8583930" cy="3235325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练习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3" name="内容占位符 2"/>
          <p:cNvSpPr/>
          <p:nvPr>
            <p:ph idx="1"/>
          </p:nvPr>
        </p:nvSpPr>
        <p:spPr/>
        <p:txBody>
          <a:bodyPr/>
          <a:p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8310" y="1778635"/>
            <a:ext cx="8084185" cy="309499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练习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pic>
        <p:nvPicPr>
          <p:cNvPr id="7" name="内容占位符 6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1744345" y="1745615"/>
            <a:ext cx="8340090" cy="1683385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练习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pic>
        <p:nvPicPr>
          <p:cNvPr id="4" name="内容占位符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1383030" y="1824990"/>
            <a:ext cx="8528685" cy="1677035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>
                <a:latin typeface="华文中宋" panose="02010600040101010101" charset="-122"/>
                <a:ea typeface="华文中宋" panose="02010600040101010101" charset="-122"/>
              </a:rPr>
              <a:t>知识前瞻</a:t>
            </a:r>
            <a:endParaRPr lang="zh-CN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3" name="内容占位符 2"/>
          <p:cNvSpPr/>
          <p:nvPr>
            <p:ph idx="1"/>
          </p:nvPr>
        </p:nvSpPr>
        <p:spPr/>
        <p:txBody>
          <a:bodyPr/>
          <a:p>
            <a:pPr marL="0" indent="0" algn="l">
              <a:buClrTx/>
              <a:buSzTx/>
              <a:buNone/>
            </a:pP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流水线</a:t>
            </a:r>
            <a:endParaRPr lang="zh-CN" altLang="en-US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 algn="l">
              <a:buClrTx/>
              <a:buSzTx/>
              <a:buNone/>
            </a:pP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基本原理</a:t>
            </a:r>
            <a:endParaRPr lang="zh-CN" altLang="en-US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 algn="l">
              <a:buClrTx/>
              <a:buSzTx/>
              <a:buNone/>
            </a:pP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几类问题</a:t>
            </a:r>
            <a:endParaRPr lang="zh-CN" altLang="en-US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 algn="l">
              <a:buClrTx/>
              <a:buSzTx/>
              <a:buNone/>
            </a:pP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不同的解决方式</a:t>
            </a:r>
            <a:endParaRPr lang="zh-CN" altLang="en-US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 algn="l">
              <a:buClrTx/>
              <a:buSzTx/>
              <a:buNone/>
            </a:pPr>
            <a:endParaRPr lang="zh-CN" altLang="en-US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>
                <a:latin typeface="华文中宋" panose="02010600040101010101" charset="-122"/>
                <a:ea typeface="华文中宋" panose="02010600040101010101" charset="-122"/>
              </a:rPr>
              <a:t>知识前瞻</a:t>
            </a:r>
            <a:endParaRPr lang="zh-CN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3" name="内容占位符 2"/>
          <p:cNvSpPr/>
          <p:nvPr>
            <p:ph idx="1"/>
          </p:nvPr>
        </p:nvSpPr>
        <p:spPr/>
        <p:txBody>
          <a:bodyPr/>
          <a:p>
            <a:pPr marL="0" indent="0" algn="l">
              <a:buClrTx/>
              <a:buSzTx/>
              <a:buNone/>
            </a:pP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存储器</a:t>
            </a:r>
            <a:endParaRPr lang="zh-CN" altLang="en-US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 algn="l">
              <a:buClrTx/>
              <a:buSzTx/>
              <a:buNone/>
            </a:pP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不同存储器的基本原理</a:t>
            </a:r>
            <a:endParaRPr lang="zh-CN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898843"/>
            <a:ext cx="9144000" cy="2387600"/>
          </a:xfrm>
        </p:spPr>
        <p:txBody>
          <a:bodyPr/>
          <a:p>
            <a:r>
              <a:rPr 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谢谢！</a:t>
            </a:r>
            <a:endParaRPr lang="zh-CN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sp>
        <p:nvSpPr>
          <p:cNvPr id="4" name="副标题 3"/>
          <p:cNvSpPr/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1550</Words>
  <Application>WPS 演示</Application>
  <PresentationFormat>宽屏</PresentationFormat>
  <Paragraphs>223</Paragraphs>
  <Slides>37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37</vt:i4>
      </vt:variant>
    </vt:vector>
  </HeadingPairs>
  <TitlesOfParts>
    <vt:vector size="45" baseType="lpstr">
      <vt:lpstr>Arial</vt:lpstr>
      <vt:lpstr>宋体</vt:lpstr>
      <vt:lpstr>Wingdings</vt:lpstr>
      <vt:lpstr>华文中宋</vt:lpstr>
      <vt:lpstr>微软雅黑</vt:lpstr>
      <vt:lpstr>Arial Unicode MS</vt:lpstr>
      <vt:lpstr>Calibri</vt:lpstr>
      <vt:lpstr>WPS</vt:lpstr>
      <vt:lpstr>ICS小班 Week7</vt:lpstr>
      <vt:lpstr>ISA</vt:lpstr>
      <vt:lpstr>CISC / RISC</vt:lpstr>
      <vt:lpstr>练习</vt:lpstr>
      <vt:lpstr>练习</vt:lpstr>
      <vt:lpstr>Y86-64</vt:lpstr>
      <vt:lpstr>Y86-64</vt:lpstr>
      <vt:lpstr>硬件控制语言HCL</vt:lpstr>
      <vt:lpstr>存储器</vt:lpstr>
      <vt:lpstr>时钟</vt:lpstr>
      <vt:lpstr>练习</vt:lpstr>
      <vt:lpstr>练习</vt:lpstr>
      <vt:lpstr>寄存器</vt:lpstr>
      <vt:lpstr>Y86-84的顺序实现</vt:lpstr>
      <vt:lpstr>pushq</vt:lpstr>
      <vt:lpstr>popq</vt:lpstr>
      <vt:lpstr>jXX</vt:lpstr>
      <vt:lpstr>jXX</vt:lpstr>
      <vt:lpstr>SEQ</vt:lpstr>
      <vt:lpstr>Y86-84的顺序实现</vt:lpstr>
      <vt:lpstr>SEQ</vt:lpstr>
      <vt:lpstr>SEQ</vt:lpstr>
      <vt:lpstr>SEQ</vt:lpstr>
      <vt:lpstr>SEQ</vt:lpstr>
      <vt:lpstr>SEQ</vt:lpstr>
      <vt:lpstr>SEQ</vt:lpstr>
      <vt:lpstr>SEQ</vt:lpstr>
      <vt:lpstr>练习</vt:lpstr>
      <vt:lpstr>练习</vt:lpstr>
      <vt:lpstr>练习</vt:lpstr>
      <vt:lpstr>练习</vt:lpstr>
      <vt:lpstr>练习</vt:lpstr>
      <vt:lpstr>练习</vt:lpstr>
      <vt:lpstr>练习</vt:lpstr>
      <vt:lpstr>知识前瞻</vt:lpstr>
      <vt:lpstr>知识前瞻</vt:lpstr>
      <vt:lpstr>谢谢！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Zian Liu</dc:creator>
  <cp:lastModifiedBy>刘梓安</cp:lastModifiedBy>
  <cp:revision>320</cp:revision>
  <dcterms:created xsi:type="dcterms:W3CDTF">2023-08-09T12:44:00Z</dcterms:created>
  <dcterms:modified xsi:type="dcterms:W3CDTF">2025-10-22T11:08:26Z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2052-12.1.0.23125</vt:lpwstr>
  </property>
  <property fmtid="{D5CDD505-2E9C-101B-9397-08002B2CF9AE}" pid="3" name="ICV">
    <vt:lpwstr>0FFB374EF87741258E9EC42A4DEF22FC_13</vt:lpwstr>
  </property>
</Properties>
</file>