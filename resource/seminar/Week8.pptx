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473" r:id="rId4"/>
    <p:sldId id="257" r:id="rId5"/>
    <p:sldId id="422" r:id="rId6"/>
    <p:sldId id="423" r:id="rId7"/>
    <p:sldId id="393" r:id="rId8"/>
    <p:sldId id="424" r:id="rId9"/>
    <p:sldId id="479" r:id="rId10"/>
    <p:sldId id="480" r:id="rId11"/>
    <p:sldId id="402" r:id="rId12"/>
    <p:sldId id="426" r:id="rId13"/>
    <p:sldId id="435" r:id="rId14"/>
    <p:sldId id="427" r:id="rId15"/>
    <p:sldId id="428" r:id="rId16"/>
    <p:sldId id="429" r:id="rId17"/>
    <p:sldId id="430" r:id="rId18"/>
    <p:sldId id="431" r:id="rId19"/>
    <p:sldId id="432" r:id="rId20"/>
    <p:sldId id="437" r:id="rId21"/>
    <p:sldId id="438" r:id="rId22"/>
    <p:sldId id="443" r:id="rId23"/>
    <p:sldId id="478" r:id="rId24"/>
    <p:sldId id="446" r:id="rId25"/>
    <p:sldId id="441" r:id="rId26"/>
    <p:sldId id="442" r:id="rId27"/>
    <p:sldId id="448" r:id="rId28"/>
    <p:sldId id="449" r:id="rId29"/>
    <p:sldId id="451" r:id="rId30"/>
    <p:sldId id="474" r:id="rId31"/>
    <p:sldId id="452" r:id="rId32"/>
    <p:sldId id="453" r:id="rId33"/>
    <p:sldId id="454" r:id="rId34"/>
    <p:sldId id="455" r:id="rId35"/>
    <p:sldId id="458" r:id="rId36"/>
    <p:sldId id="456" r:id="rId37"/>
    <p:sldId id="468" r:id="rId38"/>
    <p:sldId id="459" r:id="rId39"/>
    <p:sldId id="460" r:id="rId40"/>
    <p:sldId id="461" r:id="rId41"/>
    <p:sldId id="464" r:id="rId42"/>
    <p:sldId id="471" r:id="rId43"/>
    <p:sldId id="472" r:id="rId44"/>
    <p:sldId id="332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commentAuthors" Target="commentAuthors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Week8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2026.10.28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Lec11: Processor Arch: Pipelined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流水线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延迟（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latency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）：完成一条指令的时间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吞吐量（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throughput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）：完成指令的速度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thoughput ≥ 1 / latency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3865" y="3144520"/>
            <a:ext cx="6521450" cy="3058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流水线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流水线提高吞吐量，同时轻微增加延迟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时钟周期必须大于最慢的组合逻辑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组合逻辑间不能相互影响（插入流水线寄存器）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" y="3761740"/>
            <a:ext cx="4624705" cy="1734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460" y="3348990"/>
            <a:ext cx="5888990" cy="17259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0" y="5032375"/>
            <a:ext cx="5768340" cy="1725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流水线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9005" y="293370"/>
            <a:ext cx="5118100" cy="6416040"/>
          </a:xfrm>
          <a:prstGeom prst="rect">
            <a:avLst/>
          </a:prstGeom>
        </p:spPr>
      </p:pic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838200" y="1825625"/>
            <a:ext cx="538162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每条指令在流水线中向前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由时钟控制切换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SEQ+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0685"/>
            <a:ext cx="4603750" cy="43681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改变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使更新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在一个时钟周期开始时执行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没有硬件寄存器存放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PC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9770" y="0"/>
            <a:ext cx="4810760" cy="68084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35" y="3829050"/>
            <a:ext cx="6318885" cy="1944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3815" y="57150"/>
            <a:ext cx="5514975" cy="6743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PIPE-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5700395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改变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增加流水线寄存器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Select A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减少流水线寄存器状态数（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SEQ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访存写入的值只有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valA / valP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Predict PC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预测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下一条指令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PC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选择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083800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区分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f_predPC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f_pc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125" y="2952115"/>
            <a:ext cx="9054465" cy="3192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PC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选择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4246245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f_predPC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：根据指令预测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f_pc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：选择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阶段判断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Cnd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不成立，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M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阶段发回原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valP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阶段取回的地址，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阶段发回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预测的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f_predPC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100" y="3289935"/>
            <a:ext cx="6963410" cy="23895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0" y="1221740"/>
            <a:ext cx="631571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数据冒险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76265" y="1520825"/>
            <a:ext cx="5278120" cy="2211070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5148580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条指令使用的寄存器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若在第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x-4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条指令更新，正确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若在第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x-3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条指令更新，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阶段对应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阶段，错误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若在第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x-2/x-1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条指令更新，同样错误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不需要等到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阶段，需要的值在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阶段就已经获得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数据冒险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5148580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3780" y="541655"/>
            <a:ext cx="4917440" cy="2047875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1094740" y="2924810"/>
          <a:ext cx="10106660" cy="3542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560"/>
                <a:gridCol w="1602740"/>
                <a:gridCol w="3122930"/>
                <a:gridCol w="3313430"/>
              </a:tblGrid>
              <a:tr h="8166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在哪条指令更新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该指令已到什么阶段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在</a:t>
                      </a: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 E 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阶段获得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值</a:t>
                      </a: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 = 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？条件</a:t>
                      </a: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 d_src = 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？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在</a:t>
                      </a: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 M 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阶段获得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值</a:t>
                      </a: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 = 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？条件</a:t>
                      </a: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 d_src = 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  <a:sym typeface="+mn-ea"/>
                        </a:rPr>
                        <a:t>？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7651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x-3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W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W_valE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W_dstE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W_valM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W_dstM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x-2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M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M_valE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M_dstE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m_valM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：在该阶段获得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M_dstM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：由前面传入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</a:tr>
              <a:tr h="7651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x-1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E</a:t>
                      </a:r>
                      <a:endParaRPr lang="en-US" altLang="zh-CN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e_valE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：在该阶段获得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e_dstE</a:t>
                      </a: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  <a:cs typeface="华文中宋" panose="02010600040101010101" charset="-122"/>
                        </a:rPr>
                        <a:t>：在该阶段获得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  <a:cs typeface="华文中宋" panose="0201060004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latin typeface="华文中宋" panose="02010600040101010101" charset="-122"/>
                          <a:ea typeface="华文中宋" panose="02010600040101010101" charset="-122"/>
                        </a:rPr>
                        <a:t>无法解决</a:t>
                      </a:r>
                      <a:endParaRPr lang="zh-CN" altLang="en-US" sz="2000">
                        <a:latin typeface="华文中宋" panose="02010600040101010101" charset="-122"/>
                        <a:ea typeface="华文中宋" panose="0201060004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内容占位符 2"/>
          <p:cNvSpPr>
            <a:spLocks noGrp="1"/>
          </p:cNvSpPr>
          <p:nvPr/>
        </p:nvSpPr>
        <p:spPr>
          <a:xfrm>
            <a:off x="965200" y="1797685"/>
            <a:ext cx="5148580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条指令使用的寄存器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阶段使用转发获得数据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数据冒险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5148580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0675" y="593090"/>
            <a:ext cx="4917440" cy="2047875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965200" y="1797685"/>
            <a:ext cx="10003155" cy="4368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注意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优先级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应取最晚的修改结果（即处于流水线更早的阶段）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此处包含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select A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的逻辑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40" y="3455670"/>
            <a:ext cx="9439910" cy="29438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load/use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数据冒险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仅针对第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条指令与第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x-1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判断条件（对应图中时刻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E_icode∈{ IMRMOVL, IPOPL } &amp;&amp; E_dstM == d_srcA || E_dstM == d_srcB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展示的是该指令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阶段和上一条指令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阶段的关系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但需要在上一条指令在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阶段时判断并解决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7950" y="668655"/>
            <a:ext cx="4755515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760" y="824230"/>
            <a:ext cx="4755515" cy="19907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load/use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数据冒险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具体解决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（即决定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下一周期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的寄存器状态）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：暂停（与当前周期相同）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：暂停（与当前周期相同）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：气泡（不接受当前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往后传送，在下一周期不工作）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从当前指令开始往后都依次推后一步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下一周期当前指令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对应上一指令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，顺利完成转发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4345" y="231775"/>
            <a:ext cx="5217795" cy="23596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ret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ret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返回地址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阶段取出，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阶段提供给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select PC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x+4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条指令能正确取回指令，中间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条取出了错误指令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判断条件（对应图中时刻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5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IRET ∈{ D_icode, E_icode, M_icode }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（对应中间三条指令的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阶段）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7230" y="163830"/>
            <a:ext cx="5803900" cy="26244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ret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具体解决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F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：暂停（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与当前周期相同，即重新取指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：气泡（不接受当前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往后传送，在下一周期不工作）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连续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周期重复取指，但不传递到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直到第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4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周期取出正确指令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0" y="365125"/>
            <a:ext cx="5340350" cy="23482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分支预测错误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jXX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预测行为是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默认跳转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Cnd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阶段求得，在此才能发现预测错误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提供给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select PC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进行选择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第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x+3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条指令能正确取回指令，中间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2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条取出了错误指令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判断条件（对应图中时刻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5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E_icode = IJXX &amp;&amp; !e_Cnd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阶段也知道指令是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IJXX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阶段才有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Cnd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，所以一次判断解决两条指令，与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ret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0" y="365125"/>
            <a:ext cx="5340350" cy="23482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分支预测错误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具体解决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：气泡（不接受第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x+2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E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：气泡（不接受第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x+1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条指令的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结果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一次性清除了两条错误指令，下一周期开始恢复正常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对比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ret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在连续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个周期判断，每次清除一条指令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组合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1670685"/>
            <a:ext cx="9890760" cy="204978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385" y="4017645"/>
            <a:ext cx="8582025" cy="21666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组合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805" y="1670685"/>
            <a:ext cx="8837295" cy="1819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355" y="3923665"/>
            <a:ext cx="8806815" cy="20205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092200" y="1924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1797685"/>
            <a:ext cx="10214610" cy="8902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65" y="1797685"/>
            <a:ext cx="9968230" cy="2754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异常处理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965200" y="1797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092200" y="1924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要求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流水线最深的指令引起的异常，优先级最高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（即最早的一条异常指令，与转发优先级相反）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异常可能由于分支预测错误被取消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异常时必须禁止更新条件码、数据内存、寄存器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215" y="3016885"/>
            <a:ext cx="10024110" cy="3409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65" y="3883660"/>
            <a:ext cx="5450205" cy="3949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1755140"/>
            <a:ext cx="10198100" cy="2578100"/>
          </a:xfrm>
          <a:prstGeom prst="rect">
            <a:avLst/>
          </a:prstGeom>
        </p:spPr>
      </p:pic>
      <p:sp>
        <p:nvSpPr>
          <p:cNvPr id="10" name="内容占位符 2"/>
          <p:cNvSpPr>
            <a:spLocks noGrp="1"/>
          </p:cNvSpPr>
          <p:nvPr/>
        </p:nvSpPr>
        <p:spPr>
          <a:xfrm>
            <a:off x="1092200" y="4683125"/>
            <a:ext cx="10271125" cy="1478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 T T F T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553210"/>
            <a:ext cx="7308215" cy="151447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965200" y="3255010"/>
            <a:ext cx="10271125" cy="325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阶段可以是正常吗？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分支预测错误中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阶段可以是暂停吗？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阶段的正常与暂停区别仅在于是否更新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F_predPC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接下来的指令：被清除；使用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M_valA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（原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）或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W_valM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无论如何都不会使用到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predPC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因此正常和暂停都可以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（考试以课本为准）</a:t>
            </a:r>
            <a:endParaRPr lang="zh-CN" altLang="en-US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4074160"/>
            <a:ext cx="6644005" cy="23501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SelectPC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中，使用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e_valA、m_valM（同时也改条件）可行吗？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670" y="2600960"/>
            <a:ext cx="9344025" cy="3130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可行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好处：在控制冒险时减少一个时钟周期得到正确结果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坏处：时钟周期可能要延长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本质是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时钟周期数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时钟周期长度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的权衡问题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若压缩在同一个周期，则出现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阶段访存在同一周期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故选择了浪费周期数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相反，转发中使用了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e_valE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m_valM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，本身开销小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思考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时钟上升沿时，流水线寄存器接收输入，需要经过微小时延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如果后面的组合逻辑读取了未更新的输出，会不会出问题？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不会，组合逻辑是持续相应的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只要在整个时钟周期内能完成状态传递即可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Lec12: The Memory Hierarchy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0" y="668020"/>
            <a:ext cx="6933565" cy="3495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RAM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SRAM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L1~L3 Cache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双稳态，稳定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DRAM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（主存）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对干扰敏感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周期性读出重写刷新每一位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行地址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行缓冲区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→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列地址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SDRAM ≠ SRAM + DRAM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7505" y="1240790"/>
            <a:ext cx="6944360" cy="52063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内存模块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ROM</a:t>
            </a:r>
            <a:endParaRPr 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PROM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：可编程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ROM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，只能编程一次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闪存：基于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EEPROM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，固态硬盘基于闪存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存储在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ROM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中的程序称为固件，计算机系统通电后会运行固件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有些类型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既可以读又可以写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访问主存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2610" y="1516380"/>
            <a:ext cx="4095750" cy="4905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615" y="1516380"/>
            <a:ext cx="3912870" cy="50069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访问磁盘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0" y="405130"/>
            <a:ext cx="7007225" cy="62052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磁盘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755" y="1866265"/>
            <a:ext cx="7592060" cy="6559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755" y="3007360"/>
            <a:ext cx="6881495" cy="675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1670685"/>
            <a:ext cx="10222865" cy="121729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965200" y="3225800"/>
            <a:ext cx="10271125" cy="3284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6 + 0.5 / 7500 * 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60 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* 1000 = 10 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此处忽略了传送时间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固态硬盘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读比写快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数据以页读写，只有在一页所属块整个被擦除后才能写这一页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随机写很慢（需要擦除、复制已有数据）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随机访问时间比旋转磁盘快，能耗低，更贵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闪存块会磨损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局部性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965200" y="1751330"/>
            <a:ext cx="10271125" cy="4758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时间：重复访问同一元素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指令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空间：访问相邻元素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指令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对具有步长为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的引用模式的程序，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k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越小空间局部性越好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对指令来说，循环有好的时空局部性，循环体越小，迭代次数越多，局部性越好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单位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640" y="1786255"/>
            <a:ext cx="9834880" cy="109283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838200" y="1670685"/>
            <a:ext cx="10271125" cy="471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864" y="1511618"/>
            <a:ext cx="8681185" cy="3571470"/>
          </a:xfrm>
          <a:prstGeom prst="rect">
            <a:avLst/>
          </a:prstGeom>
        </p:spPr>
      </p:pic>
      <p:pic>
        <p:nvPicPr>
          <p:cNvPr id="9" name="Picture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020" y="5083175"/>
            <a:ext cx="8395335" cy="1539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高速缓存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Cache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读数据基本规则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Cache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结构与地址的对应关系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替换规则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写入规则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优化程序性能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如何衡量程序性能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如何从指令层面分析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如何优化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95*279"/>
  <p:tag name="TABLE_ENDDRAG_RECT" val="86*230*795*27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</Words>
  <Application>WPS 演示</Application>
  <PresentationFormat>宽屏</PresentationFormat>
  <Paragraphs>330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Week8</vt:lpstr>
      <vt:lpstr>Lec11: Processor Arch: Pipelined</vt:lpstr>
      <vt:lpstr>流水线</vt:lpstr>
      <vt:lpstr>流水线</vt:lpstr>
      <vt:lpstr>流水线</vt:lpstr>
      <vt:lpstr>SEQ+</vt:lpstr>
      <vt:lpstr>PIPE-</vt:lpstr>
      <vt:lpstr>PC 选择</vt:lpstr>
      <vt:lpstr>PC 选择</vt:lpstr>
      <vt:lpstr>数据冒险</vt:lpstr>
      <vt:lpstr>数据冒险</vt:lpstr>
      <vt:lpstr>数据冒险</vt:lpstr>
      <vt:lpstr>load/use 数据冒险</vt:lpstr>
      <vt:lpstr>load/use 数据冒险</vt:lpstr>
      <vt:lpstr>ret</vt:lpstr>
      <vt:lpstr>ret</vt:lpstr>
      <vt:lpstr>分支预测错误</vt:lpstr>
      <vt:lpstr>分支预测错误</vt:lpstr>
      <vt:lpstr>组合</vt:lpstr>
      <vt:lpstr>组合</vt:lpstr>
      <vt:lpstr>练习</vt:lpstr>
      <vt:lpstr>异常处理</vt:lpstr>
      <vt:lpstr>练习</vt:lpstr>
      <vt:lpstr>思考1</vt:lpstr>
      <vt:lpstr>思考1</vt:lpstr>
      <vt:lpstr>思考2</vt:lpstr>
      <vt:lpstr>思考2</vt:lpstr>
      <vt:lpstr>思考3</vt:lpstr>
      <vt:lpstr>Lec12: The Memory Hierarchy</vt:lpstr>
      <vt:lpstr>RAM</vt:lpstr>
      <vt:lpstr>内存模块</vt:lpstr>
      <vt:lpstr>ROM</vt:lpstr>
      <vt:lpstr>访问主存</vt:lpstr>
      <vt:lpstr>访问磁盘</vt:lpstr>
      <vt:lpstr>磁盘</vt:lpstr>
      <vt:lpstr>练习</vt:lpstr>
      <vt:lpstr>固态硬盘</vt:lpstr>
      <vt:lpstr>局部性</vt:lpstr>
      <vt:lpstr>单位</vt:lpstr>
      <vt:lpstr>练习</vt:lpstr>
      <vt:lpstr>知识前瞻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506</cp:revision>
  <dcterms:created xsi:type="dcterms:W3CDTF">2023-08-09T12:44:00Z</dcterms:created>
  <dcterms:modified xsi:type="dcterms:W3CDTF">2026-10-28T11:08:40Z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0FFB374EF87741258E9EC42A4DEF22FC_13</vt:lpwstr>
  </property>
</Properties>
</file>