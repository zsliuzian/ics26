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0"/>
  </p:notesMasterIdLst>
  <p:sldIdLst>
    <p:sldId id="256" r:id="rId3"/>
    <p:sldId id="257" r:id="rId4"/>
    <p:sldId id="422" r:id="rId5"/>
    <p:sldId id="421" r:id="rId6"/>
    <p:sldId id="423" r:id="rId7"/>
    <p:sldId id="393" r:id="rId8"/>
    <p:sldId id="424" r:id="rId9"/>
    <p:sldId id="439" r:id="rId10"/>
    <p:sldId id="440" r:id="rId11"/>
    <p:sldId id="402" r:id="rId12"/>
    <p:sldId id="426" r:id="rId13"/>
    <p:sldId id="435" r:id="rId14"/>
    <p:sldId id="427" r:id="rId15"/>
    <p:sldId id="428" r:id="rId16"/>
    <p:sldId id="429" r:id="rId17"/>
    <p:sldId id="430" r:id="rId18"/>
    <p:sldId id="431" r:id="rId19"/>
    <p:sldId id="432" r:id="rId20"/>
    <p:sldId id="437" r:id="rId21"/>
    <p:sldId id="438" r:id="rId22"/>
    <p:sldId id="443" r:id="rId23"/>
    <p:sldId id="444" r:id="rId24"/>
    <p:sldId id="445" r:id="rId25"/>
    <p:sldId id="446" r:id="rId26"/>
    <p:sldId id="441" r:id="rId27"/>
    <p:sldId id="442" r:id="rId28"/>
    <p:sldId id="448" r:id="rId29"/>
    <p:sldId id="449" r:id="rId30"/>
    <p:sldId id="450" r:id="rId31"/>
    <p:sldId id="451" r:id="rId32"/>
    <p:sldId id="452" r:id="rId33"/>
    <p:sldId id="453" r:id="rId34"/>
    <p:sldId id="454" r:id="rId35"/>
    <p:sldId id="455" r:id="rId36"/>
    <p:sldId id="456" r:id="rId37"/>
    <p:sldId id="467" r:id="rId38"/>
    <p:sldId id="468" r:id="rId39"/>
    <p:sldId id="470" r:id="rId40"/>
    <p:sldId id="458" r:id="rId41"/>
    <p:sldId id="459" r:id="rId42"/>
    <p:sldId id="460" r:id="rId43"/>
    <p:sldId id="461" r:id="rId44"/>
    <p:sldId id="463" r:id="rId45"/>
    <p:sldId id="464" r:id="rId46"/>
    <p:sldId id="471" r:id="rId47"/>
    <p:sldId id="472" r:id="rId48"/>
    <p:sldId id="332" r:id="rId4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51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ell" initials="d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5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4" Type="http://schemas.openxmlformats.org/officeDocument/2006/relationships/commentAuthors" Target="commentAuthors.xml"/><Relationship Id="rId53" Type="http://schemas.openxmlformats.org/officeDocument/2006/relationships/tableStyles" Target="tableStyles.xml"/><Relationship Id="rId52" Type="http://schemas.openxmlformats.org/officeDocument/2006/relationships/viewProps" Target="viewProps.xml"/><Relationship Id="rId51" Type="http://schemas.openxmlformats.org/officeDocument/2006/relationships/presProps" Target="presProps.xml"/><Relationship Id="rId50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9" Type="http://schemas.openxmlformats.org/officeDocument/2006/relationships/slide" Target="slides/slide47.xml"/><Relationship Id="rId48" Type="http://schemas.openxmlformats.org/officeDocument/2006/relationships/slide" Target="slides/slide46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.xml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1.png"/><Relationship Id="rId1" Type="http://schemas.openxmlformats.org/officeDocument/2006/relationships/image" Target="../media/image3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5.png"/><Relationship Id="rId1" Type="http://schemas.openxmlformats.org/officeDocument/2006/relationships/image" Target="../media/image3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4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5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6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7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485458"/>
            <a:ext cx="9144000" cy="2387600"/>
          </a:xfrm>
        </p:spPr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ICS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小班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Week8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2924493"/>
            <a:ext cx="9144000" cy="1655762"/>
          </a:xfrm>
        </p:spPr>
        <p:txBody>
          <a:bodyPr/>
          <a:p>
            <a:r>
              <a:rPr lang="en-US" altLang="zh-CN" sz="3600">
                <a:latin typeface="华文中宋" panose="02010600040101010101" charset="-122"/>
                <a:ea typeface="华文中宋" panose="02010600040101010101" charset="-122"/>
              </a:rPr>
              <a:t>2025.10.29</a:t>
            </a:r>
            <a:endParaRPr lang="en-US" altLang="zh-CN" sz="3600">
              <a:latin typeface="华文中宋" panose="02010600040101010101" charset="-122"/>
              <a:ea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流水线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305415" cy="421322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延迟（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latency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）：完成一条指令的时间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吞吐量（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throughput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）：完成指令的频率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thoughput ≥ 1 / latency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例：流水线上</a:t>
            </a:r>
            <a:r>
              <a:rPr 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完成一条指令需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5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周期，每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1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周期完成一条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延迟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= 5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周期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吞吐量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= 1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条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/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周期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&gt; 1 / 5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流水线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305415" cy="421322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时钟周期必须大于最慢的组合逻辑</a:t>
            </a:r>
            <a:endParaRPr 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组合逻辑间不能相互影响（插入流水线寄存器）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5390" y="3114040"/>
            <a:ext cx="6409690" cy="30054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流水线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305415" cy="421322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流水线提高吞吐量，同时轻微增加延迟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845" y="3000375"/>
            <a:ext cx="5445760" cy="204216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6665" y="2442845"/>
            <a:ext cx="6459855" cy="189357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3660" y="4463415"/>
            <a:ext cx="6200140" cy="18554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流水线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8850" y="496570"/>
            <a:ext cx="4969510" cy="6229985"/>
          </a:xfrm>
          <a:prstGeom prst="rect">
            <a:avLst/>
          </a:prstGeom>
        </p:spPr>
      </p:pic>
      <p:sp>
        <p:nvSpPr>
          <p:cNvPr id="9" name="内容占位符 8"/>
          <p:cNvSpPr>
            <a:spLocks noGrp="1"/>
          </p:cNvSpPr>
          <p:nvPr>
            <p:ph idx="1"/>
          </p:nvPr>
        </p:nvSpPr>
        <p:spPr>
          <a:xfrm>
            <a:off x="838200" y="1825625"/>
            <a:ext cx="5381625" cy="4213225"/>
          </a:xfrm>
        </p:spPr>
        <p:txBody>
          <a:bodyPr>
            <a:normAutofit lnSpcReduction="10000"/>
          </a:bodyPr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每条指令在流水线中向前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由时钟控制切换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SEQ+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670685"/>
            <a:ext cx="4603750" cy="4368165"/>
          </a:xfrm>
        </p:spPr>
        <p:txBody>
          <a:bodyPr>
            <a:normAutofit/>
          </a:bodyPr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使更新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PC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在一个时钟周期开始时执行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没有硬件寄存器存放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PC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9770" y="0"/>
            <a:ext cx="4810760" cy="680847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535" y="3429000"/>
            <a:ext cx="6318885" cy="194437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93815" y="57150"/>
            <a:ext cx="5514975" cy="67437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PIPE-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5492750" cy="43681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增加流水线寄存器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增加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Select A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：减少流水线寄存器状态数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通过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Predict PC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选择下一条指令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回顾：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SEQ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中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访存写入的值只有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 valA / valP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PC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选择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083800" cy="43681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区分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f_predPC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和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f_pc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125" y="2952115"/>
            <a:ext cx="9054465" cy="31927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PC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选择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4246245" cy="43681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f_predPC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：根据指令预测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f_pc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：选择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上一周期的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f_predPC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M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阶段取回的地址，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W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阶段发回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E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阶段判断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Cnd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不成立，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阶段发回原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valP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45100" y="3289935"/>
            <a:ext cx="6963410" cy="238950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5100" y="1221740"/>
            <a:ext cx="6315710" cy="1422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数据冒险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5" name="内容占位符 4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5676265" y="1520825"/>
            <a:ext cx="5278120" cy="2211070"/>
          </a:xfrm>
          <a:prstGeom prst="rect">
            <a:avLst/>
          </a:prstGeom>
        </p:spPr>
      </p:pic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5148580" cy="43681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第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x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条指令使用的寄存器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若在第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x-4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条指令更新，正确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若在第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x-3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条指令更新，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D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阶段对应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W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阶段，错误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则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在第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x-2/x-1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条指令更新，自然同样错误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需要的数据在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E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或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阶段更新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数据冒险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5148580" cy="43681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3780" y="541655"/>
            <a:ext cx="4917440" cy="2047875"/>
          </a:xfrm>
          <a:prstGeom prst="rect">
            <a:avLst/>
          </a:prstGeom>
        </p:spPr>
      </p:pic>
      <p:graphicFrame>
        <p:nvGraphicFramePr>
          <p:cNvPr id="9" name="表格 8"/>
          <p:cNvGraphicFramePr/>
          <p:nvPr>
            <p:custDataLst>
              <p:tags r:id="rId2"/>
            </p:custDataLst>
          </p:nvPr>
        </p:nvGraphicFramePr>
        <p:xfrm>
          <a:off x="1094740" y="2924810"/>
          <a:ext cx="10106660" cy="3542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7560"/>
                <a:gridCol w="1602740"/>
                <a:gridCol w="3122930"/>
                <a:gridCol w="3313430"/>
              </a:tblGrid>
              <a:tr h="81661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</a:rPr>
                        <a:t>在哪条指令更新</a:t>
                      </a:r>
                      <a:endParaRPr lang="zh-CN" altLang="en-US" sz="2000">
                        <a:latin typeface="华文中宋" panose="02010600040101010101" charset="-122"/>
                        <a:ea typeface="华文中宋" panose="0201060004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</a:rPr>
                        <a:t>该指令已到什么阶段</a:t>
                      </a:r>
                      <a:endParaRPr lang="zh-CN" altLang="en-US" sz="2000">
                        <a:latin typeface="华文中宋" panose="02010600040101010101" charset="-122"/>
                        <a:ea typeface="华文中宋" panose="0201060004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在</a:t>
                      </a: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E</a:t>
                      </a: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阶段更新</a:t>
                      </a:r>
                      <a:endParaRPr lang="zh-CN" altLang="en-US" sz="2000">
                        <a:latin typeface="华文中宋" panose="02010600040101010101" charset="-122"/>
                        <a:ea typeface="华文中宋" panose="02010600040101010101" charset="-122"/>
                        <a:cs typeface="华文中宋" panose="02010600040101010101" charset="-122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值</a:t>
                      </a: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 = </a:t>
                      </a: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？条件</a:t>
                      </a: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d_src = </a:t>
                      </a: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？</a:t>
                      </a:r>
                      <a:endParaRPr lang="zh-CN" altLang="en-US" sz="2000">
                        <a:latin typeface="华文中宋" panose="02010600040101010101" charset="-122"/>
                        <a:ea typeface="华文中宋" panose="02010600040101010101" charset="-122"/>
                        <a:cs typeface="华文中宋" panose="0201060004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在</a:t>
                      </a: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M</a:t>
                      </a: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阶段更新</a:t>
                      </a:r>
                      <a:endParaRPr lang="zh-CN" altLang="en-US" sz="2000">
                        <a:latin typeface="华文中宋" panose="02010600040101010101" charset="-122"/>
                        <a:ea typeface="华文中宋" panose="02010600040101010101" charset="-122"/>
                        <a:cs typeface="华文中宋" panose="02010600040101010101" charset="-122"/>
                      </a:endParaRPr>
                    </a:p>
                    <a:p>
                      <a:pPr>
                        <a:buNone/>
                      </a:pP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  <a:sym typeface="+mn-ea"/>
                        </a:rPr>
                        <a:t>值</a:t>
                      </a: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  <a:sym typeface="+mn-ea"/>
                        </a:rPr>
                        <a:t> = </a:t>
                      </a: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  <a:sym typeface="+mn-ea"/>
                        </a:rPr>
                        <a:t>？条件</a:t>
                      </a: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  <a:sym typeface="+mn-ea"/>
                        </a:rPr>
                        <a:t>d_src = </a:t>
                      </a: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  <a:sym typeface="+mn-ea"/>
                        </a:rPr>
                        <a:t>？</a:t>
                      </a:r>
                      <a:endParaRPr lang="en-US" altLang="zh-CN" sz="2000">
                        <a:latin typeface="华文中宋" panose="02010600040101010101" charset="-122"/>
                        <a:ea typeface="华文中宋" panose="02010600040101010101" charset="-122"/>
                        <a:cs typeface="华文中宋" panose="02010600040101010101" charset="-122"/>
                      </a:endParaRPr>
                    </a:p>
                    <a:p>
                      <a:pPr>
                        <a:buNone/>
                      </a:pPr>
                      <a:endParaRPr lang="en-US" altLang="zh-CN" sz="2000">
                        <a:latin typeface="华文中宋" panose="02010600040101010101" charset="-122"/>
                        <a:ea typeface="华文中宋" panose="02010600040101010101" charset="-122"/>
                        <a:cs typeface="华文中宋" panose="02010600040101010101" charset="-122"/>
                      </a:endParaRPr>
                    </a:p>
                  </a:txBody>
                  <a:tcPr/>
                </a:tc>
              </a:tr>
              <a:tr h="76517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</a:rPr>
                        <a:t>x-3</a:t>
                      </a:r>
                      <a:endParaRPr lang="en-US" altLang="zh-CN" sz="2000">
                        <a:latin typeface="华文中宋" panose="02010600040101010101" charset="-122"/>
                        <a:ea typeface="华文中宋" panose="0201060004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</a:rPr>
                        <a:t>W</a:t>
                      </a:r>
                      <a:endParaRPr lang="en-US" altLang="zh-CN" sz="2000">
                        <a:latin typeface="华文中宋" panose="02010600040101010101" charset="-122"/>
                        <a:ea typeface="华文中宋" panose="0201060004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W_valE</a:t>
                      </a: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：由前面传入</a:t>
                      </a:r>
                      <a:endParaRPr lang="en-US" altLang="zh-CN" sz="2000">
                        <a:latin typeface="华文中宋" panose="02010600040101010101" charset="-122"/>
                        <a:ea typeface="华文中宋" panose="02010600040101010101" charset="-122"/>
                        <a:cs typeface="华文中宋" panose="02010600040101010101" charset="-122"/>
                      </a:endParaRPr>
                    </a:p>
                    <a:p>
                      <a:pPr>
                        <a:buNone/>
                      </a:pP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W_dstE</a:t>
                      </a: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：由前面传入</a:t>
                      </a:r>
                      <a:endParaRPr lang="zh-CN" altLang="en-US" sz="2000">
                        <a:latin typeface="华文中宋" panose="02010600040101010101" charset="-122"/>
                        <a:ea typeface="华文中宋" panose="02010600040101010101" charset="-122"/>
                        <a:cs typeface="华文中宋" panose="0201060004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W_valM</a:t>
                      </a: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：由前面传入</a:t>
                      </a:r>
                      <a:endParaRPr lang="en-US" altLang="zh-CN" sz="2000">
                        <a:latin typeface="华文中宋" panose="02010600040101010101" charset="-122"/>
                        <a:ea typeface="华文中宋" panose="02010600040101010101" charset="-122"/>
                        <a:cs typeface="华文中宋" panose="02010600040101010101" charset="-122"/>
                      </a:endParaRPr>
                    </a:p>
                    <a:p>
                      <a:pPr>
                        <a:buNone/>
                      </a:pP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W_dstM</a:t>
                      </a: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：由前面传入</a:t>
                      </a:r>
                      <a:endParaRPr lang="zh-CN" altLang="en-US" sz="2000">
                        <a:latin typeface="华文中宋" panose="02010600040101010101" charset="-122"/>
                        <a:ea typeface="华文中宋" panose="02010600040101010101" charset="-122"/>
                        <a:cs typeface="华文中宋" panose="02010600040101010101" charset="-122"/>
                      </a:endParaRPr>
                    </a:p>
                  </a:txBody>
                  <a:tcPr/>
                </a:tc>
              </a:tr>
              <a:tr h="100584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</a:rPr>
                        <a:t>x-2</a:t>
                      </a:r>
                      <a:endParaRPr lang="en-US" altLang="zh-CN" sz="2000">
                        <a:latin typeface="华文中宋" panose="02010600040101010101" charset="-122"/>
                        <a:ea typeface="华文中宋" panose="0201060004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</a:rPr>
                        <a:t>M</a:t>
                      </a:r>
                      <a:endParaRPr lang="en-US" altLang="zh-CN" sz="2000">
                        <a:latin typeface="华文中宋" panose="02010600040101010101" charset="-122"/>
                        <a:ea typeface="华文中宋" panose="0201060004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M_valE</a:t>
                      </a: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：由前面传入</a:t>
                      </a:r>
                      <a:endParaRPr lang="en-US" altLang="zh-CN" sz="2000">
                        <a:latin typeface="华文中宋" panose="02010600040101010101" charset="-122"/>
                        <a:ea typeface="华文中宋" panose="02010600040101010101" charset="-122"/>
                        <a:cs typeface="华文中宋" panose="02010600040101010101" charset="-122"/>
                      </a:endParaRPr>
                    </a:p>
                    <a:p>
                      <a:pPr>
                        <a:buNone/>
                      </a:pP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M_dstE</a:t>
                      </a: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：由前面传入</a:t>
                      </a:r>
                      <a:endParaRPr lang="zh-CN" altLang="en-US" sz="2000">
                        <a:latin typeface="华文中宋" panose="02010600040101010101" charset="-122"/>
                        <a:ea typeface="华文中宋" panose="02010600040101010101" charset="-122"/>
                        <a:cs typeface="华文中宋" panose="0201060004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m_valM</a:t>
                      </a: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：在该阶段获得</a:t>
                      </a:r>
                      <a:endParaRPr lang="zh-CN" altLang="en-US" sz="2000">
                        <a:latin typeface="华文中宋" panose="02010600040101010101" charset="-122"/>
                        <a:ea typeface="华文中宋" panose="02010600040101010101" charset="-122"/>
                        <a:cs typeface="华文中宋" panose="02010600040101010101" charset="-122"/>
                      </a:endParaRPr>
                    </a:p>
                    <a:p>
                      <a:pPr>
                        <a:buNone/>
                      </a:pPr>
                      <a:r>
                        <a:rPr lang="en-US" altLang="zh-CN" sz="2000">
                          <a:solidFill>
                            <a:srgbClr val="FF0000"/>
                          </a:solidFill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M_dstM</a:t>
                      </a: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：由前面传入</a:t>
                      </a:r>
                      <a:endParaRPr lang="zh-CN" altLang="en-US" sz="2000">
                        <a:latin typeface="华文中宋" panose="02010600040101010101" charset="-122"/>
                        <a:ea typeface="华文中宋" panose="02010600040101010101" charset="-122"/>
                        <a:cs typeface="华文中宋" panose="02010600040101010101" charset="-122"/>
                      </a:endParaRPr>
                    </a:p>
                  </a:txBody>
                  <a:tcPr/>
                </a:tc>
              </a:tr>
              <a:tr h="76517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</a:rPr>
                        <a:t>x-1</a:t>
                      </a:r>
                      <a:endParaRPr lang="en-US" altLang="zh-CN" sz="2000">
                        <a:latin typeface="华文中宋" panose="02010600040101010101" charset="-122"/>
                        <a:ea typeface="华文中宋" panose="0201060004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</a:rPr>
                        <a:t>E</a:t>
                      </a:r>
                      <a:endParaRPr lang="en-US" altLang="zh-CN" sz="2000">
                        <a:latin typeface="华文中宋" panose="02010600040101010101" charset="-122"/>
                        <a:ea typeface="华文中宋" panose="0201060004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e_valE</a:t>
                      </a: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：在该阶段获得</a:t>
                      </a:r>
                      <a:endParaRPr lang="zh-CN" altLang="en-US" sz="2000">
                        <a:latin typeface="华文中宋" panose="02010600040101010101" charset="-122"/>
                        <a:ea typeface="华文中宋" panose="02010600040101010101" charset="-122"/>
                        <a:cs typeface="华文中宋" panose="02010600040101010101" charset="-122"/>
                      </a:endParaRPr>
                    </a:p>
                    <a:p>
                      <a:pPr>
                        <a:buNone/>
                      </a:pPr>
                      <a:r>
                        <a:rPr lang="en-US" altLang="zh-CN" sz="2000">
                          <a:solidFill>
                            <a:srgbClr val="FF0000"/>
                          </a:solidFill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e_dstE</a:t>
                      </a: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  <a:cs typeface="华文中宋" panose="02010600040101010101" charset="-122"/>
                        </a:rPr>
                        <a:t>：在该阶段获得</a:t>
                      </a:r>
                      <a:endParaRPr lang="zh-CN" altLang="en-US" sz="2000">
                        <a:latin typeface="华文中宋" panose="02010600040101010101" charset="-122"/>
                        <a:ea typeface="华文中宋" panose="02010600040101010101" charset="-122"/>
                        <a:cs typeface="华文中宋" panose="02010600040101010101" charset="-122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2000">
                          <a:latin typeface="华文中宋" panose="02010600040101010101" charset="-122"/>
                          <a:ea typeface="华文中宋" panose="02010600040101010101" charset="-122"/>
                        </a:rPr>
                        <a:t>无法解决</a:t>
                      </a:r>
                      <a:endParaRPr lang="zh-CN" altLang="en-US" sz="2000">
                        <a:latin typeface="华文中宋" panose="02010600040101010101" charset="-122"/>
                        <a:ea typeface="华文中宋" panose="02010600040101010101" charset="-122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内容占位符 2"/>
          <p:cNvSpPr>
            <a:spLocks noGrp="1"/>
          </p:cNvSpPr>
          <p:nvPr/>
        </p:nvSpPr>
        <p:spPr>
          <a:xfrm>
            <a:off x="965200" y="1797685"/>
            <a:ext cx="5148580" cy="43681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第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x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条指令使用的寄存器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在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D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阶段使用转发获得数据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数据冒险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5148580" cy="43681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0675" y="593090"/>
            <a:ext cx="4917440" cy="2047875"/>
          </a:xfrm>
          <a:prstGeom prst="rect">
            <a:avLst/>
          </a:prstGeom>
        </p:spPr>
      </p:pic>
      <p:sp>
        <p:nvSpPr>
          <p:cNvPr id="10" name="内容占位符 2"/>
          <p:cNvSpPr>
            <a:spLocks noGrp="1"/>
          </p:cNvSpPr>
          <p:nvPr/>
        </p:nvSpPr>
        <p:spPr>
          <a:xfrm>
            <a:off x="965200" y="1797685"/>
            <a:ext cx="10003155" cy="43681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注意优先级！</a:t>
            </a:r>
            <a:endParaRPr 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应取最晚的修改结果（对应流水线更早的阶段）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140" y="3129915"/>
            <a:ext cx="9439910" cy="29438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load/use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数据冒险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仅针对第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x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条指令与第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x-1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条指令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判断条件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E_icode∈{ IMRMOVL, IPOPL }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E_dstM == d_srcA || E_dstM == d_srcB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（问题出在对应的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阶段，但当前还在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E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阶段，且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E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阶段条件充足，可以判断）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4445" y="904875"/>
            <a:ext cx="4755515" cy="19907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760" y="824230"/>
            <a:ext cx="4755515" cy="199072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load/use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数据冒险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具体解决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（即决定</a:t>
            </a:r>
            <a:r>
              <a:rPr lang="zh-CN" altLang="en-US" sz="2800">
                <a:solidFill>
                  <a:srgbClr val="FF0000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下一周期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的寄存器状态，非结果）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F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：暂停（与当前周期相同）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D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：暂停（与当前周期相同）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E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：气泡（不接受当前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D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往后传送，在下一周期不工作）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结果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从当前指令开始往后都依次推后一步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下一周期当前指令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D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对应上一指令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，顺利转发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4345" y="231775"/>
            <a:ext cx="5217795" cy="23596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ret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/>
        </p:nvSpPr>
        <p:spPr>
          <a:xfrm>
            <a:off x="965200" y="1797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第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x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条指令为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ret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返回地址在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阶段取出，在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W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阶段提供给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select PC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第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x+4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条指令能正确取回指令，中间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3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条取出了错误指令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判断条件</a:t>
            </a:r>
            <a:endParaRPr 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IRET ∈{ D_icode, E_icode, M_icode }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（对应中间三条指令的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F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阶段）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7230" y="163830"/>
            <a:ext cx="5803900" cy="262445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ret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/>
        </p:nvSpPr>
        <p:spPr>
          <a:xfrm>
            <a:off x="965200" y="1797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具体解决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F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：暂停（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与当前周期相同，即重新取指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D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：气泡（不接受当前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F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往后传送，在下一周期不工作）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结果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连续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3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周期重复取指，但不传递到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D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直到第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4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周期取出正确指令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9265" y="302260"/>
            <a:ext cx="4892040" cy="215201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分支预测错误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/>
        </p:nvSpPr>
        <p:spPr>
          <a:xfrm>
            <a:off x="965200" y="1797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第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x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条指令为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jXX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，</a:t>
            </a:r>
            <a:r>
              <a:rPr 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条件跳转时默认跳转</a:t>
            </a:r>
            <a:endParaRPr 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Cnd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在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E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阶段求得，地址在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提供给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select PC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第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x+3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条指令能正确取回指令，中间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2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条取出了错误指令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判断条件</a:t>
            </a:r>
            <a:endParaRPr 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E_icode = IJXX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!e_Cnd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D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阶段也能判断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IJXX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，但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E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阶段才有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Cnd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，所以需要一次判断解决两条指令，与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ret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不同）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9265" y="302260"/>
            <a:ext cx="4892040" cy="215201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分支预测错误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/>
        </p:nvSpPr>
        <p:spPr>
          <a:xfrm>
            <a:off x="965200" y="1797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具体解决</a:t>
            </a:r>
            <a:endParaRPr 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D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：气泡（不接受第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x+2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条指令的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F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E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：气泡（不接受第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x+1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条指令的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D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阶段）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结果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一次性清除了两条错误指令，下一周期开始恢复正常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对比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ret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在连续三个周期判断，每次清除一条指令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组合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740535"/>
            <a:ext cx="7308215" cy="1514475"/>
          </a:xfrm>
          <a:prstGeom prst="rect">
            <a:avLst/>
          </a:prstGeom>
        </p:spPr>
      </p:pic>
      <p:sp>
        <p:nvSpPr>
          <p:cNvPr id="5" name="内容占位符 2"/>
          <p:cNvSpPr>
            <a:spLocks noGrp="1"/>
          </p:cNvSpPr>
          <p:nvPr/>
        </p:nvSpPr>
        <p:spPr>
          <a:xfrm>
            <a:off x="965200" y="3255010"/>
            <a:ext cx="10271125" cy="32550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4725" y="3606165"/>
            <a:ext cx="6841490" cy="1727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组合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965200" y="3255010"/>
            <a:ext cx="10271125" cy="32550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7805" y="1670685"/>
            <a:ext cx="8837295" cy="181991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355" y="3923665"/>
            <a:ext cx="8806815" cy="202057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异常处理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965200" y="3255010"/>
            <a:ext cx="10271125" cy="32550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/>
        </p:nvSpPr>
        <p:spPr>
          <a:xfrm>
            <a:off x="965200" y="1797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1092200" y="1924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流水线最深的指令引起的异常，优先级最高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（即最早的一条异常指令，与转发优先级相反）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异常可能由于分支预测错误被取消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异常时必须禁止更新条件码、数据内存、寄存器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异常处理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965200" y="3255010"/>
            <a:ext cx="10271125" cy="32550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965" y="1691005"/>
            <a:ext cx="8850630" cy="93853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215" y="3016885"/>
            <a:ext cx="10024110" cy="34099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965" y="3883660"/>
            <a:ext cx="5450205" cy="394970"/>
          </a:xfrm>
          <a:prstGeom prst="rect">
            <a:avLst/>
          </a:prstGeom>
        </p:spPr>
      </p:pic>
      <p:sp>
        <p:nvSpPr>
          <p:cNvPr id="10" name="内容占位符 2"/>
          <p:cNvSpPr>
            <a:spLocks noGrp="1"/>
          </p:cNvSpPr>
          <p:nvPr/>
        </p:nvSpPr>
        <p:spPr>
          <a:xfrm>
            <a:off x="1092200" y="4683125"/>
            <a:ext cx="10271125" cy="19538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见练习题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4.41 4.42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965200" y="3255010"/>
            <a:ext cx="10271125" cy="32550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2215" y="3016885"/>
            <a:ext cx="10024110" cy="34099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965" y="3883660"/>
            <a:ext cx="5450205" cy="39497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" y="1755140"/>
            <a:ext cx="10198100" cy="25781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965200" y="3255010"/>
            <a:ext cx="10271125" cy="32550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2215" y="3016885"/>
            <a:ext cx="10024110" cy="34099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965" y="3883660"/>
            <a:ext cx="5450205" cy="39497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950" y="1755140"/>
            <a:ext cx="10198100" cy="2578100"/>
          </a:xfrm>
          <a:prstGeom prst="rect">
            <a:avLst/>
          </a:prstGeom>
        </p:spPr>
      </p:pic>
      <p:sp>
        <p:nvSpPr>
          <p:cNvPr id="10" name="内容占位符 2"/>
          <p:cNvSpPr>
            <a:spLocks noGrp="1"/>
          </p:cNvSpPr>
          <p:nvPr/>
        </p:nvSpPr>
        <p:spPr>
          <a:xfrm>
            <a:off x="1092200" y="4683125"/>
            <a:ext cx="10271125" cy="1478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F T T F T</a:t>
            </a:r>
            <a:endParaRPr 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思考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1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553210"/>
            <a:ext cx="7308215" cy="1514475"/>
          </a:xfrm>
          <a:prstGeom prst="rect">
            <a:avLst/>
          </a:prstGeom>
        </p:spPr>
      </p:pic>
      <p:sp>
        <p:nvSpPr>
          <p:cNvPr id="5" name="内容占位符 2"/>
          <p:cNvSpPr>
            <a:spLocks noGrp="1"/>
          </p:cNvSpPr>
          <p:nvPr/>
        </p:nvSpPr>
        <p:spPr>
          <a:xfrm>
            <a:off x="965200" y="3255010"/>
            <a:ext cx="10271125" cy="32550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ret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中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F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阶段可以是正常吗？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分支预测错误中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F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阶段可以是暂停吗？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思考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1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965200" y="1751330"/>
            <a:ext cx="10271125" cy="4758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F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阶段的正常与暂停区别仅在于是否沿用上一周期的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F_predPC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接下来的指令：①被清除；②使用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M_valA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（原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valP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）或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W_valM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无论如何都不会使用到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predPC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因此正常和暂停都可以</a:t>
            </a:r>
            <a:r>
              <a:rPr lang="zh-CN" altLang="en-US" sz="2800">
                <a:solidFill>
                  <a:srgbClr val="FF0000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（考试请以课本为准）</a:t>
            </a:r>
            <a:endParaRPr lang="zh-CN" altLang="en-US" sz="2800">
              <a:solidFill>
                <a:srgbClr val="FF0000"/>
              </a:solidFill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4074160"/>
            <a:ext cx="6644005" cy="235013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思考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2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965200" y="1751330"/>
            <a:ext cx="10271125" cy="4758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SelectPC中，使用e_valA、m_valM可行吗？利弊？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3950" y="3021965"/>
            <a:ext cx="7403465" cy="248031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思考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2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965200" y="1751330"/>
            <a:ext cx="10271125" cy="4758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可行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好处：在控制冒险时减少一个时钟周期得到正确结果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坏处：时钟周期可能要延长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本质是</a:t>
            </a:r>
            <a:r>
              <a:rPr lang="zh-CN" altLang="en-US" sz="2800">
                <a:solidFill>
                  <a:srgbClr val="FF0000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时钟周期数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与</a:t>
            </a:r>
            <a:r>
              <a:rPr lang="zh-CN" altLang="en-US" sz="2800">
                <a:solidFill>
                  <a:srgbClr val="FF0000"/>
                </a:solidFill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时钟周期长度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的权衡问题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若压缩在同一个周期，则出现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、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F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阶段访存在同一周期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故选择了浪费周期数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相反，转发中使用了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e_valE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和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m_valM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，本身开销小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思考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3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965200" y="1751330"/>
            <a:ext cx="10271125" cy="4758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时钟上升沿时，流水线寄存器接收输入，需要经过微小时延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如果在时延内后面的组合逻辑读取输出，会不会出问题？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思考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</a:rPr>
              <a:t>3</a:t>
            </a:r>
            <a:endParaRPr lang="en-US" alt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965200" y="1751330"/>
            <a:ext cx="10271125" cy="4758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时钟上升沿时，流水线寄存器接收输入，需要经过微小时延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如果在时延内后面的组合逻辑读取输出，会不会出问题？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不会，组合逻辑是持续相应的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只要在整个时钟周期内能完成状态传递即可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1050" y="668020"/>
            <a:ext cx="6933565" cy="349504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latin typeface="华文中宋" panose="02010600040101010101" charset="-122"/>
                <a:ea typeface="华文中宋" panose="02010600040101010101" charset="-122"/>
              </a:rPr>
              <a:t>RAM</a:t>
            </a:r>
            <a:endParaRPr 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965200" y="1751330"/>
            <a:ext cx="10271125" cy="4758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SRAM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（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L1~L3 Cache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）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双稳态，稳定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DRAM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（主存）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对干扰敏感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周期性读出重写刷新每一位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行地址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→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行缓冲区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→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列地址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SDRAM ≠ SRAM + DRAM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7505" y="1240790"/>
            <a:ext cx="6944360" cy="520636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内存模块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latin typeface="华文中宋" panose="02010600040101010101" charset="-122"/>
                <a:ea typeface="华文中宋" panose="02010600040101010101" charset="-122"/>
              </a:rPr>
              <a:t>ROM</a:t>
            </a:r>
            <a:endParaRPr 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965200" y="1751330"/>
            <a:ext cx="10271125" cy="4758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PROM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：只能编程一次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闪存：基于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EEPROM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，固态硬盘基于闪存</a:t>
            </a:r>
            <a:endParaRPr lang="en-US" alt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固件存储在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ROM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中，计算机系统通电后会运行固件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有些类型既可以读又可以写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访问主存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2610" y="1516380"/>
            <a:ext cx="4095750" cy="490537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615" y="1516380"/>
            <a:ext cx="3912870" cy="500697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磁盘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5755" y="1866265"/>
            <a:ext cx="7592060" cy="65595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755" y="3007360"/>
            <a:ext cx="6881495" cy="67564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4250" y="1670685"/>
            <a:ext cx="10222865" cy="1217295"/>
          </a:xfrm>
          <a:prstGeom prst="rect">
            <a:avLst/>
          </a:prstGeom>
        </p:spPr>
      </p:pic>
      <p:pic>
        <p:nvPicPr>
          <p:cNvPr id="4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250" y="3242945"/>
            <a:ext cx="9149715" cy="2413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4250" y="1670685"/>
            <a:ext cx="10222865" cy="1217295"/>
          </a:xfrm>
          <a:prstGeom prst="rect">
            <a:avLst/>
          </a:prstGeom>
        </p:spPr>
      </p:pic>
      <p:sp>
        <p:nvSpPr>
          <p:cNvPr id="3" name="内容占位符 2"/>
          <p:cNvSpPr>
            <a:spLocks noGrp="1"/>
          </p:cNvSpPr>
          <p:nvPr/>
        </p:nvSpPr>
        <p:spPr>
          <a:xfrm>
            <a:off x="965200" y="3225800"/>
            <a:ext cx="10271125" cy="32842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C</a:t>
            </a:r>
            <a:endParaRPr 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6 + 0.5 / 7500 * </a:t>
            </a:r>
            <a:r>
              <a:rPr 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60 </a:t>
            </a:r>
            <a:r>
              <a:rPr 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* 1000 = 10 </a:t>
            </a:r>
            <a:endParaRPr 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此处忽略了传送时间</a:t>
            </a:r>
            <a:endParaRPr 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endParaRPr 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1690688"/>
            <a:ext cx="10515600" cy="2772743"/>
          </a:xfrm>
          <a:prstGeom prst="rect">
            <a:avLst/>
          </a:prstGeom>
        </p:spPr>
      </p:pic>
      <p:sp>
        <p:nvSpPr>
          <p:cNvPr id="3" name="内容占位符 2"/>
          <p:cNvSpPr>
            <a:spLocks noGrp="1"/>
          </p:cNvSpPr>
          <p:nvPr/>
        </p:nvSpPr>
        <p:spPr>
          <a:xfrm>
            <a:off x="965200" y="4396740"/>
            <a:ext cx="10271125" cy="22561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A</a:t>
            </a:r>
            <a:endParaRPr 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1 / 400 </a:t>
            </a:r>
            <a:r>
              <a:rPr 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/ 7200 </a:t>
            </a:r>
            <a:r>
              <a:rPr 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* 60 * 1000 ≈ 0.02 </a:t>
            </a:r>
            <a:endParaRPr lang="en-US" alt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访问磁盘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4850" y="405130"/>
            <a:ext cx="7007225" cy="620522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固态硬盘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965200" y="1751330"/>
            <a:ext cx="10271125" cy="4758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读比写快</a:t>
            </a:r>
            <a:endParaRPr 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数据以页读写，只有在一页所属块整个被擦除后才能写这一页</a:t>
            </a:r>
            <a:endParaRPr 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随机写很慢（需要擦除、复制已有数据）</a:t>
            </a:r>
            <a:endParaRPr 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随机访问时间比旋转磁盘快，能耗低，更贵</a:t>
            </a:r>
            <a:endParaRPr 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闪存块会磨损</a:t>
            </a:r>
            <a:endParaRPr lang="zh-CN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局部性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5" name="内容占位符 2"/>
          <p:cNvSpPr>
            <a:spLocks noGrp="1"/>
          </p:cNvSpPr>
          <p:nvPr/>
        </p:nvSpPr>
        <p:spPr>
          <a:xfrm>
            <a:off x="965200" y="1751330"/>
            <a:ext cx="10271125" cy="4758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时间：重复访问同一元素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/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指令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空间：访问相邻元素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/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指令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对具有步长为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 k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的引用模式的程序，</a:t>
            </a: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k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越小空间局部性越好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buClrTx/>
              <a:buSzTx/>
              <a:buNone/>
            </a:pPr>
            <a:r>
              <a:rPr lang="en-US" altLang="zh-CN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</a:t>
            </a:r>
            <a:r>
              <a:rPr lang="zh-CN" altLang="en-US" sz="2800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对指令来说，循环有好的时空局部性，循环体越小，迭代次数越多，局部性越好</a:t>
            </a: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  <a:sym typeface="+mn-ea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单位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640" y="1786255"/>
            <a:ext cx="9834880" cy="109283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0864" y="1511618"/>
            <a:ext cx="8681185" cy="357147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>
                <a:latin typeface="华文中宋" panose="02010600040101010101" charset="-122"/>
                <a:ea typeface="华文中宋" panose="02010600040101010101" charset="-122"/>
              </a:rPr>
              <a:t>练习</a:t>
            </a:r>
            <a:endParaRPr lang="zh-CN" altLang="en-US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8" name="内容占位符 2"/>
          <p:cNvSpPr>
            <a:spLocks noGrp="1"/>
          </p:cNvSpPr>
          <p:nvPr/>
        </p:nvSpPr>
        <p:spPr>
          <a:xfrm>
            <a:off x="838200" y="1670685"/>
            <a:ext cx="10271125" cy="47123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sz="2800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0864" y="1511618"/>
            <a:ext cx="8681185" cy="3571470"/>
          </a:xfrm>
          <a:prstGeom prst="rect">
            <a:avLst/>
          </a:prstGeom>
        </p:spPr>
      </p:pic>
      <p:pic>
        <p:nvPicPr>
          <p:cNvPr id="9" name="Picture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84020" y="5083175"/>
            <a:ext cx="8395335" cy="1539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知识前瞻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/>
          <p:nvPr>
            <p:ph idx="1"/>
          </p:nvPr>
        </p:nvSpPr>
        <p:spPr/>
        <p:txBody>
          <a:bodyPr/>
          <a:p>
            <a:pPr marL="0" indent="0" algn="l">
              <a:buClrTx/>
              <a:buSzTx/>
              <a:buNone/>
            </a:pPr>
            <a:r>
              <a:rPr 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高速缓存</a:t>
            </a: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 Cache</a:t>
            </a:r>
            <a:endParaRPr 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读数据基本规则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- Cache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  <a:sym typeface="+mn-ea"/>
              </a:rPr>
              <a:t>结构与地址的对应关系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替换规则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写入规则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</a:rPr>
              <a:t>知识前瞻</a:t>
            </a:r>
            <a:endParaRPr lang="zh-CN">
              <a:latin typeface="华文中宋" panose="02010600040101010101" charset="-122"/>
              <a:ea typeface="华文中宋" panose="02010600040101010101" charset="-122"/>
            </a:endParaRPr>
          </a:p>
        </p:txBody>
      </p:sp>
      <p:sp>
        <p:nvSpPr>
          <p:cNvPr id="3" name="内容占位符 2"/>
          <p:cNvSpPr/>
          <p:nvPr>
            <p:ph idx="1"/>
          </p:nvPr>
        </p:nvSpPr>
        <p:spPr/>
        <p:txBody>
          <a:bodyPr/>
          <a:p>
            <a:pPr marL="0" indent="0" algn="l">
              <a:buClrTx/>
              <a:buSzTx/>
              <a:buNone/>
            </a:pPr>
            <a:r>
              <a:rPr 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优化程序性能</a:t>
            </a:r>
            <a:endParaRPr 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如何衡量程序性能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如何从指令层面分析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  <a:p>
            <a:pPr marL="0" indent="0" algn="l">
              <a:buClrTx/>
              <a:buSzTx/>
              <a:buNone/>
            </a:pPr>
            <a:r>
              <a:rPr lang="en-US" alt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- </a:t>
            </a:r>
            <a:r>
              <a:rPr lang="zh-CN" altLang="en-US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如何优化</a:t>
            </a:r>
            <a:endParaRPr lang="zh-CN" altLang="en-US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898843"/>
            <a:ext cx="9144000" cy="2387600"/>
          </a:xfrm>
        </p:spPr>
        <p:txBody>
          <a:bodyPr/>
          <a:p>
            <a:r>
              <a:rPr lang="zh-CN">
                <a:latin typeface="华文中宋" panose="02010600040101010101" charset="-122"/>
                <a:ea typeface="华文中宋" panose="02010600040101010101" charset="-122"/>
                <a:cs typeface="华文中宋" panose="02010600040101010101" charset="-122"/>
              </a:rPr>
              <a:t>谢谢！</a:t>
            </a:r>
            <a:endParaRPr lang="zh-CN">
              <a:latin typeface="华文中宋" panose="02010600040101010101" charset="-122"/>
              <a:ea typeface="华文中宋" panose="02010600040101010101" charset="-122"/>
              <a:cs typeface="华文中宋" panose="02010600040101010101" charset="-122"/>
            </a:endParaRPr>
          </a:p>
        </p:txBody>
      </p:sp>
      <p:sp>
        <p:nvSpPr>
          <p:cNvPr id="4" name="副标题 3"/>
          <p:cNvSpPr/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795*279"/>
  <p:tag name="TABLE_ENDDRAG_RECT" val="86*230*795*279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2637</Words>
  <Application>WPS 演示</Application>
  <PresentationFormat>宽屏</PresentationFormat>
  <Paragraphs>349</Paragraphs>
  <Slides>47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47</vt:i4>
      </vt:variant>
    </vt:vector>
  </HeadingPairs>
  <TitlesOfParts>
    <vt:vector size="55" baseType="lpstr">
      <vt:lpstr>Arial</vt:lpstr>
      <vt:lpstr>宋体</vt:lpstr>
      <vt:lpstr>Wingdings</vt:lpstr>
      <vt:lpstr>华文中宋</vt:lpstr>
      <vt:lpstr>微软雅黑</vt:lpstr>
      <vt:lpstr>Arial Unicode MS</vt:lpstr>
      <vt:lpstr>Calibri</vt:lpstr>
      <vt:lpstr>WPS</vt:lpstr>
      <vt:lpstr>ICS小班 Week8</vt:lpstr>
      <vt:lpstr>流水线</vt:lpstr>
      <vt:lpstr>流水线</vt:lpstr>
      <vt:lpstr>流水线</vt:lpstr>
      <vt:lpstr>流水线</vt:lpstr>
      <vt:lpstr>SEQ+</vt:lpstr>
      <vt:lpstr>PIPE-</vt:lpstr>
      <vt:lpstr>PC选择</vt:lpstr>
      <vt:lpstr>PC选择</vt:lpstr>
      <vt:lpstr>数据冒险</vt:lpstr>
      <vt:lpstr>数据冒险</vt:lpstr>
      <vt:lpstr>数据冒险</vt:lpstr>
      <vt:lpstr>load/use 数据冒险</vt:lpstr>
      <vt:lpstr>load/use 数据冒险</vt:lpstr>
      <vt:lpstr>ret</vt:lpstr>
      <vt:lpstr>ret</vt:lpstr>
      <vt:lpstr>分支预测错误</vt:lpstr>
      <vt:lpstr>分支预测错误</vt:lpstr>
      <vt:lpstr>组合</vt:lpstr>
      <vt:lpstr>组合</vt:lpstr>
      <vt:lpstr>异常处理</vt:lpstr>
      <vt:lpstr>异常处理</vt:lpstr>
      <vt:lpstr>练习</vt:lpstr>
      <vt:lpstr>练习</vt:lpstr>
      <vt:lpstr>思考1</vt:lpstr>
      <vt:lpstr>思考1</vt:lpstr>
      <vt:lpstr>思考2</vt:lpstr>
      <vt:lpstr>思考2</vt:lpstr>
      <vt:lpstr>思考3</vt:lpstr>
      <vt:lpstr>思考3</vt:lpstr>
      <vt:lpstr>RAM</vt:lpstr>
      <vt:lpstr>内存模块</vt:lpstr>
      <vt:lpstr>ROM</vt:lpstr>
      <vt:lpstr>访问主存</vt:lpstr>
      <vt:lpstr>磁盘</vt:lpstr>
      <vt:lpstr>练习</vt:lpstr>
      <vt:lpstr>练习</vt:lpstr>
      <vt:lpstr>练习</vt:lpstr>
      <vt:lpstr>访问磁盘</vt:lpstr>
      <vt:lpstr>固态硬盘</vt:lpstr>
      <vt:lpstr>局部性</vt:lpstr>
      <vt:lpstr>单位</vt:lpstr>
      <vt:lpstr>练习</vt:lpstr>
      <vt:lpstr>练习</vt:lpstr>
      <vt:lpstr>知识前瞻</vt:lpstr>
      <vt:lpstr>知识前瞻</vt:lpstr>
      <vt:lpstr>谢谢！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Zian Liu</dc:creator>
  <cp:lastModifiedBy>刘梓安</cp:lastModifiedBy>
  <cp:revision>413</cp:revision>
  <dcterms:created xsi:type="dcterms:W3CDTF">2023-08-09T12:44:00Z</dcterms:created>
  <dcterms:modified xsi:type="dcterms:W3CDTF">2025-10-29T10:34:02Z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2052-12.1.0.23125</vt:lpwstr>
  </property>
  <property fmtid="{D5CDD505-2E9C-101B-9397-08002B2CF9AE}" pid="3" name="ICV">
    <vt:lpwstr>0FFB374EF87741258E9EC42A4DEF22FC_13</vt:lpwstr>
  </property>
</Properties>
</file>