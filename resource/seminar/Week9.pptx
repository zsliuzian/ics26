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3"/>
    <p:sldId id="502" r:id="rId4"/>
    <p:sldId id="503" r:id="rId5"/>
    <p:sldId id="504" r:id="rId6"/>
    <p:sldId id="505" r:id="rId7"/>
    <p:sldId id="500" r:id="rId8"/>
    <p:sldId id="485" r:id="rId9"/>
    <p:sldId id="432" r:id="rId10"/>
    <p:sldId id="506" r:id="rId11"/>
    <p:sldId id="481" r:id="rId12"/>
    <p:sldId id="482" r:id="rId13"/>
    <p:sldId id="471" r:id="rId14"/>
    <p:sldId id="472" r:id="rId15"/>
    <p:sldId id="479" r:id="rId16"/>
    <p:sldId id="480" r:id="rId17"/>
    <p:sldId id="473" r:id="rId18"/>
    <p:sldId id="437" r:id="rId19"/>
    <p:sldId id="475" r:id="rId20"/>
    <p:sldId id="476" r:id="rId21"/>
    <p:sldId id="459" r:id="rId22"/>
    <p:sldId id="498" r:id="rId23"/>
    <p:sldId id="499" r:id="rId24"/>
    <p:sldId id="508" r:id="rId25"/>
    <p:sldId id="507" r:id="rId26"/>
    <p:sldId id="460" r:id="rId27"/>
    <p:sldId id="487" r:id="rId28"/>
    <p:sldId id="488" r:id="rId29"/>
    <p:sldId id="486" r:id="rId30"/>
    <p:sldId id="483" r:id="rId31"/>
    <p:sldId id="484" r:id="rId32"/>
    <p:sldId id="489" r:id="rId33"/>
    <p:sldId id="490" r:id="rId34"/>
    <p:sldId id="491" r:id="rId35"/>
    <p:sldId id="493" r:id="rId36"/>
    <p:sldId id="492" r:id="rId37"/>
    <p:sldId id="494" r:id="rId38"/>
    <p:sldId id="495" r:id="rId39"/>
    <p:sldId id="496" r:id="rId40"/>
    <p:sldId id="510" r:id="rId41"/>
    <p:sldId id="509" r:id="rId42"/>
    <p:sldId id="33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14.png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image" Target="../media/image15.png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Week9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2025.11.5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340" y="851535"/>
            <a:ext cx="7887335" cy="5167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5716270"/>
            <a:ext cx="5837555" cy="730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955" y="603885"/>
            <a:ext cx="7872730" cy="5112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5385" y="651510"/>
            <a:ext cx="7369175" cy="5723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" y="1513840"/>
            <a:ext cx="6047105" cy="469646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6772275" y="1795780"/>
            <a:ext cx="4926330" cy="4414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 + 6 + 2 + 4 = 15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 + 4 * 5 + 6 + 2 + 4 = 35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分支预测错误浪费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2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周期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ret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浪费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周期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流水线排空指令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4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周期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（但其中包含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ret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周期）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存储器层次结构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249420" cy="42132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k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层作为第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k+1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层的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“缓存”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高速缓存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Cache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对应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L1~L3，基于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SRAM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9360" y="1825625"/>
            <a:ext cx="6881495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存储器层次结构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8435" y="621665"/>
            <a:ext cx="6409690" cy="5752465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838200" y="1825625"/>
            <a:ext cx="4420235" cy="42132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实例：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Intel Core i7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高速缓存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69620"/>
            <a:ext cx="4510405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高速缓存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24320" y="549275"/>
            <a:ext cx="5252085" cy="3843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55" y="4621530"/>
            <a:ext cx="4609465" cy="172593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5837555" cy="4213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段由位置体现，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段由存储内容体现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 = 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 = 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 = 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的单位为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bit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的单位为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Bytes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本身与地址结构划分无关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命中条件：有效位为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，标记位相同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685" y="1691005"/>
            <a:ext cx="9368155" cy="1640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685" y="1691005"/>
            <a:ext cx="9368155" cy="1640205"/>
          </a:xfrm>
          <a:prstGeom prst="rect">
            <a:avLst/>
          </a:prstGeom>
        </p:spPr>
      </p:pic>
      <p:sp>
        <p:nvSpPr>
          <p:cNvPr id="3" name="内容占位符 2"/>
          <p:cNvSpPr txBox="1"/>
          <p:nvPr>
            <p:custDataLst>
              <p:tags r:id="rId2"/>
            </p:custDataLst>
          </p:nvPr>
        </p:nvSpPr>
        <p:spPr>
          <a:xfrm>
            <a:off x="1189990" y="3815715"/>
            <a:ext cx="9648825" cy="19297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相联度</a:t>
            </a: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 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与地址结构划分无关</a:t>
            </a:r>
            <a:endParaRPr lang="zh-CN" alt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高速缓存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5258435" cy="4213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直接映射高速缓存：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 = 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组相联高速缓存：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 &gt; 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全相联高速缓存：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 = 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 = 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，没有组索引位）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0255" y="301625"/>
            <a:ext cx="4905375" cy="1619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255" y="2258695"/>
            <a:ext cx="4858385" cy="2154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4873625"/>
            <a:ext cx="54959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高速缓存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273665" cy="4213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为什么用中间的位做索引？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715" y="2434590"/>
            <a:ext cx="6524625" cy="41802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6705" y="1447165"/>
            <a:ext cx="8794750" cy="3199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6705" y="1447165"/>
            <a:ext cx="8794750" cy="3199130"/>
          </a:xfrm>
          <a:prstGeom prst="rect">
            <a:avLst/>
          </a:prstGeom>
        </p:spPr>
      </p:pic>
      <p:sp>
        <p:nvSpPr>
          <p:cNvPr id="3" name="内容占位符 2"/>
          <p:cNvSpPr txBox="1"/>
          <p:nvPr>
            <p:custDataLst>
              <p:tags r:id="rId3"/>
            </p:custDataLst>
          </p:nvPr>
        </p:nvSpPr>
        <p:spPr>
          <a:xfrm>
            <a:off x="1189990" y="4739640"/>
            <a:ext cx="9648825" cy="19297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AB. 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不一定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直接映射不需查找</a:t>
            </a: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行，更快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不命中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273665" cy="4213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强制性不命中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冷不命中：缓冲为空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冲突不命中：缓存足够大，但对象映射到同一个缓存块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容量不命中：缓冲容量太小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行替换策略：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最不常使用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LFU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：替换过去某个时间内引用次数最少的一行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最近最少使用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LRU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：替换最后一次访问最久远的一行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有关写的问题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1027430" y="1845945"/>
          <a:ext cx="10462260" cy="4361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530"/>
                <a:gridCol w="3943985"/>
                <a:gridCol w="4182745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方式</a:t>
                      </a:r>
                      <a:endParaRPr lang="zh-CN" altLang="en-US" sz="28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直写</a:t>
                      </a:r>
                      <a:endParaRPr lang="zh-CN" altLang="en-US" sz="28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写回</a:t>
                      </a:r>
                      <a:endParaRPr lang="zh-CN" altLang="en-US" sz="28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13633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做法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立即将写回到紧接着的低一层中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尽可能推迟更新，驱逐更新过的块时才写入低一层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</a:tr>
              <a:tr h="10502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缺点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每次写都引起总线流量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额外维护修改位，记录是否修改过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</a:tr>
              <a:tr h="11004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处理写不命中（一般而言）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非写分配：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直接写到低一层中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写分配：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加载低一层的块到高速缓存中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3935" y="1670685"/>
            <a:ext cx="10184130" cy="2046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3935" y="1670685"/>
            <a:ext cx="10184130" cy="2046605"/>
          </a:xfrm>
          <a:prstGeom prst="rect">
            <a:avLst/>
          </a:prstGeom>
        </p:spPr>
      </p:pic>
      <p:sp>
        <p:nvSpPr>
          <p:cNvPr id="3" name="内容占位符 2"/>
          <p:cNvSpPr txBox="1"/>
          <p:nvPr>
            <p:custDataLst>
              <p:tags r:id="rId3"/>
            </p:custDataLst>
          </p:nvPr>
        </p:nvSpPr>
        <p:spPr>
          <a:xfrm>
            <a:off x="1190273" y="3908356"/>
            <a:ext cx="9649026" cy="24745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写回需要维护修改位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B. 不一定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，较大的块一般能利用空间局部性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不一定</a:t>
            </a: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Cache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大题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手动模拟简单的规则（并非简单地手动模拟规则）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难点：给出地址不是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进制，可能是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进制，甚至可能是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进制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25" y="3256280"/>
            <a:ext cx="9592310" cy="1412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" y="1670685"/>
            <a:ext cx="10419715" cy="2099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" y="1670685"/>
            <a:ext cx="10419715" cy="2099310"/>
          </a:xfrm>
          <a:prstGeom prst="rect">
            <a:avLst/>
          </a:prstGeom>
        </p:spPr>
      </p:pic>
      <p:sp>
        <p:nvSpPr>
          <p:cNvPr id="3" name="内容占位符 2"/>
          <p:cNvSpPr txBox="1"/>
          <p:nvPr>
            <p:custDataLst>
              <p:tags r:id="rId2"/>
            </p:custDataLst>
          </p:nvPr>
        </p:nvSpPr>
        <p:spPr>
          <a:xfrm>
            <a:off x="1190273" y="3908356"/>
            <a:ext cx="9649026" cy="24745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 = 8, b = 3</a:t>
            </a:r>
            <a:endParaRPr lang="en-US" altLang="zh-CN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 = 32 KB / 8 Bytes = 4096, s = 12</a:t>
            </a:r>
            <a:endParaRPr lang="en-US" altLang="zh-CN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 = 32 - 3 - 12 = 17</a:t>
            </a:r>
            <a:endParaRPr lang="en-US" altLang="zh-CN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 spc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((1 + 17) / 8 + 8) * 4096 = 41984 Bytes</a:t>
            </a:r>
            <a:endParaRPr lang="en-US" altLang="zh-CN" sz="2800" spc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Cachelab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44720" y="1970405"/>
            <a:ext cx="3114675" cy="29387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05" y="1974850"/>
            <a:ext cx="3109595" cy="29343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15" y="1970405"/>
            <a:ext cx="3114040" cy="29387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题外话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40" y="1817370"/>
            <a:ext cx="6057900" cy="38411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320" y="181610"/>
            <a:ext cx="5027295" cy="6495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编译器优化局限性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、内存别名使用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、函数调用副作用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2980" y="1630045"/>
            <a:ext cx="4870450" cy="15735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3515995"/>
            <a:ext cx="4962525" cy="25736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83155" y="676275"/>
            <a:ext cx="7181215" cy="40849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83155" y="676275"/>
            <a:ext cx="7181215" cy="408495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965200" y="4867910"/>
            <a:ext cx="10271125" cy="170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内存别名使用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函数调用副作用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优化程序性能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用周期数来表示程序性能，而非时间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CPE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Cycles Per Element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）表示迭代程序的循环性能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75" y="3209290"/>
            <a:ext cx="8409940" cy="27952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优化程序性能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、消除循环的低效率（重复计算）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、减少过程调用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、消除不必要的内存引用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85" y="3429000"/>
            <a:ext cx="5052695" cy="3029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85" y="3389630"/>
            <a:ext cx="4424045" cy="30689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现代处理器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乱序执行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达到更高的指令级并行度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CPE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可以小于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145" y="864235"/>
            <a:ext cx="546735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关键路径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890" y="1691005"/>
            <a:ext cx="2941320" cy="1123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65" y="418465"/>
            <a:ext cx="5303520" cy="2651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935" y="3181985"/>
            <a:ext cx="6337300" cy="3416300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1029970" y="3325495"/>
            <a:ext cx="3477260" cy="305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只读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只写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局部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关键路径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245" y="345440"/>
            <a:ext cx="3142615" cy="6167120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788035" y="1671320"/>
            <a:ext cx="650621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循环寄存器之间的操作链决定性能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循环展开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增加每次迭代计算的元素的数量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 = acc OP a[i] (i = 0, 1, 2,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 = acc OP a[i] OP a[i + 1] (i = 0, 2, 4,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关键路径上仍然有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mul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操作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225" y="186055"/>
            <a:ext cx="3151505" cy="64852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循环展开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重新结合变换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 = acc OP a[i] (i = 0, 1, 2,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 = acc OP a[i] OP a[i + 1] (i = 0, 2, 4,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 = acc OP (a[i] OP a[i + 1]) (i = 0, 2, 4, ...)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0" y="157480"/>
            <a:ext cx="2813685" cy="64166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提高并行性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acc0 = acc0 OP a[i] (i = 0, 2, 4,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acc1 = acc1 OP a[i + 1] (i = 0, 2, 4, ...)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0" y="256540"/>
            <a:ext cx="368046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限制因素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寄存器溢出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编译后行为，从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程序中不直接体现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分支预测和预测错误处罚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1624330"/>
            <a:ext cx="9606280" cy="24237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1624330"/>
            <a:ext cx="9606280" cy="2423795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965200" y="4282440"/>
            <a:ext cx="10271125" cy="1677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浮点数运算没有结合律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链接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符号解析规则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重定位算法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静态库与共享库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异常类型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系统调用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进程与子进程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ABLE_ENDDRAG_ORIGIN_RECT" val="752*328"/>
  <p:tag name="TABLE_ENDDRAG_RECT" val="152*149*752*328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演示</Application>
  <PresentationFormat>宽屏</PresentationFormat>
  <Paragraphs>258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Wingdings 2</vt:lpstr>
      <vt:lpstr>WPS</vt:lpstr>
      <vt:lpstr>ICS小班 Week9</vt:lpstr>
      <vt:lpstr>练习</vt:lpstr>
      <vt:lpstr>练习</vt:lpstr>
      <vt:lpstr>练习</vt:lpstr>
      <vt:lpstr>练习</vt:lpstr>
      <vt:lpstr>存储器层次结构</vt:lpstr>
      <vt:lpstr>存储器层次结构</vt:lpstr>
      <vt:lpstr>高速缓存</vt:lpstr>
      <vt:lpstr>高速缓存</vt:lpstr>
      <vt:lpstr>练习</vt:lpstr>
      <vt:lpstr>练习</vt:lpstr>
      <vt:lpstr>高速缓存</vt:lpstr>
      <vt:lpstr>高速缓存</vt:lpstr>
      <vt:lpstr>练习</vt:lpstr>
      <vt:lpstr>练习</vt:lpstr>
      <vt:lpstr>不命中</vt:lpstr>
      <vt:lpstr>有关写的问题</vt:lpstr>
      <vt:lpstr>练习</vt:lpstr>
      <vt:lpstr>练习</vt:lpstr>
      <vt:lpstr>Cache大题</vt:lpstr>
      <vt:lpstr>练习</vt:lpstr>
      <vt:lpstr>练习</vt:lpstr>
      <vt:lpstr>知识前瞻</vt:lpstr>
      <vt:lpstr>练习</vt:lpstr>
      <vt:lpstr>编译器优化局限性</vt:lpstr>
      <vt:lpstr>练习</vt:lpstr>
      <vt:lpstr>练习</vt:lpstr>
      <vt:lpstr>优化程序性能</vt:lpstr>
      <vt:lpstr>优化程序性能</vt:lpstr>
      <vt:lpstr>现代处理器</vt:lpstr>
      <vt:lpstr>关键路径</vt:lpstr>
      <vt:lpstr>关键路径</vt:lpstr>
      <vt:lpstr>循环展开</vt:lpstr>
      <vt:lpstr>循环展开</vt:lpstr>
      <vt:lpstr>提高并行性</vt:lpstr>
      <vt:lpstr>限制因素</vt:lpstr>
      <vt:lpstr>练习</vt:lpstr>
      <vt:lpstr>练习</vt:lpstr>
      <vt:lpstr>知识前瞻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483</cp:revision>
  <dcterms:created xsi:type="dcterms:W3CDTF">2023-08-09T12:44:00Z</dcterms:created>
  <dcterms:modified xsi:type="dcterms:W3CDTF">2025-11-05T11:02:44Z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0FFB374EF87741258E9EC42A4DEF22FC_13</vt:lpwstr>
  </property>
</Properties>
</file>